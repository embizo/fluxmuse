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personal and short. "You're running the business, the marketing and the WhatsApp inbox yourself. FluxMuse is an AI marketing team that lives in WhatsApp, with paid plans from R149 a month." Promise about 15 minutes. Ask: "How do customers find you, and how do they order today?" Listen for lost messages, late replies and no shop page; you'll come back to each one. If they have staff or several brands, switch to the SME deck. Prices follow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about their week, not the market. You post when you find time, answer messages late at night, and orders get lost in chats because there's no shop page. Paying a marketer or an agency isn't realistic yet. On the right: FluxMuse is an AI marketing team in WhatsApp from R149 a month. Send product photos and you get a catalogue and a shop link, and the assistant answers in your customer's language. These are newly launched, not long-tested (CURRENT_OFFER.md §3). Ask which of these costs them the most sales.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shop for South African businesses. Be precise about what's live. Live and newly launched: photos to catalogue on WhatsApp, a hosted shop link, order alerts with SOLD, AI captions, images and short clips, and TikTok video posting. Being switched on: checkout through FluxMuse, Facebook and Instagram auto-posting, and AI Voice in beta. Newly launched means built and deployed, but no business has run it end to end yet, so we set you up by hand (CURRENT_OFFER.md §3). Ask whether they already use WhatsApp Business.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Plan: your goals, products and the week ahead. Create: captions, images and short video clips, in your customers' languages. Publish: forward to WhatsApp Status, send broadcasts to contacts who have opted in, and post video to TikTok. Sell: a shop link built from your photos, with every order landing on WhatsApp. Learn: what sold, and what to post next. Facebook and Instagram auto-posting is being switched on, so don't promise it yet (CURRENT_OFFER.md §3). The point is that marketing and selling stop living in separate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finds you through a Status post, a QR code or your shop link. The assistant replies in their language. They browse a catalogue built from your photos, fill a cart, and the order lands on your WhatsApp; you reply SOLD to keep track. Be honest about payment: checkout through FluxMuse on Paystack is built but being switched on, because it hasn't been tested end to end with real money. Until then, orders arrive as a WhatsApp message and you take payment your usual way (CURRENT_OFFER.md §3). Broadcasts go only to consented contacts.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entrepreneurs are braiders and beauty studios, fashion resellers, home bakers, coaches and informal retailers. Their pains are simple: no time or budget for a marketer, messages answered late, and no shop page, so orders get lost in chats. FluxMuse answers each one with newly launched features: say POST to get a caption and picture, the assistant answers in the customer's language, and product photos become a shop link. Nano is R149 a month; Founding Members pay R104 for the first two bills. Micro at R289 adds a channel and their own WhatsApp number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we work together. First a discovery call about your goals and products. Then a demo shop built from your own public photos, shown live; that's a demo, not a trial. Once you choose a paid plan, we set you up by hand: WhatsApp Business number, catalogue and shop link. On go-live day the lead guarantee starts: three qualified leads in 30 days, as long as you share your link and post weekly; if not, we keep supporting you at no extra charge. Then weekly check-ins. Goals are agreed together, not promised results (CURRENT_OFFER.md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where we are. FluxMuse is newly launched and has no paying customers or case studies yet. We're opening with a small first group of South African businesses, and we set each one up by hand, with weekly check-ins. That's the offer: close attention, not social proof. It's backed by the lead guarantee: three qualified leads in 30 days of go-live. If fewer arrive, and the business shared its link and posted at least weekly, we keep supporting them at no extra charge until three arrive. It is extra support, never cash back (CURRENT_OFFER.md §2 and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solo businesses start on Nano: R149 a month for one brand and three channels. Micro at R289 adds a fourth channel and connects their own WhatsApp number. Starter at R499 is the step up as they grow. Annual billing is ten times monthly. There's no trial: every paid plan starts with payment. As a Founding Member, a South African sign-up pays 30% less for the first two monthly bills: R104 on Nano, R202 on Micro. It's a discount, not a free period, and it has no set end date. Don't quote AI credit numbers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easiest yes. Join as a Founding Member and your first two Nano bills are R104 instead of R149, or R202 instead of R289 on Micro. After that it's the normal monthly price. It's a discount on a paid plan, not a free period, and it's for South African sign-ups while it lasts; there's no closing date to quote. Don't promise extra perks like badges or bonus months; only the discount is confirmed. Then offer the demo on their own products (00_FACTS §2 "Founding Member").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Fluxmuse (Pty) Ltd is a verified Meta Tech Provider, with business and access verification, and WhatsApp runs on Meta's official Cloud API. Broadcasts go only to contacts who have opted in, in line with POPIA. Under the hood there's row-level security, encrypted tokens for connected accounts, and data export and account deletion. If they ask for a data processing agreement, a security questionnaire or certifications, don't improvise: note the request and follow up in writing (CURRENT_OFFER.md §4; 00_FACTS §1).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clear next step. The simplest is a demo shop built from their own public product photos, shown live; it's a demo, not a trial. If they're ready, they join as a Founding Member on Nano: R104 for each of the first two bills, then R149, and we set them up by hand. If they want to think first, book a 20-minute call. Contact is Thabo Malebadi, thabo@fluxmuse.com. Follow up within 24 hours with a short summary (CURRENT_OFFER.md §1 and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 follow CURRENT_OFFER.md. On data, stick to the controls listed and don't claim certifications we haven't confirmed. On WhatsApp numbers, a number already used in the WhatsApp Business app may need extra steps, so check it together during setup. On payments, be clear that checkout through FluxMuse is being switched on and hasn't been tested with real money yet. There are no trials, and cancellation terms are still to be confirmed, so promise a written answer rather than improvising.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lead guarantee always comes with its conditions: three qualified leads in 30 days of go-live; if fewer, and the business shared its link and posted at least weekly, we extend support at no extra charge until three arrive. It is never cash back. Setup is by hand, but Meta approvals and catalogue size can stretch it, so set expectations honestly. Store sync is being switched on, so don't promise it. Outside South Africa, share the waitlist link, never prices (CURRENT_OFFER.md §2 and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96|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97|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97|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98|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SELLING</a:t>
            </a:r>
          </a:p>
        </p:txBody>
      </p:sp>
      <p:sp>
        <p:nvSpPr>
          <p:cNvPr id="6" name="g99|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on WhatsApp.</a:t>
            </a:r>
          </a:p>
        </p:txBody>
      </p:sp>
      <p:sp>
        <p:nvSpPr>
          <p:cNvPr id="7" name="g100|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Send photos, get a shop link, and let your AI team help you post and reply. Built for South Africa.</a:t>
            </a:r>
          </a:p>
        </p:txBody>
      </p:sp>
      <p:sp>
        <p:nvSpPr>
          <p:cNvPr id="8" name="g101|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101|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Thabo Malebadi, founder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0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10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Marketing and selling, without the patchwork</a:t>
            </a:r>
          </a:p>
        </p:txBody>
      </p:sp>
      <p:pic>
        <p:nvPicPr>
          <p:cNvPr id="4" name="g103|img|infographics/problem-solution.png" descr="Today: disconnected tools, retainers beyond small budgets, orders lost in chats, after-hours messages unanswered. With FluxMuse: an AI marketing team in WhatsApp, paid plans from R149, photos to a catalogue and shop link, answers in the customer's language."/>
          <p:cNvPicPr>
            <a:picLocks noChangeAspect="1"/>
          </p:cNvPicPr>
          <p:nvPr/>
        </p:nvPicPr>
        <p:blipFill>
          <a:blip r:embed="rId2"/>
          <a:srcRect l="2000" t="21000" r="2000" b="15000"/>
          <a:stretch>
            <a:fillRect/>
          </a:stretch>
        </p:blipFill>
        <p:spPr>
          <a:xfrm>
            <a:off x="548640" y="1778565"/>
            <a:ext cx="11094415" cy="4160405"/>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04|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104|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05|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AI marketing and a WhatsApp shop, for South African businesses.</a:t>
            </a:r>
          </a:p>
        </p:txBody>
      </p:sp>
      <p:sp>
        <p:nvSpPr>
          <p:cNvPr id="5" name="g106|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06|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Set up by hand</a:t>
            </a:r>
          </a:p>
        </p:txBody>
      </p:sp>
      <p:sp>
        <p:nvSpPr>
          <p:cNvPr id="7" name="meet107|card|"/>
          <p:cNvSpPr/>
          <p:nvPr/>
        </p:nvSpPr>
        <p:spPr>
          <a:xfrm>
            <a:off x="4846320"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eet107|eyebrow|"/>
          <p:cNvSpPr txBox="1"/>
          <p:nvPr/>
        </p:nvSpPr>
        <p:spPr>
          <a:xfrm>
            <a:off x="5120640" y="1463040"/>
            <a:ext cx="2743200" cy="274320"/>
          </a:xfrm>
          <a:prstGeom prst="rect">
            <a:avLst/>
          </a:prstGeom>
          <a:noFill/>
        </p:spPr>
        <p:txBody>
          <a:bodyPr wrap="square" lIns="0" rIns="0" tIns="0" bIns="0" anchor="t">
            <a:noAutofit/>
          </a:bodyPr>
          <a:lstStyle/>
          <a:p>
            <a:pPr algn="l"/>
            <a:r>
              <a:rPr sz="1200" b="1" spc="120">
                <a:solidFill>
                  <a:srgbClr val="FF6A00"/>
                </a:solidFill>
                <a:latin typeface="Inter"/>
              </a:rPr>
              <a:t>LIVE, NEWLY LAUNCHED</a:t>
            </a:r>
          </a:p>
        </p:txBody>
      </p:sp>
      <p:pic>
        <p:nvPicPr>
          <p:cNvPr id="9" name="g108|icon|checkCircle_orange.png" descr="checkCircle_orange"/>
          <p:cNvPicPr>
            <a:picLocks noChangeAspect="1"/>
          </p:cNvPicPr>
          <p:nvPr/>
        </p:nvPicPr>
        <p:blipFill>
          <a:blip r:embed="rId2"/>
          <a:srcRect/>
          <a:stretch>
            <a:fillRect/>
          </a:stretch>
        </p:blipFill>
        <p:spPr>
          <a:xfrm>
            <a:off x="5221224" y="2093975"/>
            <a:ext cx="256032" cy="256032"/>
          </a:xfrm>
          <a:prstGeom prst="rect">
            <a:avLst/>
          </a:prstGeom>
        </p:spPr>
      </p:pic>
      <p:sp>
        <p:nvSpPr>
          <p:cNvPr id="10" name="g108|card|"/>
          <p:cNvSpPr txBox="1"/>
          <p:nvPr/>
        </p:nvSpPr>
        <p:spPr>
          <a:xfrm>
            <a:off x="5715000"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Photos to catalogue</a:t>
            </a:r>
          </a:p>
        </p:txBody>
      </p:sp>
      <p:pic>
        <p:nvPicPr>
          <p:cNvPr id="11" name="g109|icon|checkCircle_orange.png" descr="checkCircle_orange"/>
          <p:cNvPicPr>
            <a:picLocks noChangeAspect="1"/>
          </p:cNvPicPr>
          <p:nvPr/>
        </p:nvPicPr>
        <p:blipFill>
          <a:blip r:embed="rId2"/>
          <a:srcRect/>
          <a:stretch>
            <a:fillRect/>
          </a:stretch>
        </p:blipFill>
        <p:spPr>
          <a:xfrm>
            <a:off x="5221224" y="2807208"/>
            <a:ext cx="256032" cy="256032"/>
          </a:xfrm>
          <a:prstGeom prst="rect">
            <a:avLst/>
          </a:prstGeom>
        </p:spPr>
      </p:pic>
      <p:sp>
        <p:nvSpPr>
          <p:cNvPr id="12" name="g109|card|"/>
          <p:cNvSpPr txBox="1"/>
          <p:nvPr/>
        </p:nvSpPr>
        <p:spPr>
          <a:xfrm>
            <a:off x="5715000"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Shop link</a:t>
            </a:r>
          </a:p>
        </p:txBody>
      </p:sp>
      <p:pic>
        <p:nvPicPr>
          <p:cNvPr id="13" name="g110|icon|checkCircle_orange.png" descr="checkCircle_orange"/>
          <p:cNvPicPr>
            <a:picLocks noChangeAspect="1"/>
          </p:cNvPicPr>
          <p:nvPr/>
        </p:nvPicPr>
        <p:blipFill>
          <a:blip r:embed="rId2"/>
          <a:srcRect/>
          <a:stretch>
            <a:fillRect/>
          </a:stretch>
        </p:blipFill>
        <p:spPr>
          <a:xfrm>
            <a:off x="5221224" y="3520440"/>
            <a:ext cx="256032" cy="256032"/>
          </a:xfrm>
          <a:prstGeom prst="rect">
            <a:avLst/>
          </a:prstGeom>
        </p:spPr>
      </p:pic>
      <p:sp>
        <p:nvSpPr>
          <p:cNvPr id="14" name="g110|card|"/>
          <p:cNvSpPr txBox="1"/>
          <p:nvPr/>
        </p:nvSpPr>
        <p:spPr>
          <a:xfrm>
            <a:off x="5715000"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Order alerts</a:t>
            </a:r>
          </a:p>
        </p:txBody>
      </p:sp>
      <p:pic>
        <p:nvPicPr>
          <p:cNvPr id="15" name="g111|icon|checkCircle_orange.png" descr="checkCircle_orange"/>
          <p:cNvPicPr>
            <a:picLocks noChangeAspect="1"/>
          </p:cNvPicPr>
          <p:nvPr/>
        </p:nvPicPr>
        <p:blipFill>
          <a:blip r:embed="rId2"/>
          <a:srcRect/>
          <a:stretch>
            <a:fillRect/>
          </a:stretch>
        </p:blipFill>
        <p:spPr>
          <a:xfrm>
            <a:off x="5221224" y="4233672"/>
            <a:ext cx="256032" cy="256032"/>
          </a:xfrm>
          <a:prstGeom prst="rect">
            <a:avLst/>
          </a:prstGeom>
        </p:spPr>
      </p:pic>
      <p:sp>
        <p:nvSpPr>
          <p:cNvPr id="16" name="g111|card|"/>
          <p:cNvSpPr txBox="1"/>
          <p:nvPr/>
        </p:nvSpPr>
        <p:spPr>
          <a:xfrm>
            <a:off x="5715000" y="4105656"/>
            <a:ext cx="2286000" cy="512064"/>
          </a:xfrm>
          <a:prstGeom prst="rect">
            <a:avLst/>
          </a:prstGeom>
          <a:noFill/>
        </p:spPr>
        <p:txBody>
          <a:bodyPr wrap="square" lIns="0" rIns="0" tIns="0" bIns="0" anchor="ctr">
            <a:noAutofit/>
          </a:bodyPr>
          <a:lstStyle/>
          <a:p>
            <a:pPr algn="l"/>
            <a:r>
              <a:rPr sz="1500" b="0">
                <a:solidFill>
                  <a:srgbClr val="FFFFFF"/>
                </a:solidFill>
                <a:latin typeface="Inter"/>
              </a:rPr>
              <a:t>AI posts &amp; clips</a:t>
            </a:r>
          </a:p>
        </p:txBody>
      </p:sp>
      <p:pic>
        <p:nvPicPr>
          <p:cNvPr id="17" name="g112|icon|checkCircle_orange.png" descr="checkCircle_orange"/>
          <p:cNvPicPr>
            <a:picLocks noChangeAspect="1"/>
          </p:cNvPicPr>
          <p:nvPr/>
        </p:nvPicPr>
        <p:blipFill>
          <a:blip r:embed="rId2"/>
          <a:srcRect/>
          <a:stretch>
            <a:fillRect/>
          </a:stretch>
        </p:blipFill>
        <p:spPr>
          <a:xfrm>
            <a:off x="5221224" y="4946904"/>
            <a:ext cx="256032" cy="256032"/>
          </a:xfrm>
          <a:prstGeom prst="rect">
            <a:avLst/>
          </a:prstGeom>
        </p:spPr>
      </p:pic>
      <p:sp>
        <p:nvSpPr>
          <p:cNvPr id="18" name="g112|card|"/>
          <p:cNvSpPr txBox="1"/>
          <p:nvPr/>
        </p:nvSpPr>
        <p:spPr>
          <a:xfrm>
            <a:off x="5715000" y="4818888"/>
            <a:ext cx="2286000" cy="512064"/>
          </a:xfrm>
          <a:prstGeom prst="rect">
            <a:avLst/>
          </a:prstGeom>
          <a:noFill/>
        </p:spPr>
        <p:txBody>
          <a:bodyPr wrap="square" lIns="0" rIns="0" tIns="0" bIns="0" anchor="ctr">
            <a:noAutofit/>
          </a:bodyPr>
          <a:lstStyle/>
          <a:p>
            <a:pPr algn="l"/>
            <a:r>
              <a:rPr sz="1500" b="0">
                <a:solidFill>
                  <a:srgbClr val="FFFFFF"/>
                </a:solidFill>
                <a:latin typeface="Inter"/>
              </a:rPr>
              <a:t>TikTok video</a:t>
            </a:r>
          </a:p>
        </p:txBody>
      </p:sp>
      <p:sp>
        <p:nvSpPr>
          <p:cNvPr id="19" name="meet113|card|"/>
          <p:cNvSpPr/>
          <p:nvPr/>
        </p:nvSpPr>
        <p:spPr>
          <a:xfrm>
            <a:off x="8348471" y="1234440"/>
            <a:ext cx="3291840" cy="457200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eet113|eyebrow|"/>
          <p:cNvSpPr txBox="1"/>
          <p:nvPr/>
        </p:nvSpPr>
        <p:spPr>
          <a:xfrm>
            <a:off x="8622792" y="1463040"/>
            <a:ext cx="2743200" cy="274320"/>
          </a:xfrm>
          <a:prstGeom prst="rect">
            <a:avLst/>
          </a:prstGeom>
          <a:noFill/>
        </p:spPr>
        <p:txBody>
          <a:bodyPr wrap="square" lIns="0" rIns="0" tIns="0" bIns="0" anchor="t">
            <a:noAutofit/>
          </a:bodyPr>
          <a:lstStyle/>
          <a:p>
            <a:pPr algn="l"/>
            <a:r>
              <a:rPr sz="1200" b="1" spc="120">
                <a:solidFill>
                  <a:srgbClr val="A7B0B8"/>
                </a:solidFill>
                <a:latin typeface="Inter"/>
              </a:rPr>
              <a:t>BEING SWITCHED ON</a:t>
            </a:r>
          </a:p>
        </p:txBody>
      </p:sp>
      <p:pic>
        <p:nvPicPr>
          <p:cNvPr id="21" name="g114|icon|clock_white.png" descr="clock_white"/>
          <p:cNvPicPr>
            <a:picLocks noChangeAspect="1"/>
          </p:cNvPicPr>
          <p:nvPr/>
        </p:nvPicPr>
        <p:blipFill>
          <a:blip r:embed="rId3"/>
          <a:srcRect/>
          <a:stretch>
            <a:fillRect/>
          </a:stretch>
        </p:blipFill>
        <p:spPr>
          <a:xfrm>
            <a:off x="8723376" y="2093975"/>
            <a:ext cx="256032" cy="256032"/>
          </a:xfrm>
          <a:prstGeom prst="rect">
            <a:avLst/>
          </a:prstGeom>
        </p:spPr>
      </p:pic>
      <p:sp>
        <p:nvSpPr>
          <p:cNvPr id="22" name="g114|card|"/>
          <p:cNvSpPr txBox="1"/>
          <p:nvPr/>
        </p:nvSpPr>
        <p:spPr>
          <a:xfrm>
            <a:off x="9217151" y="1965960"/>
            <a:ext cx="2286000" cy="512064"/>
          </a:xfrm>
          <a:prstGeom prst="rect">
            <a:avLst/>
          </a:prstGeom>
          <a:noFill/>
        </p:spPr>
        <p:txBody>
          <a:bodyPr wrap="square" lIns="0" rIns="0" tIns="0" bIns="0" anchor="ctr">
            <a:noAutofit/>
          </a:bodyPr>
          <a:lstStyle/>
          <a:p>
            <a:pPr algn="l"/>
            <a:r>
              <a:rPr sz="1500" b="0">
                <a:solidFill>
                  <a:srgbClr val="FFFFFF"/>
                </a:solidFill>
                <a:latin typeface="Inter"/>
              </a:rPr>
              <a:t>Checkout</a:t>
            </a:r>
          </a:p>
        </p:txBody>
      </p:sp>
      <p:pic>
        <p:nvPicPr>
          <p:cNvPr id="23" name="g115|icon|clock_white.png" descr="clock_white"/>
          <p:cNvPicPr>
            <a:picLocks noChangeAspect="1"/>
          </p:cNvPicPr>
          <p:nvPr/>
        </p:nvPicPr>
        <p:blipFill>
          <a:blip r:embed="rId3"/>
          <a:srcRect/>
          <a:stretch>
            <a:fillRect/>
          </a:stretch>
        </p:blipFill>
        <p:spPr>
          <a:xfrm>
            <a:off x="8723376" y="2807208"/>
            <a:ext cx="256032" cy="256032"/>
          </a:xfrm>
          <a:prstGeom prst="rect">
            <a:avLst/>
          </a:prstGeom>
        </p:spPr>
      </p:pic>
      <p:sp>
        <p:nvSpPr>
          <p:cNvPr id="24" name="g115|card|"/>
          <p:cNvSpPr txBox="1"/>
          <p:nvPr/>
        </p:nvSpPr>
        <p:spPr>
          <a:xfrm>
            <a:off x="9217151" y="2679191"/>
            <a:ext cx="2286000" cy="512064"/>
          </a:xfrm>
          <a:prstGeom prst="rect">
            <a:avLst/>
          </a:prstGeom>
          <a:noFill/>
        </p:spPr>
        <p:txBody>
          <a:bodyPr wrap="square" lIns="0" rIns="0" tIns="0" bIns="0" anchor="ctr">
            <a:noAutofit/>
          </a:bodyPr>
          <a:lstStyle/>
          <a:p>
            <a:pPr algn="l"/>
            <a:r>
              <a:rPr sz="1500" b="0">
                <a:solidFill>
                  <a:srgbClr val="FFFFFF"/>
                </a:solidFill>
                <a:latin typeface="Inter"/>
              </a:rPr>
              <a:t>Facebook &amp; Instagram</a:t>
            </a:r>
          </a:p>
        </p:txBody>
      </p:sp>
      <p:pic>
        <p:nvPicPr>
          <p:cNvPr id="25" name="g116|icon|clock_white.png" descr="clock_white"/>
          <p:cNvPicPr>
            <a:picLocks noChangeAspect="1"/>
          </p:cNvPicPr>
          <p:nvPr/>
        </p:nvPicPr>
        <p:blipFill>
          <a:blip r:embed="rId3"/>
          <a:srcRect/>
          <a:stretch>
            <a:fillRect/>
          </a:stretch>
        </p:blipFill>
        <p:spPr>
          <a:xfrm>
            <a:off x="8723376" y="3520440"/>
            <a:ext cx="256032" cy="256032"/>
          </a:xfrm>
          <a:prstGeom prst="rect">
            <a:avLst/>
          </a:prstGeom>
        </p:spPr>
      </p:pic>
      <p:sp>
        <p:nvSpPr>
          <p:cNvPr id="26" name="g116|card|"/>
          <p:cNvSpPr txBox="1"/>
          <p:nvPr/>
        </p:nvSpPr>
        <p:spPr>
          <a:xfrm>
            <a:off x="9217151" y="3392424"/>
            <a:ext cx="2286000" cy="512064"/>
          </a:xfrm>
          <a:prstGeom prst="rect">
            <a:avLst/>
          </a:prstGeom>
          <a:noFill/>
        </p:spPr>
        <p:txBody>
          <a:bodyPr wrap="square" lIns="0" rIns="0" tIns="0" bIns="0" anchor="ctr">
            <a:noAutofit/>
          </a:bodyPr>
          <a:lstStyle/>
          <a:p>
            <a:pPr algn="l"/>
            <a:r>
              <a:rPr sz="1500" b="0">
                <a:solidFill>
                  <a:srgbClr val="FFFFFF"/>
                </a:solidFill>
                <a:latin typeface="Inter"/>
              </a:rPr>
              <a:t>AI Voice (beta)</a:t>
            </a:r>
          </a:p>
        </p:txBody>
      </p:sp>
      <p:sp>
        <p:nvSpPr>
          <p:cNvPr id="2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1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11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One loop, run by your AI marketing team</a:t>
            </a:r>
          </a:p>
        </p:txBody>
      </p:sp>
      <p:pic>
        <p:nvPicPr>
          <p:cNvPr id="4" name="g118|img|infographics/how-fluxmuse-works.png" descr="Loop: Plan, Create (captions, images, short clips), Publish (WhatsApp Status, consented broadcasts, TikTok), Sell (shop link from photos, every order on WhatsApp), Lear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1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SELLING</a:t>
            </a:r>
          </a:p>
        </p:txBody>
      </p:sp>
      <p:sp>
        <p:nvSpPr>
          <p:cNvPr id="3" name="hdr11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tap to repeat order, on WhatsApp</a:t>
            </a:r>
          </a:p>
        </p:txBody>
      </p:sp>
      <p:pic>
        <p:nvPicPr>
          <p:cNvPr id="4" name="g120|img|infographics/whatsapp-commerce-flow.png" descr="Discover, Chat, Catalog, Cart, Pay (Paystack, South Africa, being switched on), Order alert, Come back; checkout through FluxMuse not yet tested with real mone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SOLO ENTREPRENEURS</a:t>
            </a:r>
          </a:p>
        </p:txBody>
      </p:sp>
      <p:sp>
        <p:nvSpPr>
          <p:cNvPr id="3" name="hdr12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Solo entrepreneurs: 1–5 people</a:t>
            </a:r>
          </a:p>
        </p:txBody>
      </p:sp>
      <p:pic>
        <p:nvPicPr>
          <p:cNvPr id="4" name="g122|img|infographics/segment-solo.png" descr="Solo entrepreneurs: three pains, three newly launched answers, Nano R149 a month, Founding Member R104 for the first two bills"/>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WORKING WITH FLUXMUSE</a:t>
            </a:r>
          </a:p>
        </p:txBody>
      </p:sp>
      <p:sp>
        <p:nvSpPr>
          <p:cNvPr id="3" name="hdr12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first call to your first orders</a:t>
            </a:r>
          </a:p>
        </p:txBody>
      </p:sp>
      <p:pic>
        <p:nvPicPr>
          <p:cNvPr id="4" name="g124|img|infographics/brand-engagement-journey.png" descr="Discovery call, demo on your products, set up by hand, go live (lead guarantee starts), weekly check-ins, keep growing; measures agreed together"/>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OUR FIRST GROUP OF BUSINESSES</a:t>
            </a:r>
          </a:p>
        </p:txBody>
      </p:sp>
      <p:sp>
        <p:nvSpPr>
          <p:cNvPr id="3" name="hdr12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Starting small, set up by hand</a:t>
            </a:r>
          </a:p>
        </p:txBody>
      </p:sp>
      <p:sp>
        <p:nvSpPr>
          <p:cNvPr id="4" name="fg126|card|"/>
          <p:cNvSpPr/>
          <p:nvPr/>
        </p:nvSpPr>
        <p:spPr>
          <a:xfrm>
            <a:off x="548640" y="1536192"/>
            <a:ext cx="5440680" cy="4617720"/>
          </a:xfrm>
          <a:prstGeom prst="roundRect">
            <a:avLst>
              <a:gd name="adj" fmla="val 396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g126|card|"/>
          <p:cNvSpPr txBox="1"/>
          <p:nvPr/>
        </p:nvSpPr>
        <p:spPr>
          <a:xfrm>
            <a:off x="914400" y="1810512"/>
            <a:ext cx="4663440" cy="457200"/>
          </a:xfrm>
          <a:prstGeom prst="rect">
            <a:avLst/>
          </a:prstGeom>
          <a:noFill/>
        </p:spPr>
        <p:txBody>
          <a:bodyPr wrap="square" lIns="0" rIns="0" tIns="0" bIns="0" anchor="t">
            <a:noAutofit/>
          </a:bodyPr>
          <a:lstStyle/>
          <a:p>
            <a:pPr algn="l"/>
            <a:r>
              <a:rPr sz="2200" b="1">
                <a:solidFill>
                  <a:srgbClr val="20242B"/>
                </a:solidFill>
                <a:latin typeface="Poppins"/>
              </a:rPr>
              <a:t>A small first group</a:t>
            </a:r>
          </a:p>
        </p:txBody>
      </p:sp>
      <p:sp>
        <p:nvSpPr>
          <p:cNvPr id="6" name="g127|deco|"/>
          <p:cNvSpPr/>
          <p:nvPr/>
        </p:nvSpPr>
        <p:spPr>
          <a:xfrm>
            <a:off x="914400" y="258775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127|icon|users_deep.png" descr="users_deep"/>
          <p:cNvPicPr>
            <a:picLocks noChangeAspect="1"/>
          </p:cNvPicPr>
          <p:nvPr/>
        </p:nvPicPr>
        <p:blipFill>
          <a:blip r:embed="rId2"/>
          <a:srcRect/>
          <a:stretch>
            <a:fillRect/>
          </a:stretch>
        </p:blipFill>
        <p:spPr>
          <a:xfrm>
            <a:off x="1027054" y="2700406"/>
            <a:ext cx="286755" cy="286755"/>
          </a:xfrm>
          <a:prstGeom prst="rect">
            <a:avLst/>
          </a:prstGeom>
        </p:spPr>
      </p:pic>
      <p:sp>
        <p:nvSpPr>
          <p:cNvPr id="8" name="g127|body|"/>
          <p:cNvSpPr txBox="1"/>
          <p:nvPr/>
        </p:nvSpPr>
        <p:spPr>
          <a:xfrm>
            <a:off x="1600200" y="2514600"/>
            <a:ext cx="4114800" cy="676656"/>
          </a:xfrm>
          <a:prstGeom prst="rect">
            <a:avLst/>
          </a:prstGeom>
          <a:noFill/>
        </p:spPr>
        <p:txBody>
          <a:bodyPr wrap="square" lIns="0" rIns="0" tIns="0" bIns="0" anchor="ctr">
            <a:noAutofit/>
          </a:bodyPr>
          <a:lstStyle/>
          <a:p>
            <a:pPr algn="l"/>
            <a:r>
              <a:rPr sz="1600" b="0">
                <a:solidFill>
                  <a:srgbClr val="20242B"/>
                </a:solidFill>
                <a:latin typeface="Inter"/>
              </a:rPr>
              <a:t>We set you up by hand</a:t>
            </a:r>
          </a:p>
        </p:txBody>
      </p:sp>
      <p:sp>
        <p:nvSpPr>
          <p:cNvPr id="9" name="g128|deco|"/>
          <p:cNvSpPr/>
          <p:nvPr/>
        </p:nvSpPr>
        <p:spPr>
          <a:xfrm>
            <a:off x="914400" y="345643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128|icon|calendar_deep.png" descr="calendar_deep"/>
          <p:cNvPicPr>
            <a:picLocks noChangeAspect="1"/>
          </p:cNvPicPr>
          <p:nvPr/>
        </p:nvPicPr>
        <p:blipFill>
          <a:blip r:embed="rId3"/>
          <a:srcRect/>
          <a:stretch>
            <a:fillRect/>
          </a:stretch>
        </p:blipFill>
        <p:spPr>
          <a:xfrm>
            <a:off x="1027054" y="3569086"/>
            <a:ext cx="286755" cy="286755"/>
          </a:xfrm>
          <a:prstGeom prst="rect">
            <a:avLst/>
          </a:prstGeom>
        </p:spPr>
      </p:pic>
      <p:sp>
        <p:nvSpPr>
          <p:cNvPr id="11" name="g128|body|"/>
          <p:cNvSpPr txBox="1"/>
          <p:nvPr/>
        </p:nvSpPr>
        <p:spPr>
          <a:xfrm>
            <a:off x="1600200" y="3383280"/>
            <a:ext cx="4114800" cy="676656"/>
          </a:xfrm>
          <a:prstGeom prst="rect">
            <a:avLst/>
          </a:prstGeom>
          <a:noFill/>
        </p:spPr>
        <p:txBody>
          <a:bodyPr wrap="square" lIns="0" rIns="0" tIns="0" bIns="0" anchor="ctr">
            <a:noAutofit/>
          </a:bodyPr>
          <a:lstStyle/>
          <a:p>
            <a:pPr algn="l"/>
            <a:r>
              <a:rPr sz="1600" b="0">
                <a:solidFill>
                  <a:srgbClr val="20242B"/>
                </a:solidFill>
                <a:latin typeface="Inter"/>
              </a:rPr>
              <a:t>Weekly founder check-ins</a:t>
            </a:r>
          </a:p>
        </p:txBody>
      </p:sp>
      <p:sp>
        <p:nvSpPr>
          <p:cNvPr id="12" name="g129|deco|"/>
          <p:cNvSpPr/>
          <p:nvPr/>
        </p:nvSpPr>
        <p:spPr>
          <a:xfrm>
            <a:off x="914400" y="432511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129|icon|chat_deep.png" descr="chat_deep"/>
          <p:cNvPicPr>
            <a:picLocks noChangeAspect="1"/>
          </p:cNvPicPr>
          <p:nvPr/>
        </p:nvPicPr>
        <p:blipFill>
          <a:blip r:embed="rId4"/>
          <a:srcRect/>
          <a:stretch>
            <a:fillRect/>
          </a:stretch>
        </p:blipFill>
        <p:spPr>
          <a:xfrm>
            <a:off x="1027054" y="4437766"/>
            <a:ext cx="286755" cy="286755"/>
          </a:xfrm>
          <a:prstGeom prst="rect">
            <a:avLst/>
          </a:prstGeom>
        </p:spPr>
      </p:pic>
      <p:sp>
        <p:nvSpPr>
          <p:cNvPr id="14" name="g129|body|"/>
          <p:cNvSpPr txBox="1"/>
          <p:nvPr/>
        </p:nvSpPr>
        <p:spPr>
          <a:xfrm>
            <a:off x="1600200" y="4251960"/>
            <a:ext cx="4114800" cy="676656"/>
          </a:xfrm>
          <a:prstGeom prst="rect">
            <a:avLst/>
          </a:prstGeom>
          <a:noFill/>
        </p:spPr>
        <p:txBody>
          <a:bodyPr wrap="square" lIns="0" rIns="0" tIns="0" bIns="0" anchor="ctr">
            <a:noAutofit/>
          </a:bodyPr>
          <a:lstStyle/>
          <a:p>
            <a:pPr algn="l"/>
            <a:r>
              <a:rPr sz="1600" b="0">
                <a:solidFill>
                  <a:srgbClr val="20242B"/>
                </a:solidFill>
                <a:latin typeface="Inter"/>
              </a:rPr>
              <a:t>You tell us what to fix first</a:t>
            </a:r>
          </a:p>
        </p:txBody>
      </p:sp>
      <p:sp>
        <p:nvSpPr>
          <p:cNvPr id="15" name="g130|deco|"/>
          <p:cNvSpPr/>
          <p:nvPr/>
        </p:nvSpPr>
        <p:spPr>
          <a:xfrm>
            <a:off x="914400" y="5193792"/>
            <a:ext cx="512064" cy="5120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g130|icon|shield_deep.png" descr="shield_deep"/>
          <p:cNvPicPr>
            <a:picLocks noChangeAspect="1"/>
          </p:cNvPicPr>
          <p:nvPr/>
        </p:nvPicPr>
        <p:blipFill>
          <a:blip r:embed="rId5"/>
          <a:srcRect/>
          <a:stretch>
            <a:fillRect/>
          </a:stretch>
        </p:blipFill>
        <p:spPr>
          <a:xfrm>
            <a:off x="1027054" y="5306446"/>
            <a:ext cx="286755" cy="286755"/>
          </a:xfrm>
          <a:prstGeom prst="rect">
            <a:avLst/>
          </a:prstGeom>
        </p:spPr>
      </p:pic>
      <p:sp>
        <p:nvSpPr>
          <p:cNvPr id="17" name="g130|body|"/>
          <p:cNvSpPr txBox="1"/>
          <p:nvPr/>
        </p:nvSpPr>
        <p:spPr>
          <a:xfrm>
            <a:off x="1600200" y="5120640"/>
            <a:ext cx="4114800" cy="676656"/>
          </a:xfrm>
          <a:prstGeom prst="rect">
            <a:avLst/>
          </a:prstGeom>
          <a:noFill/>
        </p:spPr>
        <p:txBody>
          <a:bodyPr wrap="square" lIns="0" rIns="0" tIns="0" bIns="0" anchor="ctr">
            <a:noAutofit/>
          </a:bodyPr>
          <a:lstStyle/>
          <a:p>
            <a:pPr algn="l"/>
            <a:r>
              <a:rPr sz="1600" b="0">
                <a:solidFill>
                  <a:srgbClr val="20242B"/>
                </a:solidFill>
                <a:latin typeface="Inter"/>
              </a:rPr>
              <a:t>Your story shared only with consent</a:t>
            </a:r>
          </a:p>
        </p:txBody>
      </p:sp>
      <p:sp>
        <p:nvSpPr>
          <p:cNvPr id="18" name="lg131|card|"/>
          <p:cNvSpPr/>
          <p:nvPr/>
        </p:nvSpPr>
        <p:spPr>
          <a:xfrm>
            <a:off x="6202375" y="1536192"/>
            <a:ext cx="5440680" cy="4617720"/>
          </a:xfrm>
          <a:prstGeom prst="roundRect">
            <a:avLst>
              <a:gd name="adj" fmla="val 396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g131|deco|"/>
          <p:cNvSpPr/>
          <p:nvPr/>
        </p:nvSpPr>
        <p:spPr>
          <a:xfrm>
            <a:off x="6494983" y="1801368"/>
            <a:ext cx="786384" cy="78638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lg131|icon|target_deep.png" descr="target_deep"/>
          <p:cNvPicPr>
            <a:picLocks noChangeAspect="1"/>
          </p:cNvPicPr>
          <p:nvPr/>
        </p:nvPicPr>
        <p:blipFill>
          <a:blip r:embed="rId6"/>
          <a:srcRect/>
          <a:stretch>
            <a:fillRect/>
          </a:stretch>
        </p:blipFill>
        <p:spPr>
          <a:xfrm>
            <a:off x="6667987" y="1974372"/>
            <a:ext cx="440375" cy="440375"/>
          </a:xfrm>
          <a:prstGeom prst="rect">
            <a:avLst/>
          </a:prstGeom>
        </p:spPr>
      </p:pic>
      <p:sp>
        <p:nvSpPr>
          <p:cNvPr id="21" name="lg131|eyebrow|"/>
          <p:cNvSpPr txBox="1"/>
          <p:nvPr/>
        </p:nvSpPr>
        <p:spPr>
          <a:xfrm>
            <a:off x="7482535" y="1938528"/>
            <a:ext cx="3840480" cy="274320"/>
          </a:xfrm>
          <a:prstGeom prst="rect">
            <a:avLst/>
          </a:prstGeom>
          <a:noFill/>
        </p:spPr>
        <p:txBody>
          <a:bodyPr wrap="square" lIns="0" rIns="0" tIns="0" bIns="0" anchor="t">
            <a:noAutofit/>
          </a:bodyPr>
          <a:lstStyle/>
          <a:p>
            <a:pPr algn="l"/>
            <a:r>
              <a:rPr sz="1300" b="1" spc="120">
                <a:solidFill>
                  <a:srgbClr val="C24E00"/>
                </a:solidFill>
                <a:latin typeface="Inter"/>
              </a:rPr>
              <a:t>LEAD GUARANTEE</a:t>
            </a:r>
          </a:p>
        </p:txBody>
      </p:sp>
      <p:sp>
        <p:nvSpPr>
          <p:cNvPr id="22" name="lg131|card|"/>
          <p:cNvSpPr txBox="1"/>
          <p:nvPr/>
        </p:nvSpPr>
        <p:spPr>
          <a:xfrm>
            <a:off x="7482535" y="2212848"/>
            <a:ext cx="3931920" cy="868680"/>
          </a:xfrm>
          <a:prstGeom prst="rect">
            <a:avLst/>
          </a:prstGeom>
          <a:noFill/>
        </p:spPr>
        <p:txBody>
          <a:bodyPr wrap="square" lIns="0" rIns="0" tIns="0" bIns="0" anchor="t">
            <a:noAutofit/>
          </a:bodyPr>
          <a:lstStyle/>
          <a:p>
            <a:pPr algn="l">
              <a:lnSpc>
                <a:spcPct val="95000"/>
              </a:lnSpc>
            </a:pPr>
            <a:r>
              <a:rPr sz="2200" b="1">
                <a:solidFill>
                  <a:srgbClr val="20242B"/>
                </a:solidFill>
                <a:latin typeface="Poppins"/>
              </a:rPr>
              <a:t>3 qualified leads in 30 days of go-live</a:t>
            </a:r>
          </a:p>
        </p:txBody>
      </p:sp>
      <p:sp>
        <p:nvSpPr>
          <p:cNvPr id="23" name="lg131|caption|"/>
          <p:cNvSpPr txBox="1"/>
          <p:nvPr/>
        </p:nvSpPr>
        <p:spPr>
          <a:xfrm>
            <a:off x="6568135" y="3429000"/>
            <a:ext cx="4709160" cy="2468880"/>
          </a:xfrm>
          <a:prstGeom prst="rect">
            <a:avLst/>
          </a:prstGeom>
          <a:noFill/>
        </p:spPr>
        <p:txBody>
          <a:bodyPr wrap="square" lIns="0" rIns="0" tIns="0" bIns="0" anchor="t">
            <a:noAutofit/>
          </a:bodyPr>
          <a:lstStyle/>
          <a:p>
            <a:pPr algn="l">
              <a:lnSpc>
                <a:spcPct val="110000"/>
              </a:lnSpc>
            </a:pPr>
            <a:r>
              <a:rPr sz="1500" b="0">
                <a:solidFill>
                  <a:srgbClr val="20242B"/>
                </a:solidFill>
                <a:latin typeface="Inter"/>
              </a:rPr>
              <a:t>A qualified lead is a new WhatsApp number that messages you through your FluxMuse link. If fewer than 3 arrive in 30 days, and you shared your link and posted at least weekly, we keep supporting you at no extra charge until you reach 3. Extra support, not a payout.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YOUR PLANS</a:t>
            </a:r>
          </a:p>
        </p:txBody>
      </p:sp>
      <p:sp>
        <p:nvSpPr>
          <p:cNvPr id="3" name="hdr13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that fit a small business</a:t>
            </a:r>
          </a:p>
        </p:txBody>
      </p:sp>
      <p:sp>
        <p:nvSpPr>
          <p:cNvPr id="4" name="plan133|card|"/>
          <p:cNvSpPr/>
          <p:nvPr/>
        </p:nvSpPr>
        <p:spPr>
          <a:xfrm>
            <a:off x="548640" y="1536192"/>
            <a:ext cx="3511296" cy="3931920"/>
          </a:xfrm>
          <a:prstGeom prst="roundRect">
            <a:avLst>
              <a:gd name="adj" fmla="val 5208"/>
            </a:avLst>
          </a:prstGeom>
          <a:solidFill>
            <a:srgbClr val="FFF4EB"/>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lan133|card|"/>
          <p:cNvSpPr txBox="1"/>
          <p:nvPr/>
        </p:nvSpPr>
        <p:spPr>
          <a:xfrm>
            <a:off x="868680"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Nano</a:t>
            </a:r>
          </a:p>
        </p:txBody>
      </p:sp>
      <p:sp>
        <p:nvSpPr>
          <p:cNvPr id="6" name="plan133|card|"/>
          <p:cNvSpPr txBox="1"/>
          <p:nvPr/>
        </p:nvSpPr>
        <p:spPr>
          <a:xfrm>
            <a:off x="868680"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R149</a:t>
            </a:r>
            <a:r>
              <a:rPr sz="1600" b="0">
                <a:solidFill>
                  <a:srgbClr val="20242B"/>
                </a:solidFill>
                <a:latin typeface="Inter"/>
              </a:rPr>
              <a:t>/mo</a:t>
            </a:r>
          </a:p>
        </p:txBody>
      </p:sp>
      <p:sp>
        <p:nvSpPr>
          <p:cNvPr id="7" name="plan133|caption|"/>
          <p:cNvSpPr txBox="1"/>
          <p:nvPr/>
        </p:nvSpPr>
        <p:spPr>
          <a:xfrm>
            <a:off x="868680"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R1,490/yr</a:t>
            </a:r>
          </a:p>
        </p:txBody>
      </p:sp>
      <p:sp>
        <p:nvSpPr>
          <p:cNvPr id="8" name="plan133|card|"/>
          <p:cNvSpPr txBox="1"/>
          <p:nvPr/>
        </p:nvSpPr>
        <p:spPr>
          <a:xfrm>
            <a:off x="868680" y="3429000"/>
            <a:ext cx="2871215" cy="365760"/>
          </a:xfrm>
          <a:prstGeom prst="rect">
            <a:avLst/>
          </a:prstGeom>
          <a:noFill/>
        </p:spPr>
        <p:txBody>
          <a:bodyPr wrap="square" lIns="0" rIns="0" tIns="0" bIns="0" anchor="t">
            <a:noAutofit/>
          </a:bodyPr>
          <a:lstStyle/>
          <a:p>
            <a:pPr algn="l"/>
            <a:r>
              <a:rPr sz="1500" b="0">
                <a:solidFill>
                  <a:srgbClr val="20242B"/>
                </a:solidFill>
                <a:latin typeface="Inter"/>
              </a:rPr>
              <a:t>1 brand · 3 channels</a:t>
            </a:r>
          </a:p>
        </p:txBody>
      </p:sp>
      <p:sp>
        <p:nvSpPr>
          <p:cNvPr id="9" name="plan133|card|"/>
          <p:cNvSpPr txBox="1"/>
          <p:nvPr/>
        </p:nvSpPr>
        <p:spPr>
          <a:xfrm>
            <a:off x="868680" y="3840480"/>
            <a:ext cx="2871215" cy="365760"/>
          </a:xfrm>
          <a:prstGeom prst="rect">
            <a:avLst/>
          </a:prstGeom>
          <a:noFill/>
        </p:spPr>
        <p:txBody>
          <a:bodyPr wrap="square" lIns="0" rIns="0" tIns="0" bIns="0" anchor="t">
            <a:noAutofit/>
          </a:bodyPr>
          <a:lstStyle/>
          <a:p>
            <a:pPr algn="l"/>
            <a:r>
              <a:rPr sz="1500" b="1">
                <a:solidFill>
                  <a:srgbClr val="C24E00"/>
                </a:solidFill>
                <a:latin typeface="Inter"/>
              </a:rPr>
              <a:t>Entry plan</a:t>
            </a:r>
          </a:p>
        </p:txBody>
      </p:sp>
      <p:sp>
        <p:nvSpPr>
          <p:cNvPr id="10" name="plan133|caption|"/>
          <p:cNvSpPr txBox="1"/>
          <p:nvPr/>
        </p:nvSpPr>
        <p:spPr>
          <a:xfrm>
            <a:off x="868680"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R104 for your first 2 bills</a:t>
            </a:r>
          </a:p>
        </p:txBody>
      </p:sp>
      <p:sp>
        <p:nvSpPr>
          <p:cNvPr id="11" name="plan134|card|"/>
          <p:cNvSpPr/>
          <p:nvPr/>
        </p:nvSpPr>
        <p:spPr>
          <a:xfrm>
            <a:off x="4340199" y="1536192"/>
            <a:ext cx="3511296" cy="3931920"/>
          </a:xfrm>
          <a:prstGeom prst="roundRect">
            <a:avLst>
              <a:gd name="adj" fmla="val 520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lan134|card|"/>
          <p:cNvSpPr txBox="1"/>
          <p:nvPr/>
        </p:nvSpPr>
        <p:spPr>
          <a:xfrm>
            <a:off x="4660239"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Micro</a:t>
            </a:r>
          </a:p>
        </p:txBody>
      </p:sp>
      <p:sp>
        <p:nvSpPr>
          <p:cNvPr id="13" name="plan134|card|"/>
          <p:cNvSpPr txBox="1"/>
          <p:nvPr/>
        </p:nvSpPr>
        <p:spPr>
          <a:xfrm>
            <a:off x="4660239"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R289</a:t>
            </a:r>
            <a:r>
              <a:rPr sz="1600" b="0">
                <a:solidFill>
                  <a:srgbClr val="20242B"/>
                </a:solidFill>
                <a:latin typeface="Inter"/>
              </a:rPr>
              <a:t>/mo</a:t>
            </a:r>
          </a:p>
        </p:txBody>
      </p:sp>
      <p:sp>
        <p:nvSpPr>
          <p:cNvPr id="14" name="plan134|caption|"/>
          <p:cNvSpPr txBox="1"/>
          <p:nvPr/>
        </p:nvSpPr>
        <p:spPr>
          <a:xfrm>
            <a:off x="4660239"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R2,890/yr</a:t>
            </a:r>
          </a:p>
        </p:txBody>
      </p:sp>
      <p:sp>
        <p:nvSpPr>
          <p:cNvPr id="15" name="plan134|card|"/>
          <p:cNvSpPr txBox="1"/>
          <p:nvPr/>
        </p:nvSpPr>
        <p:spPr>
          <a:xfrm>
            <a:off x="4660239" y="3429000"/>
            <a:ext cx="2871215" cy="365760"/>
          </a:xfrm>
          <a:prstGeom prst="rect">
            <a:avLst/>
          </a:prstGeom>
          <a:noFill/>
        </p:spPr>
        <p:txBody>
          <a:bodyPr wrap="square" lIns="0" rIns="0" tIns="0" bIns="0" anchor="t">
            <a:noAutofit/>
          </a:bodyPr>
          <a:lstStyle/>
          <a:p>
            <a:pPr algn="l"/>
            <a:r>
              <a:rPr sz="1500" b="0">
                <a:solidFill>
                  <a:srgbClr val="20242B"/>
                </a:solidFill>
                <a:latin typeface="Inter"/>
              </a:rPr>
              <a:t>1 brand · 4 channels</a:t>
            </a:r>
          </a:p>
        </p:txBody>
      </p:sp>
      <p:sp>
        <p:nvSpPr>
          <p:cNvPr id="16" name="plan134|card|"/>
          <p:cNvSpPr txBox="1"/>
          <p:nvPr/>
        </p:nvSpPr>
        <p:spPr>
          <a:xfrm>
            <a:off x="4660239" y="3840480"/>
            <a:ext cx="2871215" cy="365760"/>
          </a:xfrm>
          <a:prstGeom prst="rect">
            <a:avLst/>
          </a:prstGeom>
          <a:noFill/>
        </p:spPr>
        <p:txBody>
          <a:bodyPr wrap="square" lIns="0" rIns="0" tIns="0" bIns="0" anchor="t">
            <a:noAutofit/>
          </a:bodyPr>
          <a:lstStyle/>
          <a:p>
            <a:pPr algn="l"/>
            <a:r>
              <a:rPr sz="1500" b="1">
                <a:solidFill>
                  <a:srgbClr val="C24E00"/>
                </a:solidFill>
                <a:latin typeface="Inter"/>
              </a:rPr>
              <a:t>Own WhatsApp number</a:t>
            </a:r>
          </a:p>
        </p:txBody>
      </p:sp>
      <p:sp>
        <p:nvSpPr>
          <p:cNvPr id="17" name="plan134|caption|"/>
          <p:cNvSpPr txBox="1"/>
          <p:nvPr/>
        </p:nvSpPr>
        <p:spPr>
          <a:xfrm>
            <a:off x="4660239"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R202 for your first 2 bills</a:t>
            </a:r>
          </a:p>
        </p:txBody>
      </p:sp>
      <p:sp>
        <p:nvSpPr>
          <p:cNvPr id="18" name="plan135|card|"/>
          <p:cNvSpPr/>
          <p:nvPr/>
        </p:nvSpPr>
        <p:spPr>
          <a:xfrm>
            <a:off x="8131759" y="1536192"/>
            <a:ext cx="3511296" cy="3931920"/>
          </a:xfrm>
          <a:prstGeom prst="roundRect">
            <a:avLst>
              <a:gd name="adj" fmla="val 520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lan135|card|"/>
          <p:cNvSpPr txBox="1"/>
          <p:nvPr/>
        </p:nvSpPr>
        <p:spPr>
          <a:xfrm>
            <a:off x="8451799" y="1783080"/>
            <a:ext cx="2871215" cy="457200"/>
          </a:xfrm>
          <a:prstGeom prst="rect">
            <a:avLst/>
          </a:prstGeom>
          <a:noFill/>
        </p:spPr>
        <p:txBody>
          <a:bodyPr wrap="square" lIns="0" rIns="0" tIns="0" bIns="0" anchor="t">
            <a:noAutofit/>
          </a:bodyPr>
          <a:lstStyle/>
          <a:p>
            <a:pPr algn="l"/>
            <a:r>
              <a:rPr sz="2200" b="1">
                <a:solidFill>
                  <a:srgbClr val="20242B"/>
                </a:solidFill>
                <a:latin typeface="Poppins"/>
              </a:rPr>
              <a:t>Starter</a:t>
            </a:r>
          </a:p>
        </p:txBody>
      </p:sp>
      <p:sp>
        <p:nvSpPr>
          <p:cNvPr id="20" name="plan135|card|"/>
          <p:cNvSpPr txBox="1"/>
          <p:nvPr/>
        </p:nvSpPr>
        <p:spPr>
          <a:xfrm>
            <a:off x="8451799" y="2286000"/>
            <a:ext cx="2871215" cy="731520"/>
          </a:xfrm>
          <a:prstGeom prst="rect">
            <a:avLst/>
          </a:prstGeom>
          <a:noFill/>
        </p:spPr>
        <p:txBody>
          <a:bodyPr wrap="square" lIns="0" rIns="0" tIns="0" bIns="0" anchor="t">
            <a:noAutofit/>
          </a:bodyPr>
          <a:lstStyle/>
          <a:p>
            <a:pPr algn="l"/>
            <a:r>
              <a:rPr sz="3600" b="1">
                <a:solidFill>
                  <a:srgbClr val="20242B"/>
                </a:solidFill>
                <a:latin typeface="Poppins"/>
              </a:rPr>
              <a:t>R499</a:t>
            </a:r>
            <a:r>
              <a:rPr sz="1600" b="0">
                <a:solidFill>
                  <a:srgbClr val="20242B"/>
                </a:solidFill>
                <a:latin typeface="Inter"/>
              </a:rPr>
              <a:t>/mo</a:t>
            </a:r>
          </a:p>
        </p:txBody>
      </p:sp>
      <p:sp>
        <p:nvSpPr>
          <p:cNvPr id="21" name="plan135|caption|"/>
          <p:cNvSpPr txBox="1"/>
          <p:nvPr/>
        </p:nvSpPr>
        <p:spPr>
          <a:xfrm>
            <a:off x="8451799" y="3017520"/>
            <a:ext cx="2871215" cy="274320"/>
          </a:xfrm>
          <a:prstGeom prst="rect">
            <a:avLst/>
          </a:prstGeom>
          <a:noFill/>
        </p:spPr>
        <p:txBody>
          <a:bodyPr wrap="square" lIns="0" rIns="0" tIns="0" bIns="0" anchor="t">
            <a:noAutofit/>
          </a:bodyPr>
          <a:lstStyle/>
          <a:p>
            <a:pPr algn="l"/>
            <a:r>
              <a:rPr sz="1300" b="0">
                <a:solidFill>
                  <a:srgbClr val="5B6670"/>
                </a:solidFill>
                <a:latin typeface="Inter"/>
              </a:rPr>
              <a:t>or R4,990/yr</a:t>
            </a:r>
          </a:p>
        </p:txBody>
      </p:sp>
      <p:sp>
        <p:nvSpPr>
          <p:cNvPr id="22" name="plan135|card|"/>
          <p:cNvSpPr txBox="1"/>
          <p:nvPr/>
        </p:nvSpPr>
        <p:spPr>
          <a:xfrm>
            <a:off x="8451799" y="3429000"/>
            <a:ext cx="2871215" cy="365760"/>
          </a:xfrm>
          <a:prstGeom prst="rect">
            <a:avLst/>
          </a:prstGeom>
          <a:noFill/>
        </p:spPr>
        <p:txBody>
          <a:bodyPr wrap="square" lIns="0" rIns="0" tIns="0" bIns="0" anchor="t">
            <a:noAutofit/>
          </a:bodyPr>
          <a:lstStyle/>
          <a:p>
            <a:pPr algn="l"/>
            <a:r>
              <a:rPr sz="1500" b="0">
                <a:solidFill>
                  <a:srgbClr val="20242B"/>
                </a:solidFill>
                <a:latin typeface="Inter"/>
              </a:rPr>
              <a:t>1 brand · 3 channels</a:t>
            </a:r>
          </a:p>
        </p:txBody>
      </p:sp>
      <p:sp>
        <p:nvSpPr>
          <p:cNvPr id="23" name="plan135|card|"/>
          <p:cNvSpPr txBox="1"/>
          <p:nvPr/>
        </p:nvSpPr>
        <p:spPr>
          <a:xfrm>
            <a:off x="8451799" y="3840480"/>
            <a:ext cx="2871215" cy="365760"/>
          </a:xfrm>
          <a:prstGeom prst="rect">
            <a:avLst/>
          </a:prstGeom>
          <a:noFill/>
        </p:spPr>
        <p:txBody>
          <a:bodyPr wrap="square" lIns="0" rIns="0" tIns="0" bIns="0" anchor="t">
            <a:noAutofit/>
          </a:bodyPr>
          <a:lstStyle/>
          <a:p>
            <a:pPr algn="l"/>
            <a:r>
              <a:rPr sz="1500" b="1">
                <a:solidFill>
                  <a:srgbClr val="C24E00"/>
                </a:solidFill>
                <a:latin typeface="Inter"/>
              </a:rPr>
              <a:t>Room to grow</a:t>
            </a:r>
          </a:p>
        </p:txBody>
      </p:sp>
      <p:sp>
        <p:nvSpPr>
          <p:cNvPr id="24" name="plan135|caption|"/>
          <p:cNvSpPr txBox="1"/>
          <p:nvPr/>
        </p:nvSpPr>
        <p:spPr>
          <a:xfrm>
            <a:off x="8451799" y="4526280"/>
            <a:ext cx="2871215" cy="731520"/>
          </a:xfrm>
          <a:prstGeom prst="rect">
            <a:avLst/>
          </a:prstGeom>
          <a:noFill/>
        </p:spPr>
        <p:txBody>
          <a:bodyPr wrap="square" lIns="0" rIns="0" tIns="0" bIns="0" anchor="t">
            <a:noAutofit/>
          </a:bodyPr>
          <a:lstStyle/>
          <a:p>
            <a:pPr algn="l">
              <a:spcAft>
                <a:spcPts val="200"/>
              </a:spcAft>
            </a:pPr>
            <a:r>
              <a:rPr sz="1100" b="1">
                <a:solidFill>
                  <a:srgbClr val="C24E00"/>
                </a:solidFill>
                <a:latin typeface="Inter"/>
              </a:rPr>
              <a:t>FOUNDING MEMBER</a:t>
            </a:r>
          </a:p>
          <a:p>
            <a:pPr algn="l"/>
            <a:r>
              <a:rPr sz="1300" b="0">
                <a:solidFill>
                  <a:srgbClr val="20242B"/>
                </a:solidFill>
                <a:latin typeface="Inter"/>
              </a:rPr>
              <a:t>R349 for your first 2 bills</a:t>
            </a:r>
          </a:p>
        </p:txBody>
      </p:sp>
      <p:sp>
        <p:nvSpPr>
          <p:cNvPr id="25" name="g136|caption|"/>
          <p:cNvSpPr txBox="1"/>
          <p:nvPr/>
        </p:nvSpPr>
        <p:spPr>
          <a:xfrm>
            <a:off x="548640" y="5669280"/>
            <a:ext cx="11094415" cy="548640"/>
          </a:xfrm>
          <a:prstGeom prst="rect">
            <a:avLst/>
          </a:prstGeom>
          <a:noFill/>
        </p:spPr>
        <p:txBody>
          <a:bodyPr wrap="square" lIns="0" rIns="0" tIns="0" bIns="0" anchor="t">
            <a:noAutofit/>
          </a:bodyPr>
          <a:lstStyle/>
          <a:p>
            <a:pPr algn="l">
              <a:spcAft>
                <a:spcPts val="200"/>
              </a:spcAft>
            </a:pPr>
            <a:r>
              <a:rPr sz="1200" b="0">
                <a:solidFill>
                  <a:srgbClr val="5B6670"/>
                </a:solidFill>
                <a:latin typeface="Inter"/>
              </a:rPr>
              <a:t>Prices in rands are what you pay. Every paid plan starts with payment; no trials. Annual = 10× monthly. AI credit allowances: see fluxmuse.ai/pricing.</a:t>
            </a:r>
          </a:p>
          <a:p>
            <a:pPr algn="l"/>
            <a:r>
              <a:rPr sz="1200" b="0">
                <a:solidFill>
                  <a:srgbClr val="5B6670"/>
                </a:solidFill>
                <a:latin typeface="Inter"/>
              </a:rPr>
              <a:t>Founding Member: 30% off your first two monthly bills, South African sign-ups, while it lasts.</a:t>
            </a:r>
          </a:p>
        </p:txBody>
      </p:sp>
      <p:sp>
        <p:nvSpPr>
          <p:cNvPr id="2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LIVE NOW</a:t>
            </a:r>
          </a:p>
        </p:txBody>
      </p:sp>
      <p:sp>
        <p:nvSpPr>
          <p:cNvPr id="3" name="hdr13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Become a Founding Member</a:t>
            </a:r>
          </a:p>
        </p:txBody>
      </p:sp>
      <p:pic>
        <p:nvPicPr>
          <p:cNvPr id="4" name="g138|img|infographics/founding-member-offer.png" descr="Founding Member: 30% off your first two monthly bills, South African sign-ups, while it lasts: Nano R104, Micro R202, Starter R349, Growth R1,399, Scale R3,499; a discount, not a free perio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13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140|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140|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140|icon|checkCircle_deep.png" descr="checkCircle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140|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8" name="trust140|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9" name="trust141|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141|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141|icon|chat_deep.png" descr="chat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141|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Official WhatsApp API</a:t>
            </a:r>
          </a:p>
        </p:txBody>
      </p:sp>
      <p:sp>
        <p:nvSpPr>
          <p:cNvPr id="13" name="trust141|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Meta Cloud API</a:t>
            </a:r>
          </a:p>
        </p:txBody>
      </p:sp>
      <p:sp>
        <p:nvSpPr>
          <p:cNvPr id="14" name="trust142|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142|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142|icon|shield_deep.png" descr="shield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142|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POPIA-aligned</a:t>
            </a:r>
          </a:p>
        </p:txBody>
      </p:sp>
      <p:sp>
        <p:nvSpPr>
          <p:cNvPr id="18" name="trust142|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Consented broadcasts only</a:t>
            </a:r>
          </a:p>
        </p:txBody>
      </p:sp>
      <p:sp>
        <p:nvSpPr>
          <p:cNvPr id="19" name="trust143|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143|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143|icon|layers_deep.png" descr="layers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143|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23" name="trust143|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Your data kept separate</a:t>
            </a:r>
          </a:p>
        </p:txBody>
      </p:sp>
      <p:sp>
        <p:nvSpPr>
          <p:cNvPr id="24" name="trust144|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144|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144|icon|plug_deep.png" descr="plug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144|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8" name="trust144|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9" name="trust145|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145|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145|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145|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145|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46|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146|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on WhatsApp</a:t>
            </a:r>
          </a:p>
        </p:txBody>
      </p:sp>
      <p:sp>
        <p:nvSpPr>
          <p:cNvPr id="4" name="cta147|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147|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147|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147|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20-minute call</a:t>
            </a:r>
          </a:p>
        </p:txBody>
      </p:sp>
      <p:sp>
        <p:nvSpPr>
          <p:cNvPr id="8" name="cta147|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Goals, products, customers.</a:t>
            </a:r>
          </a:p>
        </p:txBody>
      </p:sp>
      <p:sp>
        <p:nvSpPr>
          <p:cNvPr id="9" name="cta148|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148|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148|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148|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See a demo on your products</a:t>
            </a:r>
          </a:p>
        </p:txBody>
      </p:sp>
      <p:sp>
        <p:nvSpPr>
          <p:cNvPr id="13" name="cta148|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Built from your own photos.</a:t>
            </a:r>
          </a:p>
        </p:txBody>
      </p:sp>
      <p:sp>
        <p:nvSpPr>
          <p:cNvPr id="14" name="cta149|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149|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149|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149|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Join as a Founding Member</a:t>
            </a:r>
          </a:p>
        </p:txBody>
      </p:sp>
      <p:sp>
        <p:nvSpPr>
          <p:cNvPr id="18" name="cta149|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First 2 Nano bills at R104.</a:t>
            </a:r>
          </a:p>
        </p:txBody>
      </p:sp>
      <p:sp>
        <p:nvSpPr>
          <p:cNvPr id="19" name="contact150|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150|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150|body|"/>
          <p:cNvSpPr txBox="1"/>
          <p:nvPr/>
        </p:nvSpPr>
        <p:spPr>
          <a:xfrm>
            <a:off x="8092440" y="2606040"/>
            <a:ext cx="3291840" cy="1280160"/>
          </a:xfrm>
          <a:prstGeom prst="rect">
            <a:avLst/>
          </a:prstGeom>
          <a:noFill/>
        </p:spPr>
        <p:txBody>
          <a:bodyPr wrap="square" lIns="0" rIns="0" tIns="0" bIns="0" anchor="t">
            <a:noAutofit/>
          </a:bodyPr>
          <a:lstStyle/>
          <a:p>
            <a:pPr algn="l">
              <a:spcAft>
                <a:spcPts val="200"/>
              </a:spcAft>
            </a:pPr>
            <a:r>
              <a:rPr sz="1500" b="1">
                <a:solidFill>
                  <a:srgbClr val="FFFFFF"/>
                </a:solidFill>
                <a:latin typeface="Inter"/>
              </a:rPr>
              <a:t>Thabo Malebadi</a:t>
            </a:r>
          </a:p>
          <a:p>
            <a:pPr algn="l">
              <a:spcAft>
                <a:spcPts val="400"/>
              </a:spcAft>
            </a:pPr>
            <a:r>
              <a:rPr sz="1500" b="0">
                <a:solidFill>
                  <a:srgbClr val="D5DADF"/>
                </a:solidFill>
                <a:latin typeface="Inter"/>
              </a:rPr>
              <a:t>Founder</a:t>
            </a:r>
          </a:p>
          <a:p>
            <a:pPr algn="l">
              <a:spcAft>
                <a:spcPts val="400"/>
              </a:spcAft>
            </a:pPr>
            <a:r>
              <a:rPr sz="1500" b="0">
                <a:solidFill>
                  <a:srgbClr val="D5DADF"/>
                </a:solidFill>
                <a:latin typeface="Inter"/>
              </a:rPr>
              <a:t>thabo@fluxmuse.com</a:t>
            </a:r>
          </a:p>
          <a:p>
            <a:pPr algn="l"/>
            <a:r>
              <a:rPr sz="1500" b="0">
                <a:solidFill>
                  <a:srgbClr val="D5DADF"/>
                </a:solidFill>
                <a:latin typeface="Inter"/>
              </a:rPr>
              <a:t>fluxmuse.ai</a:t>
            </a:r>
          </a:p>
        </p:txBody>
      </p:sp>
      <p:sp>
        <p:nvSpPr>
          <p:cNvPr id="22" name="contact150|deco|"/>
          <p:cNvSpPr/>
          <p:nvPr/>
        </p:nvSpPr>
        <p:spPr>
          <a:xfrm>
            <a:off x="8092440" y="4023360"/>
            <a:ext cx="1371600" cy="1371600"/>
          </a:xfrm>
          <a:prstGeom prst="roundRect">
            <a:avLst>
              <a:gd name="adj" fmla="val 6666"/>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150|caption|"/>
          <p:cNvSpPr txBox="1"/>
          <p:nvPr/>
        </p:nvSpPr>
        <p:spPr>
          <a:xfrm>
            <a:off x="8092440" y="4023360"/>
            <a:ext cx="1371600" cy="137160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150|placeholder|"/>
          <p:cNvSpPr txBox="1"/>
          <p:nvPr/>
        </p:nvSpPr>
        <p:spPr>
          <a:xfrm>
            <a:off x="9646920" y="4114800"/>
            <a:ext cx="182880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FAQ (1 OF 2)</a:t>
            </a:r>
          </a:p>
        </p:txBody>
      </p:sp>
      <p:sp>
        <p:nvSpPr>
          <p:cNvPr id="3" name="hdr15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52|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52|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52|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52|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152|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Row-level security, encrypted tokens, broadcasts only to consented contacts, and data export and account deletion. Fluxmuse is a verified Meta Tech Provider.</a:t>
            </a:r>
          </a:p>
        </p:txBody>
      </p:sp>
      <p:sp>
        <p:nvSpPr>
          <p:cNvPr id="9" name="faq153|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53|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53|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53|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153|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Yes. We connect your WhatsApp Business number through Meta's official Cloud API setup, with you, by hand.</a:t>
            </a:r>
          </a:p>
        </p:txBody>
      </p:sp>
      <p:sp>
        <p:nvSpPr>
          <p:cNvPr id="14" name="faq154|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54|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54|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54|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How do my customers pay?</a:t>
            </a:r>
          </a:p>
        </p:txBody>
      </p:sp>
      <p:sp>
        <p:nvSpPr>
          <p:cNvPr id="18" name="faq154|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Today, orders arrive as a WhatsApp message and you take payment your usual way. Checkout through FluxMuse (Paystack, South Africa) is being switched on.</a:t>
            </a:r>
          </a:p>
        </p:txBody>
      </p:sp>
      <p:sp>
        <p:nvSpPr>
          <p:cNvPr id="19" name="faq155|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55|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55|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55|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trial? Can I cancel?</a:t>
            </a:r>
          </a:p>
        </p:txBody>
      </p:sp>
      <p:sp>
        <p:nvSpPr>
          <p:cNvPr id="23" name="faq155|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No trials: every paid plan starts with payment, monthly or annual (10× monthly). Free is a permanent plan.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FAQ (2 OF 2)</a:t>
            </a:r>
          </a:p>
        </p:txBody>
      </p:sp>
      <p:sp>
        <p:nvSpPr>
          <p:cNvPr id="3" name="hdr15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57|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57|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57|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57|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guarantee?</a:t>
            </a:r>
          </a:p>
        </p:txBody>
      </p:sp>
      <p:sp>
        <p:nvSpPr>
          <p:cNvPr id="8" name="faq157|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A lead guarantee: 3 qualified leads in 30 days of go-live. If fewer, and you shared your link and posted weekly, we keep supporting you free until you reach 3.</a:t>
            </a:r>
          </a:p>
        </p:txBody>
      </p:sp>
      <p:sp>
        <p:nvSpPr>
          <p:cNvPr id="9" name="faq158|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58|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58|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58|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setup take?</a:t>
            </a:r>
          </a:p>
        </p:txBody>
      </p:sp>
      <p:sp>
        <p:nvSpPr>
          <p:cNvPr id="13" name="faq158|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We set you up by hand: WhatsApp number, catalogue from your photos, shop link. We aim for your first week; Meta approvals can stretch it.</a:t>
            </a:r>
          </a:p>
        </p:txBody>
      </p:sp>
      <p:sp>
        <p:nvSpPr>
          <p:cNvPr id="14" name="faq159|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59|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59|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59|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159|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Sync from Shopify, WooCommerce and Takealot is being switched on. Until then, we build your catalogue from product photos.</a:t>
            </a:r>
          </a:p>
        </p:txBody>
      </p:sp>
      <p:sp>
        <p:nvSpPr>
          <p:cNvPr id="19" name="faq160|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60|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60|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60|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160|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South Africa, today. Nigeria, Kenya and Ghana are priced but not yet on sale.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selling</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