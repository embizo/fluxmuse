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it personal and short. "You're running the business, the marketing and the WhatsApp inbox yourself. FluxMuse gives you an AI marketing team from R499 a month, and lets you sell and get paid right inside WhatsApp." Introduce yourself and promise about 15 minutes. Ask: "How do customers find you, and how do they book or buy today?" Listen for lost DMs, late replies, no-shows and proof-of-payment screenshots; you'll come back to each one. If they have more than five staff or several brands, switch to the SME deck.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about their week, not the market. You post when you find time, answer DMs late at night, and some buyers disappear when you send them a payment link. Paying a marketer or an agency isn't realistic yet, and plenty of buyers would rather pay by EFT than card, so you end up chasing proof-of-payment screenshots. On the right: FluxMuse gives you an AI marketing team from R499 a month, a catalog and checkout inside WhatsApp, and local ways to pay. Ask which of these costs them the most sales today.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FluxMuse in one line: an AI marketing team and WhatsApp commerce platform built for African SMBs. On the laptop is our website; on the phone is the demo store confirming an order inside a WhatsApp chat. Everything in this deck is live in the product today unless it's labelled "in review" or "coming soon", and we'll be precise about which is which. There's a 14-day free trial with no card required, so trying it costs nothing. Pause here and ask whether they already use WhatsApp Business, and on which number.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FluxMuse works as a loop run by four AI agents. The Strategist plans goals, channel mix and budget. The Creator writes copy and makes images in isiZulu, Afrikaans, Pidgin, Swahili, English and more. The Publisher schedules content across social, WhatsApp, email, SMS and USSD. Buyers then chat, browse and pay inside WhatsApp. The Analyst learns from orders and data and feeds insights back into the next plan. The point is that each step hands off to the next, so marketing and sales stop living in separate tools, and campaigns can go through approvals before anything is published.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four core agents: Strategist, Creator, Publisher and Analyst. Walk through one example for this prospect: the Strategist sets a goal for the month, the Creator drafts posts, the Publisher schedules them and runs the WhatsApp catalog, and the Analyst reports what worked. Behind them sit 23 specialist Flux agents for jobs like ads, nurture, support, commerce, finance and compliance, plus an AI Agent Marketplace. Don't read the chips aloud. Pick the two or three that match the prospect's pain, for example Flux Support for a busy inbox or Flux Nurture for repeat customers.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heart of the pitch. A buyer taps an ad, a post, a QR code or a wa.me link and lands in a chat. A chatbot or WhatsApp Flow replies instantly, they browse the catalog, build a cart and pay without leaving WhatsApp, using Yoco, Ozow, Paystack, pawaPay or Fincra. The order is confirmed and status updates arrive in the same chat. If they abandon the cart, a recovery message goes out automatically, and loyalty and retargeting bring them back. If you demo live, stick to the catalog, cart and confirmation screens shown here.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Getting paid is where many chat sales die, so this matters. FluxMuse has five payment rails: Yoco for cards and tap-to-pay, Ozow for instant EFT, Paystack, pawaPay for mobile money, and Fincra for collections and payouts. Together they cover 23 African countries, all live from September 2026, with pawaPay and Fincra from 14 September. Botswana and Namibia are coming soon, once a rail covers them. For a South African business the headline is simple: card, tap-to-pay and instant EFT, inside the chat. Save the country detail for the appendix.</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Solo entrepreneurs are side hustles, braiders and hair studios, fashion resellers, home bakers, coaches and informal retailers selling on Instagram, Facebook and WhatsApp. Their pains are simple: no time or budget for a marketer, sales lost in busy DMs, and buyers who drop off at payment links. FluxMuse answers each one: the Creator writes posts and the Publisher schedules them, chatbots reply instantly even after hours, and checkout happens in the chat. Starter is R499 a month; the full catalog and checkout sit in Growth, the natural upgrade. Founding Members pay R349 for their first two Starter bills.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don't tell. On the left is the FluxMuse website; top right is the pricing page in rand; below it are three screens from the WhatsApp checkout demo: browse the catalog, review the cart, and pay with a confirmation in the chat. If there's time and a good connection, open the live demo and walk the same three steps, but skip the payment-method screens, which still list a provider outside our five rails. Invite them to start a free trial during the call so they can click through their own workspace while you talk.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lead case study is a Gauteng braiding and hair studio: an owner-operator on Starter who already books clients on WhatsApp, with short booking cycles, so 60 days is enough to see a difference. In week one we set up a booking chatbot, a catalog with a deposit link through Yoco or Ozow, appointment reminders, multilingual before-and-after content, and a wa.me QR code for the salon mirror. Every result on this slide is a placeholder until the pilot ends, and the targets are goals, not outcomes. Replace this slide with the consented case study from December 2026.</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solo businesses start on Starter: R499 a month for one brand, three channels and 5,000 AI credits, with community support. When they're ready for e-commerce and full WhatsApp commerce with a catalog and checkout, Growth at R1,999 is the step up. Point out the 14-day free trial with no card required, and annual billing at ten times monthly, which gives two months free. Scale and Agency are for bigger teams, so don't dwell on them. Then move to the Founding Member offer, which makes the first two months cheaper.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easiest yes. Start the 14-day free trial now, then subscribe in the launch window, 1 December 2026 to 31 January 2027, and your first two Starter bills are R349 instead of R499. If you move to Growth for the catalog and checkout, it's R1,399 for two months, then R1,999. Pay annually and you get two extra months free. Founding Members also get a badge and priority support. Don't promise how long the perks last, and don't offer the deeper pilot pricing, which is only for the twelve Gauteng pilot brands.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Trust matters when you're handling customer chats and payments. FluxMuse is POPIA, NDPR and GDPR ready. Fluxmuse Pty Ltd has passed Meta Business Verification and is a verified Meta Tech Provider, and WhatsApp runs on Meta's official Cloud API. Under the hood there's row-level security on every database table, encrypted tokens for connected accounts, audit export, and account deletion and data export. If they ask for a data processing agreement, a security questionnaire or certifications, don't improvise: note the request and follow up in writing.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one clear next step. The simplest is to start the 14-day free trial right now, on the call, at fluxmuse.ai; no card is needed, and you can help them connect WhatsApp and add their first products. If they want help first, book a 30-minute discovery call. Remind them that joining as a Founding Member in the launch window means R349 for their first two Starter bills. Share your WhatsApp QR code so they can message you with questions, and follow up within 24 hours.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answers as written; they're checked against what the product does today. On data, stick to the controls listed and don't claim certifications we haven't confirmed. On WhatsApp numbers, explain that the number is connected through Meta's Embedded Signup and that we check it together during setup, because a number already used in the WhatsApp Business app may need extra steps. On payments, name only the five rails. On contracts, cancellation terms are still to be confirmed, so don't improvise; promise a written answer.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Languages: the Creator agent writes in isiZulu, Afrikaans, English, Pidgin, Swahili and more, so offer to generate a sample post in their language during the trial. Onboarding: typical setup takes one to two weeks, but Meta template approvals and catalog size can stretch that, so set expectations honestly. Shopify and WooCommerce users keep their store, and FluxMuse connects to it from the Growth plan. Availability: we sell in 23 countries with payment rails; anyone in Botswana, Namibia or another gated country gets the waitlist link, never prices.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9.png"/><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419"/>
        </a:solidFill>
        <a:effectLst/>
      </p:bgPr>
    </p:bg>
    <p:spTree>
      <p:nvGrpSpPr>
        <p:cNvPr id="1" name=""/>
        <p:cNvGrpSpPr/>
        <p:nvPr/>
      </p:nvGrpSpPr>
      <p:grpSpPr/>
      <p:pic>
        <p:nvPicPr>
          <p:cNvPr id="2" name="g113|img|brand/fluxmuse-logo-dark.png" descr="FluxMuse logo"/>
          <p:cNvPicPr>
            <a:picLocks noChangeAspect="1"/>
          </p:cNvPicPr>
          <p:nvPr/>
        </p:nvPicPr>
        <p:blipFill>
          <a:blip r:embed="rId2"/>
          <a:srcRect/>
          <a:stretch>
            <a:fillRect/>
          </a:stretch>
        </p:blipFill>
        <p:spPr>
          <a:xfrm>
            <a:off x="548640" y="502920"/>
            <a:ext cx="2377440" cy="789290"/>
          </a:xfrm>
          <a:prstGeom prst="rect">
            <a:avLst/>
          </a:prstGeom>
        </p:spPr>
      </p:pic>
      <p:sp>
        <p:nvSpPr>
          <p:cNvPr id="3" name="g114|deco|"/>
          <p:cNvSpPr/>
          <p:nvPr/>
        </p:nvSpPr>
        <p:spPr>
          <a:xfrm>
            <a:off x="7818120" y="1143000"/>
            <a:ext cx="3931920" cy="3931920"/>
          </a:xfrm>
          <a:prstGeom prst="ellipse">
            <a:avLst/>
          </a:prstGeom>
          <a:solidFill>
            <a:srgbClr val="1B23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g114|img|brand/fluxmuse-icon-512.png" descr="FluxMuse Muse icon"/>
          <p:cNvPicPr>
            <a:picLocks noChangeAspect="1"/>
          </p:cNvPicPr>
          <p:nvPr/>
        </p:nvPicPr>
        <p:blipFill>
          <a:blip r:embed="rId3"/>
          <a:srcRect/>
          <a:stretch>
            <a:fillRect/>
          </a:stretch>
        </p:blipFill>
        <p:spPr>
          <a:xfrm>
            <a:off x="8183879" y="1508760"/>
            <a:ext cx="3200400" cy="3200400"/>
          </a:xfrm>
          <a:prstGeom prst="rect">
            <a:avLst/>
          </a:prstGeom>
        </p:spPr>
      </p:pic>
      <p:sp>
        <p:nvSpPr>
          <p:cNvPr id="5" name="g115|eyebrow|"/>
          <p:cNvSpPr txBox="1"/>
          <p:nvPr/>
        </p:nvSpPr>
        <p:spPr>
          <a:xfrm>
            <a:off x="548640" y="1874519"/>
            <a:ext cx="6949440" cy="274320"/>
          </a:xfrm>
          <a:prstGeom prst="rect">
            <a:avLst/>
          </a:prstGeom>
          <a:noFill/>
        </p:spPr>
        <p:txBody>
          <a:bodyPr wrap="square" lIns="0" rIns="0" tIns="0" bIns="0" anchor="t">
            <a:noAutofit/>
          </a:bodyPr>
          <a:lstStyle/>
          <a:p>
            <a:pPr algn="l"/>
            <a:r>
              <a:rPr sz="1300" b="1" spc="150">
                <a:solidFill>
                  <a:srgbClr val="FF6A00"/>
                </a:solidFill>
                <a:latin typeface="Inter"/>
              </a:rPr>
              <a:t>AI MARKETING &amp; WHATSAPP COMMERCE</a:t>
            </a:r>
          </a:p>
        </p:txBody>
      </p:sp>
      <p:sp>
        <p:nvSpPr>
          <p:cNvPr id="6" name="g116|title|"/>
          <p:cNvSpPr txBox="1"/>
          <p:nvPr/>
        </p:nvSpPr>
        <p:spPr>
          <a:xfrm>
            <a:off x="548640" y="2212848"/>
            <a:ext cx="7040880" cy="1737360"/>
          </a:xfrm>
          <a:prstGeom prst="rect">
            <a:avLst/>
          </a:prstGeom>
          <a:noFill/>
        </p:spPr>
        <p:txBody>
          <a:bodyPr wrap="square" lIns="0" rIns="0" tIns="0" bIns="0" anchor="t">
            <a:noAutofit/>
          </a:bodyPr>
          <a:lstStyle/>
          <a:p>
            <a:pPr algn="l">
              <a:lnSpc>
                <a:spcPct val="95000"/>
              </a:lnSpc>
            </a:pPr>
            <a:r>
              <a:rPr sz="3800" b="1">
                <a:solidFill>
                  <a:srgbClr val="FFFFFF"/>
                </a:solidFill>
                <a:latin typeface="Poppins"/>
              </a:rPr>
              <a:t>Your AI marketing team.</a:t>
            </a:r>
          </a:p>
          <a:p>
            <a:pPr algn="l">
              <a:lnSpc>
                <a:spcPct val="95000"/>
              </a:lnSpc>
            </a:pPr>
            <a:r>
              <a:rPr sz="3800" b="1">
                <a:solidFill>
                  <a:srgbClr val="FF6A00"/>
                </a:solidFill>
                <a:latin typeface="Poppins"/>
              </a:rPr>
              <a:t>Selling inside WhatsApp.</a:t>
            </a:r>
          </a:p>
        </p:txBody>
      </p:sp>
      <p:sp>
        <p:nvSpPr>
          <p:cNvPr id="7" name="g117|body|"/>
          <p:cNvSpPr txBox="1"/>
          <p:nvPr/>
        </p:nvSpPr>
        <p:spPr>
          <a:xfrm>
            <a:off x="548640" y="4023360"/>
            <a:ext cx="6583680" cy="731520"/>
          </a:xfrm>
          <a:prstGeom prst="rect">
            <a:avLst/>
          </a:prstGeom>
          <a:noFill/>
        </p:spPr>
        <p:txBody>
          <a:bodyPr wrap="square" lIns="0" rIns="0" tIns="0" bIns="0" anchor="t">
            <a:noAutofit/>
          </a:bodyPr>
          <a:lstStyle/>
          <a:p>
            <a:pPr algn="l"/>
            <a:r>
              <a:rPr sz="1800" b="0">
                <a:solidFill>
                  <a:srgbClr val="D5DADF"/>
                </a:solidFill>
                <a:latin typeface="Inter"/>
              </a:rPr>
              <a:t>Plan, create, publish and get paid in chat. Built for South African businesses.</a:t>
            </a:r>
          </a:p>
        </p:txBody>
      </p:sp>
      <p:sp>
        <p:nvSpPr>
          <p:cNvPr id="8" name="g118|placeholder|"/>
          <p:cNvSpPr txBox="1"/>
          <p:nvPr/>
        </p:nvSpPr>
        <p:spPr>
          <a:xfrm>
            <a:off x="548640" y="4983480"/>
            <a:ext cx="6766560" cy="384048"/>
          </a:xfrm>
          <a:prstGeom prst="rect">
            <a:avLst/>
          </a:prstGeom>
          <a:noFill/>
        </p:spPr>
        <p:txBody>
          <a:bodyPr wrap="square" lIns="0" rIns="0" tIns="0" bIns="0" anchor="t">
            <a:noAutofit/>
          </a:bodyPr>
          <a:lstStyle/>
          <a:p>
            <a:pPr algn="l"/>
            <a:r>
              <a:rPr sz="1800" b="0">
                <a:solidFill>
                  <a:srgbClr val="A7B0B8"/>
                </a:solidFill>
                <a:latin typeface="Inter"/>
              </a:rPr>
              <a:t>Prepared for </a:t>
            </a:r>
            <a:r>
              <a:rPr sz="1800" b="1">
                <a:solidFill>
                  <a:srgbClr val="FFFFFF"/>
                </a:solidFill>
                <a:latin typeface="Inter"/>
              </a:rPr>
              <a:t>[[PROSPECT NAME]]</a:t>
            </a:r>
          </a:p>
        </p:txBody>
      </p:sp>
      <p:sp>
        <p:nvSpPr>
          <p:cNvPr id="9" name="g118|placeholder|"/>
          <p:cNvSpPr txBox="1"/>
          <p:nvPr/>
        </p:nvSpPr>
        <p:spPr>
          <a:xfrm>
            <a:off x="548640" y="5413248"/>
            <a:ext cx="6766560" cy="329184"/>
          </a:xfrm>
          <a:prstGeom prst="rect">
            <a:avLst/>
          </a:prstGeom>
          <a:noFill/>
        </p:spPr>
        <p:txBody>
          <a:bodyPr wrap="square" lIns="0" rIns="0" tIns="0" bIns="0" anchor="t">
            <a:noAutofit/>
          </a:bodyPr>
          <a:lstStyle/>
          <a:p>
            <a:pPr algn="l"/>
            <a:r>
              <a:rPr sz="1500" b="0">
                <a:solidFill>
                  <a:srgbClr val="A7B0B8"/>
                </a:solidFill>
                <a:latin typeface="Inter"/>
              </a:rPr>
              <a:t>[[DATE]]  ·  [[PRESENTER]]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119|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THE PROBLEM WE SOLVE</a:t>
            </a:r>
          </a:p>
        </p:txBody>
      </p:sp>
      <p:sp>
        <p:nvSpPr>
          <p:cNvPr id="3" name="hdr119|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The reality for South African businesses</a:t>
            </a:r>
          </a:p>
        </p:txBody>
      </p:sp>
      <p:pic>
        <p:nvPicPr>
          <p:cNvPr id="4" name="g120|img|infographics/problem-solution.png" descr="Today: disconnected tools, unaffordable retainers, payment-link drop-off and no local payment options. With FluxMuse: one AI team, plans from R499, checkout inside WhatsApp, 5 local rails."/>
          <p:cNvPicPr>
            <a:picLocks noChangeAspect="1"/>
          </p:cNvPicPr>
          <p:nvPr/>
        </p:nvPicPr>
        <p:blipFill>
          <a:blip r:embed="rId2"/>
          <a:srcRect l="3000" t="20000" r="3000" b="15000"/>
          <a:stretch>
            <a:fillRect/>
          </a:stretch>
        </p:blipFill>
        <p:spPr>
          <a:xfrm>
            <a:off x="548640" y="1701110"/>
            <a:ext cx="11094415" cy="4315314"/>
          </a:xfrm>
          <a:prstGeom prst="rect">
            <a:avLst/>
          </a:prstGeom>
        </p:spPr>
      </p:pic>
      <p:sp>
        <p:nvSpPr>
          <p:cNvPr id="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2</a:t>
            </a:fld>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419"/>
        </a:solidFill>
        <a:effectLst/>
      </p:bgPr>
    </p:bg>
    <p:spTree>
      <p:nvGrpSpPr>
        <p:cNvPr id="1" name=""/>
        <p:cNvGrpSpPr/>
        <p:nvPr/>
      </p:nvGrpSpPr>
      <p:grpSpPr/>
      <p:sp>
        <p:nvSpPr>
          <p:cNvPr id="2" name="hdr121|eyebrow|"/>
          <p:cNvSpPr txBox="1"/>
          <p:nvPr/>
        </p:nvSpPr>
        <p:spPr>
          <a:xfrm>
            <a:off x="548640" y="1234440"/>
            <a:ext cx="3931920" cy="274320"/>
          </a:xfrm>
          <a:prstGeom prst="rect">
            <a:avLst/>
          </a:prstGeom>
          <a:noFill/>
        </p:spPr>
        <p:txBody>
          <a:bodyPr wrap="square" lIns="0" rIns="0" tIns="0" bIns="0" anchor="t">
            <a:noAutofit/>
          </a:bodyPr>
          <a:lstStyle/>
          <a:p>
            <a:pPr algn="l"/>
            <a:r>
              <a:rPr sz="1200" b="1" spc="150">
                <a:solidFill>
                  <a:srgbClr val="FF6A00"/>
                </a:solidFill>
                <a:latin typeface="Inter"/>
              </a:rPr>
              <a:t>MEET FLUXMUSE</a:t>
            </a:r>
          </a:p>
        </p:txBody>
      </p:sp>
      <p:sp>
        <p:nvSpPr>
          <p:cNvPr id="3" name="hdr121|title|"/>
          <p:cNvSpPr txBox="1"/>
          <p:nvPr/>
        </p:nvSpPr>
        <p:spPr>
          <a:xfrm>
            <a:off x="548640" y="1572768"/>
            <a:ext cx="3931920" cy="2103120"/>
          </a:xfrm>
          <a:prstGeom prst="rect">
            <a:avLst/>
          </a:prstGeom>
          <a:noFill/>
        </p:spPr>
        <p:txBody>
          <a:bodyPr wrap="square" lIns="0" rIns="0" tIns="0" bIns="0" anchor="t">
            <a:noAutofit/>
          </a:bodyPr>
          <a:lstStyle/>
          <a:p>
            <a:pPr algn="l">
              <a:lnSpc>
                <a:spcPct val="95000"/>
              </a:lnSpc>
            </a:pPr>
            <a:r>
              <a:rPr sz="3400" b="1">
                <a:solidFill>
                  <a:srgbClr val="FFFFFF"/>
                </a:solidFill>
                <a:latin typeface="Poppins"/>
              </a:rPr>
              <a:t>One AI team for marketing and sales</a:t>
            </a:r>
          </a:p>
        </p:txBody>
      </p:sp>
      <p:sp>
        <p:nvSpPr>
          <p:cNvPr id="4" name="g122|body|"/>
          <p:cNvSpPr txBox="1"/>
          <p:nvPr/>
        </p:nvSpPr>
        <p:spPr>
          <a:xfrm>
            <a:off x="548640" y="3749039"/>
            <a:ext cx="3749039" cy="914400"/>
          </a:xfrm>
          <a:prstGeom prst="rect">
            <a:avLst/>
          </a:prstGeom>
          <a:noFill/>
        </p:spPr>
        <p:txBody>
          <a:bodyPr wrap="square" lIns="0" rIns="0" tIns="0" bIns="0" anchor="t">
            <a:noAutofit/>
          </a:bodyPr>
          <a:lstStyle/>
          <a:p>
            <a:pPr algn="l"/>
            <a:r>
              <a:rPr sz="1700" b="0">
                <a:solidFill>
                  <a:srgbClr val="D5DADF"/>
                </a:solidFill>
                <a:latin typeface="Inter"/>
              </a:rPr>
              <a:t>An AI marketing team and WhatsApp commerce platform, built for African SMBs.</a:t>
            </a:r>
          </a:p>
        </p:txBody>
      </p:sp>
      <p:sp>
        <p:nvSpPr>
          <p:cNvPr id="5" name="g123|chip|"/>
          <p:cNvSpPr/>
          <p:nvPr/>
        </p:nvSpPr>
        <p:spPr>
          <a:xfrm>
            <a:off x="548640" y="4892040"/>
            <a:ext cx="3611880" cy="475488"/>
          </a:xfrm>
          <a:prstGeom prst="roundRect">
            <a:avLst>
              <a:gd name="adj" fmla="val 50000"/>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g123|chip|"/>
          <p:cNvSpPr txBox="1"/>
          <p:nvPr/>
        </p:nvSpPr>
        <p:spPr>
          <a:xfrm>
            <a:off x="548640" y="4892040"/>
            <a:ext cx="3611880" cy="475488"/>
          </a:xfrm>
          <a:prstGeom prst="rect">
            <a:avLst/>
          </a:prstGeom>
          <a:noFill/>
        </p:spPr>
        <p:txBody>
          <a:bodyPr wrap="square" lIns="0" rIns="0" tIns="0" bIns="0" anchor="ctr">
            <a:noAutofit/>
          </a:bodyPr>
          <a:lstStyle/>
          <a:p>
            <a:pPr algn="ctr"/>
            <a:r>
              <a:rPr sz="1400" b="1">
                <a:solidFill>
                  <a:srgbClr val="0F1419"/>
                </a:solidFill>
                <a:latin typeface="Inter"/>
              </a:rPr>
              <a:t>14-day free trial · no card required</a:t>
            </a:r>
          </a:p>
        </p:txBody>
      </p:sp>
      <p:pic>
        <p:nvPicPr>
          <p:cNvPr id="7" name="g124|img|screenshots/composites/hero-laptop-phone_night.png" descr="FluxMuse website on a laptop and an order confirmed inside a WhatsApp chat on a phone"/>
          <p:cNvPicPr>
            <a:picLocks noChangeAspect="1"/>
          </p:cNvPicPr>
          <p:nvPr/>
        </p:nvPicPr>
        <p:blipFill>
          <a:blip r:embed="rId2"/>
          <a:srcRect l="2000" t="9000" r="6000" b="2000"/>
          <a:stretch>
            <a:fillRect/>
          </a:stretch>
        </p:blipFill>
        <p:spPr>
          <a:xfrm>
            <a:off x="4617720" y="1453147"/>
            <a:ext cx="7178039" cy="3905985"/>
          </a:xfrm>
          <a:prstGeom prst="rect">
            <a:avLst/>
          </a:prstGeom>
        </p:spPr>
      </p:pic>
      <p:sp>
        <p:nvSpPr>
          <p:cNvPr id="8"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A7B0B8"/>
                </a:solidFill>
                <a:latin typeface="Inter"/>
              </a:rPr>
              <a:t>FluxMuse · fluxmuse.ai</a:t>
            </a:r>
          </a:p>
        </p:txBody>
      </p:sp>
      <p:sp>
        <p:nvSpPr>
          <p:cNvPr id="9"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A7B0B8"/>
                </a:solidFill>
                <a:latin typeface="Inter"/>
              </a:rPr>
              <a:t>3</a:t>
            </a:fld>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125|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HOW FLUXMUSE WORKS</a:t>
            </a:r>
          </a:p>
        </p:txBody>
      </p:sp>
      <p:sp>
        <p:nvSpPr>
          <p:cNvPr id="3" name="hdr125|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How it works: one loop, run by AI</a:t>
            </a:r>
          </a:p>
        </p:txBody>
      </p:sp>
      <p:pic>
        <p:nvPicPr>
          <p:cNvPr id="4" name="g126|img|infographics/how-fluxmuse-works.png" descr="Loop: Plan (Strategist), Create (Creator), Publish (Publisher), Sell (WhatsApp commerce), Learn (Analyst), with insights feeding the next plan"/>
          <p:cNvPicPr>
            <a:picLocks noChangeAspect="1"/>
          </p:cNvPicPr>
          <p:nvPr/>
        </p:nvPicPr>
        <p:blipFill>
          <a:blip r:embed="rId2"/>
          <a:srcRect t="20000"/>
          <a:stretch>
            <a:fillRect/>
          </a:stretch>
        </p:blipFill>
        <p:spPr>
          <a:xfrm>
            <a:off x="609447" y="1389888"/>
            <a:ext cx="10972800" cy="4937760"/>
          </a:xfrm>
          <a:prstGeom prst="rect">
            <a:avLst/>
          </a:prstGeom>
        </p:spPr>
      </p:pic>
      <p:sp>
        <p:nvSpPr>
          <p:cNvPr id="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4</a:t>
            </a:fld>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127|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AI WORKFORCE</a:t>
            </a:r>
          </a:p>
        </p:txBody>
      </p:sp>
      <p:sp>
        <p:nvSpPr>
          <p:cNvPr id="3" name="hdr127|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Your AI marketing team</a:t>
            </a:r>
          </a:p>
        </p:txBody>
      </p:sp>
      <p:pic>
        <p:nvPicPr>
          <p:cNvPr id="4" name="g128|img|infographics/ai-agent-roster.png" descr="Four core agents: Strategist, Creator, Publisher, Analyst; plus 23 specialist Flux agents and an AI Agent Marketplace"/>
          <p:cNvPicPr>
            <a:picLocks noChangeAspect="1"/>
          </p:cNvPicPr>
          <p:nvPr/>
        </p:nvPicPr>
        <p:blipFill>
          <a:blip r:embed="rId2"/>
          <a:srcRect t="19000" b="2000"/>
          <a:stretch>
            <a:fillRect/>
          </a:stretch>
        </p:blipFill>
        <p:spPr>
          <a:xfrm>
            <a:off x="548640" y="1393727"/>
            <a:ext cx="11094415" cy="4930080"/>
          </a:xfrm>
          <a:prstGeom prst="rect">
            <a:avLst/>
          </a:prstGeom>
        </p:spPr>
      </p:pic>
      <p:sp>
        <p:nvSpPr>
          <p:cNvPr id="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5</a:t>
            </a:fld>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129|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WHATSAPP COMMERCE</a:t>
            </a:r>
          </a:p>
        </p:txBody>
      </p:sp>
      <p:sp>
        <p:nvSpPr>
          <p:cNvPr id="3" name="hdr129|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Sell inside the chat</a:t>
            </a:r>
          </a:p>
        </p:txBody>
      </p:sp>
      <p:pic>
        <p:nvPicPr>
          <p:cNvPr id="4" name="g130|img|infographics/whatsapp-commerce-flow.png" descr="Discover, Chat, Catalog, Cart, Pay with Yoco, Ozow, Paystack, pawaPay or Fincra, Confirmed, Loyalty"/>
          <p:cNvPicPr>
            <a:picLocks noChangeAspect="1"/>
          </p:cNvPicPr>
          <p:nvPr/>
        </p:nvPicPr>
        <p:blipFill>
          <a:blip r:embed="rId2"/>
          <a:srcRect l="3500" t="27200" r="3500" b="37000"/>
          <a:stretch>
            <a:fillRect/>
          </a:stretch>
        </p:blipFill>
        <p:spPr>
          <a:xfrm>
            <a:off x="606042" y="1371600"/>
            <a:ext cx="10979611" cy="2377440"/>
          </a:xfrm>
          <a:prstGeom prst="rect">
            <a:avLst/>
          </a:prstGeom>
        </p:spPr>
      </p:pic>
      <p:pic>
        <p:nvPicPr>
          <p:cNvPr id="5" name="g131|img|screenshots/composites/checkout-in-chat-3-phones.png" descr="Three WhatsApp screens: browse the catalog, review the cart, pay and get confirmation"/>
          <p:cNvPicPr>
            <a:picLocks noChangeAspect="1"/>
          </p:cNvPicPr>
          <p:nvPr/>
        </p:nvPicPr>
        <p:blipFill>
          <a:blip r:embed="rId3"/>
          <a:srcRect l="12000" t="20500" r="12000" b="2000"/>
          <a:stretch>
            <a:fillRect/>
          </a:stretch>
        </p:blipFill>
        <p:spPr>
          <a:xfrm>
            <a:off x="548640" y="3886200"/>
            <a:ext cx="4272286" cy="2450592"/>
          </a:xfrm>
          <a:prstGeom prst="rect">
            <a:avLst/>
          </a:prstGeom>
        </p:spPr>
      </p:pic>
      <p:sp>
        <p:nvSpPr>
          <p:cNvPr id="6" name="g132|deco|"/>
          <p:cNvSpPr/>
          <p:nvPr/>
        </p:nvSpPr>
        <p:spPr>
          <a:xfrm>
            <a:off x="5559552" y="4023360"/>
            <a:ext cx="493776" cy="493776"/>
          </a:xfrm>
          <a:prstGeom prst="ellipse">
            <a:avLst/>
          </a:prstGeom>
          <a:solidFill>
            <a:srgbClr val="FFF4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g132|icon|refresh_deep.png" descr="refresh_deep"/>
          <p:cNvPicPr>
            <a:picLocks noChangeAspect="1"/>
          </p:cNvPicPr>
          <p:nvPr/>
        </p:nvPicPr>
        <p:blipFill>
          <a:blip r:embed="rId4"/>
          <a:srcRect/>
          <a:stretch>
            <a:fillRect/>
          </a:stretch>
        </p:blipFill>
        <p:spPr>
          <a:xfrm>
            <a:off x="5668182" y="4131990"/>
            <a:ext cx="276514" cy="276514"/>
          </a:xfrm>
          <a:prstGeom prst="rect">
            <a:avLst/>
          </a:prstGeom>
        </p:spPr>
      </p:pic>
      <p:sp>
        <p:nvSpPr>
          <p:cNvPr id="8" name="g132|body|"/>
          <p:cNvSpPr txBox="1"/>
          <p:nvPr/>
        </p:nvSpPr>
        <p:spPr>
          <a:xfrm>
            <a:off x="6217920" y="4023360"/>
            <a:ext cx="5422392" cy="493776"/>
          </a:xfrm>
          <a:prstGeom prst="rect">
            <a:avLst/>
          </a:prstGeom>
          <a:noFill/>
        </p:spPr>
        <p:txBody>
          <a:bodyPr wrap="square" lIns="0" rIns="0" tIns="0" bIns="0" anchor="ctr">
            <a:noAutofit/>
          </a:bodyPr>
          <a:lstStyle/>
          <a:p>
            <a:pPr algn="l"/>
            <a:r>
              <a:rPr sz="1600" b="0">
                <a:solidFill>
                  <a:srgbClr val="20242B"/>
                </a:solidFill>
                <a:latin typeface="Inter"/>
              </a:rPr>
              <a:t>Abandoned carts get an automatic recovery message.</a:t>
            </a:r>
          </a:p>
        </p:txBody>
      </p:sp>
      <p:sp>
        <p:nvSpPr>
          <p:cNvPr id="9" name="g133|deco|"/>
          <p:cNvSpPr/>
          <p:nvPr/>
        </p:nvSpPr>
        <p:spPr>
          <a:xfrm>
            <a:off x="5559552" y="4681728"/>
            <a:ext cx="493776" cy="493776"/>
          </a:xfrm>
          <a:prstGeom prst="ellipse">
            <a:avLst/>
          </a:prstGeom>
          <a:solidFill>
            <a:srgbClr val="FFF4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g133|icon|card_deep.png" descr="card_deep"/>
          <p:cNvPicPr>
            <a:picLocks noChangeAspect="1"/>
          </p:cNvPicPr>
          <p:nvPr/>
        </p:nvPicPr>
        <p:blipFill>
          <a:blip r:embed="rId5"/>
          <a:srcRect/>
          <a:stretch>
            <a:fillRect/>
          </a:stretch>
        </p:blipFill>
        <p:spPr>
          <a:xfrm>
            <a:off x="5668182" y="4790358"/>
            <a:ext cx="276514" cy="276514"/>
          </a:xfrm>
          <a:prstGeom prst="rect">
            <a:avLst/>
          </a:prstGeom>
        </p:spPr>
      </p:pic>
      <p:sp>
        <p:nvSpPr>
          <p:cNvPr id="11" name="g133|body|"/>
          <p:cNvSpPr txBox="1"/>
          <p:nvPr/>
        </p:nvSpPr>
        <p:spPr>
          <a:xfrm>
            <a:off x="6217920" y="4681728"/>
            <a:ext cx="5422392" cy="493776"/>
          </a:xfrm>
          <a:prstGeom prst="rect">
            <a:avLst/>
          </a:prstGeom>
          <a:noFill/>
        </p:spPr>
        <p:txBody>
          <a:bodyPr wrap="square" lIns="0" rIns="0" tIns="0" bIns="0" anchor="ctr">
            <a:noAutofit/>
          </a:bodyPr>
          <a:lstStyle/>
          <a:p>
            <a:pPr algn="l"/>
            <a:r>
              <a:rPr sz="1600" b="0">
                <a:solidFill>
                  <a:srgbClr val="20242B"/>
                </a:solidFill>
                <a:latin typeface="Inter"/>
              </a:rPr>
              <a:t>Buyers pay locally, with no redirect to a payment page.</a:t>
            </a:r>
          </a:p>
        </p:txBody>
      </p:sp>
      <p:sp>
        <p:nvSpPr>
          <p:cNvPr id="12" name="g134|deco|"/>
          <p:cNvSpPr/>
          <p:nvPr/>
        </p:nvSpPr>
        <p:spPr>
          <a:xfrm>
            <a:off x="5559552" y="5340096"/>
            <a:ext cx="493776" cy="493776"/>
          </a:xfrm>
          <a:prstGeom prst="ellipse">
            <a:avLst/>
          </a:prstGeom>
          <a:solidFill>
            <a:srgbClr val="FFF4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g134|icon|users_deep.png" descr="users_deep"/>
          <p:cNvPicPr>
            <a:picLocks noChangeAspect="1"/>
          </p:cNvPicPr>
          <p:nvPr/>
        </p:nvPicPr>
        <p:blipFill>
          <a:blip r:embed="rId6"/>
          <a:srcRect/>
          <a:stretch>
            <a:fillRect/>
          </a:stretch>
        </p:blipFill>
        <p:spPr>
          <a:xfrm>
            <a:off x="5668182" y="5448726"/>
            <a:ext cx="276514" cy="276514"/>
          </a:xfrm>
          <a:prstGeom prst="rect">
            <a:avLst/>
          </a:prstGeom>
        </p:spPr>
      </p:pic>
      <p:sp>
        <p:nvSpPr>
          <p:cNvPr id="14" name="g134|body|"/>
          <p:cNvSpPr txBox="1"/>
          <p:nvPr/>
        </p:nvSpPr>
        <p:spPr>
          <a:xfrm>
            <a:off x="6217920" y="5340096"/>
            <a:ext cx="5422392" cy="493776"/>
          </a:xfrm>
          <a:prstGeom prst="rect">
            <a:avLst/>
          </a:prstGeom>
          <a:noFill/>
        </p:spPr>
        <p:txBody>
          <a:bodyPr wrap="square" lIns="0" rIns="0" tIns="0" bIns="0" anchor="ctr">
            <a:noAutofit/>
          </a:bodyPr>
          <a:lstStyle/>
          <a:p>
            <a:pPr algn="l"/>
            <a:r>
              <a:rPr sz="1600" b="0">
                <a:solidFill>
                  <a:srgbClr val="20242B"/>
                </a:solidFill>
                <a:latin typeface="Inter"/>
              </a:rPr>
              <a:t>Segments and retargeting start the next sale.</a:t>
            </a:r>
          </a:p>
        </p:txBody>
      </p:sp>
      <p:sp>
        <p:nvSpPr>
          <p:cNvPr id="15" name="g135|caption|"/>
          <p:cNvSpPr txBox="1"/>
          <p:nvPr/>
        </p:nvSpPr>
        <p:spPr>
          <a:xfrm>
            <a:off x="5577840" y="6053328"/>
            <a:ext cx="6035040" cy="237744"/>
          </a:xfrm>
          <a:prstGeom prst="rect">
            <a:avLst/>
          </a:prstGeom>
          <a:noFill/>
        </p:spPr>
        <p:txBody>
          <a:bodyPr wrap="square" lIns="0" rIns="0" tIns="0" bIns="0" anchor="t">
            <a:noAutofit/>
          </a:bodyPr>
          <a:lstStyle/>
          <a:p>
            <a:pPr algn="l"/>
            <a:r>
              <a:rPr sz="1100" b="0">
                <a:solidFill>
                  <a:srgbClr val="5B6670"/>
                </a:solidFill>
                <a:latin typeface="Inter"/>
              </a:rPr>
              <a:t>All five rails live September 2026 (pawaPay and Fincra from 14 Sept).</a:t>
            </a:r>
          </a:p>
        </p:txBody>
      </p:sp>
      <p:sp>
        <p:nvSpPr>
          <p:cNvPr id="16"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17"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6</a:t>
            </a:fld>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136|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PAYMENTS COVERAGE</a:t>
            </a:r>
          </a:p>
        </p:txBody>
      </p:sp>
      <p:sp>
        <p:nvSpPr>
          <p:cNvPr id="3" name="hdr136|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Get paid locally</a:t>
            </a:r>
          </a:p>
        </p:txBody>
      </p:sp>
      <p:pic>
        <p:nvPicPr>
          <p:cNvPr id="4" name="g137|img|infographics/payment-coverage-map.png" descr="Tile map of 23 African countries covered by 5 live payment rails, with Botswana and Namibia coming soon"/>
          <p:cNvPicPr>
            <a:picLocks noChangeAspect="1"/>
          </p:cNvPicPr>
          <p:nvPr/>
        </p:nvPicPr>
        <p:blipFill>
          <a:blip r:embed="rId2"/>
          <a:srcRect t="20500"/>
          <a:stretch>
            <a:fillRect/>
          </a:stretch>
        </p:blipFill>
        <p:spPr>
          <a:xfrm>
            <a:off x="574941" y="1389888"/>
            <a:ext cx="11041811" cy="4937760"/>
          </a:xfrm>
          <a:prstGeom prst="rect">
            <a:avLst/>
          </a:prstGeom>
        </p:spPr>
      </p:pic>
      <p:sp>
        <p:nvSpPr>
          <p:cNvPr id="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7</a:t>
            </a:fld>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138|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LAUNCH SEGMENT · SOLO ENTREPRENEURS</a:t>
            </a:r>
          </a:p>
        </p:txBody>
      </p:sp>
      <p:sp>
        <p:nvSpPr>
          <p:cNvPr id="3" name="hdr138|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Solo entrepreneurs: 1–5 people</a:t>
            </a:r>
          </a:p>
        </p:txBody>
      </p:sp>
      <p:pic>
        <p:nvPicPr>
          <p:cNvPr id="4" name="g139|img|infographics/segment-solo.png" descr="Solo entrepreneurs: pains, FluxMuse answers, Starter plan price and Founding Member price"/>
          <p:cNvPicPr>
            <a:picLocks noChangeAspect="1"/>
          </p:cNvPicPr>
          <p:nvPr/>
        </p:nvPicPr>
        <p:blipFill>
          <a:blip r:embed="rId2"/>
          <a:srcRect t="20000"/>
          <a:stretch>
            <a:fillRect/>
          </a:stretch>
        </p:blipFill>
        <p:spPr>
          <a:xfrm>
            <a:off x="609447" y="1389888"/>
            <a:ext cx="10972800" cy="4937760"/>
          </a:xfrm>
          <a:prstGeom prst="rect">
            <a:avLst/>
          </a:prstGeom>
        </p:spPr>
      </p:pic>
      <p:sp>
        <p:nvSpPr>
          <p:cNvPr id="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8</a:t>
            </a:fld>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140|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PRODUCT</a:t>
            </a:r>
          </a:p>
        </p:txBody>
      </p:sp>
      <p:sp>
        <p:nvSpPr>
          <p:cNvPr id="3" name="hdr140|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See it in action</a:t>
            </a:r>
          </a:p>
        </p:txBody>
      </p:sp>
      <p:pic>
        <p:nvPicPr>
          <p:cNvPr id="4" name="g141|img|screenshots/composites/laptop-home.png" descr="FluxMuse website home page on a laptop"/>
          <p:cNvPicPr>
            <a:picLocks noChangeAspect="1"/>
          </p:cNvPicPr>
          <p:nvPr/>
        </p:nvPicPr>
        <p:blipFill>
          <a:blip r:embed="rId2"/>
          <a:srcRect l="3000" t="8000" r="3000" b="8000"/>
          <a:stretch>
            <a:fillRect/>
          </a:stretch>
        </p:blipFill>
        <p:spPr>
          <a:xfrm>
            <a:off x="411480" y="1600200"/>
            <a:ext cx="6355080" cy="3722905"/>
          </a:xfrm>
          <a:prstGeom prst="rect">
            <a:avLst/>
          </a:prstGeom>
        </p:spPr>
      </p:pic>
      <p:sp>
        <p:nvSpPr>
          <p:cNvPr id="5" name="g142|caption|"/>
          <p:cNvSpPr txBox="1"/>
          <p:nvPr/>
        </p:nvSpPr>
        <p:spPr>
          <a:xfrm>
            <a:off x="548640" y="5532120"/>
            <a:ext cx="5943600" cy="256032"/>
          </a:xfrm>
          <a:prstGeom prst="rect">
            <a:avLst/>
          </a:prstGeom>
          <a:noFill/>
        </p:spPr>
        <p:txBody>
          <a:bodyPr wrap="square" lIns="0" rIns="0" tIns="0" bIns="0" anchor="t">
            <a:noAutofit/>
          </a:bodyPr>
          <a:lstStyle/>
          <a:p>
            <a:pPr algn="l"/>
            <a:r>
              <a:rPr sz="1100" b="0">
                <a:solidFill>
                  <a:srgbClr val="5B6670"/>
                </a:solidFill>
                <a:latin typeface="Inter"/>
              </a:rPr>
              <a:t>fluxmuse.ai home page</a:t>
            </a:r>
          </a:p>
        </p:txBody>
      </p:sp>
      <p:pic>
        <p:nvPicPr>
          <p:cNvPr id="6" name="g143|img|screenshots/composites/browser-pricing.png" descr="FluxMuse pricing page in rand: Starter R499, Growth R1,999, Scale R4,999, Agency R7,999"/>
          <p:cNvPicPr>
            <a:picLocks noChangeAspect="1"/>
          </p:cNvPicPr>
          <p:nvPr/>
        </p:nvPicPr>
        <p:blipFill>
          <a:blip r:embed="rId3"/>
          <a:srcRect l="9000" t="37500" r="9000" b="39000"/>
          <a:stretch>
            <a:fillRect/>
          </a:stretch>
        </p:blipFill>
        <p:spPr>
          <a:xfrm>
            <a:off x="7040880" y="1481328"/>
            <a:ext cx="4599432" cy="856784"/>
          </a:xfrm>
          <a:prstGeom prst="roundRect">
            <a:avLst/>
          </a:prstGeom>
        </p:spPr>
      </p:pic>
      <p:sp>
        <p:nvSpPr>
          <p:cNvPr id="7" name="g144|caption|"/>
          <p:cNvSpPr txBox="1"/>
          <p:nvPr/>
        </p:nvSpPr>
        <p:spPr>
          <a:xfrm>
            <a:off x="7040880" y="2432304"/>
            <a:ext cx="4599432" cy="256032"/>
          </a:xfrm>
          <a:prstGeom prst="rect">
            <a:avLst/>
          </a:prstGeom>
          <a:noFill/>
        </p:spPr>
        <p:txBody>
          <a:bodyPr wrap="square" lIns="0" rIns="0" tIns="0" bIns="0" anchor="t">
            <a:noAutofit/>
          </a:bodyPr>
          <a:lstStyle/>
          <a:p>
            <a:pPr algn="l"/>
            <a:r>
              <a:rPr sz="1100" b="0">
                <a:solidFill>
                  <a:srgbClr val="5B6670"/>
                </a:solidFill>
                <a:latin typeface="Inter"/>
              </a:rPr>
              <a:t>Pricing page, in rand</a:t>
            </a:r>
          </a:p>
        </p:txBody>
      </p:sp>
      <p:pic>
        <p:nvPicPr>
          <p:cNvPr id="8" name="g146|img|screenshots/composites/phone-demo-step-01-catalog.png" descr="WhatsApp checkout demo, step 1 · Catalog"/>
          <p:cNvPicPr>
            <a:picLocks noChangeAspect="1"/>
          </p:cNvPicPr>
          <p:nvPr/>
        </p:nvPicPr>
        <p:blipFill>
          <a:blip r:embed="rId4"/>
          <a:srcRect l="6000" t="3000" r="6000" b="3000"/>
          <a:stretch>
            <a:fillRect/>
          </a:stretch>
        </p:blipFill>
        <p:spPr>
          <a:xfrm>
            <a:off x="7040880" y="2834640"/>
            <a:ext cx="1399032" cy="2828724"/>
          </a:xfrm>
          <a:prstGeom prst="rect">
            <a:avLst/>
          </a:prstGeom>
        </p:spPr>
      </p:pic>
      <p:sp>
        <p:nvSpPr>
          <p:cNvPr id="9" name="g145|caption|"/>
          <p:cNvSpPr txBox="1"/>
          <p:nvPr/>
        </p:nvSpPr>
        <p:spPr>
          <a:xfrm>
            <a:off x="7040880" y="5760720"/>
            <a:ext cx="1399032" cy="256032"/>
          </a:xfrm>
          <a:prstGeom prst="rect">
            <a:avLst/>
          </a:prstGeom>
          <a:noFill/>
        </p:spPr>
        <p:txBody>
          <a:bodyPr wrap="square" lIns="0" rIns="0" tIns="0" bIns="0" anchor="t">
            <a:noAutofit/>
          </a:bodyPr>
          <a:lstStyle/>
          <a:p>
            <a:pPr algn="ctr"/>
            <a:r>
              <a:rPr sz="1100" b="0">
                <a:solidFill>
                  <a:srgbClr val="5B6670"/>
                </a:solidFill>
                <a:latin typeface="Inter"/>
              </a:rPr>
              <a:t>1 · Catalog</a:t>
            </a:r>
          </a:p>
        </p:txBody>
      </p:sp>
      <p:pic>
        <p:nvPicPr>
          <p:cNvPr id="10" name="g148|img|screenshots/composites/phone-demo-step-03-cart.png" descr="WhatsApp checkout demo, step 2 · Cart"/>
          <p:cNvPicPr>
            <a:picLocks noChangeAspect="1"/>
          </p:cNvPicPr>
          <p:nvPr/>
        </p:nvPicPr>
        <p:blipFill>
          <a:blip r:embed="rId5"/>
          <a:srcRect l="6000" t="3000" r="6000" b="3000"/>
          <a:stretch>
            <a:fillRect/>
          </a:stretch>
        </p:blipFill>
        <p:spPr>
          <a:xfrm>
            <a:off x="8641080" y="2834640"/>
            <a:ext cx="1399032" cy="2828724"/>
          </a:xfrm>
          <a:prstGeom prst="rect">
            <a:avLst/>
          </a:prstGeom>
        </p:spPr>
      </p:pic>
      <p:sp>
        <p:nvSpPr>
          <p:cNvPr id="11" name="g147|caption|"/>
          <p:cNvSpPr txBox="1"/>
          <p:nvPr/>
        </p:nvSpPr>
        <p:spPr>
          <a:xfrm>
            <a:off x="8641080" y="5760720"/>
            <a:ext cx="1399032" cy="256032"/>
          </a:xfrm>
          <a:prstGeom prst="rect">
            <a:avLst/>
          </a:prstGeom>
          <a:noFill/>
        </p:spPr>
        <p:txBody>
          <a:bodyPr wrap="square" lIns="0" rIns="0" tIns="0" bIns="0" anchor="t">
            <a:noAutofit/>
          </a:bodyPr>
          <a:lstStyle/>
          <a:p>
            <a:pPr algn="ctr"/>
            <a:r>
              <a:rPr sz="1100" b="0">
                <a:solidFill>
                  <a:srgbClr val="5B6670"/>
                </a:solidFill>
                <a:latin typeface="Inter"/>
              </a:rPr>
              <a:t>2 · Cart</a:t>
            </a:r>
          </a:p>
        </p:txBody>
      </p:sp>
      <p:pic>
        <p:nvPicPr>
          <p:cNvPr id="12" name="g150|img|screenshots/composites/phone-demo-step-07-confirmation.png" descr="WhatsApp checkout demo, step 3 · Paid"/>
          <p:cNvPicPr>
            <a:picLocks noChangeAspect="1"/>
          </p:cNvPicPr>
          <p:nvPr/>
        </p:nvPicPr>
        <p:blipFill>
          <a:blip r:embed="rId6"/>
          <a:srcRect l="6000" t="3000" r="6000" b="3000"/>
          <a:stretch>
            <a:fillRect/>
          </a:stretch>
        </p:blipFill>
        <p:spPr>
          <a:xfrm>
            <a:off x="10241280" y="2834640"/>
            <a:ext cx="1399032" cy="2828724"/>
          </a:xfrm>
          <a:prstGeom prst="rect">
            <a:avLst/>
          </a:prstGeom>
        </p:spPr>
      </p:pic>
      <p:sp>
        <p:nvSpPr>
          <p:cNvPr id="13" name="g149|caption|"/>
          <p:cNvSpPr txBox="1"/>
          <p:nvPr/>
        </p:nvSpPr>
        <p:spPr>
          <a:xfrm>
            <a:off x="10241280" y="5760720"/>
            <a:ext cx="1399032" cy="256032"/>
          </a:xfrm>
          <a:prstGeom prst="rect">
            <a:avLst/>
          </a:prstGeom>
          <a:noFill/>
        </p:spPr>
        <p:txBody>
          <a:bodyPr wrap="square" lIns="0" rIns="0" tIns="0" bIns="0" anchor="t">
            <a:noAutofit/>
          </a:bodyPr>
          <a:lstStyle/>
          <a:p>
            <a:pPr algn="ctr"/>
            <a:r>
              <a:rPr sz="1100" b="0">
                <a:solidFill>
                  <a:srgbClr val="5B6670"/>
                </a:solidFill>
                <a:latin typeface="Inter"/>
              </a:rPr>
              <a:t>3 · Paid</a:t>
            </a:r>
          </a:p>
        </p:txBody>
      </p:sp>
      <p:sp>
        <p:nvSpPr>
          <p:cNvPr id="14"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15"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9</a:t>
            </a:fld>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151|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LEAD CASE STUDY · PILOT DATA PENDING</a:t>
            </a:r>
          </a:p>
        </p:txBody>
      </p:sp>
      <p:sp>
        <p:nvSpPr>
          <p:cNvPr id="3" name="hdr151|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A case study in the making</a:t>
            </a:r>
          </a:p>
        </p:txBody>
      </p:sp>
      <p:pic>
        <p:nvPicPr>
          <p:cNvPr id="4" name="g152|img|infographics/case-study-template.png" descr="Case study template for a Gauteng braiding and hair studio; every result is a placeholder until pilot data is available"/>
          <p:cNvPicPr>
            <a:picLocks noChangeAspect="1"/>
          </p:cNvPicPr>
          <p:nvPr/>
        </p:nvPicPr>
        <p:blipFill>
          <a:blip r:embed="rId2"/>
          <a:srcRect t="3000"/>
          <a:stretch>
            <a:fillRect/>
          </a:stretch>
        </p:blipFill>
        <p:spPr>
          <a:xfrm>
            <a:off x="1570981" y="1389888"/>
            <a:ext cx="9049731" cy="4937760"/>
          </a:xfrm>
          <a:prstGeom prst="rect">
            <a:avLst/>
          </a:prstGeom>
        </p:spPr>
      </p:pic>
      <p:sp>
        <p:nvSpPr>
          <p:cNvPr id="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10</a:t>
            </a:fld>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153|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PRICING (ZAR) · 14-DAY FREE TRIAL, NO CARD</a:t>
            </a:r>
          </a:p>
        </p:txBody>
      </p:sp>
      <p:sp>
        <p:nvSpPr>
          <p:cNvPr id="3" name="hdr153|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Simple plans, priced in rand</a:t>
            </a:r>
          </a:p>
        </p:txBody>
      </p:sp>
      <p:pic>
        <p:nvPicPr>
          <p:cNvPr id="4" name="g154|img|infographics/pricing-tiers.png" descr="Four plans in rand: Starter R499, Growth R1,999, Scale R4,999, Agency R7,999 per month, annual 10 times monthly"/>
          <p:cNvPicPr>
            <a:picLocks noChangeAspect="1"/>
          </p:cNvPicPr>
          <p:nvPr/>
        </p:nvPicPr>
        <p:blipFill>
          <a:blip r:embed="rId2"/>
          <a:srcRect t="20000"/>
          <a:stretch>
            <a:fillRect/>
          </a:stretch>
        </p:blipFill>
        <p:spPr>
          <a:xfrm>
            <a:off x="609447" y="1389888"/>
            <a:ext cx="10972800" cy="4937760"/>
          </a:xfrm>
          <a:prstGeom prst="rect">
            <a:avLst/>
          </a:prstGeom>
        </p:spPr>
      </p:pic>
      <p:sp>
        <p:nvSpPr>
          <p:cNvPr id="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11</a:t>
            </a:fld>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155|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LAUNCH OFFER · SOUTH AFRICA · 1 DEC 2026 – 31 JAN 2027</a:t>
            </a:r>
          </a:p>
        </p:txBody>
      </p:sp>
      <p:sp>
        <p:nvSpPr>
          <p:cNvPr id="3" name="hdr155|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Founding Member launch offer</a:t>
            </a:r>
          </a:p>
        </p:txBody>
      </p:sp>
      <p:pic>
        <p:nvPicPr>
          <p:cNvPr id="4" name="g156|img|infographics/founding-member-offer.png" descr="Founding Member offer: 30% off the first 2 monthly bills or 2 extra months on annual plans, badge and priority support, South Africa launch window 1 Dec 2026 to 31 Jan 2027"/>
          <p:cNvPicPr>
            <a:picLocks noChangeAspect="1"/>
          </p:cNvPicPr>
          <p:nvPr/>
        </p:nvPicPr>
        <p:blipFill>
          <a:blip r:embed="rId2"/>
          <a:srcRect t="20000"/>
          <a:stretch>
            <a:fillRect/>
          </a:stretch>
        </p:blipFill>
        <p:spPr>
          <a:xfrm>
            <a:off x="1371447" y="1389888"/>
            <a:ext cx="9448800" cy="4251960"/>
          </a:xfrm>
          <a:prstGeom prst="rect">
            <a:avLst/>
          </a:prstGeom>
        </p:spPr>
      </p:pic>
      <p:sp>
        <p:nvSpPr>
          <p:cNvPr id="5" name="g157|chip|"/>
          <p:cNvSpPr/>
          <p:nvPr/>
        </p:nvSpPr>
        <p:spPr>
          <a:xfrm>
            <a:off x="548640" y="5760720"/>
            <a:ext cx="1828800" cy="475488"/>
          </a:xfrm>
          <a:prstGeom prst="roundRect">
            <a:avLst>
              <a:gd name="adj" fmla="val 50000"/>
            </a:avLst>
          </a:prstGeom>
          <a:solidFill>
            <a:srgbClr val="FFF4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g157|chip|"/>
          <p:cNvSpPr txBox="1"/>
          <p:nvPr/>
        </p:nvSpPr>
        <p:spPr>
          <a:xfrm>
            <a:off x="548640" y="5760720"/>
            <a:ext cx="1828800" cy="475488"/>
          </a:xfrm>
          <a:prstGeom prst="rect">
            <a:avLst/>
          </a:prstGeom>
          <a:noFill/>
        </p:spPr>
        <p:txBody>
          <a:bodyPr wrap="square" lIns="0" rIns="0" tIns="0" bIns="0" anchor="ctr">
            <a:noAutofit/>
          </a:bodyPr>
          <a:lstStyle/>
          <a:p>
            <a:pPr algn="ctr"/>
            <a:r>
              <a:rPr sz="1500" b="1">
                <a:solidFill>
                  <a:srgbClr val="20242B"/>
                </a:solidFill>
                <a:latin typeface="Inter"/>
              </a:rPr>
              <a:t>Starter R349</a:t>
            </a:r>
          </a:p>
        </p:txBody>
      </p:sp>
      <p:sp>
        <p:nvSpPr>
          <p:cNvPr id="7" name="g158|chip|"/>
          <p:cNvSpPr/>
          <p:nvPr/>
        </p:nvSpPr>
        <p:spPr>
          <a:xfrm>
            <a:off x="2419273" y="5760720"/>
            <a:ext cx="2011680" cy="475488"/>
          </a:xfrm>
          <a:prstGeom prst="roundRect">
            <a:avLst>
              <a:gd name="adj" fmla="val 50000"/>
            </a:avLst>
          </a:prstGeom>
          <a:solidFill>
            <a:srgbClr val="FFF4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g158|chip|"/>
          <p:cNvSpPr txBox="1"/>
          <p:nvPr/>
        </p:nvSpPr>
        <p:spPr>
          <a:xfrm>
            <a:off x="2419273" y="5760720"/>
            <a:ext cx="2011680" cy="475488"/>
          </a:xfrm>
          <a:prstGeom prst="rect">
            <a:avLst/>
          </a:prstGeom>
          <a:noFill/>
        </p:spPr>
        <p:txBody>
          <a:bodyPr wrap="square" lIns="0" rIns="0" tIns="0" bIns="0" anchor="ctr">
            <a:noAutofit/>
          </a:bodyPr>
          <a:lstStyle/>
          <a:p>
            <a:pPr algn="ctr"/>
            <a:r>
              <a:rPr sz="1500" b="1">
                <a:solidFill>
                  <a:srgbClr val="20242B"/>
                </a:solidFill>
                <a:latin typeface="Inter"/>
              </a:rPr>
              <a:t>Growth R1,399</a:t>
            </a:r>
          </a:p>
        </p:txBody>
      </p:sp>
      <p:sp>
        <p:nvSpPr>
          <p:cNvPr id="9" name="g159|chip|"/>
          <p:cNvSpPr/>
          <p:nvPr/>
        </p:nvSpPr>
        <p:spPr>
          <a:xfrm>
            <a:off x="4472787" y="5760720"/>
            <a:ext cx="1828800" cy="475488"/>
          </a:xfrm>
          <a:prstGeom prst="roundRect">
            <a:avLst>
              <a:gd name="adj" fmla="val 50000"/>
            </a:avLst>
          </a:prstGeom>
          <a:solidFill>
            <a:srgbClr val="FFF4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g159|chip|"/>
          <p:cNvSpPr txBox="1"/>
          <p:nvPr/>
        </p:nvSpPr>
        <p:spPr>
          <a:xfrm>
            <a:off x="4472787" y="5760720"/>
            <a:ext cx="1828800" cy="475488"/>
          </a:xfrm>
          <a:prstGeom prst="rect">
            <a:avLst/>
          </a:prstGeom>
          <a:noFill/>
        </p:spPr>
        <p:txBody>
          <a:bodyPr wrap="square" lIns="0" rIns="0" tIns="0" bIns="0" anchor="ctr">
            <a:noAutofit/>
          </a:bodyPr>
          <a:lstStyle/>
          <a:p>
            <a:pPr algn="ctr"/>
            <a:r>
              <a:rPr sz="1500" b="1">
                <a:solidFill>
                  <a:srgbClr val="20242B"/>
                </a:solidFill>
                <a:latin typeface="Inter"/>
              </a:rPr>
              <a:t>Scale R3,499</a:t>
            </a:r>
          </a:p>
        </p:txBody>
      </p:sp>
      <p:sp>
        <p:nvSpPr>
          <p:cNvPr id="11" name="g160|chip|"/>
          <p:cNvSpPr/>
          <p:nvPr/>
        </p:nvSpPr>
        <p:spPr>
          <a:xfrm>
            <a:off x="6343421" y="5760720"/>
            <a:ext cx="2606040" cy="475488"/>
          </a:xfrm>
          <a:prstGeom prst="roundRect">
            <a:avLst>
              <a:gd name="adj" fmla="val 50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g160|chip|"/>
          <p:cNvSpPr txBox="1"/>
          <p:nvPr/>
        </p:nvSpPr>
        <p:spPr>
          <a:xfrm>
            <a:off x="6343421" y="5760720"/>
            <a:ext cx="2606040" cy="475488"/>
          </a:xfrm>
          <a:prstGeom prst="rect">
            <a:avLst/>
          </a:prstGeom>
          <a:noFill/>
        </p:spPr>
        <p:txBody>
          <a:bodyPr wrap="square" lIns="0" rIns="0" tIns="0" bIns="0" anchor="ctr">
            <a:noAutofit/>
          </a:bodyPr>
          <a:lstStyle/>
          <a:p>
            <a:pPr algn="ctr"/>
            <a:r>
              <a:rPr sz="1500" b="1">
                <a:solidFill>
                  <a:srgbClr val="20242B"/>
                </a:solidFill>
                <a:latin typeface="Inter"/>
              </a:rPr>
              <a:t>Annual: +2 months free</a:t>
            </a:r>
          </a:p>
        </p:txBody>
      </p:sp>
      <p:sp>
        <p:nvSpPr>
          <p:cNvPr id="13" name="g161|chip|"/>
          <p:cNvSpPr/>
          <p:nvPr/>
        </p:nvSpPr>
        <p:spPr>
          <a:xfrm>
            <a:off x="8991295" y="5760720"/>
            <a:ext cx="2651760" cy="475488"/>
          </a:xfrm>
          <a:prstGeom prst="roundRect">
            <a:avLst>
              <a:gd name="adj" fmla="val 50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g161|chip|"/>
          <p:cNvSpPr txBox="1"/>
          <p:nvPr/>
        </p:nvSpPr>
        <p:spPr>
          <a:xfrm>
            <a:off x="8991295" y="5760720"/>
            <a:ext cx="2651760" cy="475488"/>
          </a:xfrm>
          <a:prstGeom prst="rect">
            <a:avLst/>
          </a:prstGeom>
          <a:noFill/>
        </p:spPr>
        <p:txBody>
          <a:bodyPr wrap="square" lIns="0" rIns="0" tIns="0" bIns="0" anchor="ctr">
            <a:noAutofit/>
          </a:bodyPr>
          <a:lstStyle/>
          <a:p>
            <a:pPr algn="ctr"/>
            <a:r>
              <a:rPr sz="1500" b="1">
                <a:solidFill>
                  <a:srgbClr val="20242B"/>
                </a:solidFill>
                <a:latin typeface="Inter"/>
              </a:rPr>
              <a:t>Agencies: partner pricing</a:t>
            </a:r>
          </a:p>
        </p:txBody>
      </p:sp>
      <p:sp>
        <p:nvSpPr>
          <p:cNvPr id="1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1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12</a:t>
            </a:fld>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162|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TRUST &amp; COMPLIANCE</a:t>
            </a:r>
          </a:p>
        </p:txBody>
      </p:sp>
      <p:sp>
        <p:nvSpPr>
          <p:cNvPr id="3" name="hdr162|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Built to protect your customers' data</a:t>
            </a:r>
          </a:p>
        </p:txBody>
      </p:sp>
      <p:sp>
        <p:nvSpPr>
          <p:cNvPr id="4" name="trust163|card|"/>
          <p:cNvSpPr/>
          <p:nvPr/>
        </p:nvSpPr>
        <p:spPr>
          <a:xfrm>
            <a:off x="548640" y="1536192"/>
            <a:ext cx="3511296" cy="2212848"/>
          </a:xfrm>
          <a:prstGeom prst="roundRect">
            <a:avLst>
              <a:gd name="adj" fmla="val 7438"/>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rust163|deco|"/>
          <p:cNvSpPr/>
          <p:nvPr/>
        </p:nvSpPr>
        <p:spPr>
          <a:xfrm>
            <a:off x="813816" y="1801367"/>
            <a:ext cx="713232" cy="7132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trust163|icon|shield_deep.png" descr="shield_deep"/>
          <p:cNvPicPr>
            <a:picLocks noChangeAspect="1"/>
          </p:cNvPicPr>
          <p:nvPr/>
        </p:nvPicPr>
        <p:blipFill>
          <a:blip r:embed="rId2"/>
          <a:srcRect/>
          <a:stretch>
            <a:fillRect/>
          </a:stretch>
        </p:blipFill>
        <p:spPr>
          <a:xfrm>
            <a:off x="970727" y="1958279"/>
            <a:ext cx="399409" cy="399409"/>
          </a:xfrm>
          <a:prstGeom prst="rect">
            <a:avLst/>
          </a:prstGeom>
        </p:spPr>
      </p:pic>
      <p:sp>
        <p:nvSpPr>
          <p:cNvPr id="7" name="trust163|card|"/>
          <p:cNvSpPr txBox="1"/>
          <p:nvPr/>
        </p:nvSpPr>
        <p:spPr>
          <a:xfrm>
            <a:off x="841247" y="2633472"/>
            <a:ext cx="2962656" cy="457200"/>
          </a:xfrm>
          <a:prstGeom prst="rect">
            <a:avLst/>
          </a:prstGeom>
          <a:noFill/>
        </p:spPr>
        <p:txBody>
          <a:bodyPr wrap="square" lIns="0" rIns="0" tIns="0" bIns="0" anchor="t">
            <a:noAutofit/>
          </a:bodyPr>
          <a:lstStyle/>
          <a:p>
            <a:pPr algn="l"/>
            <a:r>
              <a:rPr sz="1800" b="1">
                <a:solidFill>
                  <a:srgbClr val="20242B"/>
                </a:solidFill>
                <a:latin typeface="Poppins"/>
              </a:rPr>
              <a:t>POPIA, NDPR, GDPR</a:t>
            </a:r>
          </a:p>
        </p:txBody>
      </p:sp>
      <p:sp>
        <p:nvSpPr>
          <p:cNvPr id="8" name="trust163|card|"/>
          <p:cNvSpPr txBox="1"/>
          <p:nvPr/>
        </p:nvSpPr>
        <p:spPr>
          <a:xfrm>
            <a:off x="841247" y="3090672"/>
            <a:ext cx="2962656" cy="411480"/>
          </a:xfrm>
          <a:prstGeom prst="rect">
            <a:avLst/>
          </a:prstGeom>
          <a:noFill/>
        </p:spPr>
        <p:txBody>
          <a:bodyPr wrap="square" lIns="0" rIns="0" tIns="0" bIns="0" anchor="t">
            <a:noAutofit/>
          </a:bodyPr>
          <a:lstStyle/>
          <a:p>
            <a:pPr algn="l"/>
            <a:r>
              <a:rPr sz="1400" b="0">
                <a:solidFill>
                  <a:srgbClr val="5B6670"/>
                </a:solidFill>
                <a:latin typeface="Inter"/>
              </a:rPr>
              <a:t>Ready: South Africa, Nigeria, EU</a:t>
            </a:r>
          </a:p>
        </p:txBody>
      </p:sp>
      <p:sp>
        <p:nvSpPr>
          <p:cNvPr id="9" name="trust164|card|"/>
          <p:cNvSpPr/>
          <p:nvPr/>
        </p:nvSpPr>
        <p:spPr>
          <a:xfrm>
            <a:off x="4340199" y="1536192"/>
            <a:ext cx="3511296" cy="2212848"/>
          </a:xfrm>
          <a:prstGeom prst="roundRect">
            <a:avLst>
              <a:gd name="adj" fmla="val 7438"/>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rust164|deco|"/>
          <p:cNvSpPr/>
          <p:nvPr/>
        </p:nvSpPr>
        <p:spPr>
          <a:xfrm>
            <a:off x="4605375" y="1801367"/>
            <a:ext cx="713232" cy="7132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trust164|icon|checkCircle_deep.png" descr="checkCircle_deep"/>
          <p:cNvPicPr>
            <a:picLocks noChangeAspect="1"/>
          </p:cNvPicPr>
          <p:nvPr/>
        </p:nvPicPr>
        <p:blipFill>
          <a:blip r:embed="rId3"/>
          <a:srcRect/>
          <a:stretch>
            <a:fillRect/>
          </a:stretch>
        </p:blipFill>
        <p:spPr>
          <a:xfrm>
            <a:off x="4762286" y="1958279"/>
            <a:ext cx="399409" cy="399409"/>
          </a:xfrm>
          <a:prstGeom prst="rect">
            <a:avLst/>
          </a:prstGeom>
        </p:spPr>
      </p:pic>
      <p:sp>
        <p:nvSpPr>
          <p:cNvPr id="12" name="trust164|card|"/>
          <p:cNvSpPr txBox="1"/>
          <p:nvPr/>
        </p:nvSpPr>
        <p:spPr>
          <a:xfrm>
            <a:off x="4632807" y="2633472"/>
            <a:ext cx="2962656" cy="457200"/>
          </a:xfrm>
          <a:prstGeom prst="rect">
            <a:avLst/>
          </a:prstGeom>
          <a:noFill/>
        </p:spPr>
        <p:txBody>
          <a:bodyPr wrap="square" lIns="0" rIns="0" tIns="0" bIns="0" anchor="t">
            <a:noAutofit/>
          </a:bodyPr>
          <a:lstStyle/>
          <a:p>
            <a:pPr algn="l"/>
            <a:r>
              <a:rPr sz="1800" b="1">
                <a:solidFill>
                  <a:srgbClr val="20242B"/>
                </a:solidFill>
                <a:latin typeface="Poppins"/>
              </a:rPr>
              <a:t>Meta Tech Provider</a:t>
            </a:r>
          </a:p>
        </p:txBody>
      </p:sp>
      <p:sp>
        <p:nvSpPr>
          <p:cNvPr id="13" name="trust164|card|"/>
          <p:cNvSpPr txBox="1"/>
          <p:nvPr/>
        </p:nvSpPr>
        <p:spPr>
          <a:xfrm>
            <a:off x="4632807" y="3090672"/>
            <a:ext cx="2962656" cy="411480"/>
          </a:xfrm>
          <a:prstGeom prst="rect">
            <a:avLst/>
          </a:prstGeom>
          <a:noFill/>
        </p:spPr>
        <p:txBody>
          <a:bodyPr wrap="square" lIns="0" rIns="0" tIns="0" bIns="0" anchor="t">
            <a:noAutofit/>
          </a:bodyPr>
          <a:lstStyle/>
          <a:p>
            <a:pPr algn="l"/>
            <a:r>
              <a:rPr sz="1400" b="0">
                <a:solidFill>
                  <a:srgbClr val="5B6670"/>
                </a:solidFill>
                <a:latin typeface="Inter"/>
              </a:rPr>
              <a:t>Verified by Meta</a:t>
            </a:r>
          </a:p>
        </p:txBody>
      </p:sp>
      <p:sp>
        <p:nvSpPr>
          <p:cNvPr id="14" name="trust165|card|"/>
          <p:cNvSpPr/>
          <p:nvPr/>
        </p:nvSpPr>
        <p:spPr>
          <a:xfrm>
            <a:off x="8131759" y="1536192"/>
            <a:ext cx="3511296" cy="2212848"/>
          </a:xfrm>
          <a:prstGeom prst="roundRect">
            <a:avLst>
              <a:gd name="adj" fmla="val 7438"/>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rust165|deco|"/>
          <p:cNvSpPr/>
          <p:nvPr/>
        </p:nvSpPr>
        <p:spPr>
          <a:xfrm>
            <a:off x="8396935" y="1801367"/>
            <a:ext cx="713232" cy="7132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trust165|icon|layers_deep.png" descr="layers_deep"/>
          <p:cNvPicPr>
            <a:picLocks noChangeAspect="1"/>
          </p:cNvPicPr>
          <p:nvPr/>
        </p:nvPicPr>
        <p:blipFill>
          <a:blip r:embed="rId4"/>
          <a:srcRect/>
          <a:stretch>
            <a:fillRect/>
          </a:stretch>
        </p:blipFill>
        <p:spPr>
          <a:xfrm>
            <a:off x="8553846" y="1958279"/>
            <a:ext cx="399409" cy="399409"/>
          </a:xfrm>
          <a:prstGeom prst="rect">
            <a:avLst/>
          </a:prstGeom>
        </p:spPr>
      </p:pic>
      <p:sp>
        <p:nvSpPr>
          <p:cNvPr id="17" name="trust165|card|"/>
          <p:cNvSpPr txBox="1"/>
          <p:nvPr/>
        </p:nvSpPr>
        <p:spPr>
          <a:xfrm>
            <a:off x="8424367" y="2633472"/>
            <a:ext cx="2962656" cy="457200"/>
          </a:xfrm>
          <a:prstGeom prst="rect">
            <a:avLst/>
          </a:prstGeom>
          <a:noFill/>
        </p:spPr>
        <p:txBody>
          <a:bodyPr wrap="square" lIns="0" rIns="0" tIns="0" bIns="0" anchor="t">
            <a:noAutofit/>
          </a:bodyPr>
          <a:lstStyle/>
          <a:p>
            <a:pPr algn="l"/>
            <a:r>
              <a:rPr sz="1800" b="1">
                <a:solidFill>
                  <a:srgbClr val="20242B"/>
                </a:solidFill>
                <a:latin typeface="Poppins"/>
              </a:rPr>
              <a:t>Row-level security</a:t>
            </a:r>
          </a:p>
        </p:txBody>
      </p:sp>
      <p:sp>
        <p:nvSpPr>
          <p:cNvPr id="18" name="trust165|card|"/>
          <p:cNvSpPr txBox="1"/>
          <p:nvPr/>
        </p:nvSpPr>
        <p:spPr>
          <a:xfrm>
            <a:off x="8424367" y="3090672"/>
            <a:ext cx="2962656" cy="411480"/>
          </a:xfrm>
          <a:prstGeom prst="rect">
            <a:avLst/>
          </a:prstGeom>
          <a:noFill/>
        </p:spPr>
        <p:txBody>
          <a:bodyPr wrap="square" lIns="0" rIns="0" tIns="0" bIns="0" anchor="t">
            <a:noAutofit/>
          </a:bodyPr>
          <a:lstStyle/>
          <a:p>
            <a:pPr algn="l"/>
            <a:r>
              <a:rPr sz="1400" b="0">
                <a:solidFill>
                  <a:srgbClr val="5B6670"/>
                </a:solidFill>
                <a:latin typeface="Inter"/>
              </a:rPr>
              <a:t>Every database table</a:t>
            </a:r>
          </a:p>
        </p:txBody>
      </p:sp>
      <p:sp>
        <p:nvSpPr>
          <p:cNvPr id="19" name="trust166|card|"/>
          <p:cNvSpPr/>
          <p:nvPr/>
        </p:nvSpPr>
        <p:spPr>
          <a:xfrm>
            <a:off x="548640" y="3950208"/>
            <a:ext cx="3511296" cy="2212848"/>
          </a:xfrm>
          <a:prstGeom prst="roundRect">
            <a:avLst>
              <a:gd name="adj" fmla="val 7438"/>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rust166|deco|"/>
          <p:cNvSpPr/>
          <p:nvPr/>
        </p:nvSpPr>
        <p:spPr>
          <a:xfrm>
            <a:off x="813816" y="4215384"/>
            <a:ext cx="713232" cy="7132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trust166|icon|plug_deep.png" descr="plug_deep"/>
          <p:cNvPicPr>
            <a:picLocks noChangeAspect="1"/>
          </p:cNvPicPr>
          <p:nvPr/>
        </p:nvPicPr>
        <p:blipFill>
          <a:blip r:embed="rId5"/>
          <a:srcRect/>
          <a:stretch>
            <a:fillRect/>
          </a:stretch>
        </p:blipFill>
        <p:spPr>
          <a:xfrm>
            <a:off x="970727" y="4372295"/>
            <a:ext cx="399409" cy="399409"/>
          </a:xfrm>
          <a:prstGeom prst="rect">
            <a:avLst/>
          </a:prstGeom>
        </p:spPr>
      </p:pic>
      <p:sp>
        <p:nvSpPr>
          <p:cNvPr id="22" name="trust166|card|"/>
          <p:cNvSpPr txBox="1"/>
          <p:nvPr/>
        </p:nvSpPr>
        <p:spPr>
          <a:xfrm>
            <a:off x="841247" y="5047488"/>
            <a:ext cx="2962656" cy="457200"/>
          </a:xfrm>
          <a:prstGeom prst="rect">
            <a:avLst/>
          </a:prstGeom>
          <a:noFill/>
        </p:spPr>
        <p:txBody>
          <a:bodyPr wrap="square" lIns="0" rIns="0" tIns="0" bIns="0" anchor="t">
            <a:noAutofit/>
          </a:bodyPr>
          <a:lstStyle/>
          <a:p>
            <a:pPr algn="l"/>
            <a:r>
              <a:rPr sz="1800" b="1">
                <a:solidFill>
                  <a:srgbClr val="20242B"/>
                </a:solidFill>
                <a:latin typeface="Poppins"/>
              </a:rPr>
              <a:t>Encrypted tokens</a:t>
            </a:r>
          </a:p>
        </p:txBody>
      </p:sp>
      <p:sp>
        <p:nvSpPr>
          <p:cNvPr id="23" name="trust166|card|"/>
          <p:cNvSpPr txBox="1"/>
          <p:nvPr/>
        </p:nvSpPr>
        <p:spPr>
          <a:xfrm>
            <a:off x="841247" y="5504688"/>
            <a:ext cx="2962656" cy="411480"/>
          </a:xfrm>
          <a:prstGeom prst="rect">
            <a:avLst/>
          </a:prstGeom>
          <a:noFill/>
        </p:spPr>
        <p:txBody>
          <a:bodyPr wrap="square" lIns="0" rIns="0" tIns="0" bIns="0" anchor="t">
            <a:noAutofit/>
          </a:bodyPr>
          <a:lstStyle/>
          <a:p>
            <a:pPr algn="l"/>
            <a:r>
              <a:rPr sz="1400" b="0">
                <a:solidFill>
                  <a:srgbClr val="5B6670"/>
                </a:solidFill>
                <a:latin typeface="Inter"/>
              </a:rPr>
              <a:t>Connected accounts</a:t>
            </a:r>
          </a:p>
        </p:txBody>
      </p:sp>
      <p:sp>
        <p:nvSpPr>
          <p:cNvPr id="24" name="trust167|card|"/>
          <p:cNvSpPr/>
          <p:nvPr/>
        </p:nvSpPr>
        <p:spPr>
          <a:xfrm>
            <a:off x="4340199" y="3950208"/>
            <a:ext cx="3511296" cy="2212848"/>
          </a:xfrm>
          <a:prstGeom prst="roundRect">
            <a:avLst>
              <a:gd name="adj" fmla="val 7438"/>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rust167|deco|"/>
          <p:cNvSpPr/>
          <p:nvPr/>
        </p:nvSpPr>
        <p:spPr>
          <a:xfrm>
            <a:off x="4605375" y="4215384"/>
            <a:ext cx="713232" cy="7132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trust167|icon|file_deep.png" descr="file_deep"/>
          <p:cNvPicPr>
            <a:picLocks noChangeAspect="1"/>
          </p:cNvPicPr>
          <p:nvPr/>
        </p:nvPicPr>
        <p:blipFill>
          <a:blip r:embed="rId6"/>
          <a:srcRect/>
          <a:stretch>
            <a:fillRect/>
          </a:stretch>
        </p:blipFill>
        <p:spPr>
          <a:xfrm>
            <a:off x="4762286" y="4372295"/>
            <a:ext cx="399409" cy="399409"/>
          </a:xfrm>
          <a:prstGeom prst="rect">
            <a:avLst/>
          </a:prstGeom>
        </p:spPr>
      </p:pic>
      <p:sp>
        <p:nvSpPr>
          <p:cNvPr id="27" name="trust167|card|"/>
          <p:cNvSpPr txBox="1"/>
          <p:nvPr/>
        </p:nvSpPr>
        <p:spPr>
          <a:xfrm>
            <a:off x="4632807" y="5047488"/>
            <a:ext cx="2962656" cy="457200"/>
          </a:xfrm>
          <a:prstGeom prst="rect">
            <a:avLst/>
          </a:prstGeom>
          <a:noFill/>
        </p:spPr>
        <p:txBody>
          <a:bodyPr wrap="square" lIns="0" rIns="0" tIns="0" bIns="0" anchor="t">
            <a:noAutofit/>
          </a:bodyPr>
          <a:lstStyle/>
          <a:p>
            <a:pPr algn="l"/>
            <a:r>
              <a:rPr sz="1800" b="1">
                <a:solidFill>
                  <a:srgbClr val="20242B"/>
                </a:solidFill>
                <a:latin typeface="Poppins"/>
              </a:rPr>
              <a:t>Audit export</a:t>
            </a:r>
          </a:p>
        </p:txBody>
      </p:sp>
      <p:sp>
        <p:nvSpPr>
          <p:cNvPr id="28" name="trust167|card|"/>
          <p:cNvSpPr txBox="1"/>
          <p:nvPr/>
        </p:nvSpPr>
        <p:spPr>
          <a:xfrm>
            <a:off x="4632807" y="5504688"/>
            <a:ext cx="2962656" cy="411480"/>
          </a:xfrm>
          <a:prstGeom prst="rect">
            <a:avLst/>
          </a:prstGeom>
          <a:noFill/>
        </p:spPr>
        <p:txBody>
          <a:bodyPr wrap="square" lIns="0" rIns="0" tIns="0" bIns="0" anchor="t">
            <a:noAutofit/>
          </a:bodyPr>
          <a:lstStyle/>
          <a:p>
            <a:pPr algn="l"/>
            <a:r>
              <a:rPr sz="1400" b="0">
                <a:solidFill>
                  <a:srgbClr val="5B6670"/>
                </a:solidFill>
                <a:latin typeface="Inter"/>
              </a:rPr>
              <a:t>Exportable activity record</a:t>
            </a:r>
          </a:p>
        </p:txBody>
      </p:sp>
      <p:sp>
        <p:nvSpPr>
          <p:cNvPr id="29" name="trust168|card|"/>
          <p:cNvSpPr/>
          <p:nvPr/>
        </p:nvSpPr>
        <p:spPr>
          <a:xfrm>
            <a:off x="8131759" y="3950208"/>
            <a:ext cx="3511296" cy="2212848"/>
          </a:xfrm>
          <a:prstGeom prst="roundRect">
            <a:avLst>
              <a:gd name="adj" fmla="val 7438"/>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rust168|deco|"/>
          <p:cNvSpPr/>
          <p:nvPr/>
        </p:nvSpPr>
        <p:spPr>
          <a:xfrm>
            <a:off x="8396935" y="4215384"/>
            <a:ext cx="713232" cy="7132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trust168|icon|refresh_deep.png" descr="refresh_deep"/>
          <p:cNvPicPr>
            <a:picLocks noChangeAspect="1"/>
          </p:cNvPicPr>
          <p:nvPr/>
        </p:nvPicPr>
        <p:blipFill>
          <a:blip r:embed="rId7"/>
          <a:srcRect/>
          <a:stretch>
            <a:fillRect/>
          </a:stretch>
        </p:blipFill>
        <p:spPr>
          <a:xfrm>
            <a:off x="8553846" y="4372295"/>
            <a:ext cx="399409" cy="399409"/>
          </a:xfrm>
          <a:prstGeom prst="rect">
            <a:avLst/>
          </a:prstGeom>
        </p:spPr>
      </p:pic>
      <p:sp>
        <p:nvSpPr>
          <p:cNvPr id="32" name="trust168|card|"/>
          <p:cNvSpPr txBox="1"/>
          <p:nvPr/>
        </p:nvSpPr>
        <p:spPr>
          <a:xfrm>
            <a:off x="8424367" y="5047488"/>
            <a:ext cx="2962656" cy="457200"/>
          </a:xfrm>
          <a:prstGeom prst="rect">
            <a:avLst/>
          </a:prstGeom>
          <a:noFill/>
        </p:spPr>
        <p:txBody>
          <a:bodyPr wrap="square" lIns="0" rIns="0" tIns="0" bIns="0" anchor="t">
            <a:noAutofit/>
          </a:bodyPr>
          <a:lstStyle/>
          <a:p>
            <a:pPr algn="l"/>
            <a:r>
              <a:rPr sz="1800" b="1">
                <a:solidFill>
                  <a:srgbClr val="20242B"/>
                </a:solidFill>
                <a:latin typeface="Poppins"/>
              </a:rPr>
              <a:t>Data export &amp; deletion</a:t>
            </a:r>
          </a:p>
        </p:txBody>
      </p:sp>
      <p:sp>
        <p:nvSpPr>
          <p:cNvPr id="33" name="trust168|card|"/>
          <p:cNvSpPr txBox="1"/>
          <p:nvPr/>
        </p:nvSpPr>
        <p:spPr>
          <a:xfrm>
            <a:off x="8424367" y="5504688"/>
            <a:ext cx="2962656" cy="411480"/>
          </a:xfrm>
          <a:prstGeom prst="rect">
            <a:avLst/>
          </a:prstGeom>
          <a:noFill/>
        </p:spPr>
        <p:txBody>
          <a:bodyPr wrap="square" lIns="0" rIns="0" tIns="0" bIns="0" anchor="t">
            <a:noAutofit/>
          </a:bodyPr>
          <a:lstStyle/>
          <a:p>
            <a:pPr algn="l"/>
            <a:r>
              <a:rPr sz="1400" b="0">
                <a:solidFill>
                  <a:srgbClr val="5B6670"/>
                </a:solidFill>
                <a:latin typeface="Inter"/>
              </a:rPr>
              <a:t>Export data, delete account</a:t>
            </a:r>
          </a:p>
        </p:txBody>
      </p:sp>
      <p:sp>
        <p:nvSpPr>
          <p:cNvPr id="34"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35"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13</a:t>
            </a:fld>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419"/>
        </a:solidFill>
        <a:effectLst/>
      </p:bgPr>
    </p:bg>
    <p:spTree>
      <p:nvGrpSpPr>
        <p:cNvPr id="1" name=""/>
        <p:cNvGrpSpPr/>
        <p:nvPr/>
      </p:nvGrpSpPr>
      <p:grpSpPr/>
      <p:sp>
        <p:nvSpPr>
          <p:cNvPr id="2" name="hdr169|eyebrow|"/>
          <p:cNvSpPr txBox="1"/>
          <p:nvPr/>
        </p:nvSpPr>
        <p:spPr>
          <a:xfrm>
            <a:off x="548640" y="731520"/>
            <a:ext cx="11094415" cy="274320"/>
          </a:xfrm>
          <a:prstGeom prst="rect">
            <a:avLst/>
          </a:prstGeom>
          <a:noFill/>
        </p:spPr>
        <p:txBody>
          <a:bodyPr wrap="square" lIns="0" rIns="0" tIns="0" bIns="0" anchor="t">
            <a:noAutofit/>
          </a:bodyPr>
          <a:lstStyle/>
          <a:p>
            <a:pPr algn="l"/>
            <a:r>
              <a:rPr sz="1200" b="1" spc="150">
                <a:solidFill>
                  <a:srgbClr val="FF6A00"/>
                </a:solidFill>
                <a:latin typeface="Inter"/>
              </a:rPr>
              <a:t>NEXT STEPS</a:t>
            </a:r>
          </a:p>
        </p:txBody>
      </p:sp>
      <p:sp>
        <p:nvSpPr>
          <p:cNvPr id="3" name="hdr169|title|"/>
          <p:cNvSpPr txBox="1"/>
          <p:nvPr/>
        </p:nvSpPr>
        <p:spPr>
          <a:xfrm>
            <a:off x="548640" y="1005840"/>
            <a:ext cx="11094415" cy="731520"/>
          </a:xfrm>
          <a:prstGeom prst="rect">
            <a:avLst/>
          </a:prstGeom>
          <a:noFill/>
        </p:spPr>
        <p:txBody>
          <a:bodyPr wrap="square" lIns="0" rIns="0" tIns="0" bIns="0" anchor="t">
            <a:noAutofit/>
          </a:bodyPr>
          <a:lstStyle/>
          <a:p>
            <a:pPr algn="l"/>
            <a:r>
              <a:rPr sz="3600" b="1">
                <a:solidFill>
                  <a:srgbClr val="FFFFFF"/>
                </a:solidFill>
                <a:latin typeface="Poppins"/>
              </a:rPr>
              <a:t>Let's get you selling in chat</a:t>
            </a:r>
          </a:p>
        </p:txBody>
      </p:sp>
      <p:sp>
        <p:nvSpPr>
          <p:cNvPr id="4" name="cta170|card|"/>
          <p:cNvSpPr/>
          <p:nvPr/>
        </p:nvSpPr>
        <p:spPr>
          <a:xfrm>
            <a:off x="548640" y="2057400"/>
            <a:ext cx="6903720" cy="1115568"/>
          </a:xfrm>
          <a:prstGeom prst="roundRect">
            <a:avLst>
              <a:gd name="adj" fmla="val 14754"/>
            </a:avLst>
          </a:prstGeom>
          <a:solidFill>
            <a:srgbClr val="1B23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cta170|deco|"/>
          <p:cNvSpPr/>
          <p:nvPr/>
        </p:nvSpPr>
        <p:spPr>
          <a:xfrm>
            <a:off x="841247" y="2331720"/>
            <a:ext cx="566928" cy="566928"/>
          </a:xfrm>
          <a:prstGeom prst="ellipse">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cta170|card|"/>
          <p:cNvSpPr txBox="1"/>
          <p:nvPr/>
        </p:nvSpPr>
        <p:spPr>
          <a:xfrm>
            <a:off x="841247" y="2331720"/>
            <a:ext cx="566928" cy="566928"/>
          </a:xfrm>
          <a:prstGeom prst="rect">
            <a:avLst/>
          </a:prstGeom>
          <a:noFill/>
        </p:spPr>
        <p:txBody>
          <a:bodyPr wrap="square" lIns="0" rIns="0" tIns="0" bIns="0" anchor="ctr">
            <a:noAutofit/>
          </a:bodyPr>
          <a:lstStyle/>
          <a:p>
            <a:pPr algn="ctr"/>
            <a:r>
              <a:rPr sz="2000" b="1">
                <a:solidFill>
                  <a:srgbClr val="0F1419"/>
                </a:solidFill>
                <a:latin typeface="Poppins"/>
              </a:rPr>
              <a:t>1</a:t>
            </a:r>
          </a:p>
        </p:txBody>
      </p:sp>
      <p:sp>
        <p:nvSpPr>
          <p:cNvPr id="7" name="cta170|card|"/>
          <p:cNvSpPr txBox="1"/>
          <p:nvPr/>
        </p:nvSpPr>
        <p:spPr>
          <a:xfrm>
            <a:off x="1645919" y="2240280"/>
            <a:ext cx="5623560" cy="411480"/>
          </a:xfrm>
          <a:prstGeom prst="rect">
            <a:avLst/>
          </a:prstGeom>
          <a:noFill/>
        </p:spPr>
        <p:txBody>
          <a:bodyPr wrap="square" lIns="0" rIns="0" tIns="0" bIns="0" anchor="t">
            <a:noAutofit/>
          </a:bodyPr>
          <a:lstStyle/>
          <a:p>
            <a:pPr algn="l"/>
            <a:r>
              <a:rPr sz="2000" b="1">
                <a:solidFill>
                  <a:srgbClr val="FFFFFF"/>
                </a:solidFill>
                <a:latin typeface="Poppins"/>
              </a:rPr>
              <a:t>Book a 30-minute discovery call</a:t>
            </a:r>
          </a:p>
        </p:txBody>
      </p:sp>
      <p:sp>
        <p:nvSpPr>
          <p:cNvPr id="8" name="cta170|card|"/>
          <p:cNvSpPr txBox="1"/>
          <p:nvPr/>
        </p:nvSpPr>
        <p:spPr>
          <a:xfrm>
            <a:off x="1645919" y="2697480"/>
            <a:ext cx="5623560" cy="347472"/>
          </a:xfrm>
          <a:prstGeom prst="rect">
            <a:avLst/>
          </a:prstGeom>
          <a:noFill/>
        </p:spPr>
        <p:txBody>
          <a:bodyPr wrap="square" lIns="0" rIns="0" tIns="0" bIns="0" anchor="t">
            <a:noAutofit/>
          </a:bodyPr>
          <a:lstStyle/>
          <a:p>
            <a:pPr algn="l"/>
            <a:r>
              <a:rPr sz="1500" b="0">
                <a:solidFill>
                  <a:srgbClr val="A7B0B8"/>
                </a:solidFill>
                <a:latin typeface="Inter"/>
              </a:rPr>
              <a:t>We map your goals, channels and products.</a:t>
            </a:r>
          </a:p>
        </p:txBody>
      </p:sp>
      <p:sp>
        <p:nvSpPr>
          <p:cNvPr id="9" name="cta171|card|"/>
          <p:cNvSpPr/>
          <p:nvPr/>
        </p:nvSpPr>
        <p:spPr>
          <a:xfrm>
            <a:off x="548640" y="3355848"/>
            <a:ext cx="6903720" cy="1115568"/>
          </a:xfrm>
          <a:prstGeom prst="roundRect">
            <a:avLst>
              <a:gd name="adj" fmla="val 14754"/>
            </a:avLst>
          </a:prstGeom>
          <a:solidFill>
            <a:srgbClr val="1B23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ta171|deco|"/>
          <p:cNvSpPr/>
          <p:nvPr/>
        </p:nvSpPr>
        <p:spPr>
          <a:xfrm>
            <a:off x="841247" y="3630168"/>
            <a:ext cx="566928" cy="566928"/>
          </a:xfrm>
          <a:prstGeom prst="ellipse">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ta171|card|"/>
          <p:cNvSpPr txBox="1"/>
          <p:nvPr/>
        </p:nvSpPr>
        <p:spPr>
          <a:xfrm>
            <a:off x="841247" y="3630168"/>
            <a:ext cx="566928" cy="566928"/>
          </a:xfrm>
          <a:prstGeom prst="rect">
            <a:avLst/>
          </a:prstGeom>
          <a:noFill/>
        </p:spPr>
        <p:txBody>
          <a:bodyPr wrap="square" lIns="0" rIns="0" tIns="0" bIns="0" anchor="ctr">
            <a:noAutofit/>
          </a:bodyPr>
          <a:lstStyle/>
          <a:p>
            <a:pPr algn="ctr"/>
            <a:r>
              <a:rPr sz="2000" b="1">
                <a:solidFill>
                  <a:srgbClr val="0F1419"/>
                </a:solidFill>
                <a:latin typeface="Poppins"/>
              </a:rPr>
              <a:t>2</a:t>
            </a:r>
          </a:p>
        </p:txBody>
      </p:sp>
      <p:sp>
        <p:nvSpPr>
          <p:cNvPr id="12" name="cta171|card|"/>
          <p:cNvSpPr txBox="1"/>
          <p:nvPr/>
        </p:nvSpPr>
        <p:spPr>
          <a:xfrm>
            <a:off x="1645919" y="3538728"/>
            <a:ext cx="5623560" cy="411480"/>
          </a:xfrm>
          <a:prstGeom prst="rect">
            <a:avLst/>
          </a:prstGeom>
          <a:noFill/>
        </p:spPr>
        <p:txBody>
          <a:bodyPr wrap="square" lIns="0" rIns="0" tIns="0" bIns="0" anchor="t">
            <a:noAutofit/>
          </a:bodyPr>
          <a:lstStyle/>
          <a:p>
            <a:pPr algn="l"/>
            <a:r>
              <a:rPr sz="2000" b="1">
                <a:solidFill>
                  <a:srgbClr val="FFFFFF"/>
                </a:solidFill>
                <a:latin typeface="Poppins"/>
              </a:rPr>
              <a:t>Start your 14-day free trial</a:t>
            </a:r>
          </a:p>
        </p:txBody>
      </p:sp>
      <p:sp>
        <p:nvSpPr>
          <p:cNvPr id="13" name="cta171|card|"/>
          <p:cNvSpPr txBox="1"/>
          <p:nvPr/>
        </p:nvSpPr>
        <p:spPr>
          <a:xfrm>
            <a:off x="1645919" y="3995928"/>
            <a:ext cx="5623560" cy="347472"/>
          </a:xfrm>
          <a:prstGeom prst="rect">
            <a:avLst/>
          </a:prstGeom>
          <a:noFill/>
        </p:spPr>
        <p:txBody>
          <a:bodyPr wrap="square" lIns="0" rIns="0" tIns="0" bIns="0" anchor="t">
            <a:noAutofit/>
          </a:bodyPr>
          <a:lstStyle/>
          <a:p>
            <a:pPr algn="l"/>
            <a:r>
              <a:rPr sz="1500" b="0">
                <a:solidFill>
                  <a:srgbClr val="A7B0B8"/>
                </a:solidFill>
                <a:latin typeface="Inter"/>
              </a:rPr>
              <a:t>No card required, at fluxmuse.ai.</a:t>
            </a:r>
          </a:p>
        </p:txBody>
      </p:sp>
      <p:sp>
        <p:nvSpPr>
          <p:cNvPr id="14" name="cta172|card|"/>
          <p:cNvSpPr/>
          <p:nvPr/>
        </p:nvSpPr>
        <p:spPr>
          <a:xfrm>
            <a:off x="548640" y="4654296"/>
            <a:ext cx="6903720" cy="1115568"/>
          </a:xfrm>
          <a:prstGeom prst="roundRect">
            <a:avLst>
              <a:gd name="adj" fmla="val 14754"/>
            </a:avLst>
          </a:prstGeom>
          <a:solidFill>
            <a:srgbClr val="1B23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cta172|deco|"/>
          <p:cNvSpPr/>
          <p:nvPr/>
        </p:nvSpPr>
        <p:spPr>
          <a:xfrm>
            <a:off x="841247" y="4928616"/>
            <a:ext cx="566928" cy="566928"/>
          </a:xfrm>
          <a:prstGeom prst="ellipse">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cta172|card|"/>
          <p:cNvSpPr txBox="1"/>
          <p:nvPr/>
        </p:nvSpPr>
        <p:spPr>
          <a:xfrm>
            <a:off x="841247" y="4928616"/>
            <a:ext cx="566928" cy="566928"/>
          </a:xfrm>
          <a:prstGeom prst="rect">
            <a:avLst/>
          </a:prstGeom>
          <a:noFill/>
        </p:spPr>
        <p:txBody>
          <a:bodyPr wrap="square" lIns="0" rIns="0" tIns="0" bIns="0" anchor="ctr">
            <a:noAutofit/>
          </a:bodyPr>
          <a:lstStyle/>
          <a:p>
            <a:pPr algn="ctr"/>
            <a:r>
              <a:rPr sz="2000" b="1">
                <a:solidFill>
                  <a:srgbClr val="0F1419"/>
                </a:solidFill>
                <a:latin typeface="Poppins"/>
              </a:rPr>
              <a:t>3</a:t>
            </a:r>
          </a:p>
        </p:txBody>
      </p:sp>
      <p:sp>
        <p:nvSpPr>
          <p:cNvPr id="17" name="cta172|card|"/>
          <p:cNvSpPr txBox="1"/>
          <p:nvPr/>
        </p:nvSpPr>
        <p:spPr>
          <a:xfrm>
            <a:off x="1645919" y="4837176"/>
            <a:ext cx="5623560" cy="411480"/>
          </a:xfrm>
          <a:prstGeom prst="rect">
            <a:avLst/>
          </a:prstGeom>
          <a:noFill/>
        </p:spPr>
        <p:txBody>
          <a:bodyPr wrap="square" lIns="0" rIns="0" tIns="0" bIns="0" anchor="t">
            <a:noAutofit/>
          </a:bodyPr>
          <a:lstStyle/>
          <a:p>
            <a:pPr algn="l"/>
            <a:r>
              <a:rPr sz="2000" b="1">
                <a:solidFill>
                  <a:srgbClr val="FFFFFF"/>
                </a:solidFill>
                <a:latin typeface="Poppins"/>
              </a:rPr>
              <a:t>Join as a Founding Member</a:t>
            </a:r>
          </a:p>
        </p:txBody>
      </p:sp>
      <p:sp>
        <p:nvSpPr>
          <p:cNvPr id="18" name="cta172|card|"/>
          <p:cNvSpPr txBox="1"/>
          <p:nvPr/>
        </p:nvSpPr>
        <p:spPr>
          <a:xfrm>
            <a:off x="1645919" y="5294376"/>
            <a:ext cx="5623560" cy="347472"/>
          </a:xfrm>
          <a:prstGeom prst="rect">
            <a:avLst/>
          </a:prstGeom>
          <a:noFill/>
        </p:spPr>
        <p:txBody>
          <a:bodyPr wrap="square" lIns="0" rIns="0" tIns="0" bIns="0" anchor="t">
            <a:noAutofit/>
          </a:bodyPr>
          <a:lstStyle/>
          <a:p>
            <a:pPr algn="l"/>
            <a:r>
              <a:rPr sz="1500" b="0">
                <a:solidFill>
                  <a:srgbClr val="A7B0B8"/>
                </a:solidFill>
                <a:latin typeface="Inter"/>
              </a:rPr>
              <a:t>First 2 Starter bills at R349.</a:t>
            </a:r>
          </a:p>
        </p:txBody>
      </p:sp>
      <p:sp>
        <p:nvSpPr>
          <p:cNvPr id="19" name="contact173|card|"/>
          <p:cNvSpPr/>
          <p:nvPr/>
        </p:nvSpPr>
        <p:spPr>
          <a:xfrm>
            <a:off x="7772400" y="2057400"/>
            <a:ext cx="3867912" cy="3712463"/>
          </a:xfrm>
          <a:prstGeom prst="roundRect">
            <a:avLst>
              <a:gd name="adj" fmla="val 4433"/>
            </a:avLst>
          </a:prstGeom>
          <a:solidFill>
            <a:srgbClr val="1B23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contact173|eyebrow|"/>
          <p:cNvSpPr txBox="1"/>
          <p:nvPr/>
        </p:nvSpPr>
        <p:spPr>
          <a:xfrm>
            <a:off x="8092440" y="2286000"/>
            <a:ext cx="3291840" cy="274320"/>
          </a:xfrm>
          <a:prstGeom prst="rect">
            <a:avLst/>
          </a:prstGeom>
          <a:noFill/>
        </p:spPr>
        <p:txBody>
          <a:bodyPr wrap="square" lIns="0" rIns="0" tIns="0" bIns="0" anchor="t">
            <a:noAutofit/>
          </a:bodyPr>
          <a:lstStyle/>
          <a:p>
            <a:pPr algn="l"/>
            <a:r>
              <a:rPr sz="1200" b="1" spc="150">
                <a:solidFill>
                  <a:srgbClr val="FF6A00"/>
                </a:solidFill>
                <a:latin typeface="Inter"/>
              </a:rPr>
              <a:t>TALK TO US</a:t>
            </a:r>
          </a:p>
        </p:txBody>
      </p:sp>
      <p:sp>
        <p:nvSpPr>
          <p:cNvPr id="21" name="contact173|placeholder|"/>
          <p:cNvSpPr txBox="1"/>
          <p:nvPr/>
        </p:nvSpPr>
        <p:spPr>
          <a:xfrm>
            <a:off x="8092440" y="2606040"/>
            <a:ext cx="3291840" cy="1188720"/>
          </a:xfrm>
          <a:prstGeom prst="rect">
            <a:avLst/>
          </a:prstGeom>
          <a:noFill/>
        </p:spPr>
        <p:txBody>
          <a:bodyPr wrap="square" lIns="0" rIns="0" tIns="0" bIns="0" anchor="t">
            <a:noAutofit/>
          </a:bodyPr>
          <a:lstStyle/>
          <a:p>
            <a:pPr algn="l">
              <a:spcAft>
                <a:spcPts val="400"/>
              </a:spcAft>
            </a:pPr>
            <a:r>
              <a:rPr sz="1600" b="1">
                <a:solidFill>
                  <a:srgbClr val="FFFFFF"/>
                </a:solidFill>
                <a:latin typeface="Inter"/>
              </a:rPr>
              <a:t>[[CONTACT NAME]]</a:t>
            </a:r>
          </a:p>
          <a:p>
            <a:pPr algn="l">
              <a:spcAft>
                <a:spcPts val="400"/>
              </a:spcAft>
            </a:pPr>
            <a:r>
              <a:rPr sz="1600" b="0">
                <a:solidFill>
                  <a:srgbClr val="D5DADF"/>
                </a:solidFill>
                <a:latin typeface="Inter"/>
              </a:rPr>
              <a:t>[[EMAIL]]</a:t>
            </a:r>
          </a:p>
          <a:p>
            <a:pPr algn="l"/>
            <a:r>
              <a:rPr sz="1600" b="0">
                <a:solidFill>
                  <a:srgbClr val="D5DADF"/>
                </a:solidFill>
                <a:latin typeface="Inter"/>
              </a:rPr>
              <a:t>[[WHATSAPP NUMBER]]</a:t>
            </a:r>
          </a:p>
        </p:txBody>
      </p:sp>
      <p:sp>
        <p:nvSpPr>
          <p:cNvPr id="22" name="contact173|deco|"/>
          <p:cNvSpPr/>
          <p:nvPr/>
        </p:nvSpPr>
        <p:spPr>
          <a:xfrm>
            <a:off x="8092440" y="3931920"/>
            <a:ext cx="1463040" cy="1463040"/>
          </a:xfrm>
          <a:prstGeom prst="roundRect">
            <a:avLst>
              <a:gd name="adj" fmla="val 6250"/>
            </a:avLst>
          </a:prstGeom>
          <a:noFill/>
          <a:ln w="15875">
            <a:solidFill>
              <a:srgbClr val="A7B0B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contact173|caption|"/>
          <p:cNvSpPr txBox="1"/>
          <p:nvPr/>
        </p:nvSpPr>
        <p:spPr>
          <a:xfrm>
            <a:off x="8092440" y="3931920"/>
            <a:ext cx="1463040" cy="1463040"/>
          </a:xfrm>
          <a:prstGeom prst="rect">
            <a:avLst/>
          </a:prstGeom>
          <a:noFill/>
        </p:spPr>
        <p:txBody>
          <a:bodyPr wrap="square" lIns="0" rIns="0" tIns="0" bIns="0" anchor="ctr">
            <a:noAutofit/>
          </a:bodyPr>
          <a:lstStyle/>
          <a:p>
            <a:pPr algn="ctr"/>
            <a:r>
              <a:rPr sz="1100" b="0">
                <a:solidFill>
                  <a:srgbClr val="A7B0B8"/>
                </a:solidFill>
                <a:latin typeface="Inter"/>
              </a:rPr>
              <a:t>[[wa.me QR CODE]]</a:t>
            </a:r>
          </a:p>
        </p:txBody>
      </p:sp>
      <p:sp>
        <p:nvSpPr>
          <p:cNvPr id="24" name="contact173|placeholder|"/>
          <p:cNvSpPr txBox="1"/>
          <p:nvPr/>
        </p:nvSpPr>
        <p:spPr>
          <a:xfrm>
            <a:off x="9710928" y="4069080"/>
            <a:ext cx="1783080" cy="1280160"/>
          </a:xfrm>
          <a:prstGeom prst="rect">
            <a:avLst/>
          </a:prstGeom>
          <a:noFill/>
        </p:spPr>
        <p:txBody>
          <a:bodyPr wrap="square" lIns="0" rIns="0" tIns="0" bIns="0" anchor="t">
            <a:noAutofit/>
          </a:bodyPr>
          <a:lstStyle/>
          <a:p>
            <a:pPr algn="l">
              <a:spcAft>
                <a:spcPts val="600"/>
              </a:spcAft>
            </a:pPr>
            <a:r>
              <a:rPr sz="1400" b="0">
                <a:solidFill>
                  <a:srgbClr val="A7B0B8"/>
                </a:solidFill>
                <a:latin typeface="Inter"/>
              </a:rPr>
              <a:t>Scan to chat on WhatsApp</a:t>
            </a:r>
          </a:p>
          <a:p>
            <a:pPr algn="l"/>
            <a:r>
              <a:rPr sz="1400" b="1">
                <a:solidFill>
                  <a:srgbClr val="FFFFFF"/>
                </a:solidFill>
                <a:latin typeface="Inter"/>
              </a:rPr>
              <a:t>wa.me/</a:t>
            </a:r>
          </a:p>
          <a:p>
            <a:pPr algn="l"/>
            <a:r>
              <a:rPr sz="1400" b="1">
                <a:solidFill>
                  <a:srgbClr val="FFFFFF"/>
                </a:solidFill>
                <a:latin typeface="Inter"/>
              </a:rPr>
              <a:t>[[NUMBER]]</a:t>
            </a:r>
          </a:p>
        </p:txBody>
      </p:sp>
      <p:sp>
        <p:nvSpPr>
          <p:cNvPr id="2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A7B0B8"/>
                </a:solidFill>
                <a:latin typeface="Inter"/>
              </a:rPr>
              <a:t>FluxMuse · fluxmuse.ai</a:t>
            </a:r>
          </a:p>
        </p:txBody>
      </p:sp>
      <p:sp>
        <p:nvSpPr>
          <p:cNvPr id="2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A7B0B8"/>
                </a:solidFill>
                <a:latin typeface="Inter"/>
              </a:rPr>
              <a:t>14</a:t>
            </a:fld>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174|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APPENDIX A1 · FAQ (1 OF 2)</a:t>
            </a:r>
          </a:p>
        </p:txBody>
      </p:sp>
      <p:sp>
        <p:nvSpPr>
          <p:cNvPr id="3" name="hdr174|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Questions prospects ask</a:t>
            </a:r>
          </a:p>
        </p:txBody>
      </p:sp>
      <p:sp>
        <p:nvSpPr>
          <p:cNvPr id="4" name="faq175|card|"/>
          <p:cNvSpPr/>
          <p:nvPr/>
        </p:nvSpPr>
        <p:spPr>
          <a:xfrm>
            <a:off x="548640" y="1536192"/>
            <a:ext cx="5440680" cy="2240280"/>
          </a:xfrm>
          <a:prstGeom prst="roundRect">
            <a:avLst>
              <a:gd name="adj" fmla="val 7346"/>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aq175|deco|"/>
          <p:cNvSpPr/>
          <p:nvPr/>
        </p:nvSpPr>
        <p:spPr>
          <a:xfrm>
            <a:off x="777239" y="1792223"/>
            <a:ext cx="548640" cy="5486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faq175|icon|chat_deep.png" descr="chat_deep"/>
          <p:cNvPicPr>
            <a:picLocks noChangeAspect="1"/>
          </p:cNvPicPr>
          <p:nvPr/>
        </p:nvPicPr>
        <p:blipFill>
          <a:blip r:embed="rId2"/>
          <a:srcRect/>
          <a:stretch>
            <a:fillRect/>
          </a:stretch>
        </p:blipFill>
        <p:spPr>
          <a:xfrm>
            <a:off x="897940" y="1912924"/>
            <a:ext cx="307238" cy="307238"/>
          </a:xfrm>
          <a:prstGeom prst="rect">
            <a:avLst/>
          </a:prstGeom>
        </p:spPr>
      </p:pic>
      <p:sp>
        <p:nvSpPr>
          <p:cNvPr id="7" name="faq175|card|"/>
          <p:cNvSpPr txBox="1"/>
          <p:nvPr/>
        </p:nvSpPr>
        <p:spPr>
          <a:xfrm>
            <a:off x="1463040" y="1719072"/>
            <a:ext cx="4251960" cy="713232"/>
          </a:xfrm>
          <a:prstGeom prst="rect">
            <a:avLst/>
          </a:prstGeom>
          <a:noFill/>
        </p:spPr>
        <p:txBody>
          <a:bodyPr wrap="square" lIns="0" rIns="0" tIns="0" bIns="0" anchor="ctr">
            <a:noAutofit/>
          </a:bodyPr>
          <a:lstStyle/>
          <a:p>
            <a:pPr algn="l"/>
            <a:r>
              <a:rPr sz="1700" b="1">
                <a:solidFill>
                  <a:srgbClr val="20242B"/>
                </a:solidFill>
                <a:latin typeface="Poppins"/>
              </a:rPr>
              <a:t>Is my customers' data safe?</a:t>
            </a:r>
          </a:p>
        </p:txBody>
      </p:sp>
      <p:sp>
        <p:nvSpPr>
          <p:cNvPr id="8" name="faq175|card|"/>
          <p:cNvSpPr txBox="1"/>
          <p:nvPr/>
        </p:nvSpPr>
        <p:spPr>
          <a:xfrm>
            <a:off x="868680" y="2523744"/>
            <a:ext cx="4800600" cy="1133856"/>
          </a:xfrm>
          <a:prstGeom prst="rect">
            <a:avLst/>
          </a:prstGeom>
          <a:noFill/>
        </p:spPr>
        <p:txBody>
          <a:bodyPr wrap="square" lIns="0" rIns="0" tIns="0" bIns="0" anchor="t">
            <a:noAutofit/>
          </a:bodyPr>
          <a:lstStyle/>
          <a:p>
            <a:pPr algn="l"/>
            <a:r>
              <a:rPr sz="1500" b="0">
                <a:solidFill>
                  <a:srgbClr val="20242B"/>
                </a:solidFill>
                <a:latin typeface="Inter"/>
              </a:rPr>
              <a:t>FluxMuse is POPIA, NDPR and GDPR ready, with row-level security on every table, encrypted tokens, audit export, and account deletion and data export.</a:t>
            </a:r>
          </a:p>
        </p:txBody>
      </p:sp>
      <p:sp>
        <p:nvSpPr>
          <p:cNvPr id="9" name="faq176|card|"/>
          <p:cNvSpPr/>
          <p:nvPr/>
        </p:nvSpPr>
        <p:spPr>
          <a:xfrm>
            <a:off x="6202375" y="1536192"/>
            <a:ext cx="5440680" cy="2240280"/>
          </a:xfrm>
          <a:prstGeom prst="roundRect">
            <a:avLst>
              <a:gd name="adj" fmla="val 7346"/>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faq176|deco|"/>
          <p:cNvSpPr/>
          <p:nvPr/>
        </p:nvSpPr>
        <p:spPr>
          <a:xfrm>
            <a:off x="6430975" y="1792223"/>
            <a:ext cx="548640" cy="5486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faq176|icon|chat_deep.png" descr="chat_deep"/>
          <p:cNvPicPr>
            <a:picLocks noChangeAspect="1"/>
          </p:cNvPicPr>
          <p:nvPr/>
        </p:nvPicPr>
        <p:blipFill>
          <a:blip r:embed="rId2"/>
          <a:srcRect/>
          <a:stretch>
            <a:fillRect/>
          </a:stretch>
        </p:blipFill>
        <p:spPr>
          <a:xfrm>
            <a:off x="6551675" y="1912924"/>
            <a:ext cx="307238" cy="307238"/>
          </a:xfrm>
          <a:prstGeom prst="rect">
            <a:avLst/>
          </a:prstGeom>
        </p:spPr>
      </p:pic>
      <p:sp>
        <p:nvSpPr>
          <p:cNvPr id="12" name="faq176|card|"/>
          <p:cNvSpPr txBox="1"/>
          <p:nvPr/>
        </p:nvSpPr>
        <p:spPr>
          <a:xfrm>
            <a:off x="7116775" y="1719072"/>
            <a:ext cx="4251960" cy="713232"/>
          </a:xfrm>
          <a:prstGeom prst="rect">
            <a:avLst/>
          </a:prstGeom>
          <a:noFill/>
        </p:spPr>
        <p:txBody>
          <a:bodyPr wrap="square" lIns="0" rIns="0" tIns="0" bIns="0" anchor="ctr">
            <a:noAutofit/>
          </a:bodyPr>
          <a:lstStyle/>
          <a:p>
            <a:pPr algn="l"/>
            <a:r>
              <a:rPr sz="1700" b="1">
                <a:solidFill>
                  <a:srgbClr val="20242B"/>
                </a:solidFill>
                <a:latin typeface="Poppins"/>
              </a:rPr>
              <a:t>Can I use my own WhatsApp number?</a:t>
            </a:r>
          </a:p>
        </p:txBody>
      </p:sp>
      <p:sp>
        <p:nvSpPr>
          <p:cNvPr id="13" name="faq176|card|"/>
          <p:cNvSpPr txBox="1"/>
          <p:nvPr/>
        </p:nvSpPr>
        <p:spPr>
          <a:xfrm>
            <a:off x="6522415" y="2523744"/>
            <a:ext cx="4800600" cy="1133856"/>
          </a:xfrm>
          <a:prstGeom prst="rect">
            <a:avLst/>
          </a:prstGeom>
          <a:noFill/>
        </p:spPr>
        <p:txBody>
          <a:bodyPr wrap="square" lIns="0" rIns="0" tIns="0" bIns="0" anchor="t">
            <a:noAutofit/>
          </a:bodyPr>
          <a:lstStyle/>
          <a:p>
            <a:pPr algn="l"/>
            <a:r>
              <a:rPr sz="1500" b="0">
                <a:solidFill>
                  <a:srgbClr val="20242B"/>
                </a:solidFill>
                <a:latin typeface="Inter"/>
              </a:rPr>
              <a:t>You connect a WhatsApp Business number through Meta's official Embedded Signup (WhatsApp Cloud API). We check your number with you during setup.</a:t>
            </a:r>
          </a:p>
        </p:txBody>
      </p:sp>
      <p:sp>
        <p:nvSpPr>
          <p:cNvPr id="14" name="faq177|card|"/>
          <p:cNvSpPr/>
          <p:nvPr/>
        </p:nvSpPr>
        <p:spPr>
          <a:xfrm>
            <a:off x="548640" y="3959352"/>
            <a:ext cx="5440680" cy="2240280"/>
          </a:xfrm>
          <a:prstGeom prst="roundRect">
            <a:avLst>
              <a:gd name="adj" fmla="val 7346"/>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faq177|deco|"/>
          <p:cNvSpPr/>
          <p:nvPr/>
        </p:nvSpPr>
        <p:spPr>
          <a:xfrm>
            <a:off x="777239" y="4215384"/>
            <a:ext cx="548640" cy="5486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faq177|icon|chat_deep.png" descr="chat_deep"/>
          <p:cNvPicPr>
            <a:picLocks noChangeAspect="1"/>
          </p:cNvPicPr>
          <p:nvPr/>
        </p:nvPicPr>
        <p:blipFill>
          <a:blip r:embed="rId2"/>
          <a:srcRect/>
          <a:stretch>
            <a:fillRect/>
          </a:stretch>
        </p:blipFill>
        <p:spPr>
          <a:xfrm>
            <a:off x="897940" y="4336084"/>
            <a:ext cx="307238" cy="307238"/>
          </a:xfrm>
          <a:prstGeom prst="rect">
            <a:avLst/>
          </a:prstGeom>
        </p:spPr>
      </p:pic>
      <p:sp>
        <p:nvSpPr>
          <p:cNvPr id="17" name="faq177|card|"/>
          <p:cNvSpPr txBox="1"/>
          <p:nvPr/>
        </p:nvSpPr>
        <p:spPr>
          <a:xfrm>
            <a:off x="1463040" y="4142232"/>
            <a:ext cx="4251960" cy="713232"/>
          </a:xfrm>
          <a:prstGeom prst="rect">
            <a:avLst/>
          </a:prstGeom>
          <a:noFill/>
        </p:spPr>
        <p:txBody>
          <a:bodyPr wrap="square" lIns="0" rIns="0" tIns="0" bIns="0" anchor="ctr">
            <a:noAutofit/>
          </a:bodyPr>
          <a:lstStyle/>
          <a:p>
            <a:pPr algn="l"/>
            <a:r>
              <a:rPr sz="1700" b="1">
                <a:solidFill>
                  <a:srgbClr val="20242B"/>
                </a:solidFill>
                <a:latin typeface="Poppins"/>
              </a:rPr>
              <a:t>Which payment methods can customers use?</a:t>
            </a:r>
          </a:p>
        </p:txBody>
      </p:sp>
      <p:sp>
        <p:nvSpPr>
          <p:cNvPr id="18" name="faq177|card|"/>
          <p:cNvSpPr txBox="1"/>
          <p:nvPr/>
        </p:nvSpPr>
        <p:spPr>
          <a:xfrm>
            <a:off x="868680" y="4946904"/>
            <a:ext cx="4800600" cy="1133856"/>
          </a:xfrm>
          <a:prstGeom prst="rect">
            <a:avLst/>
          </a:prstGeom>
          <a:noFill/>
        </p:spPr>
        <p:txBody>
          <a:bodyPr wrap="square" lIns="0" rIns="0" tIns="0" bIns="0" anchor="t">
            <a:noAutofit/>
          </a:bodyPr>
          <a:lstStyle/>
          <a:p>
            <a:pPr algn="l"/>
            <a:r>
              <a:rPr sz="1500" b="0">
                <a:solidFill>
                  <a:srgbClr val="20242B"/>
                </a:solidFill>
                <a:latin typeface="Inter"/>
              </a:rPr>
              <a:t>In South Africa: Yoco card and tap-to-pay, Ozow instant EFT and Paystack. Across Africa: Paystack, pawaPay mobile money and Fincra, in 23 countries.</a:t>
            </a:r>
          </a:p>
        </p:txBody>
      </p:sp>
      <p:sp>
        <p:nvSpPr>
          <p:cNvPr id="19" name="faq178|card|"/>
          <p:cNvSpPr/>
          <p:nvPr/>
        </p:nvSpPr>
        <p:spPr>
          <a:xfrm>
            <a:off x="6202375" y="3959352"/>
            <a:ext cx="5440680" cy="2240280"/>
          </a:xfrm>
          <a:prstGeom prst="roundRect">
            <a:avLst>
              <a:gd name="adj" fmla="val 7346"/>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faq178|deco|"/>
          <p:cNvSpPr/>
          <p:nvPr/>
        </p:nvSpPr>
        <p:spPr>
          <a:xfrm>
            <a:off x="6430975" y="4215384"/>
            <a:ext cx="548640" cy="5486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faq178|icon|chat_deep.png" descr="chat_deep"/>
          <p:cNvPicPr>
            <a:picLocks noChangeAspect="1"/>
          </p:cNvPicPr>
          <p:nvPr/>
        </p:nvPicPr>
        <p:blipFill>
          <a:blip r:embed="rId2"/>
          <a:srcRect/>
          <a:stretch>
            <a:fillRect/>
          </a:stretch>
        </p:blipFill>
        <p:spPr>
          <a:xfrm>
            <a:off x="6551675" y="4336084"/>
            <a:ext cx="307238" cy="307238"/>
          </a:xfrm>
          <a:prstGeom prst="rect">
            <a:avLst/>
          </a:prstGeom>
        </p:spPr>
      </p:pic>
      <p:sp>
        <p:nvSpPr>
          <p:cNvPr id="22" name="faq178|card|"/>
          <p:cNvSpPr txBox="1"/>
          <p:nvPr/>
        </p:nvSpPr>
        <p:spPr>
          <a:xfrm>
            <a:off x="7116775" y="4142232"/>
            <a:ext cx="4251960" cy="713232"/>
          </a:xfrm>
          <a:prstGeom prst="rect">
            <a:avLst/>
          </a:prstGeom>
          <a:noFill/>
        </p:spPr>
        <p:txBody>
          <a:bodyPr wrap="square" lIns="0" rIns="0" tIns="0" bIns="0" anchor="ctr">
            <a:noAutofit/>
          </a:bodyPr>
          <a:lstStyle/>
          <a:p>
            <a:pPr algn="l"/>
            <a:r>
              <a:rPr sz="1700" b="1">
                <a:solidFill>
                  <a:srgbClr val="20242B"/>
                </a:solidFill>
                <a:latin typeface="Poppins"/>
              </a:rPr>
              <a:t>Is there a contract? Can I cancel?</a:t>
            </a:r>
          </a:p>
        </p:txBody>
      </p:sp>
      <p:sp>
        <p:nvSpPr>
          <p:cNvPr id="23" name="faq178|placeholder|"/>
          <p:cNvSpPr txBox="1"/>
          <p:nvPr/>
        </p:nvSpPr>
        <p:spPr>
          <a:xfrm>
            <a:off x="6522415" y="4946904"/>
            <a:ext cx="4800600" cy="1133856"/>
          </a:xfrm>
          <a:prstGeom prst="rect">
            <a:avLst/>
          </a:prstGeom>
          <a:noFill/>
        </p:spPr>
        <p:txBody>
          <a:bodyPr wrap="square" lIns="0" rIns="0" tIns="0" bIns="0" anchor="t">
            <a:noAutofit/>
          </a:bodyPr>
          <a:lstStyle/>
          <a:p>
            <a:pPr algn="l"/>
            <a:r>
              <a:rPr sz="1500" b="0">
                <a:solidFill>
                  <a:srgbClr val="20242B"/>
                </a:solidFill>
                <a:latin typeface="Inter"/>
              </a:rPr>
              <a:t>Start with a 14-day free trial, no card required. Then pay monthly, or annually for 2 months free. Cancellation terms: [[CONFIRM TERMS]].</a:t>
            </a:r>
          </a:p>
        </p:txBody>
      </p:sp>
      <p:sp>
        <p:nvSpPr>
          <p:cNvPr id="24"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25"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15</a:t>
            </a:fld>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179|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APPENDIX A1 · FAQ (2 OF 2)</a:t>
            </a:r>
          </a:p>
        </p:txBody>
      </p:sp>
      <p:sp>
        <p:nvSpPr>
          <p:cNvPr id="3" name="hdr179|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Questions prospects ask</a:t>
            </a:r>
          </a:p>
        </p:txBody>
      </p:sp>
      <p:sp>
        <p:nvSpPr>
          <p:cNvPr id="4" name="faq180|card|"/>
          <p:cNvSpPr/>
          <p:nvPr/>
        </p:nvSpPr>
        <p:spPr>
          <a:xfrm>
            <a:off x="548640" y="1536192"/>
            <a:ext cx="5440680" cy="2240280"/>
          </a:xfrm>
          <a:prstGeom prst="roundRect">
            <a:avLst>
              <a:gd name="adj" fmla="val 7346"/>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aq180|deco|"/>
          <p:cNvSpPr/>
          <p:nvPr/>
        </p:nvSpPr>
        <p:spPr>
          <a:xfrm>
            <a:off x="777239" y="1792223"/>
            <a:ext cx="548640" cy="5486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faq180|icon|chat_deep.png" descr="chat_deep"/>
          <p:cNvPicPr>
            <a:picLocks noChangeAspect="1"/>
          </p:cNvPicPr>
          <p:nvPr/>
        </p:nvPicPr>
        <p:blipFill>
          <a:blip r:embed="rId2"/>
          <a:srcRect/>
          <a:stretch>
            <a:fillRect/>
          </a:stretch>
        </p:blipFill>
        <p:spPr>
          <a:xfrm>
            <a:off x="897940" y="1912924"/>
            <a:ext cx="307238" cy="307238"/>
          </a:xfrm>
          <a:prstGeom prst="rect">
            <a:avLst/>
          </a:prstGeom>
        </p:spPr>
      </p:pic>
      <p:sp>
        <p:nvSpPr>
          <p:cNvPr id="7" name="faq180|card|"/>
          <p:cNvSpPr txBox="1"/>
          <p:nvPr/>
        </p:nvSpPr>
        <p:spPr>
          <a:xfrm>
            <a:off x="1463040" y="1719072"/>
            <a:ext cx="4251960" cy="713232"/>
          </a:xfrm>
          <a:prstGeom prst="rect">
            <a:avLst/>
          </a:prstGeom>
          <a:noFill/>
        </p:spPr>
        <p:txBody>
          <a:bodyPr wrap="square" lIns="0" rIns="0" tIns="0" bIns="0" anchor="ctr">
            <a:noAutofit/>
          </a:bodyPr>
          <a:lstStyle/>
          <a:p>
            <a:pPr algn="l"/>
            <a:r>
              <a:rPr sz="1700" b="1">
                <a:solidFill>
                  <a:srgbClr val="20242B"/>
                </a:solidFill>
                <a:latin typeface="Poppins"/>
              </a:rPr>
              <a:t>Which languages does it write in?</a:t>
            </a:r>
          </a:p>
        </p:txBody>
      </p:sp>
      <p:sp>
        <p:nvSpPr>
          <p:cNvPr id="8" name="faq180|card|"/>
          <p:cNvSpPr txBox="1"/>
          <p:nvPr/>
        </p:nvSpPr>
        <p:spPr>
          <a:xfrm>
            <a:off x="868680" y="2523744"/>
            <a:ext cx="4800600" cy="1133856"/>
          </a:xfrm>
          <a:prstGeom prst="rect">
            <a:avLst/>
          </a:prstGeom>
          <a:noFill/>
        </p:spPr>
        <p:txBody>
          <a:bodyPr wrap="square" lIns="0" rIns="0" tIns="0" bIns="0" anchor="t">
            <a:noAutofit/>
          </a:bodyPr>
          <a:lstStyle/>
          <a:p>
            <a:pPr algn="l"/>
            <a:r>
              <a:rPr sz="1500" b="0">
                <a:solidFill>
                  <a:srgbClr val="20242B"/>
                </a:solidFill>
                <a:latin typeface="Inter"/>
              </a:rPr>
              <a:t>The Creator agent writes in isiZulu, Afrikaans, English, Pidgin, Swahili and more.</a:t>
            </a:r>
          </a:p>
        </p:txBody>
      </p:sp>
      <p:sp>
        <p:nvSpPr>
          <p:cNvPr id="9" name="faq181|card|"/>
          <p:cNvSpPr/>
          <p:nvPr/>
        </p:nvSpPr>
        <p:spPr>
          <a:xfrm>
            <a:off x="6202375" y="1536192"/>
            <a:ext cx="5440680" cy="2240280"/>
          </a:xfrm>
          <a:prstGeom prst="roundRect">
            <a:avLst>
              <a:gd name="adj" fmla="val 7346"/>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faq181|deco|"/>
          <p:cNvSpPr/>
          <p:nvPr/>
        </p:nvSpPr>
        <p:spPr>
          <a:xfrm>
            <a:off x="6430975" y="1792223"/>
            <a:ext cx="548640" cy="5486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faq181|icon|chat_deep.png" descr="chat_deep"/>
          <p:cNvPicPr>
            <a:picLocks noChangeAspect="1"/>
          </p:cNvPicPr>
          <p:nvPr/>
        </p:nvPicPr>
        <p:blipFill>
          <a:blip r:embed="rId2"/>
          <a:srcRect/>
          <a:stretch>
            <a:fillRect/>
          </a:stretch>
        </p:blipFill>
        <p:spPr>
          <a:xfrm>
            <a:off x="6551675" y="1912924"/>
            <a:ext cx="307238" cy="307238"/>
          </a:xfrm>
          <a:prstGeom prst="rect">
            <a:avLst/>
          </a:prstGeom>
        </p:spPr>
      </p:pic>
      <p:sp>
        <p:nvSpPr>
          <p:cNvPr id="12" name="faq181|card|"/>
          <p:cNvSpPr txBox="1"/>
          <p:nvPr/>
        </p:nvSpPr>
        <p:spPr>
          <a:xfrm>
            <a:off x="7116775" y="1719072"/>
            <a:ext cx="4251960" cy="713232"/>
          </a:xfrm>
          <a:prstGeom prst="rect">
            <a:avLst/>
          </a:prstGeom>
          <a:noFill/>
        </p:spPr>
        <p:txBody>
          <a:bodyPr wrap="square" lIns="0" rIns="0" tIns="0" bIns="0" anchor="ctr">
            <a:noAutofit/>
          </a:bodyPr>
          <a:lstStyle/>
          <a:p>
            <a:pPr algn="l"/>
            <a:r>
              <a:rPr sz="1700" b="1">
                <a:solidFill>
                  <a:srgbClr val="20242B"/>
                </a:solidFill>
                <a:latin typeface="Poppins"/>
              </a:rPr>
              <a:t>How long does onboarding take?</a:t>
            </a:r>
          </a:p>
        </p:txBody>
      </p:sp>
      <p:sp>
        <p:nvSpPr>
          <p:cNvPr id="13" name="faq181|card|"/>
          <p:cNvSpPr txBox="1"/>
          <p:nvPr/>
        </p:nvSpPr>
        <p:spPr>
          <a:xfrm>
            <a:off x="6522415" y="2523744"/>
            <a:ext cx="4800600" cy="1133856"/>
          </a:xfrm>
          <a:prstGeom prst="rect">
            <a:avLst/>
          </a:prstGeom>
          <a:noFill/>
        </p:spPr>
        <p:txBody>
          <a:bodyPr wrap="square" lIns="0" rIns="0" tIns="0" bIns="0" anchor="t">
            <a:noAutofit/>
          </a:bodyPr>
          <a:lstStyle/>
          <a:p>
            <a:pPr algn="l"/>
            <a:r>
              <a:rPr sz="1500" b="0">
                <a:solidFill>
                  <a:srgbClr val="20242B"/>
                </a:solidFill>
                <a:latin typeface="Inter"/>
              </a:rPr>
              <a:t>Typically 1–2 weeks to set up your WhatsApp number, catalog, payment rail and content calendar.</a:t>
            </a:r>
          </a:p>
        </p:txBody>
      </p:sp>
      <p:sp>
        <p:nvSpPr>
          <p:cNvPr id="14" name="faq182|card|"/>
          <p:cNvSpPr/>
          <p:nvPr/>
        </p:nvSpPr>
        <p:spPr>
          <a:xfrm>
            <a:off x="548640" y="3959352"/>
            <a:ext cx="5440680" cy="2240280"/>
          </a:xfrm>
          <a:prstGeom prst="roundRect">
            <a:avLst>
              <a:gd name="adj" fmla="val 7346"/>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faq182|deco|"/>
          <p:cNvSpPr/>
          <p:nvPr/>
        </p:nvSpPr>
        <p:spPr>
          <a:xfrm>
            <a:off x="777239" y="4215384"/>
            <a:ext cx="548640" cy="5486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faq182|icon|chat_deep.png" descr="chat_deep"/>
          <p:cNvPicPr>
            <a:picLocks noChangeAspect="1"/>
          </p:cNvPicPr>
          <p:nvPr/>
        </p:nvPicPr>
        <p:blipFill>
          <a:blip r:embed="rId2"/>
          <a:srcRect/>
          <a:stretch>
            <a:fillRect/>
          </a:stretch>
        </p:blipFill>
        <p:spPr>
          <a:xfrm>
            <a:off x="897940" y="4336084"/>
            <a:ext cx="307238" cy="307238"/>
          </a:xfrm>
          <a:prstGeom prst="rect">
            <a:avLst/>
          </a:prstGeom>
        </p:spPr>
      </p:pic>
      <p:sp>
        <p:nvSpPr>
          <p:cNvPr id="17" name="faq182|card|"/>
          <p:cNvSpPr txBox="1"/>
          <p:nvPr/>
        </p:nvSpPr>
        <p:spPr>
          <a:xfrm>
            <a:off x="1463040" y="4142232"/>
            <a:ext cx="4251960" cy="713232"/>
          </a:xfrm>
          <a:prstGeom prst="rect">
            <a:avLst/>
          </a:prstGeom>
          <a:noFill/>
        </p:spPr>
        <p:txBody>
          <a:bodyPr wrap="square" lIns="0" rIns="0" tIns="0" bIns="0" anchor="ctr">
            <a:noAutofit/>
          </a:bodyPr>
          <a:lstStyle/>
          <a:p>
            <a:pPr algn="l"/>
            <a:r>
              <a:rPr sz="1700" b="1">
                <a:solidFill>
                  <a:srgbClr val="20242B"/>
                </a:solidFill>
                <a:latin typeface="Poppins"/>
              </a:rPr>
              <a:t>I already use Shopify or WooCommerce.</a:t>
            </a:r>
          </a:p>
        </p:txBody>
      </p:sp>
      <p:sp>
        <p:nvSpPr>
          <p:cNvPr id="18" name="faq182|card|"/>
          <p:cNvSpPr txBox="1"/>
          <p:nvPr/>
        </p:nvSpPr>
        <p:spPr>
          <a:xfrm>
            <a:off x="868680" y="4946904"/>
            <a:ext cx="4800600" cy="1133856"/>
          </a:xfrm>
          <a:prstGeom prst="rect">
            <a:avLst/>
          </a:prstGeom>
          <a:noFill/>
        </p:spPr>
        <p:txBody>
          <a:bodyPr wrap="square" lIns="0" rIns="0" tIns="0" bIns="0" anchor="t">
            <a:noAutofit/>
          </a:bodyPr>
          <a:lstStyle/>
          <a:p>
            <a:pPr algn="l"/>
            <a:r>
              <a:rPr sz="1500" b="0">
                <a:solidFill>
                  <a:srgbClr val="20242B"/>
                </a:solidFill>
                <a:latin typeface="Inter"/>
              </a:rPr>
              <a:t>Keep them. FluxMuse integrates with Shopify, WooCommerce and Takealot, plus HubSpot/CRM sync, accounting sync, Slack and Zapier, from the Growth plan.</a:t>
            </a:r>
          </a:p>
        </p:txBody>
      </p:sp>
      <p:sp>
        <p:nvSpPr>
          <p:cNvPr id="19" name="faq183|card|"/>
          <p:cNvSpPr/>
          <p:nvPr/>
        </p:nvSpPr>
        <p:spPr>
          <a:xfrm>
            <a:off x="6202375" y="3959352"/>
            <a:ext cx="5440680" cy="2240280"/>
          </a:xfrm>
          <a:prstGeom prst="roundRect">
            <a:avLst>
              <a:gd name="adj" fmla="val 7346"/>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faq183|deco|"/>
          <p:cNvSpPr/>
          <p:nvPr/>
        </p:nvSpPr>
        <p:spPr>
          <a:xfrm>
            <a:off x="6430975" y="4215384"/>
            <a:ext cx="548640" cy="5486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faq183|icon|chat_deep.png" descr="chat_deep"/>
          <p:cNvPicPr>
            <a:picLocks noChangeAspect="1"/>
          </p:cNvPicPr>
          <p:nvPr/>
        </p:nvPicPr>
        <p:blipFill>
          <a:blip r:embed="rId2"/>
          <a:srcRect/>
          <a:stretch>
            <a:fillRect/>
          </a:stretch>
        </p:blipFill>
        <p:spPr>
          <a:xfrm>
            <a:off x="6551675" y="4336084"/>
            <a:ext cx="307238" cy="307238"/>
          </a:xfrm>
          <a:prstGeom prst="rect">
            <a:avLst/>
          </a:prstGeom>
        </p:spPr>
      </p:pic>
      <p:sp>
        <p:nvSpPr>
          <p:cNvPr id="22" name="faq183|card|"/>
          <p:cNvSpPr txBox="1"/>
          <p:nvPr/>
        </p:nvSpPr>
        <p:spPr>
          <a:xfrm>
            <a:off x="7116775" y="4142232"/>
            <a:ext cx="4251960" cy="713232"/>
          </a:xfrm>
          <a:prstGeom prst="rect">
            <a:avLst/>
          </a:prstGeom>
          <a:noFill/>
        </p:spPr>
        <p:txBody>
          <a:bodyPr wrap="square" lIns="0" rIns="0" tIns="0" bIns="0" anchor="ctr">
            <a:noAutofit/>
          </a:bodyPr>
          <a:lstStyle/>
          <a:p>
            <a:pPr algn="l"/>
            <a:r>
              <a:rPr sz="1700" b="1">
                <a:solidFill>
                  <a:srgbClr val="20242B"/>
                </a:solidFill>
                <a:latin typeface="Poppins"/>
              </a:rPr>
              <a:t>Where can I buy FluxMuse?</a:t>
            </a:r>
          </a:p>
        </p:txBody>
      </p:sp>
      <p:sp>
        <p:nvSpPr>
          <p:cNvPr id="23" name="faq183|card|"/>
          <p:cNvSpPr txBox="1"/>
          <p:nvPr/>
        </p:nvSpPr>
        <p:spPr>
          <a:xfrm>
            <a:off x="6522415" y="4946904"/>
            <a:ext cx="4800600" cy="1133856"/>
          </a:xfrm>
          <a:prstGeom prst="rect">
            <a:avLst/>
          </a:prstGeom>
          <a:noFill/>
        </p:spPr>
        <p:txBody>
          <a:bodyPr wrap="square" lIns="0" rIns="0" tIns="0" bIns="0" anchor="t">
            <a:noAutofit/>
          </a:bodyPr>
          <a:lstStyle/>
          <a:p>
            <a:pPr algn="l"/>
            <a:r>
              <a:rPr sz="1500" b="0">
                <a:solidFill>
                  <a:srgbClr val="20242B"/>
                </a:solidFill>
                <a:latin typeface="Inter"/>
              </a:rPr>
              <a:t>In 23 African countries with local payment rails: ZAR, NGN, KES or GHS pricing, USD elsewhere. Botswana and Namibia are coming soon; other countries can join the waitlist.</a:t>
            </a:r>
          </a:p>
        </p:txBody>
      </p:sp>
      <p:sp>
        <p:nvSpPr>
          <p:cNvPr id="24"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25"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16</a:t>
            </a:fld>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Poppins"/>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Inter"/>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FluxMuse pitch deck</dc:title>
  <dc:subject>AI marketing &amp; WhatsApp commerce</dc:subject>
  <dc:creator>Fluxmuse Pty Ltd</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