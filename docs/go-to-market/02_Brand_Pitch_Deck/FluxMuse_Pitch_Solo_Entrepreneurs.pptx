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Keep it personal and short. "You're running the business, the marketing and the WhatsApp inbox yourself. FluxMuse is an AI marketing team that lives in WhatsApp, with paid plans from R149 a month." Promise about 15 minutes. Ask: "How do customers find you, and how do they order today?" Listen for lost messages, late replies and no shop page; you'll come back to each one. If they have staff or several brands, switch to the SME deck. Prices follow CURRENT_OFFER.md §1.</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Talk about their week, not the market. You post when you find time, answer messages late at night, and orders get lost in chats because there's no shop page. Paying a marketer or an agency isn't realistic yet. On the right: FluxMuse is an AI marketing team in WhatsApp from R149 a month. Send product photos and you get a catalogue and a shop link, and the assistant answers in your customer's language. These are newly launched, not long-tested (CURRENT_OFFER.md §3). Ask which of these costs them the most sales.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Here's FluxMuse in one line: an AI marketing team and WhatsApp shop for South African businesses. Be precise about what's live. Live and newly launched: photos to catalogue on WhatsApp, a hosted shop link, order alerts with SOLD, AI captions, images and short clips, and TikTok video posting. Being switched on: checkout through FluxMuse, Facebook and Instagram auto-posting, and AI Voice in beta. Newly launched means built and deployed, but no business has run it end to end yet, so we set you up by hand (CURRENT_OFFER.md §3). Ask whether they already use WhatsApp Business.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FluxMuse works as a loop. Plan: your goals, products and the week ahead. Create: captions, images and short video clips, in your customers' languages. Publish: forward to WhatsApp Status, send broadcasts to contacts who have opted in, and post video to TikTok. Sell: a shop link built from your photos, with every order landing on WhatsApp. Learn: what sold, and what to post next. Facebook and Instagram auto-posting is being switched on, so don't promise it yet (CURRENT_OFFER.md §3). The point is that marketing and selling stop living in separate tools.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heart of the pitch. A buyer finds you through a Status post, a QR code or your shop link. The assistant replies in their language. They browse a catalogue built from your photos, fill a cart, and the order lands on your WhatsApp; you reply SOLD to keep track. Be honest about payment: checkout through FluxMuse, via our payment partners, is built but being switched on, because it hasn't been tested with real money. Until then, orders arrive as a WhatsApp message and you take payment your usual way (CURRENT_OFFER.md §3). Broadcasts go only to consented contacts.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Solo entrepreneurs are braiders and beauty studios, fashion resellers, home bakers, coaches and informal retailers. Their pains are simple: no time or budget for a marketer, messages answered late, and no shop page, so orders get lost in chats. FluxMuse answers each one with newly launched features: say POST to get a caption and picture, the assistant answers in the customer's language, and product photos become a shop link. Nano is R149 a month; Founding Members pay R104 for the first two bills. Micro at R289 adds a channel and their own WhatsApp number (CURRENT_OFFER.md §1).</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how we work together. First a discovery call about your goals and products. Then a demo shop built from your own public photos, shown live; that's a demo, not a trial. Once you choose a paid plan, we set you up by hand: WhatsApp Business number, catalogue and shop link. On go-live day the lead guarantee starts: three qualified leads in 30 days, as long as you share your link and post weekly; if not, we keep supporting you at no extra charge. Then weekly check-ins. Goals are agreed together, not promised results (CURRENT_OFFER.md §2).</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 honest about where we are. FluxMuse is newly launched and has no paying customers or case studies yet. We're opening with a small first group of South African businesses, and we set each one up by hand, with weekly check-ins. That's the offer: close attention, not social proof. It's backed by the lead guarantee: three qualified leads in 30 days of go-live. If fewer arrive, and the business shared its link and posted at least weekly, we keep supporting them at no extra charge until three arrive. It is extra support, never cash back (CURRENT_OFFER.md §2 and §4).</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Most solo businesses start on Nano: R149 a month for one brand and three channels. Micro at R289 adds a fourth channel and connects their own WhatsApp number. Starter at R499 is the step up as they grow. Annual billing is ten times monthly. There's no trial: every paid plan starts with payment. As a Founding Member, they pay 30% less for the first two monthly bills: R104 on Nano, R202 on Micro. It's a discount, not a free period, open until 31 December 2026. Don't quote AI credit numbers (CURRENT_OFFER.md §1).</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Here's the easiest yes. Join as a Founding Member and your first two Nano bills are R104 instead of R149, or R202 instead of R289 on Micro. After that it's the normal monthly price. It's a discount on a paid plan, not a free period, and it's open until 31 December 2026. Don't promise extra perks like badges or bonus months; only the discount is confirmed. Then offer the demo on their own products (CURRENT_OFFER.md §1).</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Trust matters when you're handling customer chats. Fluxmuse (Pty) Ltd is a verified Meta Tech Provider, with business and access verification, and WhatsApp runs on Meta's official Cloud API. Broadcasts go only to contacts who have opted in, in line with POPIA. Under the hood there's row-level security, encrypted tokens for connected accounts, and data export and account deletion. If they ask for a data processing agreement, a security questionnaire or certifications, don't improvise: note the request and follow up in writing (CURRENT_OFFER.md §4; 00_FACTS §1).</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Close with one clear next step. The simplest is a demo shop built from their own public product photos, shown live; it's a demo, not a trial. If they're ready, they join as a Founding Member on Nano: R104 for each of the first two bills, then R149, and we set them up by hand. If they want to think first, book a 20-minute call. Contact is Thabo Malebadi, thabo@fluxmuse.com. Follow up within 24 hours with a short summary (CURRENT_OFFER.md §1 and §2).</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Use these answers as written; they follow CURRENT_OFFER.md. On data, stick to the controls listed and don't claim certifications we haven't confirmed. On WhatsApp numbers, a number already used in the WhatsApp Business app may need extra steps, so check it together during setup. On payments, be clear that checkout through FluxMuse is being switched on and hasn't been tested with real money yet. There are no trials, and cancellation terms are still to be confirmed, so promise a written answer rather than improvising.</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lead guarantee always comes with its conditions: three qualified leads in 30 days of go-live; if fewer, and the business shared its link and posted at least weekly, we extend support at no extra charge until three arrive. It is never cash back. Setup is by hand, but Meta approvals and catalogue size can stretch it, so set expectations honestly. Store sync is being switched on, so don't promise it. Outside South Africa, share the waitlist link, never prices (CURRENT_OFFER.md §2 and §3).</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image" Target="../media/image5.png"/><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 Id="rId3" Type="http://schemas.openxmlformats.org/officeDocument/2006/relationships/image" Target="../media/image11.png"/><Relationship Id="rId4" Type="http://schemas.openxmlformats.org/officeDocument/2006/relationships/image" Target="../media/image12.png"/><Relationship Id="rId5" Type="http://schemas.openxmlformats.org/officeDocument/2006/relationships/image" Target="../media/image13.png"/><Relationship Id="rId6" Type="http://schemas.openxmlformats.org/officeDocument/2006/relationships/image" Target="../media/image14.png"/><Relationship Id="rId7"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5.png"/><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6.png"/><Relationship Id="rId3" Type="http://schemas.openxmlformats.org/officeDocument/2006/relationships/image" Target="../media/image12.png"/><Relationship Id="rId4" Type="http://schemas.openxmlformats.org/officeDocument/2006/relationships/image" Target="../media/image13.png"/><Relationship Id="rId5" Type="http://schemas.openxmlformats.org/officeDocument/2006/relationships/image" Target="../media/image17.png"/><Relationship Id="rId6" Type="http://schemas.openxmlformats.org/officeDocument/2006/relationships/image" Target="../media/image18.png"/><Relationship Id="rId7" Type="http://schemas.openxmlformats.org/officeDocument/2006/relationships/image" Target="../media/image19.png"/><Relationship Id="rId8"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 Id="rId3"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419"/>
        </a:solidFill>
        <a:effectLst/>
      </p:bgPr>
    </p:bg>
    <p:spTree>
      <p:nvGrpSpPr>
        <p:cNvPr id="1" name=""/>
        <p:cNvGrpSpPr/>
        <p:nvPr/>
      </p:nvGrpSpPr>
      <p:grpSpPr/>
      <p:pic>
        <p:nvPicPr>
          <p:cNvPr id="2" name="g100|img|brand/fluxmuse-logo-dark.png" descr="FluxMuse logo"/>
          <p:cNvPicPr>
            <a:picLocks noChangeAspect="1"/>
          </p:cNvPicPr>
          <p:nvPr/>
        </p:nvPicPr>
        <p:blipFill>
          <a:blip r:embed="rId2"/>
          <a:srcRect/>
          <a:stretch>
            <a:fillRect/>
          </a:stretch>
        </p:blipFill>
        <p:spPr>
          <a:xfrm>
            <a:off x="548640" y="502920"/>
            <a:ext cx="2377440" cy="789290"/>
          </a:xfrm>
          <a:prstGeom prst="rect">
            <a:avLst/>
          </a:prstGeom>
        </p:spPr>
      </p:pic>
      <p:sp>
        <p:nvSpPr>
          <p:cNvPr id="3" name="g101|deco|"/>
          <p:cNvSpPr/>
          <p:nvPr/>
        </p:nvSpPr>
        <p:spPr>
          <a:xfrm>
            <a:off x="7818120" y="1143000"/>
            <a:ext cx="3931920" cy="3931920"/>
          </a:xfrm>
          <a:prstGeom prst="ellipse">
            <a:avLst/>
          </a:prstGeom>
          <a:solidFill>
            <a:srgbClr val="1B23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g101|img|brand/fluxmuse-icon-512.png" descr="FluxMuse Muse icon"/>
          <p:cNvPicPr>
            <a:picLocks noChangeAspect="1"/>
          </p:cNvPicPr>
          <p:nvPr/>
        </p:nvPicPr>
        <p:blipFill>
          <a:blip r:embed="rId3"/>
          <a:srcRect/>
          <a:stretch>
            <a:fillRect/>
          </a:stretch>
        </p:blipFill>
        <p:spPr>
          <a:xfrm>
            <a:off x="8183879" y="1508760"/>
            <a:ext cx="3200400" cy="3200400"/>
          </a:xfrm>
          <a:prstGeom prst="rect">
            <a:avLst/>
          </a:prstGeom>
        </p:spPr>
      </p:pic>
      <p:sp>
        <p:nvSpPr>
          <p:cNvPr id="5" name="g102|eyebrow|"/>
          <p:cNvSpPr txBox="1"/>
          <p:nvPr/>
        </p:nvSpPr>
        <p:spPr>
          <a:xfrm>
            <a:off x="548640" y="1874519"/>
            <a:ext cx="6949440" cy="274320"/>
          </a:xfrm>
          <a:prstGeom prst="rect">
            <a:avLst/>
          </a:prstGeom>
          <a:noFill/>
        </p:spPr>
        <p:txBody>
          <a:bodyPr wrap="square" lIns="0" rIns="0" tIns="0" bIns="0" anchor="t">
            <a:noAutofit/>
          </a:bodyPr>
          <a:lstStyle/>
          <a:p>
            <a:pPr algn="l"/>
            <a:r>
              <a:rPr sz="1300" b="1" spc="150">
                <a:solidFill>
                  <a:srgbClr val="FF6A00"/>
                </a:solidFill>
                <a:latin typeface="Inter"/>
              </a:rPr>
              <a:t>AI MARKETING &amp; WHATSAPP SELLING</a:t>
            </a:r>
          </a:p>
        </p:txBody>
      </p:sp>
      <p:sp>
        <p:nvSpPr>
          <p:cNvPr id="6" name="g103|title|"/>
          <p:cNvSpPr txBox="1"/>
          <p:nvPr/>
        </p:nvSpPr>
        <p:spPr>
          <a:xfrm>
            <a:off x="548640" y="2212848"/>
            <a:ext cx="7040880" cy="1737360"/>
          </a:xfrm>
          <a:prstGeom prst="rect">
            <a:avLst/>
          </a:prstGeom>
          <a:noFill/>
        </p:spPr>
        <p:txBody>
          <a:bodyPr wrap="square" lIns="0" rIns="0" tIns="0" bIns="0" anchor="t">
            <a:noAutofit/>
          </a:bodyPr>
          <a:lstStyle/>
          <a:p>
            <a:pPr algn="l">
              <a:lnSpc>
                <a:spcPct val="95000"/>
              </a:lnSpc>
            </a:pPr>
            <a:r>
              <a:rPr sz="3800" b="1">
                <a:solidFill>
                  <a:srgbClr val="FFFFFF"/>
                </a:solidFill>
                <a:latin typeface="Poppins"/>
              </a:rPr>
              <a:t>Your AI marketing team.</a:t>
            </a:r>
          </a:p>
          <a:p>
            <a:pPr algn="l">
              <a:lnSpc>
                <a:spcPct val="95000"/>
              </a:lnSpc>
            </a:pPr>
            <a:r>
              <a:rPr sz="3800" b="1">
                <a:solidFill>
                  <a:srgbClr val="FF6A00"/>
                </a:solidFill>
                <a:latin typeface="Poppins"/>
              </a:rPr>
              <a:t>Selling on WhatsApp.</a:t>
            </a:r>
          </a:p>
        </p:txBody>
      </p:sp>
      <p:sp>
        <p:nvSpPr>
          <p:cNvPr id="7" name="g104|body|"/>
          <p:cNvSpPr txBox="1"/>
          <p:nvPr/>
        </p:nvSpPr>
        <p:spPr>
          <a:xfrm>
            <a:off x="548640" y="4023360"/>
            <a:ext cx="6583680" cy="731520"/>
          </a:xfrm>
          <a:prstGeom prst="rect">
            <a:avLst/>
          </a:prstGeom>
          <a:noFill/>
        </p:spPr>
        <p:txBody>
          <a:bodyPr wrap="square" lIns="0" rIns="0" tIns="0" bIns="0" anchor="t">
            <a:noAutofit/>
          </a:bodyPr>
          <a:lstStyle/>
          <a:p>
            <a:pPr algn="l"/>
            <a:r>
              <a:rPr sz="1800" b="0">
                <a:solidFill>
                  <a:srgbClr val="D5DADF"/>
                </a:solidFill>
                <a:latin typeface="Inter"/>
              </a:rPr>
              <a:t>Send photos, get a shop link, and let your AI team help you post and reply. Built for South Africa.</a:t>
            </a:r>
          </a:p>
        </p:txBody>
      </p:sp>
      <p:sp>
        <p:nvSpPr>
          <p:cNvPr id="8" name="g105|placeholder|"/>
          <p:cNvSpPr txBox="1"/>
          <p:nvPr/>
        </p:nvSpPr>
        <p:spPr>
          <a:xfrm>
            <a:off x="548640" y="4983480"/>
            <a:ext cx="6766560" cy="384048"/>
          </a:xfrm>
          <a:prstGeom prst="rect">
            <a:avLst/>
          </a:prstGeom>
          <a:noFill/>
        </p:spPr>
        <p:txBody>
          <a:bodyPr wrap="square" lIns="0" rIns="0" tIns="0" bIns="0" anchor="t">
            <a:noAutofit/>
          </a:bodyPr>
          <a:lstStyle/>
          <a:p>
            <a:pPr algn="l"/>
            <a:r>
              <a:rPr sz="1800" b="0">
                <a:solidFill>
                  <a:srgbClr val="A7B0B8"/>
                </a:solidFill>
                <a:latin typeface="Inter"/>
              </a:rPr>
              <a:t>Prepared for </a:t>
            </a:r>
            <a:r>
              <a:rPr sz="1800" b="1">
                <a:solidFill>
                  <a:srgbClr val="FFFFFF"/>
                </a:solidFill>
                <a:latin typeface="Inter"/>
              </a:rPr>
              <a:t>[[PROSPECT NAME]]</a:t>
            </a:r>
          </a:p>
        </p:txBody>
      </p:sp>
      <p:sp>
        <p:nvSpPr>
          <p:cNvPr id="9" name="g105|placeholder|"/>
          <p:cNvSpPr txBox="1"/>
          <p:nvPr/>
        </p:nvSpPr>
        <p:spPr>
          <a:xfrm>
            <a:off x="548640" y="5413248"/>
            <a:ext cx="6766560" cy="329184"/>
          </a:xfrm>
          <a:prstGeom prst="rect">
            <a:avLst/>
          </a:prstGeom>
          <a:noFill/>
        </p:spPr>
        <p:txBody>
          <a:bodyPr wrap="square" lIns="0" rIns="0" tIns="0" bIns="0" anchor="t">
            <a:noAutofit/>
          </a:bodyPr>
          <a:lstStyle/>
          <a:p>
            <a:pPr algn="l"/>
            <a:r>
              <a:rPr sz="1500" b="0">
                <a:solidFill>
                  <a:srgbClr val="A7B0B8"/>
                </a:solidFill>
                <a:latin typeface="Inter"/>
              </a:rPr>
              <a:t>[[DATE]]  ·  Thabo Malebadi, founder</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hdr106|eyebrow|"/>
          <p:cNvSpPr txBox="1"/>
          <p:nvPr/>
        </p:nvSpPr>
        <p:spPr>
          <a:xfrm>
            <a:off x="548640" y="384048"/>
            <a:ext cx="11094415" cy="237744"/>
          </a:xfrm>
          <a:prstGeom prst="rect">
            <a:avLst/>
          </a:prstGeom>
          <a:noFill/>
        </p:spPr>
        <p:txBody>
          <a:bodyPr wrap="square" lIns="0" rIns="0" tIns="0" bIns="0" anchor="t">
            <a:noAutofit/>
          </a:bodyPr>
          <a:lstStyle/>
          <a:p>
            <a:pPr algn="l"/>
            <a:r>
              <a:rPr sz="1200" b="1" spc="150">
                <a:solidFill>
                  <a:srgbClr val="C24E00"/>
                </a:solidFill>
                <a:latin typeface="Inter"/>
              </a:rPr>
              <a:t>THE PROBLEM WE SOLVE</a:t>
            </a:r>
          </a:p>
        </p:txBody>
      </p:sp>
      <p:sp>
        <p:nvSpPr>
          <p:cNvPr id="3" name="hdr106|title|"/>
          <p:cNvSpPr txBox="1"/>
          <p:nvPr/>
        </p:nvSpPr>
        <p:spPr>
          <a:xfrm>
            <a:off x="548640" y="640080"/>
            <a:ext cx="11094415" cy="713232"/>
          </a:xfrm>
          <a:prstGeom prst="rect">
            <a:avLst/>
          </a:prstGeom>
          <a:noFill/>
        </p:spPr>
        <p:txBody>
          <a:bodyPr wrap="square" lIns="0" rIns="0" tIns="0" bIns="0" anchor="t">
            <a:noAutofit/>
          </a:bodyPr>
          <a:lstStyle/>
          <a:p>
            <a:pPr algn="l"/>
            <a:r>
              <a:rPr sz="3200" b="1">
                <a:solidFill>
                  <a:srgbClr val="20242B"/>
                </a:solidFill>
                <a:latin typeface="Poppins"/>
              </a:rPr>
              <a:t>Marketing and selling, without the patchwork</a:t>
            </a:r>
          </a:p>
        </p:txBody>
      </p:sp>
      <p:pic>
        <p:nvPicPr>
          <p:cNvPr id="4" name="g107|img|infographics/problem-solution.png" descr="Today: disconnected tools, retainers beyond small budgets, orders lost in chats, after-hours messages unanswered. With FluxMuse: an AI marketing team in WhatsApp, paid plans from R149, photos to a catalogue and shop link, answers in the customer's language."/>
          <p:cNvPicPr>
            <a:picLocks noChangeAspect="1"/>
          </p:cNvPicPr>
          <p:nvPr/>
        </p:nvPicPr>
        <p:blipFill>
          <a:blip r:embed="rId2"/>
          <a:srcRect l="2000" t="21000" r="2000" b="15000"/>
          <a:stretch>
            <a:fillRect/>
          </a:stretch>
        </p:blipFill>
        <p:spPr>
          <a:xfrm>
            <a:off x="548640" y="1778565"/>
            <a:ext cx="11094415" cy="4160405"/>
          </a:xfrm>
          <a:prstGeom prst="rect">
            <a:avLst/>
          </a:prstGeom>
        </p:spPr>
      </p:pic>
      <p:sp>
        <p:nvSpPr>
          <p:cNvPr id="5" name="chrome|footer|"/>
          <p:cNvSpPr txBox="1"/>
          <p:nvPr/>
        </p:nvSpPr>
        <p:spPr>
          <a:xfrm>
            <a:off x="548640" y="6437376"/>
            <a:ext cx="3657600" cy="237744"/>
          </a:xfrm>
          <a:prstGeom prst="rect">
            <a:avLst/>
          </a:prstGeom>
          <a:noFill/>
        </p:spPr>
        <p:txBody>
          <a:bodyPr wrap="square" lIns="0" rIns="0" tIns="0" bIns="0" anchor="t">
            <a:noAutofit/>
          </a:bodyPr>
          <a:lstStyle/>
          <a:p>
            <a:pPr algn="l"/>
            <a:r>
              <a:rPr sz="1000" b="0">
                <a:solidFill>
                  <a:srgbClr val="5B6670"/>
                </a:solidFill>
                <a:latin typeface="Inter"/>
              </a:rPr>
              <a:t>FluxMuse · fluxmuse.ai</a:t>
            </a:r>
          </a:p>
        </p:txBody>
      </p:sp>
      <p:sp>
        <p:nvSpPr>
          <p:cNvPr id="6" name="chrome|slidenum|"/>
          <p:cNvSpPr txBox="1"/>
          <p:nvPr/>
        </p:nvSpPr>
        <p:spPr>
          <a:xfrm>
            <a:off x="10728655" y="6437376"/>
            <a:ext cx="914400" cy="237744"/>
          </a:xfrm>
          <a:prstGeom prst="rect">
            <a:avLst/>
          </a:prstGeom>
          <a:noFill/>
        </p:spPr>
        <p:txBody>
          <a:bodyPr wrap="none" lIns="0" rIns="0" tIns="0" bIns="0">
            <a:spAutoFit/>
          </a:bodyPr>
          <a:lstStyle/>
          <a:p>
            <a:pPr algn="r"/>
            <a:fld id="{B6F15528-21DE-4FAA-801E-634DDDAF4B2B}" type="slidenum">
              <a:rPr lang="en-ZA" sz="1000">
                <a:solidFill>
                  <a:srgbClr val="5B6670"/>
                </a:solidFill>
                <a:latin typeface="Inter"/>
              </a:rPr>
              <a:t>2</a:t>
            </a:fld>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419"/>
        </a:solidFill>
        <a:effectLst/>
      </p:bgPr>
    </p:bg>
    <p:spTree>
      <p:nvGrpSpPr>
        <p:cNvPr id="1" name=""/>
        <p:cNvGrpSpPr/>
        <p:nvPr/>
      </p:nvGrpSpPr>
      <p:grpSpPr/>
      <p:sp>
        <p:nvSpPr>
          <p:cNvPr id="2" name="hdr108|eyebrow|"/>
          <p:cNvSpPr txBox="1"/>
          <p:nvPr/>
        </p:nvSpPr>
        <p:spPr>
          <a:xfrm>
            <a:off x="548640" y="1234440"/>
            <a:ext cx="3931920" cy="274320"/>
          </a:xfrm>
          <a:prstGeom prst="rect">
            <a:avLst/>
          </a:prstGeom>
          <a:noFill/>
        </p:spPr>
        <p:txBody>
          <a:bodyPr wrap="square" lIns="0" rIns="0" tIns="0" bIns="0" anchor="t">
            <a:noAutofit/>
          </a:bodyPr>
          <a:lstStyle/>
          <a:p>
            <a:pPr algn="l"/>
            <a:r>
              <a:rPr sz="1200" b="1" spc="150">
                <a:solidFill>
                  <a:srgbClr val="FF6A00"/>
                </a:solidFill>
                <a:latin typeface="Inter"/>
              </a:rPr>
              <a:t>MEET FLUXMUSE</a:t>
            </a:r>
          </a:p>
        </p:txBody>
      </p:sp>
      <p:sp>
        <p:nvSpPr>
          <p:cNvPr id="3" name="hdr108|title|"/>
          <p:cNvSpPr txBox="1"/>
          <p:nvPr/>
        </p:nvSpPr>
        <p:spPr>
          <a:xfrm>
            <a:off x="548640" y="1572768"/>
            <a:ext cx="3931920" cy="2103120"/>
          </a:xfrm>
          <a:prstGeom prst="rect">
            <a:avLst/>
          </a:prstGeom>
          <a:noFill/>
        </p:spPr>
        <p:txBody>
          <a:bodyPr wrap="square" lIns="0" rIns="0" tIns="0" bIns="0" anchor="t">
            <a:noAutofit/>
          </a:bodyPr>
          <a:lstStyle/>
          <a:p>
            <a:pPr algn="l">
              <a:lnSpc>
                <a:spcPct val="95000"/>
              </a:lnSpc>
            </a:pPr>
            <a:r>
              <a:rPr sz="3400" b="1">
                <a:solidFill>
                  <a:srgbClr val="FFFFFF"/>
                </a:solidFill>
                <a:latin typeface="Poppins"/>
              </a:rPr>
              <a:t>One AI team for marketing and sales</a:t>
            </a:r>
          </a:p>
        </p:txBody>
      </p:sp>
      <p:sp>
        <p:nvSpPr>
          <p:cNvPr id="4" name="g109|body|"/>
          <p:cNvSpPr txBox="1"/>
          <p:nvPr/>
        </p:nvSpPr>
        <p:spPr>
          <a:xfrm>
            <a:off x="548640" y="3749039"/>
            <a:ext cx="3749039" cy="914400"/>
          </a:xfrm>
          <a:prstGeom prst="rect">
            <a:avLst/>
          </a:prstGeom>
          <a:noFill/>
        </p:spPr>
        <p:txBody>
          <a:bodyPr wrap="square" lIns="0" rIns="0" tIns="0" bIns="0" anchor="t">
            <a:noAutofit/>
          </a:bodyPr>
          <a:lstStyle/>
          <a:p>
            <a:pPr algn="l"/>
            <a:r>
              <a:rPr sz="1700" b="0">
                <a:solidFill>
                  <a:srgbClr val="D5DADF"/>
                </a:solidFill>
                <a:latin typeface="Inter"/>
              </a:rPr>
              <a:t>AI marketing and a WhatsApp shop, for South African businesses.</a:t>
            </a:r>
          </a:p>
        </p:txBody>
      </p:sp>
      <p:sp>
        <p:nvSpPr>
          <p:cNvPr id="5" name="g110|chip|"/>
          <p:cNvSpPr/>
          <p:nvPr/>
        </p:nvSpPr>
        <p:spPr>
          <a:xfrm>
            <a:off x="548640" y="4892040"/>
            <a:ext cx="3611880" cy="475488"/>
          </a:xfrm>
          <a:prstGeom prst="roundRect">
            <a:avLst>
              <a:gd name="adj" fmla="val 50000"/>
            </a:avLst>
          </a:prstGeom>
          <a:solidFill>
            <a:srgbClr val="FF6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g110|chip|"/>
          <p:cNvSpPr txBox="1"/>
          <p:nvPr/>
        </p:nvSpPr>
        <p:spPr>
          <a:xfrm>
            <a:off x="548640" y="4892040"/>
            <a:ext cx="3611880" cy="475488"/>
          </a:xfrm>
          <a:prstGeom prst="rect">
            <a:avLst/>
          </a:prstGeom>
          <a:noFill/>
        </p:spPr>
        <p:txBody>
          <a:bodyPr wrap="square" lIns="0" rIns="0" tIns="0" bIns="0" anchor="ctr">
            <a:noAutofit/>
          </a:bodyPr>
          <a:lstStyle/>
          <a:p>
            <a:pPr algn="ctr"/>
            <a:r>
              <a:rPr sz="1400" b="1">
                <a:solidFill>
                  <a:srgbClr val="0F1419"/>
                </a:solidFill>
                <a:latin typeface="Inter"/>
              </a:rPr>
              <a:t>Set up by hand</a:t>
            </a:r>
          </a:p>
        </p:txBody>
      </p:sp>
      <p:sp>
        <p:nvSpPr>
          <p:cNvPr id="7" name="meet111|card|"/>
          <p:cNvSpPr/>
          <p:nvPr/>
        </p:nvSpPr>
        <p:spPr>
          <a:xfrm>
            <a:off x="4846320" y="1234440"/>
            <a:ext cx="3291840" cy="4572000"/>
          </a:xfrm>
          <a:prstGeom prst="roundRect">
            <a:avLst>
              <a:gd name="adj" fmla="val 5555"/>
            </a:avLst>
          </a:prstGeom>
          <a:solidFill>
            <a:srgbClr val="1B23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meet111|eyebrow|"/>
          <p:cNvSpPr txBox="1"/>
          <p:nvPr/>
        </p:nvSpPr>
        <p:spPr>
          <a:xfrm>
            <a:off x="5120640" y="1463040"/>
            <a:ext cx="2743200" cy="274320"/>
          </a:xfrm>
          <a:prstGeom prst="rect">
            <a:avLst/>
          </a:prstGeom>
          <a:noFill/>
        </p:spPr>
        <p:txBody>
          <a:bodyPr wrap="square" lIns="0" rIns="0" tIns="0" bIns="0" anchor="t">
            <a:noAutofit/>
          </a:bodyPr>
          <a:lstStyle/>
          <a:p>
            <a:pPr algn="l"/>
            <a:r>
              <a:rPr sz="1200" b="1" spc="120">
                <a:solidFill>
                  <a:srgbClr val="FF6A00"/>
                </a:solidFill>
                <a:latin typeface="Inter"/>
              </a:rPr>
              <a:t>LIVE, NEWLY LAUNCHED</a:t>
            </a:r>
          </a:p>
        </p:txBody>
      </p:sp>
      <p:pic>
        <p:nvPicPr>
          <p:cNvPr id="9" name="g112|icon|checkCircle_orange.png" descr="checkCircle_orange"/>
          <p:cNvPicPr>
            <a:picLocks noChangeAspect="1"/>
          </p:cNvPicPr>
          <p:nvPr/>
        </p:nvPicPr>
        <p:blipFill>
          <a:blip r:embed="rId2"/>
          <a:srcRect/>
          <a:stretch>
            <a:fillRect/>
          </a:stretch>
        </p:blipFill>
        <p:spPr>
          <a:xfrm>
            <a:off x="5221224" y="2093975"/>
            <a:ext cx="256032" cy="256032"/>
          </a:xfrm>
          <a:prstGeom prst="rect">
            <a:avLst/>
          </a:prstGeom>
        </p:spPr>
      </p:pic>
      <p:sp>
        <p:nvSpPr>
          <p:cNvPr id="10" name="g112|card|"/>
          <p:cNvSpPr txBox="1"/>
          <p:nvPr/>
        </p:nvSpPr>
        <p:spPr>
          <a:xfrm>
            <a:off x="5715000" y="1965960"/>
            <a:ext cx="2286000" cy="512064"/>
          </a:xfrm>
          <a:prstGeom prst="rect">
            <a:avLst/>
          </a:prstGeom>
          <a:noFill/>
        </p:spPr>
        <p:txBody>
          <a:bodyPr wrap="square" lIns="0" rIns="0" tIns="0" bIns="0" anchor="ctr">
            <a:noAutofit/>
          </a:bodyPr>
          <a:lstStyle/>
          <a:p>
            <a:pPr algn="l"/>
            <a:r>
              <a:rPr sz="1500" b="0">
                <a:solidFill>
                  <a:srgbClr val="FFFFFF"/>
                </a:solidFill>
                <a:latin typeface="Inter"/>
              </a:rPr>
              <a:t>Photos to catalogue</a:t>
            </a:r>
          </a:p>
        </p:txBody>
      </p:sp>
      <p:pic>
        <p:nvPicPr>
          <p:cNvPr id="11" name="g113|icon|checkCircle_orange.png" descr="checkCircle_orange"/>
          <p:cNvPicPr>
            <a:picLocks noChangeAspect="1"/>
          </p:cNvPicPr>
          <p:nvPr/>
        </p:nvPicPr>
        <p:blipFill>
          <a:blip r:embed="rId2"/>
          <a:srcRect/>
          <a:stretch>
            <a:fillRect/>
          </a:stretch>
        </p:blipFill>
        <p:spPr>
          <a:xfrm>
            <a:off x="5221224" y="2807208"/>
            <a:ext cx="256032" cy="256032"/>
          </a:xfrm>
          <a:prstGeom prst="rect">
            <a:avLst/>
          </a:prstGeom>
        </p:spPr>
      </p:pic>
      <p:sp>
        <p:nvSpPr>
          <p:cNvPr id="12" name="g113|card|"/>
          <p:cNvSpPr txBox="1"/>
          <p:nvPr/>
        </p:nvSpPr>
        <p:spPr>
          <a:xfrm>
            <a:off x="5715000" y="2679191"/>
            <a:ext cx="2286000" cy="512064"/>
          </a:xfrm>
          <a:prstGeom prst="rect">
            <a:avLst/>
          </a:prstGeom>
          <a:noFill/>
        </p:spPr>
        <p:txBody>
          <a:bodyPr wrap="square" lIns="0" rIns="0" tIns="0" bIns="0" anchor="ctr">
            <a:noAutofit/>
          </a:bodyPr>
          <a:lstStyle/>
          <a:p>
            <a:pPr algn="l"/>
            <a:r>
              <a:rPr sz="1500" b="0">
                <a:solidFill>
                  <a:srgbClr val="FFFFFF"/>
                </a:solidFill>
                <a:latin typeface="Inter"/>
              </a:rPr>
              <a:t>Shop link</a:t>
            </a:r>
          </a:p>
        </p:txBody>
      </p:sp>
      <p:pic>
        <p:nvPicPr>
          <p:cNvPr id="13" name="g114|icon|checkCircle_orange.png" descr="checkCircle_orange"/>
          <p:cNvPicPr>
            <a:picLocks noChangeAspect="1"/>
          </p:cNvPicPr>
          <p:nvPr/>
        </p:nvPicPr>
        <p:blipFill>
          <a:blip r:embed="rId2"/>
          <a:srcRect/>
          <a:stretch>
            <a:fillRect/>
          </a:stretch>
        </p:blipFill>
        <p:spPr>
          <a:xfrm>
            <a:off x="5221224" y="3520440"/>
            <a:ext cx="256032" cy="256032"/>
          </a:xfrm>
          <a:prstGeom prst="rect">
            <a:avLst/>
          </a:prstGeom>
        </p:spPr>
      </p:pic>
      <p:sp>
        <p:nvSpPr>
          <p:cNvPr id="14" name="g114|card|"/>
          <p:cNvSpPr txBox="1"/>
          <p:nvPr/>
        </p:nvSpPr>
        <p:spPr>
          <a:xfrm>
            <a:off x="5715000" y="3392424"/>
            <a:ext cx="2286000" cy="512064"/>
          </a:xfrm>
          <a:prstGeom prst="rect">
            <a:avLst/>
          </a:prstGeom>
          <a:noFill/>
        </p:spPr>
        <p:txBody>
          <a:bodyPr wrap="square" lIns="0" rIns="0" tIns="0" bIns="0" anchor="ctr">
            <a:noAutofit/>
          </a:bodyPr>
          <a:lstStyle/>
          <a:p>
            <a:pPr algn="l"/>
            <a:r>
              <a:rPr sz="1500" b="0">
                <a:solidFill>
                  <a:srgbClr val="FFFFFF"/>
                </a:solidFill>
                <a:latin typeface="Inter"/>
              </a:rPr>
              <a:t>Order alerts</a:t>
            </a:r>
          </a:p>
        </p:txBody>
      </p:sp>
      <p:pic>
        <p:nvPicPr>
          <p:cNvPr id="15" name="g115|icon|checkCircle_orange.png" descr="checkCircle_orange"/>
          <p:cNvPicPr>
            <a:picLocks noChangeAspect="1"/>
          </p:cNvPicPr>
          <p:nvPr/>
        </p:nvPicPr>
        <p:blipFill>
          <a:blip r:embed="rId2"/>
          <a:srcRect/>
          <a:stretch>
            <a:fillRect/>
          </a:stretch>
        </p:blipFill>
        <p:spPr>
          <a:xfrm>
            <a:off x="5221224" y="4233672"/>
            <a:ext cx="256032" cy="256032"/>
          </a:xfrm>
          <a:prstGeom prst="rect">
            <a:avLst/>
          </a:prstGeom>
        </p:spPr>
      </p:pic>
      <p:sp>
        <p:nvSpPr>
          <p:cNvPr id="16" name="g115|card|"/>
          <p:cNvSpPr txBox="1"/>
          <p:nvPr/>
        </p:nvSpPr>
        <p:spPr>
          <a:xfrm>
            <a:off x="5715000" y="4105656"/>
            <a:ext cx="2286000" cy="512064"/>
          </a:xfrm>
          <a:prstGeom prst="rect">
            <a:avLst/>
          </a:prstGeom>
          <a:noFill/>
        </p:spPr>
        <p:txBody>
          <a:bodyPr wrap="square" lIns="0" rIns="0" tIns="0" bIns="0" anchor="ctr">
            <a:noAutofit/>
          </a:bodyPr>
          <a:lstStyle/>
          <a:p>
            <a:pPr algn="l"/>
            <a:r>
              <a:rPr sz="1500" b="0">
                <a:solidFill>
                  <a:srgbClr val="FFFFFF"/>
                </a:solidFill>
                <a:latin typeface="Inter"/>
              </a:rPr>
              <a:t>AI posts &amp; clips</a:t>
            </a:r>
          </a:p>
        </p:txBody>
      </p:sp>
      <p:pic>
        <p:nvPicPr>
          <p:cNvPr id="17" name="g116|icon|checkCircle_orange.png" descr="checkCircle_orange"/>
          <p:cNvPicPr>
            <a:picLocks noChangeAspect="1"/>
          </p:cNvPicPr>
          <p:nvPr/>
        </p:nvPicPr>
        <p:blipFill>
          <a:blip r:embed="rId2"/>
          <a:srcRect/>
          <a:stretch>
            <a:fillRect/>
          </a:stretch>
        </p:blipFill>
        <p:spPr>
          <a:xfrm>
            <a:off x="5221224" y="4946904"/>
            <a:ext cx="256032" cy="256032"/>
          </a:xfrm>
          <a:prstGeom prst="rect">
            <a:avLst/>
          </a:prstGeom>
        </p:spPr>
      </p:pic>
      <p:sp>
        <p:nvSpPr>
          <p:cNvPr id="18" name="g116|card|"/>
          <p:cNvSpPr txBox="1"/>
          <p:nvPr/>
        </p:nvSpPr>
        <p:spPr>
          <a:xfrm>
            <a:off x="5715000" y="4818888"/>
            <a:ext cx="2286000" cy="512064"/>
          </a:xfrm>
          <a:prstGeom prst="rect">
            <a:avLst/>
          </a:prstGeom>
          <a:noFill/>
        </p:spPr>
        <p:txBody>
          <a:bodyPr wrap="square" lIns="0" rIns="0" tIns="0" bIns="0" anchor="ctr">
            <a:noAutofit/>
          </a:bodyPr>
          <a:lstStyle/>
          <a:p>
            <a:pPr algn="l"/>
            <a:r>
              <a:rPr sz="1500" b="0">
                <a:solidFill>
                  <a:srgbClr val="FFFFFF"/>
                </a:solidFill>
                <a:latin typeface="Inter"/>
              </a:rPr>
              <a:t>TikTok video</a:t>
            </a:r>
          </a:p>
        </p:txBody>
      </p:sp>
      <p:sp>
        <p:nvSpPr>
          <p:cNvPr id="19" name="meet117|card|"/>
          <p:cNvSpPr/>
          <p:nvPr/>
        </p:nvSpPr>
        <p:spPr>
          <a:xfrm>
            <a:off x="8348471" y="1234440"/>
            <a:ext cx="3291840" cy="4572000"/>
          </a:xfrm>
          <a:prstGeom prst="roundRect">
            <a:avLst>
              <a:gd name="adj" fmla="val 5555"/>
            </a:avLst>
          </a:prstGeom>
          <a:solidFill>
            <a:srgbClr val="1B23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meet117|eyebrow|"/>
          <p:cNvSpPr txBox="1"/>
          <p:nvPr/>
        </p:nvSpPr>
        <p:spPr>
          <a:xfrm>
            <a:off x="8622792" y="1463040"/>
            <a:ext cx="2743200" cy="274320"/>
          </a:xfrm>
          <a:prstGeom prst="rect">
            <a:avLst/>
          </a:prstGeom>
          <a:noFill/>
        </p:spPr>
        <p:txBody>
          <a:bodyPr wrap="square" lIns="0" rIns="0" tIns="0" bIns="0" anchor="t">
            <a:noAutofit/>
          </a:bodyPr>
          <a:lstStyle/>
          <a:p>
            <a:pPr algn="l"/>
            <a:r>
              <a:rPr sz="1200" b="1" spc="120">
                <a:solidFill>
                  <a:srgbClr val="A7B0B8"/>
                </a:solidFill>
                <a:latin typeface="Inter"/>
              </a:rPr>
              <a:t>BEING SWITCHED ON</a:t>
            </a:r>
          </a:p>
        </p:txBody>
      </p:sp>
      <p:pic>
        <p:nvPicPr>
          <p:cNvPr id="21" name="g118|icon|clock_white.png" descr="clock_white"/>
          <p:cNvPicPr>
            <a:picLocks noChangeAspect="1"/>
          </p:cNvPicPr>
          <p:nvPr/>
        </p:nvPicPr>
        <p:blipFill>
          <a:blip r:embed="rId3"/>
          <a:srcRect/>
          <a:stretch>
            <a:fillRect/>
          </a:stretch>
        </p:blipFill>
        <p:spPr>
          <a:xfrm>
            <a:off x="8723376" y="2093975"/>
            <a:ext cx="256032" cy="256032"/>
          </a:xfrm>
          <a:prstGeom prst="rect">
            <a:avLst/>
          </a:prstGeom>
        </p:spPr>
      </p:pic>
      <p:sp>
        <p:nvSpPr>
          <p:cNvPr id="22" name="g118|card|"/>
          <p:cNvSpPr txBox="1"/>
          <p:nvPr/>
        </p:nvSpPr>
        <p:spPr>
          <a:xfrm>
            <a:off x="9217151" y="1965960"/>
            <a:ext cx="2286000" cy="512064"/>
          </a:xfrm>
          <a:prstGeom prst="rect">
            <a:avLst/>
          </a:prstGeom>
          <a:noFill/>
        </p:spPr>
        <p:txBody>
          <a:bodyPr wrap="square" lIns="0" rIns="0" tIns="0" bIns="0" anchor="ctr">
            <a:noAutofit/>
          </a:bodyPr>
          <a:lstStyle/>
          <a:p>
            <a:pPr algn="l"/>
            <a:r>
              <a:rPr sz="1500" b="0">
                <a:solidFill>
                  <a:srgbClr val="FFFFFF"/>
                </a:solidFill>
                <a:latin typeface="Inter"/>
              </a:rPr>
              <a:t>Checkout</a:t>
            </a:r>
          </a:p>
        </p:txBody>
      </p:sp>
      <p:pic>
        <p:nvPicPr>
          <p:cNvPr id="23" name="g119|icon|clock_white.png" descr="clock_white"/>
          <p:cNvPicPr>
            <a:picLocks noChangeAspect="1"/>
          </p:cNvPicPr>
          <p:nvPr/>
        </p:nvPicPr>
        <p:blipFill>
          <a:blip r:embed="rId3"/>
          <a:srcRect/>
          <a:stretch>
            <a:fillRect/>
          </a:stretch>
        </p:blipFill>
        <p:spPr>
          <a:xfrm>
            <a:off x="8723376" y="2807208"/>
            <a:ext cx="256032" cy="256032"/>
          </a:xfrm>
          <a:prstGeom prst="rect">
            <a:avLst/>
          </a:prstGeom>
        </p:spPr>
      </p:pic>
      <p:sp>
        <p:nvSpPr>
          <p:cNvPr id="24" name="g119|card|"/>
          <p:cNvSpPr txBox="1"/>
          <p:nvPr/>
        </p:nvSpPr>
        <p:spPr>
          <a:xfrm>
            <a:off x="9217151" y="2679191"/>
            <a:ext cx="2286000" cy="512064"/>
          </a:xfrm>
          <a:prstGeom prst="rect">
            <a:avLst/>
          </a:prstGeom>
          <a:noFill/>
        </p:spPr>
        <p:txBody>
          <a:bodyPr wrap="square" lIns="0" rIns="0" tIns="0" bIns="0" anchor="ctr">
            <a:noAutofit/>
          </a:bodyPr>
          <a:lstStyle/>
          <a:p>
            <a:pPr algn="l"/>
            <a:r>
              <a:rPr sz="1500" b="0">
                <a:solidFill>
                  <a:srgbClr val="FFFFFF"/>
                </a:solidFill>
                <a:latin typeface="Inter"/>
              </a:rPr>
              <a:t>Facebook &amp; Instagram</a:t>
            </a:r>
          </a:p>
        </p:txBody>
      </p:sp>
      <p:pic>
        <p:nvPicPr>
          <p:cNvPr id="25" name="g120|icon|clock_white.png" descr="clock_white"/>
          <p:cNvPicPr>
            <a:picLocks noChangeAspect="1"/>
          </p:cNvPicPr>
          <p:nvPr/>
        </p:nvPicPr>
        <p:blipFill>
          <a:blip r:embed="rId3"/>
          <a:srcRect/>
          <a:stretch>
            <a:fillRect/>
          </a:stretch>
        </p:blipFill>
        <p:spPr>
          <a:xfrm>
            <a:off x="8723376" y="3520440"/>
            <a:ext cx="256032" cy="256032"/>
          </a:xfrm>
          <a:prstGeom prst="rect">
            <a:avLst/>
          </a:prstGeom>
        </p:spPr>
      </p:pic>
      <p:sp>
        <p:nvSpPr>
          <p:cNvPr id="26" name="g120|card|"/>
          <p:cNvSpPr txBox="1"/>
          <p:nvPr/>
        </p:nvSpPr>
        <p:spPr>
          <a:xfrm>
            <a:off x="9217151" y="3392424"/>
            <a:ext cx="2286000" cy="512064"/>
          </a:xfrm>
          <a:prstGeom prst="rect">
            <a:avLst/>
          </a:prstGeom>
          <a:noFill/>
        </p:spPr>
        <p:txBody>
          <a:bodyPr wrap="square" lIns="0" rIns="0" tIns="0" bIns="0" anchor="ctr">
            <a:noAutofit/>
          </a:bodyPr>
          <a:lstStyle/>
          <a:p>
            <a:pPr algn="l"/>
            <a:r>
              <a:rPr sz="1500" b="0">
                <a:solidFill>
                  <a:srgbClr val="FFFFFF"/>
                </a:solidFill>
                <a:latin typeface="Inter"/>
              </a:rPr>
              <a:t>AI Voice (beta)</a:t>
            </a:r>
          </a:p>
        </p:txBody>
      </p:sp>
      <p:sp>
        <p:nvSpPr>
          <p:cNvPr id="27" name="chrome|footer|"/>
          <p:cNvSpPr txBox="1"/>
          <p:nvPr/>
        </p:nvSpPr>
        <p:spPr>
          <a:xfrm>
            <a:off x="548640" y="6437376"/>
            <a:ext cx="3657600" cy="237744"/>
          </a:xfrm>
          <a:prstGeom prst="rect">
            <a:avLst/>
          </a:prstGeom>
          <a:noFill/>
        </p:spPr>
        <p:txBody>
          <a:bodyPr wrap="square" lIns="0" rIns="0" tIns="0" bIns="0" anchor="t">
            <a:noAutofit/>
          </a:bodyPr>
          <a:lstStyle/>
          <a:p>
            <a:pPr algn="l"/>
            <a:r>
              <a:rPr sz="1000" b="0">
                <a:solidFill>
                  <a:srgbClr val="A7B0B8"/>
                </a:solidFill>
                <a:latin typeface="Inter"/>
              </a:rPr>
              <a:t>FluxMuse · fluxmuse.ai</a:t>
            </a:r>
          </a:p>
        </p:txBody>
      </p:sp>
      <p:sp>
        <p:nvSpPr>
          <p:cNvPr id="28" name="chrome|slidenum|"/>
          <p:cNvSpPr txBox="1"/>
          <p:nvPr/>
        </p:nvSpPr>
        <p:spPr>
          <a:xfrm>
            <a:off x="10728655" y="6437376"/>
            <a:ext cx="914400" cy="237744"/>
          </a:xfrm>
          <a:prstGeom prst="rect">
            <a:avLst/>
          </a:prstGeom>
          <a:noFill/>
        </p:spPr>
        <p:txBody>
          <a:bodyPr wrap="none" lIns="0" rIns="0" tIns="0" bIns="0">
            <a:spAutoFit/>
          </a:bodyPr>
          <a:lstStyle/>
          <a:p>
            <a:pPr algn="r"/>
            <a:fld id="{B6F15528-21DE-4FAA-801E-634DDDAF4B2B}" type="slidenum">
              <a:rPr lang="en-ZA" sz="1000">
                <a:solidFill>
                  <a:srgbClr val="A7B0B8"/>
                </a:solidFill>
                <a:latin typeface="Inter"/>
              </a:rPr>
              <a:t>3</a:t>
            </a:fld>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hdr121|eyebrow|"/>
          <p:cNvSpPr txBox="1"/>
          <p:nvPr/>
        </p:nvSpPr>
        <p:spPr>
          <a:xfrm>
            <a:off x="548640" y="384048"/>
            <a:ext cx="11094415" cy="237744"/>
          </a:xfrm>
          <a:prstGeom prst="rect">
            <a:avLst/>
          </a:prstGeom>
          <a:noFill/>
        </p:spPr>
        <p:txBody>
          <a:bodyPr wrap="square" lIns="0" rIns="0" tIns="0" bIns="0" anchor="t">
            <a:noAutofit/>
          </a:bodyPr>
          <a:lstStyle/>
          <a:p>
            <a:pPr algn="l"/>
            <a:r>
              <a:rPr sz="1200" b="1" spc="150">
                <a:solidFill>
                  <a:srgbClr val="C24E00"/>
                </a:solidFill>
                <a:latin typeface="Inter"/>
              </a:rPr>
              <a:t>HOW FLUXMUSE WORKS</a:t>
            </a:r>
          </a:p>
        </p:txBody>
      </p:sp>
      <p:sp>
        <p:nvSpPr>
          <p:cNvPr id="3" name="hdr121|title|"/>
          <p:cNvSpPr txBox="1"/>
          <p:nvPr/>
        </p:nvSpPr>
        <p:spPr>
          <a:xfrm>
            <a:off x="548640" y="640080"/>
            <a:ext cx="11094415" cy="713232"/>
          </a:xfrm>
          <a:prstGeom prst="rect">
            <a:avLst/>
          </a:prstGeom>
          <a:noFill/>
        </p:spPr>
        <p:txBody>
          <a:bodyPr wrap="square" lIns="0" rIns="0" tIns="0" bIns="0" anchor="t">
            <a:noAutofit/>
          </a:bodyPr>
          <a:lstStyle/>
          <a:p>
            <a:pPr algn="l"/>
            <a:r>
              <a:rPr sz="3200" b="1">
                <a:solidFill>
                  <a:srgbClr val="20242B"/>
                </a:solidFill>
                <a:latin typeface="Poppins"/>
              </a:rPr>
              <a:t>One loop, run by your AI marketing team</a:t>
            </a:r>
          </a:p>
        </p:txBody>
      </p:sp>
      <p:pic>
        <p:nvPicPr>
          <p:cNvPr id="4" name="g122|img|infographics/how-fluxmuse-works.png" descr="Loop: Plan, Create (captions, images, short clips), Publish (WhatsApp Status, consented broadcasts, TikTok), Sell (shop link from photos, every order on WhatsApp), Learn"/>
          <p:cNvPicPr>
            <a:picLocks noChangeAspect="1"/>
          </p:cNvPicPr>
          <p:nvPr/>
        </p:nvPicPr>
        <p:blipFill>
          <a:blip r:embed="rId2"/>
          <a:srcRect t="20000"/>
          <a:stretch>
            <a:fillRect/>
          </a:stretch>
        </p:blipFill>
        <p:spPr>
          <a:xfrm>
            <a:off x="609447" y="1389888"/>
            <a:ext cx="10972800" cy="4937760"/>
          </a:xfrm>
          <a:prstGeom prst="rect">
            <a:avLst/>
          </a:prstGeom>
        </p:spPr>
      </p:pic>
      <p:sp>
        <p:nvSpPr>
          <p:cNvPr id="5" name="chrome|footer|"/>
          <p:cNvSpPr txBox="1"/>
          <p:nvPr/>
        </p:nvSpPr>
        <p:spPr>
          <a:xfrm>
            <a:off x="548640" y="6437376"/>
            <a:ext cx="3657600" cy="237744"/>
          </a:xfrm>
          <a:prstGeom prst="rect">
            <a:avLst/>
          </a:prstGeom>
          <a:noFill/>
        </p:spPr>
        <p:txBody>
          <a:bodyPr wrap="square" lIns="0" rIns="0" tIns="0" bIns="0" anchor="t">
            <a:noAutofit/>
          </a:bodyPr>
          <a:lstStyle/>
          <a:p>
            <a:pPr algn="l"/>
            <a:r>
              <a:rPr sz="1000" b="0">
                <a:solidFill>
                  <a:srgbClr val="5B6670"/>
                </a:solidFill>
                <a:latin typeface="Inter"/>
              </a:rPr>
              <a:t>FluxMuse · fluxmuse.ai</a:t>
            </a:r>
          </a:p>
        </p:txBody>
      </p:sp>
      <p:sp>
        <p:nvSpPr>
          <p:cNvPr id="6" name="chrome|slidenum|"/>
          <p:cNvSpPr txBox="1"/>
          <p:nvPr/>
        </p:nvSpPr>
        <p:spPr>
          <a:xfrm>
            <a:off x="10728655" y="6437376"/>
            <a:ext cx="914400" cy="237744"/>
          </a:xfrm>
          <a:prstGeom prst="rect">
            <a:avLst/>
          </a:prstGeom>
          <a:noFill/>
        </p:spPr>
        <p:txBody>
          <a:bodyPr wrap="none" lIns="0" rIns="0" tIns="0" bIns="0">
            <a:spAutoFit/>
          </a:bodyPr>
          <a:lstStyle/>
          <a:p>
            <a:pPr algn="r"/>
            <a:fld id="{B6F15528-21DE-4FAA-801E-634DDDAF4B2B}" type="slidenum">
              <a:rPr lang="en-ZA" sz="1000">
                <a:solidFill>
                  <a:srgbClr val="5B6670"/>
                </a:solidFill>
                <a:latin typeface="Inter"/>
              </a:rPr>
              <a:t>4</a:t>
            </a:fld>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hdr123|eyebrow|"/>
          <p:cNvSpPr txBox="1"/>
          <p:nvPr/>
        </p:nvSpPr>
        <p:spPr>
          <a:xfrm>
            <a:off x="548640" y="384048"/>
            <a:ext cx="11094415" cy="237744"/>
          </a:xfrm>
          <a:prstGeom prst="rect">
            <a:avLst/>
          </a:prstGeom>
          <a:noFill/>
        </p:spPr>
        <p:txBody>
          <a:bodyPr wrap="square" lIns="0" rIns="0" tIns="0" bIns="0" anchor="t">
            <a:noAutofit/>
          </a:bodyPr>
          <a:lstStyle/>
          <a:p>
            <a:pPr algn="l"/>
            <a:r>
              <a:rPr sz="1200" b="1" spc="150">
                <a:solidFill>
                  <a:srgbClr val="C24E00"/>
                </a:solidFill>
                <a:latin typeface="Inter"/>
              </a:rPr>
              <a:t>WHATSAPP SELLING</a:t>
            </a:r>
          </a:p>
        </p:txBody>
      </p:sp>
      <p:sp>
        <p:nvSpPr>
          <p:cNvPr id="3" name="hdr123|title|"/>
          <p:cNvSpPr txBox="1"/>
          <p:nvPr/>
        </p:nvSpPr>
        <p:spPr>
          <a:xfrm>
            <a:off x="548640" y="640080"/>
            <a:ext cx="11094415" cy="713232"/>
          </a:xfrm>
          <a:prstGeom prst="rect">
            <a:avLst/>
          </a:prstGeom>
          <a:noFill/>
        </p:spPr>
        <p:txBody>
          <a:bodyPr wrap="square" lIns="0" rIns="0" tIns="0" bIns="0" anchor="t">
            <a:noAutofit/>
          </a:bodyPr>
          <a:lstStyle/>
          <a:p>
            <a:pPr algn="l"/>
            <a:r>
              <a:rPr sz="3200" b="1">
                <a:solidFill>
                  <a:srgbClr val="20242B"/>
                </a:solidFill>
                <a:latin typeface="Poppins"/>
              </a:rPr>
              <a:t>From first tap to repeat order, on WhatsApp</a:t>
            </a:r>
          </a:p>
        </p:txBody>
      </p:sp>
      <p:pic>
        <p:nvPicPr>
          <p:cNvPr id="4" name="g124|img|infographics/whatsapp-commerce-flow.png" descr="Discover, Chat, Catalog, Cart, Pay (card and EFT in South Africa, being switched on), Order alert, Come back; checkout through FluxMuse not yet tested with real money"/>
          <p:cNvPicPr>
            <a:picLocks noChangeAspect="1"/>
          </p:cNvPicPr>
          <p:nvPr/>
        </p:nvPicPr>
        <p:blipFill>
          <a:blip r:embed="rId2"/>
          <a:srcRect t="20000"/>
          <a:stretch>
            <a:fillRect/>
          </a:stretch>
        </p:blipFill>
        <p:spPr>
          <a:xfrm>
            <a:off x="609447" y="1389888"/>
            <a:ext cx="10972800" cy="4937760"/>
          </a:xfrm>
          <a:prstGeom prst="rect">
            <a:avLst/>
          </a:prstGeom>
        </p:spPr>
      </p:pic>
      <p:sp>
        <p:nvSpPr>
          <p:cNvPr id="5" name="chrome|footer|"/>
          <p:cNvSpPr txBox="1"/>
          <p:nvPr/>
        </p:nvSpPr>
        <p:spPr>
          <a:xfrm>
            <a:off x="548640" y="6437376"/>
            <a:ext cx="3657600" cy="237744"/>
          </a:xfrm>
          <a:prstGeom prst="rect">
            <a:avLst/>
          </a:prstGeom>
          <a:noFill/>
        </p:spPr>
        <p:txBody>
          <a:bodyPr wrap="square" lIns="0" rIns="0" tIns="0" bIns="0" anchor="t">
            <a:noAutofit/>
          </a:bodyPr>
          <a:lstStyle/>
          <a:p>
            <a:pPr algn="l"/>
            <a:r>
              <a:rPr sz="1000" b="0">
                <a:solidFill>
                  <a:srgbClr val="5B6670"/>
                </a:solidFill>
                <a:latin typeface="Inter"/>
              </a:rPr>
              <a:t>FluxMuse · fluxmuse.ai</a:t>
            </a:r>
          </a:p>
        </p:txBody>
      </p:sp>
      <p:sp>
        <p:nvSpPr>
          <p:cNvPr id="6" name="chrome|slidenum|"/>
          <p:cNvSpPr txBox="1"/>
          <p:nvPr/>
        </p:nvSpPr>
        <p:spPr>
          <a:xfrm>
            <a:off x="10728655" y="6437376"/>
            <a:ext cx="914400" cy="237744"/>
          </a:xfrm>
          <a:prstGeom prst="rect">
            <a:avLst/>
          </a:prstGeom>
          <a:noFill/>
        </p:spPr>
        <p:txBody>
          <a:bodyPr wrap="none" lIns="0" rIns="0" tIns="0" bIns="0">
            <a:spAutoFit/>
          </a:bodyPr>
          <a:lstStyle/>
          <a:p>
            <a:pPr algn="r"/>
            <a:fld id="{B6F15528-21DE-4FAA-801E-634DDDAF4B2B}" type="slidenum">
              <a:rPr lang="en-ZA" sz="1000">
                <a:solidFill>
                  <a:srgbClr val="5B6670"/>
                </a:solidFill>
                <a:latin typeface="Inter"/>
              </a:rPr>
              <a:t>5</a:t>
            </a:fld>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hdr125|eyebrow|"/>
          <p:cNvSpPr txBox="1"/>
          <p:nvPr/>
        </p:nvSpPr>
        <p:spPr>
          <a:xfrm>
            <a:off x="548640" y="384048"/>
            <a:ext cx="11094415" cy="237744"/>
          </a:xfrm>
          <a:prstGeom prst="rect">
            <a:avLst/>
          </a:prstGeom>
          <a:noFill/>
        </p:spPr>
        <p:txBody>
          <a:bodyPr wrap="square" lIns="0" rIns="0" tIns="0" bIns="0" anchor="t">
            <a:noAutofit/>
          </a:bodyPr>
          <a:lstStyle/>
          <a:p>
            <a:pPr algn="l"/>
            <a:r>
              <a:rPr sz="1200" b="1" spc="150">
                <a:solidFill>
                  <a:srgbClr val="C24E00"/>
                </a:solidFill>
                <a:latin typeface="Inter"/>
              </a:rPr>
              <a:t>LAUNCH SEGMENT · SOLO ENTREPRENEURS</a:t>
            </a:r>
          </a:p>
        </p:txBody>
      </p:sp>
      <p:sp>
        <p:nvSpPr>
          <p:cNvPr id="3" name="hdr125|title|"/>
          <p:cNvSpPr txBox="1"/>
          <p:nvPr/>
        </p:nvSpPr>
        <p:spPr>
          <a:xfrm>
            <a:off x="548640" y="640080"/>
            <a:ext cx="11094415" cy="713232"/>
          </a:xfrm>
          <a:prstGeom prst="rect">
            <a:avLst/>
          </a:prstGeom>
          <a:noFill/>
        </p:spPr>
        <p:txBody>
          <a:bodyPr wrap="square" lIns="0" rIns="0" tIns="0" bIns="0" anchor="t">
            <a:noAutofit/>
          </a:bodyPr>
          <a:lstStyle/>
          <a:p>
            <a:pPr algn="l"/>
            <a:r>
              <a:rPr sz="3200" b="1">
                <a:solidFill>
                  <a:srgbClr val="20242B"/>
                </a:solidFill>
                <a:latin typeface="Poppins"/>
              </a:rPr>
              <a:t>Solo entrepreneurs: 1–5 people</a:t>
            </a:r>
          </a:p>
        </p:txBody>
      </p:sp>
      <p:pic>
        <p:nvPicPr>
          <p:cNvPr id="4" name="g126|img|infographics/segment-solo.png" descr="Solo entrepreneurs: three pains, three newly launched answers, Nano R149 a month, Founding Member R104 for the first two bills"/>
          <p:cNvPicPr>
            <a:picLocks noChangeAspect="1"/>
          </p:cNvPicPr>
          <p:nvPr/>
        </p:nvPicPr>
        <p:blipFill>
          <a:blip r:embed="rId2"/>
          <a:srcRect t="20000"/>
          <a:stretch>
            <a:fillRect/>
          </a:stretch>
        </p:blipFill>
        <p:spPr>
          <a:xfrm>
            <a:off x="609447" y="1389888"/>
            <a:ext cx="10972800" cy="4937760"/>
          </a:xfrm>
          <a:prstGeom prst="rect">
            <a:avLst/>
          </a:prstGeom>
        </p:spPr>
      </p:pic>
      <p:sp>
        <p:nvSpPr>
          <p:cNvPr id="5" name="chrome|footer|"/>
          <p:cNvSpPr txBox="1"/>
          <p:nvPr/>
        </p:nvSpPr>
        <p:spPr>
          <a:xfrm>
            <a:off x="548640" y="6437376"/>
            <a:ext cx="3657600" cy="237744"/>
          </a:xfrm>
          <a:prstGeom prst="rect">
            <a:avLst/>
          </a:prstGeom>
          <a:noFill/>
        </p:spPr>
        <p:txBody>
          <a:bodyPr wrap="square" lIns="0" rIns="0" tIns="0" bIns="0" anchor="t">
            <a:noAutofit/>
          </a:bodyPr>
          <a:lstStyle/>
          <a:p>
            <a:pPr algn="l"/>
            <a:r>
              <a:rPr sz="1000" b="0">
                <a:solidFill>
                  <a:srgbClr val="5B6670"/>
                </a:solidFill>
                <a:latin typeface="Inter"/>
              </a:rPr>
              <a:t>FluxMuse · fluxmuse.ai</a:t>
            </a:r>
          </a:p>
        </p:txBody>
      </p:sp>
      <p:sp>
        <p:nvSpPr>
          <p:cNvPr id="6" name="chrome|slidenum|"/>
          <p:cNvSpPr txBox="1"/>
          <p:nvPr/>
        </p:nvSpPr>
        <p:spPr>
          <a:xfrm>
            <a:off x="10728655" y="6437376"/>
            <a:ext cx="914400" cy="237744"/>
          </a:xfrm>
          <a:prstGeom prst="rect">
            <a:avLst/>
          </a:prstGeom>
          <a:noFill/>
        </p:spPr>
        <p:txBody>
          <a:bodyPr wrap="none" lIns="0" rIns="0" tIns="0" bIns="0">
            <a:spAutoFit/>
          </a:bodyPr>
          <a:lstStyle/>
          <a:p>
            <a:pPr algn="r"/>
            <a:fld id="{B6F15528-21DE-4FAA-801E-634DDDAF4B2B}" type="slidenum">
              <a:rPr lang="en-ZA" sz="1000">
                <a:solidFill>
                  <a:srgbClr val="5B6670"/>
                </a:solidFill>
                <a:latin typeface="Inter"/>
              </a:rPr>
              <a:t>6</a:t>
            </a:fld>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hdr127|eyebrow|"/>
          <p:cNvSpPr txBox="1"/>
          <p:nvPr/>
        </p:nvSpPr>
        <p:spPr>
          <a:xfrm>
            <a:off x="548640" y="384048"/>
            <a:ext cx="11094415" cy="237744"/>
          </a:xfrm>
          <a:prstGeom prst="rect">
            <a:avLst/>
          </a:prstGeom>
          <a:noFill/>
        </p:spPr>
        <p:txBody>
          <a:bodyPr wrap="square" lIns="0" rIns="0" tIns="0" bIns="0" anchor="t">
            <a:noAutofit/>
          </a:bodyPr>
          <a:lstStyle/>
          <a:p>
            <a:pPr algn="l"/>
            <a:r>
              <a:rPr sz="1200" b="1" spc="150">
                <a:solidFill>
                  <a:srgbClr val="C24E00"/>
                </a:solidFill>
                <a:latin typeface="Inter"/>
              </a:rPr>
              <a:t>WORKING WITH FLUXMUSE</a:t>
            </a:r>
          </a:p>
        </p:txBody>
      </p:sp>
      <p:sp>
        <p:nvSpPr>
          <p:cNvPr id="3" name="hdr127|title|"/>
          <p:cNvSpPr txBox="1"/>
          <p:nvPr/>
        </p:nvSpPr>
        <p:spPr>
          <a:xfrm>
            <a:off x="548640" y="640080"/>
            <a:ext cx="11094415" cy="713232"/>
          </a:xfrm>
          <a:prstGeom prst="rect">
            <a:avLst/>
          </a:prstGeom>
          <a:noFill/>
        </p:spPr>
        <p:txBody>
          <a:bodyPr wrap="square" lIns="0" rIns="0" tIns="0" bIns="0" anchor="t">
            <a:noAutofit/>
          </a:bodyPr>
          <a:lstStyle/>
          <a:p>
            <a:pPr algn="l"/>
            <a:r>
              <a:rPr sz="3200" b="1">
                <a:solidFill>
                  <a:srgbClr val="20242B"/>
                </a:solidFill>
                <a:latin typeface="Poppins"/>
              </a:rPr>
              <a:t>From first call to your first orders</a:t>
            </a:r>
          </a:p>
        </p:txBody>
      </p:sp>
      <p:pic>
        <p:nvPicPr>
          <p:cNvPr id="4" name="g128|img|infographics/brand-engagement-journey.png" descr="Discovery call, demo on your products, set up by hand, go live (lead guarantee starts), weekly check-ins, keep growing; measures agreed together"/>
          <p:cNvPicPr>
            <a:picLocks noChangeAspect="1"/>
          </p:cNvPicPr>
          <p:nvPr/>
        </p:nvPicPr>
        <p:blipFill>
          <a:blip r:embed="rId2"/>
          <a:srcRect t="20000"/>
          <a:stretch>
            <a:fillRect/>
          </a:stretch>
        </p:blipFill>
        <p:spPr>
          <a:xfrm>
            <a:off x="609447" y="1389888"/>
            <a:ext cx="10972800" cy="4937760"/>
          </a:xfrm>
          <a:prstGeom prst="rect">
            <a:avLst/>
          </a:prstGeom>
        </p:spPr>
      </p:pic>
      <p:sp>
        <p:nvSpPr>
          <p:cNvPr id="5" name="chrome|footer|"/>
          <p:cNvSpPr txBox="1"/>
          <p:nvPr/>
        </p:nvSpPr>
        <p:spPr>
          <a:xfrm>
            <a:off x="548640" y="6437376"/>
            <a:ext cx="3657600" cy="237744"/>
          </a:xfrm>
          <a:prstGeom prst="rect">
            <a:avLst/>
          </a:prstGeom>
          <a:noFill/>
        </p:spPr>
        <p:txBody>
          <a:bodyPr wrap="square" lIns="0" rIns="0" tIns="0" bIns="0" anchor="t">
            <a:noAutofit/>
          </a:bodyPr>
          <a:lstStyle/>
          <a:p>
            <a:pPr algn="l"/>
            <a:r>
              <a:rPr sz="1000" b="0">
                <a:solidFill>
                  <a:srgbClr val="5B6670"/>
                </a:solidFill>
                <a:latin typeface="Inter"/>
              </a:rPr>
              <a:t>FluxMuse · fluxmuse.ai</a:t>
            </a:r>
          </a:p>
        </p:txBody>
      </p:sp>
      <p:sp>
        <p:nvSpPr>
          <p:cNvPr id="6" name="chrome|slidenum|"/>
          <p:cNvSpPr txBox="1"/>
          <p:nvPr/>
        </p:nvSpPr>
        <p:spPr>
          <a:xfrm>
            <a:off x="10728655" y="6437376"/>
            <a:ext cx="914400" cy="237744"/>
          </a:xfrm>
          <a:prstGeom prst="rect">
            <a:avLst/>
          </a:prstGeom>
          <a:noFill/>
        </p:spPr>
        <p:txBody>
          <a:bodyPr wrap="none" lIns="0" rIns="0" tIns="0" bIns="0">
            <a:spAutoFit/>
          </a:bodyPr>
          <a:lstStyle/>
          <a:p>
            <a:pPr algn="r"/>
            <a:fld id="{B6F15528-21DE-4FAA-801E-634DDDAF4B2B}" type="slidenum">
              <a:rPr lang="en-ZA" sz="1000">
                <a:solidFill>
                  <a:srgbClr val="5B6670"/>
                </a:solidFill>
                <a:latin typeface="Inter"/>
              </a:rPr>
              <a:t>7</a:t>
            </a:fld>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hdr129|eyebrow|"/>
          <p:cNvSpPr txBox="1"/>
          <p:nvPr/>
        </p:nvSpPr>
        <p:spPr>
          <a:xfrm>
            <a:off x="548640" y="384048"/>
            <a:ext cx="11094415" cy="237744"/>
          </a:xfrm>
          <a:prstGeom prst="rect">
            <a:avLst/>
          </a:prstGeom>
          <a:noFill/>
        </p:spPr>
        <p:txBody>
          <a:bodyPr wrap="square" lIns="0" rIns="0" tIns="0" bIns="0" anchor="t">
            <a:noAutofit/>
          </a:bodyPr>
          <a:lstStyle/>
          <a:p>
            <a:pPr algn="l"/>
            <a:r>
              <a:rPr sz="1200" b="1" spc="150">
                <a:solidFill>
                  <a:srgbClr val="C24E00"/>
                </a:solidFill>
                <a:latin typeface="Inter"/>
              </a:rPr>
              <a:t>OUR FIRST GROUP OF BUSINESSES</a:t>
            </a:r>
          </a:p>
        </p:txBody>
      </p:sp>
      <p:sp>
        <p:nvSpPr>
          <p:cNvPr id="3" name="hdr129|title|"/>
          <p:cNvSpPr txBox="1"/>
          <p:nvPr/>
        </p:nvSpPr>
        <p:spPr>
          <a:xfrm>
            <a:off x="548640" y="640080"/>
            <a:ext cx="11094415" cy="713232"/>
          </a:xfrm>
          <a:prstGeom prst="rect">
            <a:avLst/>
          </a:prstGeom>
          <a:noFill/>
        </p:spPr>
        <p:txBody>
          <a:bodyPr wrap="square" lIns="0" rIns="0" tIns="0" bIns="0" anchor="t">
            <a:noAutofit/>
          </a:bodyPr>
          <a:lstStyle/>
          <a:p>
            <a:pPr algn="l"/>
            <a:r>
              <a:rPr sz="3200" b="1">
                <a:solidFill>
                  <a:srgbClr val="20242B"/>
                </a:solidFill>
                <a:latin typeface="Poppins"/>
              </a:rPr>
              <a:t>Starting small, set up by hand</a:t>
            </a:r>
          </a:p>
        </p:txBody>
      </p:sp>
      <p:sp>
        <p:nvSpPr>
          <p:cNvPr id="4" name="fg130|card|"/>
          <p:cNvSpPr/>
          <p:nvPr/>
        </p:nvSpPr>
        <p:spPr>
          <a:xfrm>
            <a:off x="548640" y="1536192"/>
            <a:ext cx="5440680" cy="4617720"/>
          </a:xfrm>
          <a:prstGeom prst="roundRect">
            <a:avLst>
              <a:gd name="adj" fmla="val 3960"/>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fg130|card|"/>
          <p:cNvSpPr txBox="1"/>
          <p:nvPr/>
        </p:nvSpPr>
        <p:spPr>
          <a:xfrm>
            <a:off x="914400" y="1810512"/>
            <a:ext cx="4663440" cy="457200"/>
          </a:xfrm>
          <a:prstGeom prst="rect">
            <a:avLst/>
          </a:prstGeom>
          <a:noFill/>
        </p:spPr>
        <p:txBody>
          <a:bodyPr wrap="square" lIns="0" rIns="0" tIns="0" bIns="0" anchor="t">
            <a:noAutofit/>
          </a:bodyPr>
          <a:lstStyle/>
          <a:p>
            <a:pPr algn="l"/>
            <a:r>
              <a:rPr sz="2200" b="1">
                <a:solidFill>
                  <a:srgbClr val="20242B"/>
                </a:solidFill>
                <a:latin typeface="Poppins"/>
              </a:rPr>
              <a:t>A small first group</a:t>
            </a:r>
          </a:p>
        </p:txBody>
      </p:sp>
      <p:sp>
        <p:nvSpPr>
          <p:cNvPr id="6" name="g131|deco|"/>
          <p:cNvSpPr/>
          <p:nvPr/>
        </p:nvSpPr>
        <p:spPr>
          <a:xfrm>
            <a:off x="914400" y="2587752"/>
            <a:ext cx="512064" cy="512064"/>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g131|icon|users_deep.png" descr="users_deep"/>
          <p:cNvPicPr>
            <a:picLocks noChangeAspect="1"/>
          </p:cNvPicPr>
          <p:nvPr/>
        </p:nvPicPr>
        <p:blipFill>
          <a:blip r:embed="rId2"/>
          <a:srcRect/>
          <a:stretch>
            <a:fillRect/>
          </a:stretch>
        </p:blipFill>
        <p:spPr>
          <a:xfrm>
            <a:off x="1027054" y="2700406"/>
            <a:ext cx="286755" cy="286755"/>
          </a:xfrm>
          <a:prstGeom prst="rect">
            <a:avLst/>
          </a:prstGeom>
        </p:spPr>
      </p:pic>
      <p:sp>
        <p:nvSpPr>
          <p:cNvPr id="8" name="g131|body|"/>
          <p:cNvSpPr txBox="1"/>
          <p:nvPr/>
        </p:nvSpPr>
        <p:spPr>
          <a:xfrm>
            <a:off x="1600200" y="2514600"/>
            <a:ext cx="4114800" cy="676656"/>
          </a:xfrm>
          <a:prstGeom prst="rect">
            <a:avLst/>
          </a:prstGeom>
          <a:noFill/>
        </p:spPr>
        <p:txBody>
          <a:bodyPr wrap="square" lIns="0" rIns="0" tIns="0" bIns="0" anchor="ctr">
            <a:noAutofit/>
          </a:bodyPr>
          <a:lstStyle/>
          <a:p>
            <a:pPr algn="l"/>
            <a:r>
              <a:rPr sz="1600" b="0">
                <a:solidFill>
                  <a:srgbClr val="20242B"/>
                </a:solidFill>
                <a:latin typeface="Inter"/>
              </a:rPr>
              <a:t>We set you up by hand</a:t>
            </a:r>
          </a:p>
        </p:txBody>
      </p:sp>
      <p:sp>
        <p:nvSpPr>
          <p:cNvPr id="9" name="g132|deco|"/>
          <p:cNvSpPr/>
          <p:nvPr/>
        </p:nvSpPr>
        <p:spPr>
          <a:xfrm>
            <a:off x="914400" y="3456432"/>
            <a:ext cx="512064" cy="512064"/>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0" name="g132|icon|calendar_deep.png" descr="calendar_deep"/>
          <p:cNvPicPr>
            <a:picLocks noChangeAspect="1"/>
          </p:cNvPicPr>
          <p:nvPr/>
        </p:nvPicPr>
        <p:blipFill>
          <a:blip r:embed="rId3"/>
          <a:srcRect/>
          <a:stretch>
            <a:fillRect/>
          </a:stretch>
        </p:blipFill>
        <p:spPr>
          <a:xfrm>
            <a:off x="1027054" y="3569086"/>
            <a:ext cx="286755" cy="286755"/>
          </a:xfrm>
          <a:prstGeom prst="rect">
            <a:avLst/>
          </a:prstGeom>
        </p:spPr>
      </p:pic>
      <p:sp>
        <p:nvSpPr>
          <p:cNvPr id="11" name="g132|body|"/>
          <p:cNvSpPr txBox="1"/>
          <p:nvPr/>
        </p:nvSpPr>
        <p:spPr>
          <a:xfrm>
            <a:off x="1600200" y="3383280"/>
            <a:ext cx="4114800" cy="676656"/>
          </a:xfrm>
          <a:prstGeom prst="rect">
            <a:avLst/>
          </a:prstGeom>
          <a:noFill/>
        </p:spPr>
        <p:txBody>
          <a:bodyPr wrap="square" lIns="0" rIns="0" tIns="0" bIns="0" anchor="ctr">
            <a:noAutofit/>
          </a:bodyPr>
          <a:lstStyle/>
          <a:p>
            <a:pPr algn="l"/>
            <a:r>
              <a:rPr sz="1600" b="0">
                <a:solidFill>
                  <a:srgbClr val="20242B"/>
                </a:solidFill>
                <a:latin typeface="Inter"/>
              </a:rPr>
              <a:t>Weekly founder check-ins</a:t>
            </a:r>
          </a:p>
        </p:txBody>
      </p:sp>
      <p:sp>
        <p:nvSpPr>
          <p:cNvPr id="12" name="g133|deco|"/>
          <p:cNvSpPr/>
          <p:nvPr/>
        </p:nvSpPr>
        <p:spPr>
          <a:xfrm>
            <a:off x="914400" y="4325112"/>
            <a:ext cx="512064" cy="512064"/>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3" name="g133|icon|chat_deep.png" descr="chat_deep"/>
          <p:cNvPicPr>
            <a:picLocks noChangeAspect="1"/>
          </p:cNvPicPr>
          <p:nvPr/>
        </p:nvPicPr>
        <p:blipFill>
          <a:blip r:embed="rId4"/>
          <a:srcRect/>
          <a:stretch>
            <a:fillRect/>
          </a:stretch>
        </p:blipFill>
        <p:spPr>
          <a:xfrm>
            <a:off x="1027054" y="4437766"/>
            <a:ext cx="286755" cy="286755"/>
          </a:xfrm>
          <a:prstGeom prst="rect">
            <a:avLst/>
          </a:prstGeom>
        </p:spPr>
      </p:pic>
      <p:sp>
        <p:nvSpPr>
          <p:cNvPr id="14" name="g133|body|"/>
          <p:cNvSpPr txBox="1"/>
          <p:nvPr/>
        </p:nvSpPr>
        <p:spPr>
          <a:xfrm>
            <a:off x="1600200" y="4251960"/>
            <a:ext cx="4114800" cy="676656"/>
          </a:xfrm>
          <a:prstGeom prst="rect">
            <a:avLst/>
          </a:prstGeom>
          <a:noFill/>
        </p:spPr>
        <p:txBody>
          <a:bodyPr wrap="square" lIns="0" rIns="0" tIns="0" bIns="0" anchor="ctr">
            <a:noAutofit/>
          </a:bodyPr>
          <a:lstStyle/>
          <a:p>
            <a:pPr algn="l"/>
            <a:r>
              <a:rPr sz="1600" b="0">
                <a:solidFill>
                  <a:srgbClr val="20242B"/>
                </a:solidFill>
                <a:latin typeface="Inter"/>
              </a:rPr>
              <a:t>You tell us what to fix first</a:t>
            </a:r>
          </a:p>
        </p:txBody>
      </p:sp>
      <p:sp>
        <p:nvSpPr>
          <p:cNvPr id="15" name="g134|deco|"/>
          <p:cNvSpPr/>
          <p:nvPr/>
        </p:nvSpPr>
        <p:spPr>
          <a:xfrm>
            <a:off x="914400" y="5193792"/>
            <a:ext cx="512064" cy="512064"/>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6" name="g134|icon|shield_deep.png" descr="shield_deep"/>
          <p:cNvPicPr>
            <a:picLocks noChangeAspect="1"/>
          </p:cNvPicPr>
          <p:nvPr/>
        </p:nvPicPr>
        <p:blipFill>
          <a:blip r:embed="rId5"/>
          <a:srcRect/>
          <a:stretch>
            <a:fillRect/>
          </a:stretch>
        </p:blipFill>
        <p:spPr>
          <a:xfrm>
            <a:off x="1027054" y="5306446"/>
            <a:ext cx="286755" cy="286755"/>
          </a:xfrm>
          <a:prstGeom prst="rect">
            <a:avLst/>
          </a:prstGeom>
        </p:spPr>
      </p:pic>
      <p:sp>
        <p:nvSpPr>
          <p:cNvPr id="17" name="g134|body|"/>
          <p:cNvSpPr txBox="1"/>
          <p:nvPr/>
        </p:nvSpPr>
        <p:spPr>
          <a:xfrm>
            <a:off x="1600200" y="5120640"/>
            <a:ext cx="4114800" cy="676656"/>
          </a:xfrm>
          <a:prstGeom prst="rect">
            <a:avLst/>
          </a:prstGeom>
          <a:noFill/>
        </p:spPr>
        <p:txBody>
          <a:bodyPr wrap="square" lIns="0" rIns="0" tIns="0" bIns="0" anchor="ctr">
            <a:noAutofit/>
          </a:bodyPr>
          <a:lstStyle/>
          <a:p>
            <a:pPr algn="l"/>
            <a:r>
              <a:rPr sz="1600" b="0">
                <a:solidFill>
                  <a:srgbClr val="20242B"/>
                </a:solidFill>
                <a:latin typeface="Inter"/>
              </a:rPr>
              <a:t>Your story shared only with consent</a:t>
            </a:r>
          </a:p>
        </p:txBody>
      </p:sp>
      <p:sp>
        <p:nvSpPr>
          <p:cNvPr id="18" name="lg135|card|"/>
          <p:cNvSpPr/>
          <p:nvPr/>
        </p:nvSpPr>
        <p:spPr>
          <a:xfrm>
            <a:off x="6202375" y="1536192"/>
            <a:ext cx="5440680" cy="4617720"/>
          </a:xfrm>
          <a:prstGeom prst="roundRect">
            <a:avLst>
              <a:gd name="adj" fmla="val 3960"/>
            </a:avLst>
          </a:prstGeom>
          <a:solidFill>
            <a:srgbClr val="FFF4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lg135|deco|"/>
          <p:cNvSpPr/>
          <p:nvPr/>
        </p:nvSpPr>
        <p:spPr>
          <a:xfrm>
            <a:off x="6494983" y="1801368"/>
            <a:ext cx="786384" cy="786384"/>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0" name="lg135|icon|target_deep.png" descr="target_deep"/>
          <p:cNvPicPr>
            <a:picLocks noChangeAspect="1"/>
          </p:cNvPicPr>
          <p:nvPr/>
        </p:nvPicPr>
        <p:blipFill>
          <a:blip r:embed="rId6"/>
          <a:srcRect/>
          <a:stretch>
            <a:fillRect/>
          </a:stretch>
        </p:blipFill>
        <p:spPr>
          <a:xfrm>
            <a:off x="6667987" y="1974372"/>
            <a:ext cx="440375" cy="440375"/>
          </a:xfrm>
          <a:prstGeom prst="rect">
            <a:avLst/>
          </a:prstGeom>
        </p:spPr>
      </p:pic>
      <p:sp>
        <p:nvSpPr>
          <p:cNvPr id="21" name="lg135|eyebrow|"/>
          <p:cNvSpPr txBox="1"/>
          <p:nvPr/>
        </p:nvSpPr>
        <p:spPr>
          <a:xfrm>
            <a:off x="7482535" y="1938528"/>
            <a:ext cx="3840480" cy="274320"/>
          </a:xfrm>
          <a:prstGeom prst="rect">
            <a:avLst/>
          </a:prstGeom>
          <a:noFill/>
        </p:spPr>
        <p:txBody>
          <a:bodyPr wrap="square" lIns="0" rIns="0" tIns="0" bIns="0" anchor="t">
            <a:noAutofit/>
          </a:bodyPr>
          <a:lstStyle/>
          <a:p>
            <a:pPr algn="l"/>
            <a:r>
              <a:rPr sz="1300" b="1" spc="120">
                <a:solidFill>
                  <a:srgbClr val="C24E00"/>
                </a:solidFill>
                <a:latin typeface="Inter"/>
              </a:rPr>
              <a:t>LEAD GUARANTEE</a:t>
            </a:r>
          </a:p>
        </p:txBody>
      </p:sp>
      <p:sp>
        <p:nvSpPr>
          <p:cNvPr id="22" name="lg135|card|"/>
          <p:cNvSpPr txBox="1"/>
          <p:nvPr/>
        </p:nvSpPr>
        <p:spPr>
          <a:xfrm>
            <a:off x="7482535" y="2212848"/>
            <a:ext cx="3931920" cy="868680"/>
          </a:xfrm>
          <a:prstGeom prst="rect">
            <a:avLst/>
          </a:prstGeom>
          <a:noFill/>
        </p:spPr>
        <p:txBody>
          <a:bodyPr wrap="square" lIns="0" rIns="0" tIns="0" bIns="0" anchor="t">
            <a:noAutofit/>
          </a:bodyPr>
          <a:lstStyle/>
          <a:p>
            <a:pPr algn="l">
              <a:lnSpc>
                <a:spcPct val="95000"/>
              </a:lnSpc>
            </a:pPr>
            <a:r>
              <a:rPr sz="2200" b="1">
                <a:solidFill>
                  <a:srgbClr val="20242B"/>
                </a:solidFill>
                <a:latin typeface="Poppins"/>
              </a:rPr>
              <a:t>3 qualified leads in 30 days of go-live</a:t>
            </a:r>
          </a:p>
        </p:txBody>
      </p:sp>
      <p:sp>
        <p:nvSpPr>
          <p:cNvPr id="23" name="lg135|caption|"/>
          <p:cNvSpPr txBox="1"/>
          <p:nvPr/>
        </p:nvSpPr>
        <p:spPr>
          <a:xfrm>
            <a:off x="6568135" y="3429000"/>
            <a:ext cx="4709160" cy="2468880"/>
          </a:xfrm>
          <a:prstGeom prst="rect">
            <a:avLst/>
          </a:prstGeom>
          <a:noFill/>
        </p:spPr>
        <p:txBody>
          <a:bodyPr wrap="square" lIns="0" rIns="0" tIns="0" bIns="0" anchor="t">
            <a:noAutofit/>
          </a:bodyPr>
          <a:lstStyle/>
          <a:p>
            <a:pPr algn="l">
              <a:lnSpc>
                <a:spcPct val="110000"/>
              </a:lnSpc>
            </a:pPr>
            <a:r>
              <a:rPr sz="1500" b="0">
                <a:solidFill>
                  <a:srgbClr val="20242B"/>
                </a:solidFill>
                <a:latin typeface="Inter"/>
              </a:rPr>
              <a:t>A qualified lead is a new WhatsApp number that messages you through your FluxMuse link. If fewer than 3 arrive in 30 days, and you shared your link and posted at least weekly, we keep supporting you at no extra charge until you reach 3. Extra support, not a payout.</a:t>
            </a:r>
          </a:p>
        </p:txBody>
      </p:sp>
      <p:sp>
        <p:nvSpPr>
          <p:cNvPr id="24" name="chrome|footer|"/>
          <p:cNvSpPr txBox="1"/>
          <p:nvPr/>
        </p:nvSpPr>
        <p:spPr>
          <a:xfrm>
            <a:off x="548640" y="6437376"/>
            <a:ext cx="3657600" cy="237744"/>
          </a:xfrm>
          <a:prstGeom prst="rect">
            <a:avLst/>
          </a:prstGeom>
          <a:noFill/>
        </p:spPr>
        <p:txBody>
          <a:bodyPr wrap="square" lIns="0" rIns="0" tIns="0" bIns="0" anchor="t">
            <a:noAutofit/>
          </a:bodyPr>
          <a:lstStyle/>
          <a:p>
            <a:pPr algn="l"/>
            <a:r>
              <a:rPr sz="1000" b="0">
                <a:solidFill>
                  <a:srgbClr val="5B6670"/>
                </a:solidFill>
                <a:latin typeface="Inter"/>
              </a:rPr>
              <a:t>FluxMuse · fluxmuse.ai</a:t>
            </a:r>
          </a:p>
        </p:txBody>
      </p:sp>
      <p:sp>
        <p:nvSpPr>
          <p:cNvPr id="25" name="chrome|slidenum|"/>
          <p:cNvSpPr txBox="1"/>
          <p:nvPr/>
        </p:nvSpPr>
        <p:spPr>
          <a:xfrm>
            <a:off x="10728655" y="6437376"/>
            <a:ext cx="914400" cy="237744"/>
          </a:xfrm>
          <a:prstGeom prst="rect">
            <a:avLst/>
          </a:prstGeom>
          <a:noFill/>
        </p:spPr>
        <p:txBody>
          <a:bodyPr wrap="none" lIns="0" rIns="0" tIns="0" bIns="0">
            <a:spAutoFit/>
          </a:bodyPr>
          <a:lstStyle/>
          <a:p>
            <a:pPr algn="r"/>
            <a:fld id="{B6F15528-21DE-4FAA-801E-634DDDAF4B2B}" type="slidenum">
              <a:rPr lang="en-ZA" sz="1000">
                <a:solidFill>
                  <a:srgbClr val="5B6670"/>
                </a:solidFill>
                <a:latin typeface="Inter"/>
              </a:rPr>
              <a:t>8</a:t>
            </a:fld>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hdr136|eyebrow|"/>
          <p:cNvSpPr txBox="1"/>
          <p:nvPr/>
        </p:nvSpPr>
        <p:spPr>
          <a:xfrm>
            <a:off x="548640" y="384048"/>
            <a:ext cx="11094415" cy="237744"/>
          </a:xfrm>
          <a:prstGeom prst="rect">
            <a:avLst/>
          </a:prstGeom>
          <a:noFill/>
        </p:spPr>
        <p:txBody>
          <a:bodyPr wrap="square" lIns="0" rIns="0" tIns="0" bIns="0" anchor="t">
            <a:noAutofit/>
          </a:bodyPr>
          <a:lstStyle/>
          <a:p>
            <a:pPr algn="l"/>
            <a:r>
              <a:rPr sz="1200" b="1" spc="150">
                <a:solidFill>
                  <a:srgbClr val="C24E00"/>
                </a:solidFill>
                <a:latin typeface="Inter"/>
              </a:rPr>
              <a:t>PRICING (ZAR) · YOUR PLANS</a:t>
            </a:r>
          </a:p>
        </p:txBody>
      </p:sp>
      <p:sp>
        <p:nvSpPr>
          <p:cNvPr id="3" name="hdr136|title|"/>
          <p:cNvSpPr txBox="1"/>
          <p:nvPr/>
        </p:nvSpPr>
        <p:spPr>
          <a:xfrm>
            <a:off x="548640" y="640080"/>
            <a:ext cx="11094415" cy="713232"/>
          </a:xfrm>
          <a:prstGeom prst="rect">
            <a:avLst/>
          </a:prstGeom>
          <a:noFill/>
        </p:spPr>
        <p:txBody>
          <a:bodyPr wrap="square" lIns="0" rIns="0" tIns="0" bIns="0" anchor="t">
            <a:noAutofit/>
          </a:bodyPr>
          <a:lstStyle/>
          <a:p>
            <a:pPr algn="l"/>
            <a:r>
              <a:rPr sz="3200" b="1">
                <a:solidFill>
                  <a:srgbClr val="20242B"/>
                </a:solidFill>
                <a:latin typeface="Poppins"/>
              </a:rPr>
              <a:t>Plans that fit a small business</a:t>
            </a:r>
          </a:p>
        </p:txBody>
      </p:sp>
      <p:sp>
        <p:nvSpPr>
          <p:cNvPr id="4" name="plan137|card|"/>
          <p:cNvSpPr/>
          <p:nvPr/>
        </p:nvSpPr>
        <p:spPr>
          <a:xfrm>
            <a:off x="548640" y="1536192"/>
            <a:ext cx="3511296" cy="3931920"/>
          </a:xfrm>
          <a:prstGeom prst="roundRect">
            <a:avLst>
              <a:gd name="adj" fmla="val 5208"/>
            </a:avLst>
          </a:prstGeom>
          <a:solidFill>
            <a:srgbClr val="FFF4EB"/>
          </a:solidFill>
          <a:ln w="25400">
            <a:solidFill>
              <a:srgbClr val="FF6A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plan137|card|"/>
          <p:cNvSpPr txBox="1"/>
          <p:nvPr/>
        </p:nvSpPr>
        <p:spPr>
          <a:xfrm>
            <a:off x="868680" y="1783080"/>
            <a:ext cx="2871215" cy="457200"/>
          </a:xfrm>
          <a:prstGeom prst="rect">
            <a:avLst/>
          </a:prstGeom>
          <a:noFill/>
        </p:spPr>
        <p:txBody>
          <a:bodyPr wrap="square" lIns="0" rIns="0" tIns="0" bIns="0" anchor="t">
            <a:noAutofit/>
          </a:bodyPr>
          <a:lstStyle/>
          <a:p>
            <a:pPr algn="l"/>
            <a:r>
              <a:rPr sz="2200" b="1">
                <a:solidFill>
                  <a:srgbClr val="20242B"/>
                </a:solidFill>
                <a:latin typeface="Poppins"/>
              </a:rPr>
              <a:t>Nano</a:t>
            </a:r>
          </a:p>
        </p:txBody>
      </p:sp>
      <p:sp>
        <p:nvSpPr>
          <p:cNvPr id="6" name="plan137|card|"/>
          <p:cNvSpPr txBox="1"/>
          <p:nvPr/>
        </p:nvSpPr>
        <p:spPr>
          <a:xfrm>
            <a:off x="868680" y="2286000"/>
            <a:ext cx="2871215" cy="731520"/>
          </a:xfrm>
          <a:prstGeom prst="rect">
            <a:avLst/>
          </a:prstGeom>
          <a:noFill/>
        </p:spPr>
        <p:txBody>
          <a:bodyPr wrap="square" lIns="0" rIns="0" tIns="0" bIns="0" anchor="t">
            <a:noAutofit/>
          </a:bodyPr>
          <a:lstStyle/>
          <a:p>
            <a:pPr algn="l"/>
            <a:r>
              <a:rPr sz="3600" b="1">
                <a:solidFill>
                  <a:srgbClr val="20242B"/>
                </a:solidFill>
                <a:latin typeface="Poppins"/>
              </a:rPr>
              <a:t>R149</a:t>
            </a:r>
            <a:r>
              <a:rPr sz="1600" b="0">
                <a:solidFill>
                  <a:srgbClr val="20242B"/>
                </a:solidFill>
                <a:latin typeface="Inter"/>
              </a:rPr>
              <a:t>/mo</a:t>
            </a:r>
          </a:p>
        </p:txBody>
      </p:sp>
      <p:sp>
        <p:nvSpPr>
          <p:cNvPr id="7" name="plan137|caption|"/>
          <p:cNvSpPr txBox="1"/>
          <p:nvPr/>
        </p:nvSpPr>
        <p:spPr>
          <a:xfrm>
            <a:off x="868680" y="3017520"/>
            <a:ext cx="2871215" cy="274320"/>
          </a:xfrm>
          <a:prstGeom prst="rect">
            <a:avLst/>
          </a:prstGeom>
          <a:noFill/>
        </p:spPr>
        <p:txBody>
          <a:bodyPr wrap="square" lIns="0" rIns="0" tIns="0" bIns="0" anchor="t">
            <a:noAutofit/>
          </a:bodyPr>
          <a:lstStyle/>
          <a:p>
            <a:pPr algn="l"/>
            <a:r>
              <a:rPr sz="1300" b="0">
                <a:solidFill>
                  <a:srgbClr val="5B6670"/>
                </a:solidFill>
                <a:latin typeface="Inter"/>
              </a:rPr>
              <a:t>or R1,490/yr</a:t>
            </a:r>
          </a:p>
        </p:txBody>
      </p:sp>
      <p:sp>
        <p:nvSpPr>
          <p:cNvPr id="8" name="plan137|card|"/>
          <p:cNvSpPr txBox="1"/>
          <p:nvPr/>
        </p:nvSpPr>
        <p:spPr>
          <a:xfrm>
            <a:off x="868680" y="3429000"/>
            <a:ext cx="2871215" cy="365760"/>
          </a:xfrm>
          <a:prstGeom prst="rect">
            <a:avLst/>
          </a:prstGeom>
          <a:noFill/>
        </p:spPr>
        <p:txBody>
          <a:bodyPr wrap="square" lIns="0" rIns="0" tIns="0" bIns="0" anchor="t">
            <a:noAutofit/>
          </a:bodyPr>
          <a:lstStyle/>
          <a:p>
            <a:pPr algn="l"/>
            <a:r>
              <a:rPr sz="1500" b="0">
                <a:solidFill>
                  <a:srgbClr val="20242B"/>
                </a:solidFill>
                <a:latin typeface="Inter"/>
              </a:rPr>
              <a:t>1 brand · 3 channels</a:t>
            </a:r>
          </a:p>
        </p:txBody>
      </p:sp>
      <p:sp>
        <p:nvSpPr>
          <p:cNvPr id="9" name="plan137|card|"/>
          <p:cNvSpPr txBox="1"/>
          <p:nvPr/>
        </p:nvSpPr>
        <p:spPr>
          <a:xfrm>
            <a:off x="868680" y="3840480"/>
            <a:ext cx="2871215" cy="365760"/>
          </a:xfrm>
          <a:prstGeom prst="rect">
            <a:avLst/>
          </a:prstGeom>
          <a:noFill/>
        </p:spPr>
        <p:txBody>
          <a:bodyPr wrap="square" lIns="0" rIns="0" tIns="0" bIns="0" anchor="t">
            <a:noAutofit/>
          </a:bodyPr>
          <a:lstStyle/>
          <a:p>
            <a:pPr algn="l"/>
            <a:r>
              <a:rPr sz="1500" b="1">
                <a:solidFill>
                  <a:srgbClr val="C24E00"/>
                </a:solidFill>
                <a:latin typeface="Inter"/>
              </a:rPr>
              <a:t>Entry plan</a:t>
            </a:r>
          </a:p>
        </p:txBody>
      </p:sp>
      <p:sp>
        <p:nvSpPr>
          <p:cNvPr id="10" name="plan137|caption|"/>
          <p:cNvSpPr txBox="1"/>
          <p:nvPr/>
        </p:nvSpPr>
        <p:spPr>
          <a:xfrm>
            <a:off x="868680" y="4526280"/>
            <a:ext cx="2871215" cy="731520"/>
          </a:xfrm>
          <a:prstGeom prst="rect">
            <a:avLst/>
          </a:prstGeom>
          <a:noFill/>
        </p:spPr>
        <p:txBody>
          <a:bodyPr wrap="square" lIns="0" rIns="0" tIns="0" bIns="0" anchor="t">
            <a:noAutofit/>
          </a:bodyPr>
          <a:lstStyle/>
          <a:p>
            <a:pPr algn="l">
              <a:spcAft>
                <a:spcPts val="200"/>
              </a:spcAft>
            </a:pPr>
            <a:r>
              <a:rPr sz="1100" b="1">
                <a:solidFill>
                  <a:srgbClr val="C24E00"/>
                </a:solidFill>
                <a:latin typeface="Inter"/>
              </a:rPr>
              <a:t>FOUNDING MEMBER</a:t>
            </a:r>
          </a:p>
          <a:p>
            <a:pPr algn="l"/>
            <a:r>
              <a:rPr sz="1300" b="0">
                <a:solidFill>
                  <a:srgbClr val="20242B"/>
                </a:solidFill>
                <a:latin typeface="Inter"/>
              </a:rPr>
              <a:t>R104 for your first 2 bills</a:t>
            </a:r>
          </a:p>
        </p:txBody>
      </p:sp>
      <p:sp>
        <p:nvSpPr>
          <p:cNvPr id="11" name="plan138|card|"/>
          <p:cNvSpPr/>
          <p:nvPr/>
        </p:nvSpPr>
        <p:spPr>
          <a:xfrm>
            <a:off x="4340199" y="1536192"/>
            <a:ext cx="3511296" cy="3931920"/>
          </a:xfrm>
          <a:prstGeom prst="roundRect">
            <a:avLst>
              <a:gd name="adj" fmla="val 5208"/>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plan138|card|"/>
          <p:cNvSpPr txBox="1"/>
          <p:nvPr/>
        </p:nvSpPr>
        <p:spPr>
          <a:xfrm>
            <a:off x="4660239" y="1783080"/>
            <a:ext cx="2871215" cy="457200"/>
          </a:xfrm>
          <a:prstGeom prst="rect">
            <a:avLst/>
          </a:prstGeom>
          <a:noFill/>
        </p:spPr>
        <p:txBody>
          <a:bodyPr wrap="square" lIns="0" rIns="0" tIns="0" bIns="0" anchor="t">
            <a:noAutofit/>
          </a:bodyPr>
          <a:lstStyle/>
          <a:p>
            <a:pPr algn="l"/>
            <a:r>
              <a:rPr sz="2200" b="1">
                <a:solidFill>
                  <a:srgbClr val="20242B"/>
                </a:solidFill>
                <a:latin typeface="Poppins"/>
              </a:rPr>
              <a:t>Micro</a:t>
            </a:r>
          </a:p>
        </p:txBody>
      </p:sp>
      <p:sp>
        <p:nvSpPr>
          <p:cNvPr id="13" name="plan138|card|"/>
          <p:cNvSpPr txBox="1"/>
          <p:nvPr/>
        </p:nvSpPr>
        <p:spPr>
          <a:xfrm>
            <a:off x="4660239" y="2286000"/>
            <a:ext cx="2871215" cy="731520"/>
          </a:xfrm>
          <a:prstGeom prst="rect">
            <a:avLst/>
          </a:prstGeom>
          <a:noFill/>
        </p:spPr>
        <p:txBody>
          <a:bodyPr wrap="square" lIns="0" rIns="0" tIns="0" bIns="0" anchor="t">
            <a:noAutofit/>
          </a:bodyPr>
          <a:lstStyle/>
          <a:p>
            <a:pPr algn="l"/>
            <a:r>
              <a:rPr sz="3600" b="1">
                <a:solidFill>
                  <a:srgbClr val="20242B"/>
                </a:solidFill>
                <a:latin typeface="Poppins"/>
              </a:rPr>
              <a:t>R289</a:t>
            </a:r>
            <a:r>
              <a:rPr sz="1600" b="0">
                <a:solidFill>
                  <a:srgbClr val="20242B"/>
                </a:solidFill>
                <a:latin typeface="Inter"/>
              </a:rPr>
              <a:t>/mo</a:t>
            </a:r>
          </a:p>
        </p:txBody>
      </p:sp>
      <p:sp>
        <p:nvSpPr>
          <p:cNvPr id="14" name="plan138|caption|"/>
          <p:cNvSpPr txBox="1"/>
          <p:nvPr/>
        </p:nvSpPr>
        <p:spPr>
          <a:xfrm>
            <a:off x="4660239" y="3017520"/>
            <a:ext cx="2871215" cy="274320"/>
          </a:xfrm>
          <a:prstGeom prst="rect">
            <a:avLst/>
          </a:prstGeom>
          <a:noFill/>
        </p:spPr>
        <p:txBody>
          <a:bodyPr wrap="square" lIns="0" rIns="0" tIns="0" bIns="0" anchor="t">
            <a:noAutofit/>
          </a:bodyPr>
          <a:lstStyle/>
          <a:p>
            <a:pPr algn="l"/>
            <a:r>
              <a:rPr sz="1300" b="0">
                <a:solidFill>
                  <a:srgbClr val="5B6670"/>
                </a:solidFill>
                <a:latin typeface="Inter"/>
              </a:rPr>
              <a:t>or R2,890/yr</a:t>
            </a:r>
          </a:p>
        </p:txBody>
      </p:sp>
      <p:sp>
        <p:nvSpPr>
          <p:cNvPr id="15" name="plan138|card|"/>
          <p:cNvSpPr txBox="1"/>
          <p:nvPr/>
        </p:nvSpPr>
        <p:spPr>
          <a:xfrm>
            <a:off x="4660239" y="3429000"/>
            <a:ext cx="2871215" cy="365760"/>
          </a:xfrm>
          <a:prstGeom prst="rect">
            <a:avLst/>
          </a:prstGeom>
          <a:noFill/>
        </p:spPr>
        <p:txBody>
          <a:bodyPr wrap="square" lIns="0" rIns="0" tIns="0" bIns="0" anchor="t">
            <a:noAutofit/>
          </a:bodyPr>
          <a:lstStyle/>
          <a:p>
            <a:pPr algn="l"/>
            <a:r>
              <a:rPr sz="1500" b="0">
                <a:solidFill>
                  <a:srgbClr val="20242B"/>
                </a:solidFill>
                <a:latin typeface="Inter"/>
              </a:rPr>
              <a:t>1 brand · 4 channels</a:t>
            </a:r>
          </a:p>
        </p:txBody>
      </p:sp>
      <p:sp>
        <p:nvSpPr>
          <p:cNvPr id="16" name="plan138|card|"/>
          <p:cNvSpPr txBox="1"/>
          <p:nvPr/>
        </p:nvSpPr>
        <p:spPr>
          <a:xfrm>
            <a:off x="4660239" y="3840480"/>
            <a:ext cx="2871215" cy="365760"/>
          </a:xfrm>
          <a:prstGeom prst="rect">
            <a:avLst/>
          </a:prstGeom>
          <a:noFill/>
        </p:spPr>
        <p:txBody>
          <a:bodyPr wrap="square" lIns="0" rIns="0" tIns="0" bIns="0" anchor="t">
            <a:noAutofit/>
          </a:bodyPr>
          <a:lstStyle/>
          <a:p>
            <a:pPr algn="l"/>
            <a:r>
              <a:rPr sz="1500" b="1">
                <a:solidFill>
                  <a:srgbClr val="C24E00"/>
                </a:solidFill>
                <a:latin typeface="Inter"/>
              </a:rPr>
              <a:t>Own WhatsApp number</a:t>
            </a:r>
          </a:p>
        </p:txBody>
      </p:sp>
      <p:sp>
        <p:nvSpPr>
          <p:cNvPr id="17" name="plan138|caption|"/>
          <p:cNvSpPr txBox="1"/>
          <p:nvPr/>
        </p:nvSpPr>
        <p:spPr>
          <a:xfrm>
            <a:off x="4660239" y="4526280"/>
            <a:ext cx="2871215" cy="731520"/>
          </a:xfrm>
          <a:prstGeom prst="rect">
            <a:avLst/>
          </a:prstGeom>
          <a:noFill/>
        </p:spPr>
        <p:txBody>
          <a:bodyPr wrap="square" lIns="0" rIns="0" tIns="0" bIns="0" anchor="t">
            <a:noAutofit/>
          </a:bodyPr>
          <a:lstStyle/>
          <a:p>
            <a:pPr algn="l">
              <a:spcAft>
                <a:spcPts val="200"/>
              </a:spcAft>
            </a:pPr>
            <a:r>
              <a:rPr sz="1100" b="1">
                <a:solidFill>
                  <a:srgbClr val="C24E00"/>
                </a:solidFill>
                <a:latin typeface="Inter"/>
              </a:rPr>
              <a:t>FOUNDING MEMBER</a:t>
            </a:r>
          </a:p>
          <a:p>
            <a:pPr algn="l"/>
            <a:r>
              <a:rPr sz="1300" b="0">
                <a:solidFill>
                  <a:srgbClr val="20242B"/>
                </a:solidFill>
                <a:latin typeface="Inter"/>
              </a:rPr>
              <a:t>R202 for your first 2 bills</a:t>
            </a:r>
          </a:p>
        </p:txBody>
      </p:sp>
      <p:sp>
        <p:nvSpPr>
          <p:cNvPr id="18" name="plan139|card|"/>
          <p:cNvSpPr/>
          <p:nvPr/>
        </p:nvSpPr>
        <p:spPr>
          <a:xfrm>
            <a:off x="8131759" y="1536192"/>
            <a:ext cx="3511296" cy="3931920"/>
          </a:xfrm>
          <a:prstGeom prst="roundRect">
            <a:avLst>
              <a:gd name="adj" fmla="val 5208"/>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plan139|card|"/>
          <p:cNvSpPr txBox="1"/>
          <p:nvPr/>
        </p:nvSpPr>
        <p:spPr>
          <a:xfrm>
            <a:off x="8451799" y="1783080"/>
            <a:ext cx="2871215" cy="457200"/>
          </a:xfrm>
          <a:prstGeom prst="rect">
            <a:avLst/>
          </a:prstGeom>
          <a:noFill/>
        </p:spPr>
        <p:txBody>
          <a:bodyPr wrap="square" lIns="0" rIns="0" tIns="0" bIns="0" anchor="t">
            <a:noAutofit/>
          </a:bodyPr>
          <a:lstStyle/>
          <a:p>
            <a:pPr algn="l"/>
            <a:r>
              <a:rPr sz="2200" b="1">
                <a:solidFill>
                  <a:srgbClr val="20242B"/>
                </a:solidFill>
                <a:latin typeface="Poppins"/>
              </a:rPr>
              <a:t>Starter</a:t>
            </a:r>
          </a:p>
        </p:txBody>
      </p:sp>
      <p:sp>
        <p:nvSpPr>
          <p:cNvPr id="20" name="plan139|card|"/>
          <p:cNvSpPr txBox="1"/>
          <p:nvPr/>
        </p:nvSpPr>
        <p:spPr>
          <a:xfrm>
            <a:off x="8451799" y="2286000"/>
            <a:ext cx="2871215" cy="731520"/>
          </a:xfrm>
          <a:prstGeom prst="rect">
            <a:avLst/>
          </a:prstGeom>
          <a:noFill/>
        </p:spPr>
        <p:txBody>
          <a:bodyPr wrap="square" lIns="0" rIns="0" tIns="0" bIns="0" anchor="t">
            <a:noAutofit/>
          </a:bodyPr>
          <a:lstStyle/>
          <a:p>
            <a:pPr algn="l"/>
            <a:r>
              <a:rPr sz="3600" b="1">
                <a:solidFill>
                  <a:srgbClr val="20242B"/>
                </a:solidFill>
                <a:latin typeface="Poppins"/>
              </a:rPr>
              <a:t>R499</a:t>
            </a:r>
            <a:r>
              <a:rPr sz="1600" b="0">
                <a:solidFill>
                  <a:srgbClr val="20242B"/>
                </a:solidFill>
                <a:latin typeface="Inter"/>
              </a:rPr>
              <a:t>/mo</a:t>
            </a:r>
          </a:p>
        </p:txBody>
      </p:sp>
      <p:sp>
        <p:nvSpPr>
          <p:cNvPr id="21" name="plan139|caption|"/>
          <p:cNvSpPr txBox="1"/>
          <p:nvPr/>
        </p:nvSpPr>
        <p:spPr>
          <a:xfrm>
            <a:off x="8451799" y="3017520"/>
            <a:ext cx="2871215" cy="274320"/>
          </a:xfrm>
          <a:prstGeom prst="rect">
            <a:avLst/>
          </a:prstGeom>
          <a:noFill/>
        </p:spPr>
        <p:txBody>
          <a:bodyPr wrap="square" lIns="0" rIns="0" tIns="0" bIns="0" anchor="t">
            <a:noAutofit/>
          </a:bodyPr>
          <a:lstStyle/>
          <a:p>
            <a:pPr algn="l"/>
            <a:r>
              <a:rPr sz="1300" b="0">
                <a:solidFill>
                  <a:srgbClr val="5B6670"/>
                </a:solidFill>
                <a:latin typeface="Inter"/>
              </a:rPr>
              <a:t>or R4,990/yr</a:t>
            </a:r>
          </a:p>
        </p:txBody>
      </p:sp>
      <p:sp>
        <p:nvSpPr>
          <p:cNvPr id="22" name="plan139|card|"/>
          <p:cNvSpPr txBox="1"/>
          <p:nvPr/>
        </p:nvSpPr>
        <p:spPr>
          <a:xfrm>
            <a:off x="8451799" y="3429000"/>
            <a:ext cx="2871215" cy="365760"/>
          </a:xfrm>
          <a:prstGeom prst="rect">
            <a:avLst/>
          </a:prstGeom>
          <a:noFill/>
        </p:spPr>
        <p:txBody>
          <a:bodyPr wrap="square" lIns="0" rIns="0" tIns="0" bIns="0" anchor="t">
            <a:noAutofit/>
          </a:bodyPr>
          <a:lstStyle/>
          <a:p>
            <a:pPr algn="l"/>
            <a:r>
              <a:rPr sz="1500" b="0">
                <a:solidFill>
                  <a:srgbClr val="20242B"/>
                </a:solidFill>
                <a:latin typeface="Inter"/>
              </a:rPr>
              <a:t>1 brand · 3 channels</a:t>
            </a:r>
          </a:p>
        </p:txBody>
      </p:sp>
      <p:sp>
        <p:nvSpPr>
          <p:cNvPr id="23" name="plan139|card|"/>
          <p:cNvSpPr txBox="1"/>
          <p:nvPr/>
        </p:nvSpPr>
        <p:spPr>
          <a:xfrm>
            <a:off x="8451799" y="3840480"/>
            <a:ext cx="2871215" cy="365760"/>
          </a:xfrm>
          <a:prstGeom prst="rect">
            <a:avLst/>
          </a:prstGeom>
          <a:noFill/>
        </p:spPr>
        <p:txBody>
          <a:bodyPr wrap="square" lIns="0" rIns="0" tIns="0" bIns="0" anchor="t">
            <a:noAutofit/>
          </a:bodyPr>
          <a:lstStyle/>
          <a:p>
            <a:pPr algn="l"/>
            <a:r>
              <a:rPr sz="1500" b="1">
                <a:solidFill>
                  <a:srgbClr val="C24E00"/>
                </a:solidFill>
                <a:latin typeface="Inter"/>
              </a:rPr>
              <a:t>Room to grow</a:t>
            </a:r>
          </a:p>
        </p:txBody>
      </p:sp>
      <p:sp>
        <p:nvSpPr>
          <p:cNvPr id="24" name="plan139|caption|"/>
          <p:cNvSpPr txBox="1"/>
          <p:nvPr/>
        </p:nvSpPr>
        <p:spPr>
          <a:xfrm>
            <a:off x="8451799" y="4526280"/>
            <a:ext cx="2871215" cy="731520"/>
          </a:xfrm>
          <a:prstGeom prst="rect">
            <a:avLst/>
          </a:prstGeom>
          <a:noFill/>
        </p:spPr>
        <p:txBody>
          <a:bodyPr wrap="square" lIns="0" rIns="0" tIns="0" bIns="0" anchor="t">
            <a:noAutofit/>
          </a:bodyPr>
          <a:lstStyle/>
          <a:p>
            <a:pPr algn="l">
              <a:spcAft>
                <a:spcPts val="200"/>
              </a:spcAft>
            </a:pPr>
            <a:r>
              <a:rPr sz="1100" b="1">
                <a:solidFill>
                  <a:srgbClr val="C24E00"/>
                </a:solidFill>
                <a:latin typeface="Inter"/>
              </a:rPr>
              <a:t>FOUNDING MEMBER</a:t>
            </a:r>
          </a:p>
          <a:p>
            <a:pPr algn="l"/>
            <a:r>
              <a:rPr sz="1300" b="0">
                <a:solidFill>
                  <a:srgbClr val="20242B"/>
                </a:solidFill>
                <a:latin typeface="Inter"/>
              </a:rPr>
              <a:t>R349 for your first 2 bills</a:t>
            </a:r>
          </a:p>
        </p:txBody>
      </p:sp>
      <p:sp>
        <p:nvSpPr>
          <p:cNvPr id="25" name="g140|caption|"/>
          <p:cNvSpPr txBox="1"/>
          <p:nvPr/>
        </p:nvSpPr>
        <p:spPr>
          <a:xfrm>
            <a:off x="548640" y="5669280"/>
            <a:ext cx="11094415" cy="548640"/>
          </a:xfrm>
          <a:prstGeom prst="rect">
            <a:avLst/>
          </a:prstGeom>
          <a:noFill/>
        </p:spPr>
        <p:txBody>
          <a:bodyPr wrap="square" lIns="0" rIns="0" tIns="0" bIns="0" anchor="t">
            <a:noAutofit/>
          </a:bodyPr>
          <a:lstStyle/>
          <a:p>
            <a:pPr algn="l">
              <a:spcAft>
                <a:spcPts val="200"/>
              </a:spcAft>
            </a:pPr>
            <a:r>
              <a:rPr sz="1200" b="0">
                <a:solidFill>
                  <a:srgbClr val="5B6670"/>
                </a:solidFill>
                <a:latin typeface="Inter"/>
              </a:rPr>
              <a:t>Prices in rands are what you pay. Every paid plan starts with payment; no trials. Annual = 10× monthly. AI credit allowances: see fluxmuse.ai/pricing.</a:t>
            </a:r>
          </a:p>
          <a:p>
            <a:pPr algn="l"/>
            <a:r>
              <a:rPr sz="1200" b="0">
                <a:solidFill>
                  <a:srgbClr val="5B6670"/>
                </a:solidFill>
                <a:latin typeface="Inter"/>
              </a:rPr>
              <a:t>Founding Member: 30% off your first two monthly bills on every plan, Nano to Agency, until 31 December 2026.</a:t>
            </a:r>
          </a:p>
        </p:txBody>
      </p:sp>
      <p:sp>
        <p:nvSpPr>
          <p:cNvPr id="26" name="chrome|footer|"/>
          <p:cNvSpPr txBox="1"/>
          <p:nvPr/>
        </p:nvSpPr>
        <p:spPr>
          <a:xfrm>
            <a:off x="548640" y="6437376"/>
            <a:ext cx="3657600" cy="237744"/>
          </a:xfrm>
          <a:prstGeom prst="rect">
            <a:avLst/>
          </a:prstGeom>
          <a:noFill/>
        </p:spPr>
        <p:txBody>
          <a:bodyPr wrap="square" lIns="0" rIns="0" tIns="0" bIns="0" anchor="t">
            <a:noAutofit/>
          </a:bodyPr>
          <a:lstStyle/>
          <a:p>
            <a:pPr algn="l"/>
            <a:r>
              <a:rPr sz="1000" b="0">
                <a:solidFill>
                  <a:srgbClr val="5B6670"/>
                </a:solidFill>
                <a:latin typeface="Inter"/>
              </a:rPr>
              <a:t>FluxMuse · fluxmuse.ai</a:t>
            </a:r>
          </a:p>
        </p:txBody>
      </p:sp>
      <p:sp>
        <p:nvSpPr>
          <p:cNvPr id="27" name="chrome|slidenum|"/>
          <p:cNvSpPr txBox="1"/>
          <p:nvPr/>
        </p:nvSpPr>
        <p:spPr>
          <a:xfrm>
            <a:off x="10728655" y="6437376"/>
            <a:ext cx="914400" cy="237744"/>
          </a:xfrm>
          <a:prstGeom prst="rect">
            <a:avLst/>
          </a:prstGeom>
          <a:noFill/>
        </p:spPr>
        <p:txBody>
          <a:bodyPr wrap="none" lIns="0" rIns="0" tIns="0" bIns="0">
            <a:spAutoFit/>
          </a:bodyPr>
          <a:lstStyle/>
          <a:p>
            <a:pPr algn="r"/>
            <a:fld id="{B6F15528-21DE-4FAA-801E-634DDDAF4B2B}" type="slidenum">
              <a:rPr lang="en-ZA" sz="1000">
                <a:solidFill>
                  <a:srgbClr val="5B6670"/>
                </a:solidFill>
                <a:latin typeface="Inter"/>
              </a:rPr>
              <a:t>9</a:t>
            </a:fld>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hdr141|eyebrow|"/>
          <p:cNvSpPr txBox="1"/>
          <p:nvPr/>
        </p:nvSpPr>
        <p:spPr>
          <a:xfrm>
            <a:off x="548640" y="384048"/>
            <a:ext cx="11094415" cy="237744"/>
          </a:xfrm>
          <a:prstGeom prst="rect">
            <a:avLst/>
          </a:prstGeom>
          <a:noFill/>
        </p:spPr>
        <p:txBody>
          <a:bodyPr wrap="square" lIns="0" rIns="0" tIns="0" bIns="0" anchor="t">
            <a:noAutofit/>
          </a:bodyPr>
          <a:lstStyle/>
          <a:p>
            <a:pPr algn="l"/>
            <a:r>
              <a:rPr sz="1200" b="1" spc="150">
                <a:solidFill>
                  <a:srgbClr val="C24E00"/>
                </a:solidFill>
                <a:latin typeface="Inter"/>
              </a:rPr>
              <a:t>LAUNCH OFFER · LIVE UNTIL 31 DEC 2026</a:t>
            </a:r>
          </a:p>
        </p:txBody>
      </p:sp>
      <p:sp>
        <p:nvSpPr>
          <p:cNvPr id="3" name="hdr141|title|"/>
          <p:cNvSpPr txBox="1"/>
          <p:nvPr/>
        </p:nvSpPr>
        <p:spPr>
          <a:xfrm>
            <a:off x="548640" y="640080"/>
            <a:ext cx="11094415" cy="713232"/>
          </a:xfrm>
          <a:prstGeom prst="rect">
            <a:avLst/>
          </a:prstGeom>
          <a:noFill/>
        </p:spPr>
        <p:txBody>
          <a:bodyPr wrap="square" lIns="0" rIns="0" tIns="0" bIns="0" anchor="t">
            <a:noAutofit/>
          </a:bodyPr>
          <a:lstStyle/>
          <a:p>
            <a:pPr algn="l"/>
            <a:r>
              <a:rPr sz="3200" b="1">
                <a:solidFill>
                  <a:srgbClr val="20242B"/>
                </a:solidFill>
                <a:latin typeface="Poppins"/>
              </a:rPr>
              <a:t>Become a Founding Member</a:t>
            </a:r>
          </a:p>
        </p:txBody>
      </p:sp>
      <p:pic>
        <p:nvPicPr>
          <p:cNvPr id="4" name="g142|img|infographics/founding-member-offer.png" descr="Founding Member: 30% off your first two monthly bills on every plan until 31 December 2026: Nano R104, Micro R202, Starter R349, Growth R1,399, Scale R3,499, Corporate R4,899, Agency R6,999; a discount, not a free period"/>
          <p:cNvPicPr>
            <a:picLocks noChangeAspect="1"/>
          </p:cNvPicPr>
          <p:nvPr/>
        </p:nvPicPr>
        <p:blipFill>
          <a:blip r:embed="rId2"/>
          <a:srcRect t="20000"/>
          <a:stretch>
            <a:fillRect/>
          </a:stretch>
        </p:blipFill>
        <p:spPr>
          <a:xfrm>
            <a:off x="609447" y="1389888"/>
            <a:ext cx="10972800" cy="4937760"/>
          </a:xfrm>
          <a:prstGeom prst="rect">
            <a:avLst/>
          </a:prstGeom>
        </p:spPr>
      </p:pic>
      <p:sp>
        <p:nvSpPr>
          <p:cNvPr id="5" name="chrome|footer|"/>
          <p:cNvSpPr txBox="1"/>
          <p:nvPr/>
        </p:nvSpPr>
        <p:spPr>
          <a:xfrm>
            <a:off x="548640" y="6437376"/>
            <a:ext cx="3657600" cy="237744"/>
          </a:xfrm>
          <a:prstGeom prst="rect">
            <a:avLst/>
          </a:prstGeom>
          <a:noFill/>
        </p:spPr>
        <p:txBody>
          <a:bodyPr wrap="square" lIns="0" rIns="0" tIns="0" bIns="0" anchor="t">
            <a:noAutofit/>
          </a:bodyPr>
          <a:lstStyle/>
          <a:p>
            <a:pPr algn="l"/>
            <a:r>
              <a:rPr sz="1000" b="0">
                <a:solidFill>
                  <a:srgbClr val="5B6670"/>
                </a:solidFill>
                <a:latin typeface="Inter"/>
              </a:rPr>
              <a:t>FluxMuse · fluxmuse.ai</a:t>
            </a:r>
          </a:p>
        </p:txBody>
      </p:sp>
      <p:sp>
        <p:nvSpPr>
          <p:cNvPr id="6" name="chrome|slidenum|"/>
          <p:cNvSpPr txBox="1"/>
          <p:nvPr/>
        </p:nvSpPr>
        <p:spPr>
          <a:xfrm>
            <a:off x="10728655" y="6437376"/>
            <a:ext cx="914400" cy="237744"/>
          </a:xfrm>
          <a:prstGeom prst="rect">
            <a:avLst/>
          </a:prstGeom>
          <a:noFill/>
        </p:spPr>
        <p:txBody>
          <a:bodyPr wrap="none" lIns="0" rIns="0" tIns="0" bIns="0">
            <a:spAutoFit/>
          </a:bodyPr>
          <a:lstStyle/>
          <a:p>
            <a:pPr algn="r"/>
            <a:fld id="{B6F15528-21DE-4FAA-801E-634DDDAF4B2B}" type="slidenum">
              <a:rPr lang="en-ZA" sz="1000">
                <a:solidFill>
                  <a:srgbClr val="5B6670"/>
                </a:solidFill>
                <a:latin typeface="Inter"/>
              </a:rPr>
              <a:t>10</a:t>
            </a:fld>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hdr143|eyebrow|"/>
          <p:cNvSpPr txBox="1"/>
          <p:nvPr/>
        </p:nvSpPr>
        <p:spPr>
          <a:xfrm>
            <a:off x="548640" y="384048"/>
            <a:ext cx="11094415" cy="237744"/>
          </a:xfrm>
          <a:prstGeom prst="rect">
            <a:avLst/>
          </a:prstGeom>
          <a:noFill/>
        </p:spPr>
        <p:txBody>
          <a:bodyPr wrap="square" lIns="0" rIns="0" tIns="0" bIns="0" anchor="t">
            <a:noAutofit/>
          </a:bodyPr>
          <a:lstStyle/>
          <a:p>
            <a:pPr algn="l"/>
            <a:r>
              <a:rPr sz="1200" b="1" spc="150">
                <a:solidFill>
                  <a:srgbClr val="C24E00"/>
                </a:solidFill>
                <a:latin typeface="Inter"/>
              </a:rPr>
              <a:t>TRUST &amp; COMPLIANCE</a:t>
            </a:r>
          </a:p>
        </p:txBody>
      </p:sp>
      <p:sp>
        <p:nvSpPr>
          <p:cNvPr id="3" name="hdr143|title|"/>
          <p:cNvSpPr txBox="1"/>
          <p:nvPr/>
        </p:nvSpPr>
        <p:spPr>
          <a:xfrm>
            <a:off x="548640" y="640080"/>
            <a:ext cx="11094415" cy="713232"/>
          </a:xfrm>
          <a:prstGeom prst="rect">
            <a:avLst/>
          </a:prstGeom>
          <a:noFill/>
        </p:spPr>
        <p:txBody>
          <a:bodyPr wrap="square" lIns="0" rIns="0" tIns="0" bIns="0" anchor="t">
            <a:noAutofit/>
          </a:bodyPr>
          <a:lstStyle/>
          <a:p>
            <a:pPr algn="l"/>
            <a:r>
              <a:rPr sz="3200" b="1">
                <a:solidFill>
                  <a:srgbClr val="20242B"/>
                </a:solidFill>
                <a:latin typeface="Poppins"/>
              </a:rPr>
              <a:t>Built to protect your customers' data</a:t>
            </a:r>
          </a:p>
        </p:txBody>
      </p:sp>
      <p:sp>
        <p:nvSpPr>
          <p:cNvPr id="4" name="trust144|card|"/>
          <p:cNvSpPr/>
          <p:nvPr/>
        </p:nvSpPr>
        <p:spPr>
          <a:xfrm>
            <a:off x="548640" y="1536192"/>
            <a:ext cx="3511296" cy="2212848"/>
          </a:xfrm>
          <a:prstGeom prst="roundRect">
            <a:avLst>
              <a:gd name="adj" fmla="val 7438"/>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rust144|deco|"/>
          <p:cNvSpPr/>
          <p:nvPr/>
        </p:nvSpPr>
        <p:spPr>
          <a:xfrm>
            <a:off x="813816" y="1801367"/>
            <a:ext cx="713232" cy="71323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trust144|icon|checkCircle_deep.png" descr="checkCircle_deep"/>
          <p:cNvPicPr>
            <a:picLocks noChangeAspect="1"/>
          </p:cNvPicPr>
          <p:nvPr/>
        </p:nvPicPr>
        <p:blipFill>
          <a:blip r:embed="rId2"/>
          <a:srcRect/>
          <a:stretch>
            <a:fillRect/>
          </a:stretch>
        </p:blipFill>
        <p:spPr>
          <a:xfrm>
            <a:off x="970727" y="1958279"/>
            <a:ext cx="399409" cy="399409"/>
          </a:xfrm>
          <a:prstGeom prst="rect">
            <a:avLst/>
          </a:prstGeom>
        </p:spPr>
      </p:pic>
      <p:sp>
        <p:nvSpPr>
          <p:cNvPr id="7" name="trust144|card|"/>
          <p:cNvSpPr txBox="1"/>
          <p:nvPr/>
        </p:nvSpPr>
        <p:spPr>
          <a:xfrm>
            <a:off x="841247" y="2633472"/>
            <a:ext cx="2962656" cy="457200"/>
          </a:xfrm>
          <a:prstGeom prst="rect">
            <a:avLst/>
          </a:prstGeom>
          <a:noFill/>
        </p:spPr>
        <p:txBody>
          <a:bodyPr wrap="square" lIns="0" rIns="0" tIns="0" bIns="0" anchor="t">
            <a:noAutofit/>
          </a:bodyPr>
          <a:lstStyle/>
          <a:p>
            <a:pPr algn="l"/>
            <a:r>
              <a:rPr sz="1800" b="1">
                <a:solidFill>
                  <a:srgbClr val="20242B"/>
                </a:solidFill>
                <a:latin typeface="Poppins"/>
              </a:rPr>
              <a:t>Meta Tech Provider</a:t>
            </a:r>
          </a:p>
        </p:txBody>
      </p:sp>
      <p:sp>
        <p:nvSpPr>
          <p:cNvPr id="8" name="trust144|card|"/>
          <p:cNvSpPr txBox="1"/>
          <p:nvPr/>
        </p:nvSpPr>
        <p:spPr>
          <a:xfrm>
            <a:off x="841247" y="3090672"/>
            <a:ext cx="2962656" cy="411480"/>
          </a:xfrm>
          <a:prstGeom prst="rect">
            <a:avLst/>
          </a:prstGeom>
          <a:noFill/>
        </p:spPr>
        <p:txBody>
          <a:bodyPr wrap="square" lIns="0" rIns="0" tIns="0" bIns="0" anchor="t">
            <a:noAutofit/>
          </a:bodyPr>
          <a:lstStyle/>
          <a:p>
            <a:pPr algn="l"/>
            <a:r>
              <a:rPr sz="1400" b="0">
                <a:solidFill>
                  <a:srgbClr val="5B6670"/>
                </a:solidFill>
                <a:latin typeface="Inter"/>
              </a:rPr>
              <a:t>Verified by Meta</a:t>
            </a:r>
          </a:p>
        </p:txBody>
      </p:sp>
      <p:sp>
        <p:nvSpPr>
          <p:cNvPr id="9" name="trust145|card|"/>
          <p:cNvSpPr/>
          <p:nvPr/>
        </p:nvSpPr>
        <p:spPr>
          <a:xfrm>
            <a:off x="4340199" y="1536192"/>
            <a:ext cx="3511296" cy="2212848"/>
          </a:xfrm>
          <a:prstGeom prst="roundRect">
            <a:avLst>
              <a:gd name="adj" fmla="val 7438"/>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rust145|deco|"/>
          <p:cNvSpPr/>
          <p:nvPr/>
        </p:nvSpPr>
        <p:spPr>
          <a:xfrm>
            <a:off x="4605375" y="1801367"/>
            <a:ext cx="713232" cy="71323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1" name="trust145|icon|chat_deep.png" descr="chat_deep"/>
          <p:cNvPicPr>
            <a:picLocks noChangeAspect="1"/>
          </p:cNvPicPr>
          <p:nvPr/>
        </p:nvPicPr>
        <p:blipFill>
          <a:blip r:embed="rId3"/>
          <a:srcRect/>
          <a:stretch>
            <a:fillRect/>
          </a:stretch>
        </p:blipFill>
        <p:spPr>
          <a:xfrm>
            <a:off x="4762286" y="1958279"/>
            <a:ext cx="399409" cy="399409"/>
          </a:xfrm>
          <a:prstGeom prst="rect">
            <a:avLst/>
          </a:prstGeom>
        </p:spPr>
      </p:pic>
      <p:sp>
        <p:nvSpPr>
          <p:cNvPr id="12" name="trust145|card|"/>
          <p:cNvSpPr txBox="1"/>
          <p:nvPr/>
        </p:nvSpPr>
        <p:spPr>
          <a:xfrm>
            <a:off x="4632807" y="2633472"/>
            <a:ext cx="2962656" cy="457200"/>
          </a:xfrm>
          <a:prstGeom prst="rect">
            <a:avLst/>
          </a:prstGeom>
          <a:noFill/>
        </p:spPr>
        <p:txBody>
          <a:bodyPr wrap="square" lIns="0" rIns="0" tIns="0" bIns="0" anchor="t">
            <a:noAutofit/>
          </a:bodyPr>
          <a:lstStyle/>
          <a:p>
            <a:pPr algn="l"/>
            <a:r>
              <a:rPr sz="1800" b="1">
                <a:solidFill>
                  <a:srgbClr val="20242B"/>
                </a:solidFill>
                <a:latin typeface="Poppins"/>
              </a:rPr>
              <a:t>Official WhatsApp API</a:t>
            </a:r>
          </a:p>
        </p:txBody>
      </p:sp>
      <p:sp>
        <p:nvSpPr>
          <p:cNvPr id="13" name="trust145|card|"/>
          <p:cNvSpPr txBox="1"/>
          <p:nvPr/>
        </p:nvSpPr>
        <p:spPr>
          <a:xfrm>
            <a:off x="4632807" y="3090672"/>
            <a:ext cx="2962656" cy="411480"/>
          </a:xfrm>
          <a:prstGeom prst="rect">
            <a:avLst/>
          </a:prstGeom>
          <a:noFill/>
        </p:spPr>
        <p:txBody>
          <a:bodyPr wrap="square" lIns="0" rIns="0" tIns="0" bIns="0" anchor="t">
            <a:noAutofit/>
          </a:bodyPr>
          <a:lstStyle/>
          <a:p>
            <a:pPr algn="l"/>
            <a:r>
              <a:rPr sz="1400" b="0">
                <a:solidFill>
                  <a:srgbClr val="5B6670"/>
                </a:solidFill>
                <a:latin typeface="Inter"/>
              </a:rPr>
              <a:t>Meta Cloud API</a:t>
            </a:r>
          </a:p>
        </p:txBody>
      </p:sp>
      <p:sp>
        <p:nvSpPr>
          <p:cNvPr id="14" name="trust146|card|"/>
          <p:cNvSpPr/>
          <p:nvPr/>
        </p:nvSpPr>
        <p:spPr>
          <a:xfrm>
            <a:off x="8131759" y="1536192"/>
            <a:ext cx="3511296" cy="2212848"/>
          </a:xfrm>
          <a:prstGeom prst="roundRect">
            <a:avLst>
              <a:gd name="adj" fmla="val 7438"/>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rust146|deco|"/>
          <p:cNvSpPr/>
          <p:nvPr/>
        </p:nvSpPr>
        <p:spPr>
          <a:xfrm>
            <a:off x="8396935" y="1801367"/>
            <a:ext cx="713232" cy="71323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6" name="trust146|icon|shield_deep.png" descr="shield_deep"/>
          <p:cNvPicPr>
            <a:picLocks noChangeAspect="1"/>
          </p:cNvPicPr>
          <p:nvPr/>
        </p:nvPicPr>
        <p:blipFill>
          <a:blip r:embed="rId4"/>
          <a:srcRect/>
          <a:stretch>
            <a:fillRect/>
          </a:stretch>
        </p:blipFill>
        <p:spPr>
          <a:xfrm>
            <a:off x="8553846" y="1958279"/>
            <a:ext cx="399409" cy="399409"/>
          </a:xfrm>
          <a:prstGeom prst="rect">
            <a:avLst/>
          </a:prstGeom>
        </p:spPr>
      </p:pic>
      <p:sp>
        <p:nvSpPr>
          <p:cNvPr id="17" name="trust146|card|"/>
          <p:cNvSpPr txBox="1"/>
          <p:nvPr/>
        </p:nvSpPr>
        <p:spPr>
          <a:xfrm>
            <a:off x="8424367" y="2633472"/>
            <a:ext cx="2962656" cy="457200"/>
          </a:xfrm>
          <a:prstGeom prst="rect">
            <a:avLst/>
          </a:prstGeom>
          <a:noFill/>
        </p:spPr>
        <p:txBody>
          <a:bodyPr wrap="square" lIns="0" rIns="0" tIns="0" bIns="0" anchor="t">
            <a:noAutofit/>
          </a:bodyPr>
          <a:lstStyle/>
          <a:p>
            <a:pPr algn="l"/>
            <a:r>
              <a:rPr sz="1800" b="1">
                <a:solidFill>
                  <a:srgbClr val="20242B"/>
                </a:solidFill>
                <a:latin typeface="Poppins"/>
              </a:rPr>
              <a:t>POPIA-aligned</a:t>
            </a:r>
          </a:p>
        </p:txBody>
      </p:sp>
      <p:sp>
        <p:nvSpPr>
          <p:cNvPr id="18" name="trust146|card|"/>
          <p:cNvSpPr txBox="1"/>
          <p:nvPr/>
        </p:nvSpPr>
        <p:spPr>
          <a:xfrm>
            <a:off x="8424367" y="3090672"/>
            <a:ext cx="2962656" cy="411480"/>
          </a:xfrm>
          <a:prstGeom prst="rect">
            <a:avLst/>
          </a:prstGeom>
          <a:noFill/>
        </p:spPr>
        <p:txBody>
          <a:bodyPr wrap="square" lIns="0" rIns="0" tIns="0" bIns="0" anchor="t">
            <a:noAutofit/>
          </a:bodyPr>
          <a:lstStyle/>
          <a:p>
            <a:pPr algn="l"/>
            <a:r>
              <a:rPr sz="1400" b="0">
                <a:solidFill>
                  <a:srgbClr val="5B6670"/>
                </a:solidFill>
                <a:latin typeface="Inter"/>
              </a:rPr>
              <a:t>Consented broadcasts only</a:t>
            </a:r>
          </a:p>
        </p:txBody>
      </p:sp>
      <p:sp>
        <p:nvSpPr>
          <p:cNvPr id="19" name="trust147|card|"/>
          <p:cNvSpPr/>
          <p:nvPr/>
        </p:nvSpPr>
        <p:spPr>
          <a:xfrm>
            <a:off x="548640" y="3950208"/>
            <a:ext cx="3511296" cy="2212848"/>
          </a:xfrm>
          <a:prstGeom prst="roundRect">
            <a:avLst>
              <a:gd name="adj" fmla="val 7438"/>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rust147|deco|"/>
          <p:cNvSpPr/>
          <p:nvPr/>
        </p:nvSpPr>
        <p:spPr>
          <a:xfrm>
            <a:off x="813816" y="4215384"/>
            <a:ext cx="713232" cy="71323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1" name="trust147|icon|layers_deep.png" descr="layers_deep"/>
          <p:cNvPicPr>
            <a:picLocks noChangeAspect="1"/>
          </p:cNvPicPr>
          <p:nvPr/>
        </p:nvPicPr>
        <p:blipFill>
          <a:blip r:embed="rId5"/>
          <a:srcRect/>
          <a:stretch>
            <a:fillRect/>
          </a:stretch>
        </p:blipFill>
        <p:spPr>
          <a:xfrm>
            <a:off x="970727" y="4372295"/>
            <a:ext cx="399409" cy="399409"/>
          </a:xfrm>
          <a:prstGeom prst="rect">
            <a:avLst/>
          </a:prstGeom>
        </p:spPr>
      </p:pic>
      <p:sp>
        <p:nvSpPr>
          <p:cNvPr id="22" name="trust147|card|"/>
          <p:cNvSpPr txBox="1"/>
          <p:nvPr/>
        </p:nvSpPr>
        <p:spPr>
          <a:xfrm>
            <a:off x="841247" y="5047488"/>
            <a:ext cx="2962656" cy="457200"/>
          </a:xfrm>
          <a:prstGeom prst="rect">
            <a:avLst/>
          </a:prstGeom>
          <a:noFill/>
        </p:spPr>
        <p:txBody>
          <a:bodyPr wrap="square" lIns="0" rIns="0" tIns="0" bIns="0" anchor="t">
            <a:noAutofit/>
          </a:bodyPr>
          <a:lstStyle/>
          <a:p>
            <a:pPr algn="l"/>
            <a:r>
              <a:rPr sz="1800" b="1">
                <a:solidFill>
                  <a:srgbClr val="20242B"/>
                </a:solidFill>
                <a:latin typeface="Poppins"/>
              </a:rPr>
              <a:t>Row-level security</a:t>
            </a:r>
          </a:p>
        </p:txBody>
      </p:sp>
      <p:sp>
        <p:nvSpPr>
          <p:cNvPr id="23" name="trust147|card|"/>
          <p:cNvSpPr txBox="1"/>
          <p:nvPr/>
        </p:nvSpPr>
        <p:spPr>
          <a:xfrm>
            <a:off x="841247" y="5504688"/>
            <a:ext cx="2962656" cy="411480"/>
          </a:xfrm>
          <a:prstGeom prst="rect">
            <a:avLst/>
          </a:prstGeom>
          <a:noFill/>
        </p:spPr>
        <p:txBody>
          <a:bodyPr wrap="square" lIns="0" rIns="0" tIns="0" bIns="0" anchor="t">
            <a:noAutofit/>
          </a:bodyPr>
          <a:lstStyle/>
          <a:p>
            <a:pPr algn="l"/>
            <a:r>
              <a:rPr sz="1400" b="0">
                <a:solidFill>
                  <a:srgbClr val="5B6670"/>
                </a:solidFill>
                <a:latin typeface="Inter"/>
              </a:rPr>
              <a:t>Your data kept separate</a:t>
            </a:r>
          </a:p>
        </p:txBody>
      </p:sp>
      <p:sp>
        <p:nvSpPr>
          <p:cNvPr id="24" name="trust148|card|"/>
          <p:cNvSpPr/>
          <p:nvPr/>
        </p:nvSpPr>
        <p:spPr>
          <a:xfrm>
            <a:off x="4340199" y="3950208"/>
            <a:ext cx="3511296" cy="2212848"/>
          </a:xfrm>
          <a:prstGeom prst="roundRect">
            <a:avLst>
              <a:gd name="adj" fmla="val 7438"/>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rust148|deco|"/>
          <p:cNvSpPr/>
          <p:nvPr/>
        </p:nvSpPr>
        <p:spPr>
          <a:xfrm>
            <a:off x="4605375" y="4215384"/>
            <a:ext cx="713232" cy="71323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6" name="trust148|icon|plug_deep.png" descr="plug_deep"/>
          <p:cNvPicPr>
            <a:picLocks noChangeAspect="1"/>
          </p:cNvPicPr>
          <p:nvPr/>
        </p:nvPicPr>
        <p:blipFill>
          <a:blip r:embed="rId6"/>
          <a:srcRect/>
          <a:stretch>
            <a:fillRect/>
          </a:stretch>
        </p:blipFill>
        <p:spPr>
          <a:xfrm>
            <a:off x="4762286" y="4372295"/>
            <a:ext cx="399409" cy="399409"/>
          </a:xfrm>
          <a:prstGeom prst="rect">
            <a:avLst/>
          </a:prstGeom>
        </p:spPr>
      </p:pic>
      <p:sp>
        <p:nvSpPr>
          <p:cNvPr id="27" name="trust148|card|"/>
          <p:cNvSpPr txBox="1"/>
          <p:nvPr/>
        </p:nvSpPr>
        <p:spPr>
          <a:xfrm>
            <a:off x="4632807" y="5047488"/>
            <a:ext cx="2962656" cy="457200"/>
          </a:xfrm>
          <a:prstGeom prst="rect">
            <a:avLst/>
          </a:prstGeom>
          <a:noFill/>
        </p:spPr>
        <p:txBody>
          <a:bodyPr wrap="square" lIns="0" rIns="0" tIns="0" bIns="0" anchor="t">
            <a:noAutofit/>
          </a:bodyPr>
          <a:lstStyle/>
          <a:p>
            <a:pPr algn="l"/>
            <a:r>
              <a:rPr sz="1800" b="1">
                <a:solidFill>
                  <a:srgbClr val="20242B"/>
                </a:solidFill>
                <a:latin typeface="Poppins"/>
              </a:rPr>
              <a:t>Encrypted tokens</a:t>
            </a:r>
          </a:p>
        </p:txBody>
      </p:sp>
      <p:sp>
        <p:nvSpPr>
          <p:cNvPr id="28" name="trust148|card|"/>
          <p:cNvSpPr txBox="1"/>
          <p:nvPr/>
        </p:nvSpPr>
        <p:spPr>
          <a:xfrm>
            <a:off x="4632807" y="5504688"/>
            <a:ext cx="2962656" cy="411480"/>
          </a:xfrm>
          <a:prstGeom prst="rect">
            <a:avLst/>
          </a:prstGeom>
          <a:noFill/>
        </p:spPr>
        <p:txBody>
          <a:bodyPr wrap="square" lIns="0" rIns="0" tIns="0" bIns="0" anchor="t">
            <a:noAutofit/>
          </a:bodyPr>
          <a:lstStyle/>
          <a:p>
            <a:pPr algn="l"/>
            <a:r>
              <a:rPr sz="1400" b="0">
                <a:solidFill>
                  <a:srgbClr val="5B6670"/>
                </a:solidFill>
                <a:latin typeface="Inter"/>
              </a:rPr>
              <a:t>Connected accounts</a:t>
            </a:r>
          </a:p>
        </p:txBody>
      </p:sp>
      <p:sp>
        <p:nvSpPr>
          <p:cNvPr id="29" name="trust149|card|"/>
          <p:cNvSpPr/>
          <p:nvPr/>
        </p:nvSpPr>
        <p:spPr>
          <a:xfrm>
            <a:off x="8131759" y="3950208"/>
            <a:ext cx="3511296" cy="2212848"/>
          </a:xfrm>
          <a:prstGeom prst="roundRect">
            <a:avLst>
              <a:gd name="adj" fmla="val 7438"/>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rust149|deco|"/>
          <p:cNvSpPr/>
          <p:nvPr/>
        </p:nvSpPr>
        <p:spPr>
          <a:xfrm>
            <a:off x="8396935" y="4215384"/>
            <a:ext cx="713232" cy="71323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1" name="trust149|icon|refresh_deep.png" descr="refresh_deep"/>
          <p:cNvPicPr>
            <a:picLocks noChangeAspect="1"/>
          </p:cNvPicPr>
          <p:nvPr/>
        </p:nvPicPr>
        <p:blipFill>
          <a:blip r:embed="rId7"/>
          <a:srcRect/>
          <a:stretch>
            <a:fillRect/>
          </a:stretch>
        </p:blipFill>
        <p:spPr>
          <a:xfrm>
            <a:off x="8553846" y="4372295"/>
            <a:ext cx="399409" cy="399409"/>
          </a:xfrm>
          <a:prstGeom prst="rect">
            <a:avLst/>
          </a:prstGeom>
        </p:spPr>
      </p:pic>
      <p:sp>
        <p:nvSpPr>
          <p:cNvPr id="32" name="trust149|card|"/>
          <p:cNvSpPr txBox="1"/>
          <p:nvPr/>
        </p:nvSpPr>
        <p:spPr>
          <a:xfrm>
            <a:off x="8424367" y="5047488"/>
            <a:ext cx="2962656" cy="457200"/>
          </a:xfrm>
          <a:prstGeom prst="rect">
            <a:avLst/>
          </a:prstGeom>
          <a:noFill/>
        </p:spPr>
        <p:txBody>
          <a:bodyPr wrap="square" lIns="0" rIns="0" tIns="0" bIns="0" anchor="t">
            <a:noAutofit/>
          </a:bodyPr>
          <a:lstStyle/>
          <a:p>
            <a:pPr algn="l"/>
            <a:r>
              <a:rPr sz="1800" b="1">
                <a:solidFill>
                  <a:srgbClr val="20242B"/>
                </a:solidFill>
                <a:latin typeface="Poppins"/>
              </a:rPr>
              <a:t>Data export &amp; deletion</a:t>
            </a:r>
          </a:p>
        </p:txBody>
      </p:sp>
      <p:sp>
        <p:nvSpPr>
          <p:cNvPr id="33" name="trust149|card|"/>
          <p:cNvSpPr txBox="1"/>
          <p:nvPr/>
        </p:nvSpPr>
        <p:spPr>
          <a:xfrm>
            <a:off x="8424367" y="5504688"/>
            <a:ext cx="2962656" cy="411480"/>
          </a:xfrm>
          <a:prstGeom prst="rect">
            <a:avLst/>
          </a:prstGeom>
          <a:noFill/>
        </p:spPr>
        <p:txBody>
          <a:bodyPr wrap="square" lIns="0" rIns="0" tIns="0" bIns="0" anchor="t">
            <a:noAutofit/>
          </a:bodyPr>
          <a:lstStyle/>
          <a:p>
            <a:pPr algn="l"/>
            <a:r>
              <a:rPr sz="1400" b="0">
                <a:solidFill>
                  <a:srgbClr val="5B6670"/>
                </a:solidFill>
                <a:latin typeface="Inter"/>
              </a:rPr>
              <a:t>Export data, delete account</a:t>
            </a:r>
          </a:p>
        </p:txBody>
      </p:sp>
      <p:sp>
        <p:nvSpPr>
          <p:cNvPr id="34" name="chrome|footer|"/>
          <p:cNvSpPr txBox="1"/>
          <p:nvPr/>
        </p:nvSpPr>
        <p:spPr>
          <a:xfrm>
            <a:off x="548640" y="6437376"/>
            <a:ext cx="3657600" cy="237744"/>
          </a:xfrm>
          <a:prstGeom prst="rect">
            <a:avLst/>
          </a:prstGeom>
          <a:noFill/>
        </p:spPr>
        <p:txBody>
          <a:bodyPr wrap="square" lIns="0" rIns="0" tIns="0" bIns="0" anchor="t">
            <a:noAutofit/>
          </a:bodyPr>
          <a:lstStyle/>
          <a:p>
            <a:pPr algn="l"/>
            <a:r>
              <a:rPr sz="1000" b="0">
                <a:solidFill>
                  <a:srgbClr val="5B6670"/>
                </a:solidFill>
                <a:latin typeface="Inter"/>
              </a:rPr>
              <a:t>FluxMuse · fluxmuse.ai</a:t>
            </a:r>
          </a:p>
        </p:txBody>
      </p:sp>
      <p:sp>
        <p:nvSpPr>
          <p:cNvPr id="35" name="chrome|slidenum|"/>
          <p:cNvSpPr txBox="1"/>
          <p:nvPr/>
        </p:nvSpPr>
        <p:spPr>
          <a:xfrm>
            <a:off x="10728655" y="6437376"/>
            <a:ext cx="914400" cy="237744"/>
          </a:xfrm>
          <a:prstGeom prst="rect">
            <a:avLst/>
          </a:prstGeom>
          <a:noFill/>
        </p:spPr>
        <p:txBody>
          <a:bodyPr wrap="none" lIns="0" rIns="0" tIns="0" bIns="0">
            <a:spAutoFit/>
          </a:bodyPr>
          <a:lstStyle/>
          <a:p>
            <a:pPr algn="r"/>
            <a:fld id="{B6F15528-21DE-4FAA-801E-634DDDAF4B2B}" type="slidenum">
              <a:rPr lang="en-ZA" sz="1000">
                <a:solidFill>
                  <a:srgbClr val="5B6670"/>
                </a:solidFill>
                <a:latin typeface="Inter"/>
              </a:rPr>
              <a:t>11</a:t>
            </a:fld>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419"/>
        </a:solidFill>
        <a:effectLst/>
      </p:bgPr>
    </p:bg>
    <p:spTree>
      <p:nvGrpSpPr>
        <p:cNvPr id="1" name=""/>
        <p:cNvGrpSpPr/>
        <p:nvPr/>
      </p:nvGrpSpPr>
      <p:grpSpPr/>
      <p:sp>
        <p:nvSpPr>
          <p:cNvPr id="2" name="hdr150|eyebrow|"/>
          <p:cNvSpPr txBox="1"/>
          <p:nvPr/>
        </p:nvSpPr>
        <p:spPr>
          <a:xfrm>
            <a:off x="548640" y="731520"/>
            <a:ext cx="11094415" cy="274320"/>
          </a:xfrm>
          <a:prstGeom prst="rect">
            <a:avLst/>
          </a:prstGeom>
          <a:noFill/>
        </p:spPr>
        <p:txBody>
          <a:bodyPr wrap="square" lIns="0" rIns="0" tIns="0" bIns="0" anchor="t">
            <a:noAutofit/>
          </a:bodyPr>
          <a:lstStyle/>
          <a:p>
            <a:pPr algn="l"/>
            <a:r>
              <a:rPr sz="1200" b="1" spc="150">
                <a:solidFill>
                  <a:srgbClr val="FF6A00"/>
                </a:solidFill>
                <a:latin typeface="Inter"/>
              </a:rPr>
              <a:t>NEXT STEPS</a:t>
            </a:r>
          </a:p>
        </p:txBody>
      </p:sp>
      <p:sp>
        <p:nvSpPr>
          <p:cNvPr id="3" name="hdr150|title|"/>
          <p:cNvSpPr txBox="1"/>
          <p:nvPr/>
        </p:nvSpPr>
        <p:spPr>
          <a:xfrm>
            <a:off x="548640" y="1005840"/>
            <a:ext cx="11094415" cy="731520"/>
          </a:xfrm>
          <a:prstGeom prst="rect">
            <a:avLst/>
          </a:prstGeom>
          <a:noFill/>
        </p:spPr>
        <p:txBody>
          <a:bodyPr wrap="square" lIns="0" rIns="0" tIns="0" bIns="0" anchor="t">
            <a:noAutofit/>
          </a:bodyPr>
          <a:lstStyle/>
          <a:p>
            <a:pPr algn="l"/>
            <a:r>
              <a:rPr sz="3600" b="1">
                <a:solidFill>
                  <a:srgbClr val="FFFFFF"/>
                </a:solidFill>
                <a:latin typeface="Poppins"/>
              </a:rPr>
              <a:t>Let's get you selling on WhatsApp</a:t>
            </a:r>
          </a:p>
        </p:txBody>
      </p:sp>
      <p:sp>
        <p:nvSpPr>
          <p:cNvPr id="4" name="cta151|card|"/>
          <p:cNvSpPr/>
          <p:nvPr/>
        </p:nvSpPr>
        <p:spPr>
          <a:xfrm>
            <a:off x="548640" y="2057400"/>
            <a:ext cx="6903720" cy="1115568"/>
          </a:xfrm>
          <a:prstGeom prst="roundRect">
            <a:avLst>
              <a:gd name="adj" fmla="val 14754"/>
            </a:avLst>
          </a:prstGeom>
          <a:solidFill>
            <a:srgbClr val="1B23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cta151|deco|"/>
          <p:cNvSpPr/>
          <p:nvPr/>
        </p:nvSpPr>
        <p:spPr>
          <a:xfrm>
            <a:off x="841247" y="2331720"/>
            <a:ext cx="566928" cy="566928"/>
          </a:xfrm>
          <a:prstGeom prst="ellipse">
            <a:avLst/>
          </a:prstGeom>
          <a:solidFill>
            <a:srgbClr val="FF6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cta151|card|"/>
          <p:cNvSpPr txBox="1"/>
          <p:nvPr/>
        </p:nvSpPr>
        <p:spPr>
          <a:xfrm>
            <a:off x="841247" y="2331720"/>
            <a:ext cx="566928" cy="566928"/>
          </a:xfrm>
          <a:prstGeom prst="rect">
            <a:avLst/>
          </a:prstGeom>
          <a:noFill/>
        </p:spPr>
        <p:txBody>
          <a:bodyPr wrap="square" lIns="0" rIns="0" tIns="0" bIns="0" anchor="ctr">
            <a:noAutofit/>
          </a:bodyPr>
          <a:lstStyle/>
          <a:p>
            <a:pPr algn="ctr"/>
            <a:r>
              <a:rPr sz="2000" b="1">
                <a:solidFill>
                  <a:srgbClr val="0F1419"/>
                </a:solidFill>
                <a:latin typeface="Poppins"/>
              </a:rPr>
              <a:t>1</a:t>
            </a:r>
          </a:p>
        </p:txBody>
      </p:sp>
      <p:sp>
        <p:nvSpPr>
          <p:cNvPr id="7" name="cta151|card|"/>
          <p:cNvSpPr txBox="1"/>
          <p:nvPr/>
        </p:nvSpPr>
        <p:spPr>
          <a:xfrm>
            <a:off x="1645919" y="2240280"/>
            <a:ext cx="5623560" cy="411480"/>
          </a:xfrm>
          <a:prstGeom prst="rect">
            <a:avLst/>
          </a:prstGeom>
          <a:noFill/>
        </p:spPr>
        <p:txBody>
          <a:bodyPr wrap="square" lIns="0" rIns="0" tIns="0" bIns="0" anchor="t">
            <a:noAutofit/>
          </a:bodyPr>
          <a:lstStyle/>
          <a:p>
            <a:pPr algn="l"/>
            <a:r>
              <a:rPr sz="2000" b="1">
                <a:solidFill>
                  <a:srgbClr val="FFFFFF"/>
                </a:solidFill>
                <a:latin typeface="Poppins"/>
              </a:rPr>
              <a:t>Book a 20-minute call</a:t>
            </a:r>
          </a:p>
        </p:txBody>
      </p:sp>
      <p:sp>
        <p:nvSpPr>
          <p:cNvPr id="8" name="cta151|card|"/>
          <p:cNvSpPr txBox="1"/>
          <p:nvPr/>
        </p:nvSpPr>
        <p:spPr>
          <a:xfrm>
            <a:off x="1645919" y="2697480"/>
            <a:ext cx="5623560" cy="347472"/>
          </a:xfrm>
          <a:prstGeom prst="rect">
            <a:avLst/>
          </a:prstGeom>
          <a:noFill/>
        </p:spPr>
        <p:txBody>
          <a:bodyPr wrap="square" lIns="0" rIns="0" tIns="0" bIns="0" anchor="t">
            <a:noAutofit/>
          </a:bodyPr>
          <a:lstStyle/>
          <a:p>
            <a:pPr algn="l"/>
            <a:r>
              <a:rPr sz="1500" b="0">
                <a:solidFill>
                  <a:srgbClr val="A7B0B8"/>
                </a:solidFill>
                <a:latin typeface="Inter"/>
              </a:rPr>
              <a:t>Goals, products, customers.</a:t>
            </a:r>
          </a:p>
        </p:txBody>
      </p:sp>
      <p:sp>
        <p:nvSpPr>
          <p:cNvPr id="9" name="cta152|card|"/>
          <p:cNvSpPr/>
          <p:nvPr/>
        </p:nvSpPr>
        <p:spPr>
          <a:xfrm>
            <a:off x="548640" y="3355848"/>
            <a:ext cx="6903720" cy="1115568"/>
          </a:xfrm>
          <a:prstGeom prst="roundRect">
            <a:avLst>
              <a:gd name="adj" fmla="val 14754"/>
            </a:avLst>
          </a:prstGeom>
          <a:solidFill>
            <a:srgbClr val="1B23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cta152|deco|"/>
          <p:cNvSpPr/>
          <p:nvPr/>
        </p:nvSpPr>
        <p:spPr>
          <a:xfrm>
            <a:off x="841247" y="3630168"/>
            <a:ext cx="566928" cy="566928"/>
          </a:xfrm>
          <a:prstGeom prst="ellipse">
            <a:avLst/>
          </a:prstGeom>
          <a:solidFill>
            <a:srgbClr val="FF6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cta152|card|"/>
          <p:cNvSpPr txBox="1"/>
          <p:nvPr/>
        </p:nvSpPr>
        <p:spPr>
          <a:xfrm>
            <a:off x="841247" y="3630168"/>
            <a:ext cx="566928" cy="566928"/>
          </a:xfrm>
          <a:prstGeom prst="rect">
            <a:avLst/>
          </a:prstGeom>
          <a:noFill/>
        </p:spPr>
        <p:txBody>
          <a:bodyPr wrap="square" lIns="0" rIns="0" tIns="0" bIns="0" anchor="ctr">
            <a:noAutofit/>
          </a:bodyPr>
          <a:lstStyle/>
          <a:p>
            <a:pPr algn="ctr"/>
            <a:r>
              <a:rPr sz="2000" b="1">
                <a:solidFill>
                  <a:srgbClr val="0F1419"/>
                </a:solidFill>
                <a:latin typeface="Poppins"/>
              </a:rPr>
              <a:t>2</a:t>
            </a:r>
          </a:p>
        </p:txBody>
      </p:sp>
      <p:sp>
        <p:nvSpPr>
          <p:cNvPr id="12" name="cta152|card|"/>
          <p:cNvSpPr txBox="1"/>
          <p:nvPr/>
        </p:nvSpPr>
        <p:spPr>
          <a:xfrm>
            <a:off x="1645919" y="3538728"/>
            <a:ext cx="5623560" cy="411480"/>
          </a:xfrm>
          <a:prstGeom prst="rect">
            <a:avLst/>
          </a:prstGeom>
          <a:noFill/>
        </p:spPr>
        <p:txBody>
          <a:bodyPr wrap="square" lIns="0" rIns="0" tIns="0" bIns="0" anchor="t">
            <a:noAutofit/>
          </a:bodyPr>
          <a:lstStyle/>
          <a:p>
            <a:pPr algn="l"/>
            <a:r>
              <a:rPr sz="2000" b="1">
                <a:solidFill>
                  <a:srgbClr val="FFFFFF"/>
                </a:solidFill>
                <a:latin typeface="Poppins"/>
              </a:rPr>
              <a:t>See a demo on your products</a:t>
            </a:r>
          </a:p>
        </p:txBody>
      </p:sp>
      <p:sp>
        <p:nvSpPr>
          <p:cNvPr id="13" name="cta152|card|"/>
          <p:cNvSpPr txBox="1"/>
          <p:nvPr/>
        </p:nvSpPr>
        <p:spPr>
          <a:xfrm>
            <a:off x="1645919" y="3995928"/>
            <a:ext cx="5623560" cy="347472"/>
          </a:xfrm>
          <a:prstGeom prst="rect">
            <a:avLst/>
          </a:prstGeom>
          <a:noFill/>
        </p:spPr>
        <p:txBody>
          <a:bodyPr wrap="square" lIns="0" rIns="0" tIns="0" bIns="0" anchor="t">
            <a:noAutofit/>
          </a:bodyPr>
          <a:lstStyle/>
          <a:p>
            <a:pPr algn="l"/>
            <a:r>
              <a:rPr sz="1500" b="0">
                <a:solidFill>
                  <a:srgbClr val="A7B0B8"/>
                </a:solidFill>
                <a:latin typeface="Inter"/>
              </a:rPr>
              <a:t>Built from your own photos.</a:t>
            </a:r>
          </a:p>
        </p:txBody>
      </p:sp>
      <p:sp>
        <p:nvSpPr>
          <p:cNvPr id="14" name="cta153|card|"/>
          <p:cNvSpPr/>
          <p:nvPr/>
        </p:nvSpPr>
        <p:spPr>
          <a:xfrm>
            <a:off x="548640" y="4654296"/>
            <a:ext cx="6903720" cy="1115568"/>
          </a:xfrm>
          <a:prstGeom prst="roundRect">
            <a:avLst>
              <a:gd name="adj" fmla="val 14754"/>
            </a:avLst>
          </a:prstGeom>
          <a:solidFill>
            <a:srgbClr val="1B23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cta153|deco|"/>
          <p:cNvSpPr/>
          <p:nvPr/>
        </p:nvSpPr>
        <p:spPr>
          <a:xfrm>
            <a:off x="841247" y="4928616"/>
            <a:ext cx="566928" cy="566928"/>
          </a:xfrm>
          <a:prstGeom prst="ellipse">
            <a:avLst/>
          </a:prstGeom>
          <a:solidFill>
            <a:srgbClr val="FF6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cta153|card|"/>
          <p:cNvSpPr txBox="1"/>
          <p:nvPr/>
        </p:nvSpPr>
        <p:spPr>
          <a:xfrm>
            <a:off x="841247" y="4928616"/>
            <a:ext cx="566928" cy="566928"/>
          </a:xfrm>
          <a:prstGeom prst="rect">
            <a:avLst/>
          </a:prstGeom>
          <a:noFill/>
        </p:spPr>
        <p:txBody>
          <a:bodyPr wrap="square" lIns="0" rIns="0" tIns="0" bIns="0" anchor="ctr">
            <a:noAutofit/>
          </a:bodyPr>
          <a:lstStyle/>
          <a:p>
            <a:pPr algn="ctr"/>
            <a:r>
              <a:rPr sz="2000" b="1">
                <a:solidFill>
                  <a:srgbClr val="0F1419"/>
                </a:solidFill>
                <a:latin typeface="Poppins"/>
              </a:rPr>
              <a:t>3</a:t>
            </a:r>
          </a:p>
        </p:txBody>
      </p:sp>
      <p:sp>
        <p:nvSpPr>
          <p:cNvPr id="17" name="cta153|card|"/>
          <p:cNvSpPr txBox="1"/>
          <p:nvPr/>
        </p:nvSpPr>
        <p:spPr>
          <a:xfrm>
            <a:off x="1645919" y="4837176"/>
            <a:ext cx="5623560" cy="411480"/>
          </a:xfrm>
          <a:prstGeom prst="rect">
            <a:avLst/>
          </a:prstGeom>
          <a:noFill/>
        </p:spPr>
        <p:txBody>
          <a:bodyPr wrap="square" lIns="0" rIns="0" tIns="0" bIns="0" anchor="t">
            <a:noAutofit/>
          </a:bodyPr>
          <a:lstStyle/>
          <a:p>
            <a:pPr algn="l"/>
            <a:r>
              <a:rPr sz="2000" b="1">
                <a:solidFill>
                  <a:srgbClr val="FFFFFF"/>
                </a:solidFill>
                <a:latin typeface="Poppins"/>
              </a:rPr>
              <a:t>Join as a Founding Member</a:t>
            </a:r>
          </a:p>
        </p:txBody>
      </p:sp>
      <p:sp>
        <p:nvSpPr>
          <p:cNvPr id="18" name="cta153|card|"/>
          <p:cNvSpPr txBox="1"/>
          <p:nvPr/>
        </p:nvSpPr>
        <p:spPr>
          <a:xfrm>
            <a:off x="1645919" y="5294376"/>
            <a:ext cx="5623560" cy="347472"/>
          </a:xfrm>
          <a:prstGeom prst="rect">
            <a:avLst/>
          </a:prstGeom>
          <a:noFill/>
        </p:spPr>
        <p:txBody>
          <a:bodyPr wrap="square" lIns="0" rIns="0" tIns="0" bIns="0" anchor="t">
            <a:noAutofit/>
          </a:bodyPr>
          <a:lstStyle/>
          <a:p>
            <a:pPr algn="l"/>
            <a:r>
              <a:rPr sz="1500" b="0">
                <a:solidFill>
                  <a:srgbClr val="A7B0B8"/>
                </a:solidFill>
                <a:latin typeface="Inter"/>
              </a:rPr>
              <a:t>First 2 Nano bills at R104.</a:t>
            </a:r>
          </a:p>
        </p:txBody>
      </p:sp>
      <p:sp>
        <p:nvSpPr>
          <p:cNvPr id="19" name="contact154|card|"/>
          <p:cNvSpPr/>
          <p:nvPr/>
        </p:nvSpPr>
        <p:spPr>
          <a:xfrm>
            <a:off x="7772400" y="2057400"/>
            <a:ext cx="3867912" cy="3712463"/>
          </a:xfrm>
          <a:prstGeom prst="roundRect">
            <a:avLst>
              <a:gd name="adj" fmla="val 4433"/>
            </a:avLst>
          </a:prstGeom>
          <a:solidFill>
            <a:srgbClr val="1B23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contact154|eyebrow|"/>
          <p:cNvSpPr txBox="1"/>
          <p:nvPr/>
        </p:nvSpPr>
        <p:spPr>
          <a:xfrm>
            <a:off x="8092440" y="2286000"/>
            <a:ext cx="3291840" cy="274320"/>
          </a:xfrm>
          <a:prstGeom prst="rect">
            <a:avLst/>
          </a:prstGeom>
          <a:noFill/>
        </p:spPr>
        <p:txBody>
          <a:bodyPr wrap="square" lIns="0" rIns="0" tIns="0" bIns="0" anchor="t">
            <a:noAutofit/>
          </a:bodyPr>
          <a:lstStyle/>
          <a:p>
            <a:pPr algn="l"/>
            <a:r>
              <a:rPr sz="1200" b="1" spc="150">
                <a:solidFill>
                  <a:srgbClr val="FF6A00"/>
                </a:solidFill>
                <a:latin typeface="Inter"/>
              </a:rPr>
              <a:t>TALK TO US</a:t>
            </a:r>
          </a:p>
        </p:txBody>
      </p:sp>
      <p:sp>
        <p:nvSpPr>
          <p:cNvPr id="21" name="contact154|body|"/>
          <p:cNvSpPr txBox="1"/>
          <p:nvPr/>
        </p:nvSpPr>
        <p:spPr>
          <a:xfrm>
            <a:off x="8092440" y="2606040"/>
            <a:ext cx="3291840" cy="1280160"/>
          </a:xfrm>
          <a:prstGeom prst="rect">
            <a:avLst/>
          </a:prstGeom>
          <a:noFill/>
        </p:spPr>
        <p:txBody>
          <a:bodyPr wrap="square" lIns="0" rIns="0" tIns="0" bIns="0" anchor="t">
            <a:noAutofit/>
          </a:bodyPr>
          <a:lstStyle/>
          <a:p>
            <a:pPr algn="l">
              <a:spcAft>
                <a:spcPts val="200"/>
              </a:spcAft>
            </a:pPr>
            <a:r>
              <a:rPr sz="1500" b="1">
                <a:solidFill>
                  <a:srgbClr val="FFFFFF"/>
                </a:solidFill>
                <a:latin typeface="Inter"/>
              </a:rPr>
              <a:t>Thabo Malebadi</a:t>
            </a:r>
          </a:p>
          <a:p>
            <a:pPr algn="l">
              <a:spcAft>
                <a:spcPts val="400"/>
              </a:spcAft>
            </a:pPr>
            <a:r>
              <a:rPr sz="1500" b="0">
                <a:solidFill>
                  <a:srgbClr val="D5DADF"/>
                </a:solidFill>
                <a:latin typeface="Inter"/>
              </a:rPr>
              <a:t>Founder</a:t>
            </a:r>
          </a:p>
          <a:p>
            <a:pPr algn="l">
              <a:spcAft>
                <a:spcPts val="400"/>
              </a:spcAft>
            </a:pPr>
            <a:r>
              <a:rPr sz="1500" b="0">
                <a:solidFill>
                  <a:srgbClr val="D5DADF"/>
                </a:solidFill>
                <a:latin typeface="Inter"/>
              </a:rPr>
              <a:t>thabo@fluxmuse.com</a:t>
            </a:r>
          </a:p>
          <a:p>
            <a:pPr algn="l"/>
            <a:r>
              <a:rPr sz="1500" b="0">
                <a:solidFill>
                  <a:srgbClr val="D5DADF"/>
                </a:solidFill>
                <a:latin typeface="Inter"/>
              </a:rPr>
              <a:t>fluxmuse.ai</a:t>
            </a:r>
          </a:p>
        </p:txBody>
      </p:sp>
      <p:sp>
        <p:nvSpPr>
          <p:cNvPr id="22" name="contact154|deco|"/>
          <p:cNvSpPr/>
          <p:nvPr/>
        </p:nvSpPr>
        <p:spPr>
          <a:xfrm>
            <a:off x="8092440" y="4023360"/>
            <a:ext cx="1371600" cy="1371600"/>
          </a:xfrm>
          <a:prstGeom prst="roundRect">
            <a:avLst>
              <a:gd name="adj" fmla="val 6666"/>
            </a:avLst>
          </a:prstGeom>
          <a:noFill/>
          <a:ln w="15875">
            <a:solidFill>
              <a:srgbClr val="A7B0B8"/>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contact154|caption|"/>
          <p:cNvSpPr txBox="1"/>
          <p:nvPr/>
        </p:nvSpPr>
        <p:spPr>
          <a:xfrm>
            <a:off x="8092440" y="4023360"/>
            <a:ext cx="1371600" cy="1371600"/>
          </a:xfrm>
          <a:prstGeom prst="rect">
            <a:avLst/>
          </a:prstGeom>
          <a:noFill/>
        </p:spPr>
        <p:txBody>
          <a:bodyPr wrap="square" lIns="0" rIns="0" tIns="0" bIns="0" anchor="ctr">
            <a:noAutofit/>
          </a:bodyPr>
          <a:lstStyle/>
          <a:p>
            <a:pPr algn="ctr"/>
            <a:r>
              <a:rPr sz="1100" b="0">
                <a:solidFill>
                  <a:srgbClr val="A7B0B8"/>
                </a:solidFill>
                <a:latin typeface="Inter"/>
              </a:rPr>
              <a:t>[[wa.me QR CODE]]</a:t>
            </a:r>
          </a:p>
        </p:txBody>
      </p:sp>
      <p:sp>
        <p:nvSpPr>
          <p:cNvPr id="24" name="contact154|placeholder|"/>
          <p:cNvSpPr txBox="1"/>
          <p:nvPr/>
        </p:nvSpPr>
        <p:spPr>
          <a:xfrm>
            <a:off x="9646920" y="4114800"/>
            <a:ext cx="1828800" cy="1280160"/>
          </a:xfrm>
          <a:prstGeom prst="rect">
            <a:avLst/>
          </a:prstGeom>
          <a:noFill/>
        </p:spPr>
        <p:txBody>
          <a:bodyPr wrap="square" lIns="0" rIns="0" tIns="0" bIns="0" anchor="t">
            <a:noAutofit/>
          </a:bodyPr>
          <a:lstStyle/>
          <a:p>
            <a:pPr algn="l">
              <a:spcAft>
                <a:spcPts val="600"/>
              </a:spcAft>
            </a:pPr>
            <a:r>
              <a:rPr sz="1400" b="0">
                <a:solidFill>
                  <a:srgbClr val="A7B0B8"/>
                </a:solidFill>
                <a:latin typeface="Inter"/>
              </a:rPr>
              <a:t>Scan to chat on WhatsApp</a:t>
            </a:r>
          </a:p>
          <a:p>
            <a:pPr algn="l"/>
            <a:r>
              <a:rPr sz="1400" b="1">
                <a:solidFill>
                  <a:srgbClr val="FFFFFF"/>
                </a:solidFill>
                <a:latin typeface="Inter"/>
              </a:rPr>
              <a:t>wa.me/</a:t>
            </a:r>
          </a:p>
          <a:p>
            <a:pPr algn="l"/>
            <a:r>
              <a:rPr sz="1400" b="1">
                <a:solidFill>
                  <a:srgbClr val="FFFFFF"/>
                </a:solidFill>
                <a:latin typeface="Inter"/>
              </a:rPr>
              <a:t>[[NUMBER]]</a:t>
            </a:r>
          </a:p>
        </p:txBody>
      </p:sp>
      <p:sp>
        <p:nvSpPr>
          <p:cNvPr id="25" name="chrome|footer|"/>
          <p:cNvSpPr txBox="1"/>
          <p:nvPr/>
        </p:nvSpPr>
        <p:spPr>
          <a:xfrm>
            <a:off x="548640" y="6437376"/>
            <a:ext cx="3657600" cy="237744"/>
          </a:xfrm>
          <a:prstGeom prst="rect">
            <a:avLst/>
          </a:prstGeom>
          <a:noFill/>
        </p:spPr>
        <p:txBody>
          <a:bodyPr wrap="square" lIns="0" rIns="0" tIns="0" bIns="0" anchor="t">
            <a:noAutofit/>
          </a:bodyPr>
          <a:lstStyle/>
          <a:p>
            <a:pPr algn="l"/>
            <a:r>
              <a:rPr sz="1000" b="0">
                <a:solidFill>
                  <a:srgbClr val="A7B0B8"/>
                </a:solidFill>
                <a:latin typeface="Inter"/>
              </a:rPr>
              <a:t>FluxMuse · fluxmuse.ai</a:t>
            </a:r>
          </a:p>
        </p:txBody>
      </p:sp>
      <p:sp>
        <p:nvSpPr>
          <p:cNvPr id="26" name="chrome|slidenum|"/>
          <p:cNvSpPr txBox="1"/>
          <p:nvPr/>
        </p:nvSpPr>
        <p:spPr>
          <a:xfrm>
            <a:off x="10728655" y="6437376"/>
            <a:ext cx="914400" cy="237744"/>
          </a:xfrm>
          <a:prstGeom prst="rect">
            <a:avLst/>
          </a:prstGeom>
          <a:noFill/>
        </p:spPr>
        <p:txBody>
          <a:bodyPr wrap="none" lIns="0" rIns="0" tIns="0" bIns="0">
            <a:spAutoFit/>
          </a:bodyPr>
          <a:lstStyle/>
          <a:p>
            <a:pPr algn="r"/>
            <a:fld id="{B6F15528-21DE-4FAA-801E-634DDDAF4B2B}" type="slidenum">
              <a:rPr lang="en-ZA" sz="1000">
                <a:solidFill>
                  <a:srgbClr val="A7B0B8"/>
                </a:solidFill>
                <a:latin typeface="Inter"/>
              </a:rPr>
              <a:t>12</a:t>
            </a:fld>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hdr155|eyebrow|"/>
          <p:cNvSpPr txBox="1"/>
          <p:nvPr/>
        </p:nvSpPr>
        <p:spPr>
          <a:xfrm>
            <a:off x="548640" y="384048"/>
            <a:ext cx="11094415" cy="237744"/>
          </a:xfrm>
          <a:prstGeom prst="rect">
            <a:avLst/>
          </a:prstGeom>
          <a:noFill/>
        </p:spPr>
        <p:txBody>
          <a:bodyPr wrap="square" lIns="0" rIns="0" tIns="0" bIns="0" anchor="t">
            <a:noAutofit/>
          </a:bodyPr>
          <a:lstStyle/>
          <a:p>
            <a:pPr algn="l"/>
            <a:r>
              <a:rPr sz="1200" b="1" spc="150">
                <a:solidFill>
                  <a:srgbClr val="C24E00"/>
                </a:solidFill>
                <a:latin typeface="Inter"/>
              </a:rPr>
              <a:t>APPENDIX A1 · FAQ (1 OF 2)</a:t>
            </a:r>
          </a:p>
        </p:txBody>
      </p:sp>
      <p:sp>
        <p:nvSpPr>
          <p:cNvPr id="3" name="hdr155|title|"/>
          <p:cNvSpPr txBox="1"/>
          <p:nvPr/>
        </p:nvSpPr>
        <p:spPr>
          <a:xfrm>
            <a:off x="548640" y="640080"/>
            <a:ext cx="11094415" cy="713232"/>
          </a:xfrm>
          <a:prstGeom prst="rect">
            <a:avLst/>
          </a:prstGeom>
          <a:noFill/>
        </p:spPr>
        <p:txBody>
          <a:bodyPr wrap="square" lIns="0" rIns="0" tIns="0" bIns="0" anchor="t">
            <a:noAutofit/>
          </a:bodyPr>
          <a:lstStyle/>
          <a:p>
            <a:pPr algn="l"/>
            <a:r>
              <a:rPr sz="3200" b="1">
                <a:solidFill>
                  <a:srgbClr val="20242B"/>
                </a:solidFill>
                <a:latin typeface="Poppins"/>
              </a:rPr>
              <a:t>Questions prospects ask</a:t>
            </a:r>
          </a:p>
        </p:txBody>
      </p:sp>
      <p:sp>
        <p:nvSpPr>
          <p:cNvPr id="4" name="faq156|card|"/>
          <p:cNvSpPr/>
          <p:nvPr/>
        </p:nvSpPr>
        <p:spPr>
          <a:xfrm>
            <a:off x="548640" y="1536192"/>
            <a:ext cx="5440680" cy="2240280"/>
          </a:xfrm>
          <a:prstGeom prst="roundRect">
            <a:avLst>
              <a:gd name="adj" fmla="val 7346"/>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faq156|deco|"/>
          <p:cNvSpPr/>
          <p:nvPr/>
        </p:nvSpPr>
        <p:spPr>
          <a:xfrm>
            <a:off x="777239" y="1792223"/>
            <a:ext cx="548640" cy="54864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faq156|icon|chat_deep.png" descr="chat_deep"/>
          <p:cNvPicPr>
            <a:picLocks noChangeAspect="1"/>
          </p:cNvPicPr>
          <p:nvPr/>
        </p:nvPicPr>
        <p:blipFill>
          <a:blip r:embed="rId2"/>
          <a:srcRect/>
          <a:stretch>
            <a:fillRect/>
          </a:stretch>
        </p:blipFill>
        <p:spPr>
          <a:xfrm>
            <a:off x="897940" y="1912924"/>
            <a:ext cx="307238" cy="307238"/>
          </a:xfrm>
          <a:prstGeom prst="rect">
            <a:avLst/>
          </a:prstGeom>
        </p:spPr>
      </p:pic>
      <p:sp>
        <p:nvSpPr>
          <p:cNvPr id="7" name="faq156|card|"/>
          <p:cNvSpPr txBox="1"/>
          <p:nvPr/>
        </p:nvSpPr>
        <p:spPr>
          <a:xfrm>
            <a:off x="1463040" y="1719072"/>
            <a:ext cx="4251960" cy="713232"/>
          </a:xfrm>
          <a:prstGeom prst="rect">
            <a:avLst/>
          </a:prstGeom>
          <a:noFill/>
        </p:spPr>
        <p:txBody>
          <a:bodyPr wrap="square" lIns="0" rIns="0" tIns="0" bIns="0" anchor="ctr">
            <a:noAutofit/>
          </a:bodyPr>
          <a:lstStyle/>
          <a:p>
            <a:pPr algn="l"/>
            <a:r>
              <a:rPr sz="1700" b="1">
                <a:solidFill>
                  <a:srgbClr val="20242B"/>
                </a:solidFill>
                <a:latin typeface="Poppins"/>
              </a:rPr>
              <a:t>Is my customers' data safe?</a:t>
            </a:r>
          </a:p>
        </p:txBody>
      </p:sp>
      <p:sp>
        <p:nvSpPr>
          <p:cNvPr id="8" name="faq156|card|"/>
          <p:cNvSpPr txBox="1"/>
          <p:nvPr/>
        </p:nvSpPr>
        <p:spPr>
          <a:xfrm>
            <a:off x="868680" y="2523744"/>
            <a:ext cx="4800600" cy="1133856"/>
          </a:xfrm>
          <a:prstGeom prst="rect">
            <a:avLst/>
          </a:prstGeom>
          <a:noFill/>
        </p:spPr>
        <p:txBody>
          <a:bodyPr wrap="square" lIns="0" rIns="0" tIns="0" bIns="0" anchor="t">
            <a:noAutofit/>
          </a:bodyPr>
          <a:lstStyle/>
          <a:p>
            <a:pPr algn="l"/>
            <a:r>
              <a:rPr sz="1500" b="0">
                <a:solidFill>
                  <a:srgbClr val="20242B"/>
                </a:solidFill>
                <a:latin typeface="Inter"/>
              </a:rPr>
              <a:t>Row-level security, encrypted tokens, broadcasts only to consented contacts, and data export and account deletion. Fluxmuse is a verified Meta Tech Provider.</a:t>
            </a:r>
          </a:p>
        </p:txBody>
      </p:sp>
      <p:sp>
        <p:nvSpPr>
          <p:cNvPr id="9" name="faq157|card|"/>
          <p:cNvSpPr/>
          <p:nvPr/>
        </p:nvSpPr>
        <p:spPr>
          <a:xfrm>
            <a:off x="6202375" y="1536192"/>
            <a:ext cx="5440680" cy="2240280"/>
          </a:xfrm>
          <a:prstGeom prst="roundRect">
            <a:avLst>
              <a:gd name="adj" fmla="val 7346"/>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faq157|deco|"/>
          <p:cNvSpPr/>
          <p:nvPr/>
        </p:nvSpPr>
        <p:spPr>
          <a:xfrm>
            <a:off x="6430975" y="1792223"/>
            <a:ext cx="548640" cy="54864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1" name="faq157|icon|chat_deep.png" descr="chat_deep"/>
          <p:cNvPicPr>
            <a:picLocks noChangeAspect="1"/>
          </p:cNvPicPr>
          <p:nvPr/>
        </p:nvPicPr>
        <p:blipFill>
          <a:blip r:embed="rId2"/>
          <a:srcRect/>
          <a:stretch>
            <a:fillRect/>
          </a:stretch>
        </p:blipFill>
        <p:spPr>
          <a:xfrm>
            <a:off x="6551675" y="1912924"/>
            <a:ext cx="307238" cy="307238"/>
          </a:xfrm>
          <a:prstGeom prst="rect">
            <a:avLst/>
          </a:prstGeom>
        </p:spPr>
      </p:pic>
      <p:sp>
        <p:nvSpPr>
          <p:cNvPr id="12" name="faq157|card|"/>
          <p:cNvSpPr txBox="1"/>
          <p:nvPr/>
        </p:nvSpPr>
        <p:spPr>
          <a:xfrm>
            <a:off x="7116775" y="1719072"/>
            <a:ext cx="4251960" cy="713232"/>
          </a:xfrm>
          <a:prstGeom prst="rect">
            <a:avLst/>
          </a:prstGeom>
          <a:noFill/>
        </p:spPr>
        <p:txBody>
          <a:bodyPr wrap="square" lIns="0" rIns="0" tIns="0" bIns="0" anchor="ctr">
            <a:noAutofit/>
          </a:bodyPr>
          <a:lstStyle/>
          <a:p>
            <a:pPr algn="l"/>
            <a:r>
              <a:rPr sz="1700" b="1">
                <a:solidFill>
                  <a:srgbClr val="20242B"/>
                </a:solidFill>
                <a:latin typeface="Poppins"/>
              </a:rPr>
              <a:t>Can I use my own WhatsApp number?</a:t>
            </a:r>
          </a:p>
        </p:txBody>
      </p:sp>
      <p:sp>
        <p:nvSpPr>
          <p:cNvPr id="13" name="faq157|card|"/>
          <p:cNvSpPr txBox="1"/>
          <p:nvPr/>
        </p:nvSpPr>
        <p:spPr>
          <a:xfrm>
            <a:off x="6522415" y="2523744"/>
            <a:ext cx="4800600" cy="1133856"/>
          </a:xfrm>
          <a:prstGeom prst="rect">
            <a:avLst/>
          </a:prstGeom>
          <a:noFill/>
        </p:spPr>
        <p:txBody>
          <a:bodyPr wrap="square" lIns="0" rIns="0" tIns="0" bIns="0" anchor="t">
            <a:noAutofit/>
          </a:bodyPr>
          <a:lstStyle/>
          <a:p>
            <a:pPr algn="l"/>
            <a:r>
              <a:rPr sz="1500" b="0">
                <a:solidFill>
                  <a:srgbClr val="20242B"/>
                </a:solidFill>
                <a:latin typeface="Inter"/>
              </a:rPr>
              <a:t>Yes. We connect your WhatsApp Business number through Meta's official Cloud API setup, with you, by hand.</a:t>
            </a:r>
          </a:p>
        </p:txBody>
      </p:sp>
      <p:sp>
        <p:nvSpPr>
          <p:cNvPr id="14" name="faq158|card|"/>
          <p:cNvSpPr/>
          <p:nvPr/>
        </p:nvSpPr>
        <p:spPr>
          <a:xfrm>
            <a:off x="548640" y="3959352"/>
            <a:ext cx="5440680" cy="2240280"/>
          </a:xfrm>
          <a:prstGeom prst="roundRect">
            <a:avLst>
              <a:gd name="adj" fmla="val 7346"/>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faq158|deco|"/>
          <p:cNvSpPr/>
          <p:nvPr/>
        </p:nvSpPr>
        <p:spPr>
          <a:xfrm>
            <a:off x="777239" y="4215384"/>
            <a:ext cx="548640" cy="54864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6" name="faq158|icon|chat_deep.png" descr="chat_deep"/>
          <p:cNvPicPr>
            <a:picLocks noChangeAspect="1"/>
          </p:cNvPicPr>
          <p:nvPr/>
        </p:nvPicPr>
        <p:blipFill>
          <a:blip r:embed="rId2"/>
          <a:srcRect/>
          <a:stretch>
            <a:fillRect/>
          </a:stretch>
        </p:blipFill>
        <p:spPr>
          <a:xfrm>
            <a:off x="897940" y="4336084"/>
            <a:ext cx="307238" cy="307238"/>
          </a:xfrm>
          <a:prstGeom prst="rect">
            <a:avLst/>
          </a:prstGeom>
        </p:spPr>
      </p:pic>
      <p:sp>
        <p:nvSpPr>
          <p:cNvPr id="17" name="faq158|card|"/>
          <p:cNvSpPr txBox="1"/>
          <p:nvPr/>
        </p:nvSpPr>
        <p:spPr>
          <a:xfrm>
            <a:off x="1463040" y="4142232"/>
            <a:ext cx="4251960" cy="713232"/>
          </a:xfrm>
          <a:prstGeom prst="rect">
            <a:avLst/>
          </a:prstGeom>
          <a:noFill/>
        </p:spPr>
        <p:txBody>
          <a:bodyPr wrap="square" lIns="0" rIns="0" tIns="0" bIns="0" anchor="ctr">
            <a:noAutofit/>
          </a:bodyPr>
          <a:lstStyle/>
          <a:p>
            <a:pPr algn="l"/>
            <a:r>
              <a:rPr sz="1700" b="1">
                <a:solidFill>
                  <a:srgbClr val="20242B"/>
                </a:solidFill>
                <a:latin typeface="Poppins"/>
              </a:rPr>
              <a:t>How do my customers pay?</a:t>
            </a:r>
          </a:p>
        </p:txBody>
      </p:sp>
      <p:sp>
        <p:nvSpPr>
          <p:cNvPr id="18" name="faq158|card|"/>
          <p:cNvSpPr txBox="1"/>
          <p:nvPr/>
        </p:nvSpPr>
        <p:spPr>
          <a:xfrm>
            <a:off x="868680" y="4946904"/>
            <a:ext cx="4800600" cy="1133856"/>
          </a:xfrm>
          <a:prstGeom prst="rect">
            <a:avLst/>
          </a:prstGeom>
          <a:noFill/>
        </p:spPr>
        <p:txBody>
          <a:bodyPr wrap="square" lIns="0" rIns="0" tIns="0" bIns="0" anchor="t">
            <a:noAutofit/>
          </a:bodyPr>
          <a:lstStyle/>
          <a:p>
            <a:pPr algn="l"/>
            <a:r>
              <a:rPr sz="1500" b="0">
                <a:solidFill>
                  <a:srgbClr val="20242B"/>
                </a:solidFill>
                <a:latin typeface="Inter"/>
              </a:rPr>
              <a:t>Today, orders arrive as a WhatsApp message and you take payment your usual way. Checkout through FluxMuse, via our payment partners, is being switched on in South Africa.</a:t>
            </a:r>
          </a:p>
        </p:txBody>
      </p:sp>
      <p:sp>
        <p:nvSpPr>
          <p:cNvPr id="19" name="faq159|card|"/>
          <p:cNvSpPr/>
          <p:nvPr/>
        </p:nvSpPr>
        <p:spPr>
          <a:xfrm>
            <a:off x="6202375" y="3959352"/>
            <a:ext cx="5440680" cy="2240280"/>
          </a:xfrm>
          <a:prstGeom prst="roundRect">
            <a:avLst>
              <a:gd name="adj" fmla="val 7346"/>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faq159|deco|"/>
          <p:cNvSpPr/>
          <p:nvPr/>
        </p:nvSpPr>
        <p:spPr>
          <a:xfrm>
            <a:off x="6430975" y="4215384"/>
            <a:ext cx="548640" cy="54864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1" name="faq159|icon|chat_deep.png" descr="chat_deep"/>
          <p:cNvPicPr>
            <a:picLocks noChangeAspect="1"/>
          </p:cNvPicPr>
          <p:nvPr/>
        </p:nvPicPr>
        <p:blipFill>
          <a:blip r:embed="rId2"/>
          <a:srcRect/>
          <a:stretch>
            <a:fillRect/>
          </a:stretch>
        </p:blipFill>
        <p:spPr>
          <a:xfrm>
            <a:off x="6551675" y="4336084"/>
            <a:ext cx="307238" cy="307238"/>
          </a:xfrm>
          <a:prstGeom prst="rect">
            <a:avLst/>
          </a:prstGeom>
        </p:spPr>
      </p:pic>
      <p:sp>
        <p:nvSpPr>
          <p:cNvPr id="22" name="faq159|card|"/>
          <p:cNvSpPr txBox="1"/>
          <p:nvPr/>
        </p:nvSpPr>
        <p:spPr>
          <a:xfrm>
            <a:off x="7116775" y="4142232"/>
            <a:ext cx="4251960" cy="713232"/>
          </a:xfrm>
          <a:prstGeom prst="rect">
            <a:avLst/>
          </a:prstGeom>
          <a:noFill/>
        </p:spPr>
        <p:txBody>
          <a:bodyPr wrap="square" lIns="0" rIns="0" tIns="0" bIns="0" anchor="ctr">
            <a:noAutofit/>
          </a:bodyPr>
          <a:lstStyle/>
          <a:p>
            <a:pPr algn="l"/>
            <a:r>
              <a:rPr sz="1700" b="1">
                <a:solidFill>
                  <a:srgbClr val="20242B"/>
                </a:solidFill>
                <a:latin typeface="Poppins"/>
              </a:rPr>
              <a:t>Is there a trial? Can I cancel?</a:t>
            </a:r>
          </a:p>
        </p:txBody>
      </p:sp>
      <p:sp>
        <p:nvSpPr>
          <p:cNvPr id="23" name="faq159|placeholder|"/>
          <p:cNvSpPr txBox="1"/>
          <p:nvPr/>
        </p:nvSpPr>
        <p:spPr>
          <a:xfrm>
            <a:off x="6522415" y="4946904"/>
            <a:ext cx="4800600" cy="1133856"/>
          </a:xfrm>
          <a:prstGeom prst="rect">
            <a:avLst/>
          </a:prstGeom>
          <a:noFill/>
        </p:spPr>
        <p:txBody>
          <a:bodyPr wrap="square" lIns="0" rIns="0" tIns="0" bIns="0" anchor="t">
            <a:noAutofit/>
          </a:bodyPr>
          <a:lstStyle/>
          <a:p>
            <a:pPr algn="l"/>
            <a:r>
              <a:rPr sz="1500" b="0">
                <a:solidFill>
                  <a:srgbClr val="20242B"/>
                </a:solidFill>
                <a:latin typeface="Inter"/>
              </a:rPr>
              <a:t>No trials: every paid plan starts with payment, monthly or annual (10× monthly). Free is a permanent plan. Cancellation terms: [[CONFIRM TERMS]].</a:t>
            </a:r>
          </a:p>
        </p:txBody>
      </p:sp>
      <p:sp>
        <p:nvSpPr>
          <p:cNvPr id="24" name="chrome|footer|"/>
          <p:cNvSpPr txBox="1"/>
          <p:nvPr/>
        </p:nvSpPr>
        <p:spPr>
          <a:xfrm>
            <a:off x="548640" y="6437376"/>
            <a:ext cx="3657600" cy="237744"/>
          </a:xfrm>
          <a:prstGeom prst="rect">
            <a:avLst/>
          </a:prstGeom>
          <a:noFill/>
        </p:spPr>
        <p:txBody>
          <a:bodyPr wrap="square" lIns="0" rIns="0" tIns="0" bIns="0" anchor="t">
            <a:noAutofit/>
          </a:bodyPr>
          <a:lstStyle/>
          <a:p>
            <a:pPr algn="l"/>
            <a:r>
              <a:rPr sz="1000" b="0">
                <a:solidFill>
                  <a:srgbClr val="5B6670"/>
                </a:solidFill>
                <a:latin typeface="Inter"/>
              </a:rPr>
              <a:t>FluxMuse · fluxmuse.ai</a:t>
            </a:r>
          </a:p>
        </p:txBody>
      </p:sp>
      <p:sp>
        <p:nvSpPr>
          <p:cNvPr id="25" name="chrome|slidenum|"/>
          <p:cNvSpPr txBox="1"/>
          <p:nvPr/>
        </p:nvSpPr>
        <p:spPr>
          <a:xfrm>
            <a:off x="10728655" y="6437376"/>
            <a:ext cx="914400" cy="237744"/>
          </a:xfrm>
          <a:prstGeom prst="rect">
            <a:avLst/>
          </a:prstGeom>
          <a:noFill/>
        </p:spPr>
        <p:txBody>
          <a:bodyPr wrap="none" lIns="0" rIns="0" tIns="0" bIns="0">
            <a:spAutoFit/>
          </a:bodyPr>
          <a:lstStyle/>
          <a:p>
            <a:pPr algn="r"/>
            <a:fld id="{B6F15528-21DE-4FAA-801E-634DDDAF4B2B}" type="slidenum">
              <a:rPr lang="en-ZA" sz="1000">
                <a:solidFill>
                  <a:srgbClr val="5B6670"/>
                </a:solidFill>
                <a:latin typeface="Inter"/>
              </a:rPr>
              <a:t>13</a:t>
            </a:fld>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hdr160|eyebrow|"/>
          <p:cNvSpPr txBox="1"/>
          <p:nvPr/>
        </p:nvSpPr>
        <p:spPr>
          <a:xfrm>
            <a:off x="548640" y="384048"/>
            <a:ext cx="11094415" cy="237744"/>
          </a:xfrm>
          <a:prstGeom prst="rect">
            <a:avLst/>
          </a:prstGeom>
          <a:noFill/>
        </p:spPr>
        <p:txBody>
          <a:bodyPr wrap="square" lIns="0" rIns="0" tIns="0" bIns="0" anchor="t">
            <a:noAutofit/>
          </a:bodyPr>
          <a:lstStyle/>
          <a:p>
            <a:pPr algn="l"/>
            <a:r>
              <a:rPr sz="1200" b="1" spc="150">
                <a:solidFill>
                  <a:srgbClr val="C24E00"/>
                </a:solidFill>
                <a:latin typeface="Inter"/>
              </a:rPr>
              <a:t>APPENDIX A1 · FAQ (2 OF 2)</a:t>
            </a:r>
          </a:p>
        </p:txBody>
      </p:sp>
      <p:sp>
        <p:nvSpPr>
          <p:cNvPr id="3" name="hdr160|title|"/>
          <p:cNvSpPr txBox="1"/>
          <p:nvPr/>
        </p:nvSpPr>
        <p:spPr>
          <a:xfrm>
            <a:off x="548640" y="640080"/>
            <a:ext cx="11094415" cy="713232"/>
          </a:xfrm>
          <a:prstGeom prst="rect">
            <a:avLst/>
          </a:prstGeom>
          <a:noFill/>
        </p:spPr>
        <p:txBody>
          <a:bodyPr wrap="square" lIns="0" rIns="0" tIns="0" bIns="0" anchor="t">
            <a:noAutofit/>
          </a:bodyPr>
          <a:lstStyle/>
          <a:p>
            <a:pPr algn="l"/>
            <a:r>
              <a:rPr sz="3200" b="1">
                <a:solidFill>
                  <a:srgbClr val="20242B"/>
                </a:solidFill>
                <a:latin typeface="Poppins"/>
              </a:rPr>
              <a:t>Questions prospects ask</a:t>
            </a:r>
          </a:p>
        </p:txBody>
      </p:sp>
      <p:sp>
        <p:nvSpPr>
          <p:cNvPr id="4" name="faq161|card|"/>
          <p:cNvSpPr/>
          <p:nvPr/>
        </p:nvSpPr>
        <p:spPr>
          <a:xfrm>
            <a:off x="548640" y="1536192"/>
            <a:ext cx="5440680" cy="2240280"/>
          </a:xfrm>
          <a:prstGeom prst="roundRect">
            <a:avLst>
              <a:gd name="adj" fmla="val 7346"/>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faq161|deco|"/>
          <p:cNvSpPr/>
          <p:nvPr/>
        </p:nvSpPr>
        <p:spPr>
          <a:xfrm>
            <a:off x="777239" y="1792223"/>
            <a:ext cx="548640" cy="54864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faq161|icon|chat_deep.png" descr="chat_deep"/>
          <p:cNvPicPr>
            <a:picLocks noChangeAspect="1"/>
          </p:cNvPicPr>
          <p:nvPr/>
        </p:nvPicPr>
        <p:blipFill>
          <a:blip r:embed="rId2"/>
          <a:srcRect/>
          <a:stretch>
            <a:fillRect/>
          </a:stretch>
        </p:blipFill>
        <p:spPr>
          <a:xfrm>
            <a:off x="897940" y="1912924"/>
            <a:ext cx="307238" cy="307238"/>
          </a:xfrm>
          <a:prstGeom prst="rect">
            <a:avLst/>
          </a:prstGeom>
        </p:spPr>
      </p:pic>
      <p:sp>
        <p:nvSpPr>
          <p:cNvPr id="7" name="faq161|card|"/>
          <p:cNvSpPr txBox="1"/>
          <p:nvPr/>
        </p:nvSpPr>
        <p:spPr>
          <a:xfrm>
            <a:off x="1463040" y="1719072"/>
            <a:ext cx="4251960" cy="713232"/>
          </a:xfrm>
          <a:prstGeom prst="rect">
            <a:avLst/>
          </a:prstGeom>
          <a:noFill/>
        </p:spPr>
        <p:txBody>
          <a:bodyPr wrap="square" lIns="0" rIns="0" tIns="0" bIns="0" anchor="ctr">
            <a:noAutofit/>
          </a:bodyPr>
          <a:lstStyle/>
          <a:p>
            <a:pPr algn="l"/>
            <a:r>
              <a:rPr sz="1700" b="1">
                <a:solidFill>
                  <a:srgbClr val="20242B"/>
                </a:solidFill>
                <a:latin typeface="Poppins"/>
              </a:rPr>
              <a:t>Is there a guarantee?</a:t>
            </a:r>
          </a:p>
        </p:txBody>
      </p:sp>
      <p:sp>
        <p:nvSpPr>
          <p:cNvPr id="8" name="faq161|card|"/>
          <p:cNvSpPr txBox="1"/>
          <p:nvPr/>
        </p:nvSpPr>
        <p:spPr>
          <a:xfrm>
            <a:off x="868680" y="2523744"/>
            <a:ext cx="4800600" cy="1133856"/>
          </a:xfrm>
          <a:prstGeom prst="rect">
            <a:avLst/>
          </a:prstGeom>
          <a:noFill/>
        </p:spPr>
        <p:txBody>
          <a:bodyPr wrap="square" lIns="0" rIns="0" tIns="0" bIns="0" anchor="t">
            <a:noAutofit/>
          </a:bodyPr>
          <a:lstStyle/>
          <a:p>
            <a:pPr algn="l"/>
            <a:r>
              <a:rPr sz="1500" b="0">
                <a:solidFill>
                  <a:srgbClr val="20242B"/>
                </a:solidFill>
                <a:latin typeface="Inter"/>
              </a:rPr>
              <a:t>A lead guarantee: 3 qualified leads in 30 days of go-live. If fewer, and you shared your link and posted weekly, we keep supporting you free until you reach 3.</a:t>
            </a:r>
          </a:p>
        </p:txBody>
      </p:sp>
      <p:sp>
        <p:nvSpPr>
          <p:cNvPr id="9" name="faq162|card|"/>
          <p:cNvSpPr/>
          <p:nvPr/>
        </p:nvSpPr>
        <p:spPr>
          <a:xfrm>
            <a:off x="6202375" y="1536192"/>
            <a:ext cx="5440680" cy="2240280"/>
          </a:xfrm>
          <a:prstGeom prst="roundRect">
            <a:avLst>
              <a:gd name="adj" fmla="val 7346"/>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faq162|deco|"/>
          <p:cNvSpPr/>
          <p:nvPr/>
        </p:nvSpPr>
        <p:spPr>
          <a:xfrm>
            <a:off x="6430975" y="1792223"/>
            <a:ext cx="548640" cy="54864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1" name="faq162|icon|chat_deep.png" descr="chat_deep"/>
          <p:cNvPicPr>
            <a:picLocks noChangeAspect="1"/>
          </p:cNvPicPr>
          <p:nvPr/>
        </p:nvPicPr>
        <p:blipFill>
          <a:blip r:embed="rId2"/>
          <a:srcRect/>
          <a:stretch>
            <a:fillRect/>
          </a:stretch>
        </p:blipFill>
        <p:spPr>
          <a:xfrm>
            <a:off x="6551675" y="1912924"/>
            <a:ext cx="307238" cy="307238"/>
          </a:xfrm>
          <a:prstGeom prst="rect">
            <a:avLst/>
          </a:prstGeom>
        </p:spPr>
      </p:pic>
      <p:sp>
        <p:nvSpPr>
          <p:cNvPr id="12" name="faq162|card|"/>
          <p:cNvSpPr txBox="1"/>
          <p:nvPr/>
        </p:nvSpPr>
        <p:spPr>
          <a:xfrm>
            <a:off x="7116775" y="1719072"/>
            <a:ext cx="4251960" cy="713232"/>
          </a:xfrm>
          <a:prstGeom prst="rect">
            <a:avLst/>
          </a:prstGeom>
          <a:noFill/>
        </p:spPr>
        <p:txBody>
          <a:bodyPr wrap="square" lIns="0" rIns="0" tIns="0" bIns="0" anchor="ctr">
            <a:noAutofit/>
          </a:bodyPr>
          <a:lstStyle/>
          <a:p>
            <a:pPr algn="l"/>
            <a:r>
              <a:rPr sz="1700" b="1">
                <a:solidFill>
                  <a:srgbClr val="20242B"/>
                </a:solidFill>
                <a:latin typeface="Poppins"/>
              </a:rPr>
              <a:t>How long does setup take?</a:t>
            </a:r>
          </a:p>
        </p:txBody>
      </p:sp>
      <p:sp>
        <p:nvSpPr>
          <p:cNvPr id="13" name="faq162|card|"/>
          <p:cNvSpPr txBox="1"/>
          <p:nvPr/>
        </p:nvSpPr>
        <p:spPr>
          <a:xfrm>
            <a:off x="6522415" y="2523744"/>
            <a:ext cx="4800600" cy="1133856"/>
          </a:xfrm>
          <a:prstGeom prst="rect">
            <a:avLst/>
          </a:prstGeom>
          <a:noFill/>
        </p:spPr>
        <p:txBody>
          <a:bodyPr wrap="square" lIns="0" rIns="0" tIns="0" bIns="0" anchor="t">
            <a:noAutofit/>
          </a:bodyPr>
          <a:lstStyle/>
          <a:p>
            <a:pPr algn="l"/>
            <a:r>
              <a:rPr sz="1500" b="0">
                <a:solidFill>
                  <a:srgbClr val="20242B"/>
                </a:solidFill>
                <a:latin typeface="Inter"/>
              </a:rPr>
              <a:t>We set you up by hand: WhatsApp number, catalogue from your photos, shop link. We aim for your first week; Meta approvals can stretch it.</a:t>
            </a:r>
          </a:p>
        </p:txBody>
      </p:sp>
      <p:sp>
        <p:nvSpPr>
          <p:cNvPr id="14" name="faq163|card|"/>
          <p:cNvSpPr/>
          <p:nvPr/>
        </p:nvSpPr>
        <p:spPr>
          <a:xfrm>
            <a:off x="548640" y="3959352"/>
            <a:ext cx="5440680" cy="2240280"/>
          </a:xfrm>
          <a:prstGeom prst="roundRect">
            <a:avLst>
              <a:gd name="adj" fmla="val 7346"/>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faq163|deco|"/>
          <p:cNvSpPr/>
          <p:nvPr/>
        </p:nvSpPr>
        <p:spPr>
          <a:xfrm>
            <a:off x="777239" y="4215384"/>
            <a:ext cx="548640" cy="54864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6" name="faq163|icon|chat_deep.png" descr="chat_deep"/>
          <p:cNvPicPr>
            <a:picLocks noChangeAspect="1"/>
          </p:cNvPicPr>
          <p:nvPr/>
        </p:nvPicPr>
        <p:blipFill>
          <a:blip r:embed="rId2"/>
          <a:srcRect/>
          <a:stretch>
            <a:fillRect/>
          </a:stretch>
        </p:blipFill>
        <p:spPr>
          <a:xfrm>
            <a:off x="897940" y="4336084"/>
            <a:ext cx="307238" cy="307238"/>
          </a:xfrm>
          <a:prstGeom prst="rect">
            <a:avLst/>
          </a:prstGeom>
        </p:spPr>
      </p:pic>
      <p:sp>
        <p:nvSpPr>
          <p:cNvPr id="17" name="faq163|card|"/>
          <p:cNvSpPr txBox="1"/>
          <p:nvPr/>
        </p:nvSpPr>
        <p:spPr>
          <a:xfrm>
            <a:off x="1463040" y="4142232"/>
            <a:ext cx="4251960" cy="713232"/>
          </a:xfrm>
          <a:prstGeom prst="rect">
            <a:avLst/>
          </a:prstGeom>
          <a:noFill/>
        </p:spPr>
        <p:txBody>
          <a:bodyPr wrap="square" lIns="0" rIns="0" tIns="0" bIns="0" anchor="ctr">
            <a:noAutofit/>
          </a:bodyPr>
          <a:lstStyle/>
          <a:p>
            <a:pPr algn="l"/>
            <a:r>
              <a:rPr sz="1700" b="1">
                <a:solidFill>
                  <a:srgbClr val="20242B"/>
                </a:solidFill>
                <a:latin typeface="Poppins"/>
              </a:rPr>
              <a:t>I already use Shopify or WooCommerce.</a:t>
            </a:r>
          </a:p>
        </p:txBody>
      </p:sp>
      <p:sp>
        <p:nvSpPr>
          <p:cNvPr id="18" name="faq163|card|"/>
          <p:cNvSpPr txBox="1"/>
          <p:nvPr/>
        </p:nvSpPr>
        <p:spPr>
          <a:xfrm>
            <a:off x="868680" y="4946904"/>
            <a:ext cx="4800600" cy="1133856"/>
          </a:xfrm>
          <a:prstGeom prst="rect">
            <a:avLst/>
          </a:prstGeom>
          <a:noFill/>
        </p:spPr>
        <p:txBody>
          <a:bodyPr wrap="square" lIns="0" rIns="0" tIns="0" bIns="0" anchor="t">
            <a:noAutofit/>
          </a:bodyPr>
          <a:lstStyle/>
          <a:p>
            <a:pPr algn="l"/>
            <a:r>
              <a:rPr sz="1500" b="0">
                <a:solidFill>
                  <a:srgbClr val="20242B"/>
                </a:solidFill>
                <a:latin typeface="Inter"/>
              </a:rPr>
              <a:t>Keep them. Sync from Shopify and WooCommerce is being switched on. Until then, we build your catalogue from product photos.</a:t>
            </a:r>
          </a:p>
        </p:txBody>
      </p:sp>
      <p:sp>
        <p:nvSpPr>
          <p:cNvPr id="19" name="faq164|card|"/>
          <p:cNvSpPr/>
          <p:nvPr/>
        </p:nvSpPr>
        <p:spPr>
          <a:xfrm>
            <a:off x="6202375" y="3959352"/>
            <a:ext cx="5440680" cy="2240280"/>
          </a:xfrm>
          <a:prstGeom prst="roundRect">
            <a:avLst>
              <a:gd name="adj" fmla="val 7346"/>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faq164|deco|"/>
          <p:cNvSpPr/>
          <p:nvPr/>
        </p:nvSpPr>
        <p:spPr>
          <a:xfrm>
            <a:off x="6430975" y="4215384"/>
            <a:ext cx="548640" cy="54864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1" name="faq164|icon|chat_deep.png" descr="chat_deep"/>
          <p:cNvPicPr>
            <a:picLocks noChangeAspect="1"/>
          </p:cNvPicPr>
          <p:nvPr/>
        </p:nvPicPr>
        <p:blipFill>
          <a:blip r:embed="rId2"/>
          <a:srcRect/>
          <a:stretch>
            <a:fillRect/>
          </a:stretch>
        </p:blipFill>
        <p:spPr>
          <a:xfrm>
            <a:off x="6551675" y="4336084"/>
            <a:ext cx="307238" cy="307238"/>
          </a:xfrm>
          <a:prstGeom prst="rect">
            <a:avLst/>
          </a:prstGeom>
        </p:spPr>
      </p:pic>
      <p:sp>
        <p:nvSpPr>
          <p:cNvPr id="22" name="faq164|card|"/>
          <p:cNvSpPr txBox="1"/>
          <p:nvPr/>
        </p:nvSpPr>
        <p:spPr>
          <a:xfrm>
            <a:off x="7116775" y="4142232"/>
            <a:ext cx="4251960" cy="713232"/>
          </a:xfrm>
          <a:prstGeom prst="rect">
            <a:avLst/>
          </a:prstGeom>
          <a:noFill/>
        </p:spPr>
        <p:txBody>
          <a:bodyPr wrap="square" lIns="0" rIns="0" tIns="0" bIns="0" anchor="ctr">
            <a:noAutofit/>
          </a:bodyPr>
          <a:lstStyle/>
          <a:p>
            <a:pPr algn="l"/>
            <a:r>
              <a:rPr sz="1700" b="1">
                <a:solidFill>
                  <a:srgbClr val="20242B"/>
                </a:solidFill>
                <a:latin typeface="Poppins"/>
              </a:rPr>
              <a:t>Where can I buy FluxMuse?</a:t>
            </a:r>
          </a:p>
        </p:txBody>
      </p:sp>
      <p:sp>
        <p:nvSpPr>
          <p:cNvPr id="23" name="faq164|card|"/>
          <p:cNvSpPr txBox="1"/>
          <p:nvPr/>
        </p:nvSpPr>
        <p:spPr>
          <a:xfrm>
            <a:off x="6522415" y="4946904"/>
            <a:ext cx="4800600" cy="1133856"/>
          </a:xfrm>
          <a:prstGeom prst="rect">
            <a:avLst/>
          </a:prstGeom>
          <a:noFill/>
        </p:spPr>
        <p:txBody>
          <a:bodyPr wrap="square" lIns="0" rIns="0" tIns="0" bIns="0" anchor="t">
            <a:noAutofit/>
          </a:bodyPr>
          <a:lstStyle/>
          <a:p>
            <a:pPr algn="l"/>
            <a:r>
              <a:rPr sz="1500" b="0">
                <a:solidFill>
                  <a:srgbClr val="20242B"/>
                </a:solidFill>
                <a:latin typeface="Inter"/>
              </a:rPr>
              <a:t>South Africa, today. Nigeria, Kenya and Ghana are priced but not yet on sale. Other countries can join the waitlist.</a:t>
            </a:r>
          </a:p>
        </p:txBody>
      </p:sp>
      <p:sp>
        <p:nvSpPr>
          <p:cNvPr id="24" name="chrome|footer|"/>
          <p:cNvSpPr txBox="1"/>
          <p:nvPr/>
        </p:nvSpPr>
        <p:spPr>
          <a:xfrm>
            <a:off x="548640" y="6437376"/>
            <a:ext cx="3657600" cy="237744"/>
          </a:xfrm>
          <a:prstGeom prst="rect">
            <a:avLst/>
          </a:prstGeom>
          <a:noFill/>
        </p:spPr>
        <p:txBody>
          <a:bodyPr wrap="square" lIns="0" rIns="0" tIns="0" bIns="0" anchor="t">
            <a:noAutofit/>
          </a:bodyPr>
          <a:lstStyle/>
          <a:p>
            <a:pPr algn="l"/>
            <a:r>
              <a:rPr sz="1000" b="0">
                <a:solidFill>
                  <a:srgbClr val="5B6670"/>
                </a:solidFill>
                <a:latin typeface="Inter"/>
              </a:rPr>
              <a:t>FluxMuse · fluxmuse.ai</a:t>
            </a:r>
          </a:p>
        </p:txBody>
      </p:sp>
      <p:sp>
        <p:nvSpPr>
          <p:cNvPr id="25" name="chrome|slidenum|"/>
          <p:cNvSpPr txBox="1"/>
          <p:nvPr/>
        </p:nvSpPr>
        <p:spPr>
          <a:xfrm>
            <a:off x="10728655" y="6437376"/>
            <a:ext cx="914400" cy="237744"/>
          </a:xfrm>
          <a:prstGeom prst="rect">
            <a:avLst/>
          </a:prstGeom>
          <a:noFill/>
        </p:spPr>
        <p:txBody>
          <a:bodyPr wrap="none" lIns="0" rIns="0" tIns="0" bIns="0">
            <a:spAutoFit/>
          </a:bodyPr>
          <a:lstStyle/>
          <a:p>
            <a:pPr algn="r"/>
            <a:fld id="{B6F15528-21DE-4FAA-801E-634DDDAF4B2B}" type="slidenum">
              <a:rPr lang="en-ZA" sz="1000">
                <a:solidFill>
                  <a:srgbClr val="5B6670"/>
                </a:solidFill>
                <a:latin typeface="Inter"/>
              </a:rPr>
              <a:t>14</a:t>
            </a:fld>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Poppins"/>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Inter"/>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FluxMuse pitch deck</dc:title>
  <dc:subject>AI marketing &amp; WhatsApp selling</dc:subject>
  <dc:creator>Fluxmuse (Pty) Ltd</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