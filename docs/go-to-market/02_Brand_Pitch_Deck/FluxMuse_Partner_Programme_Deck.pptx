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for agencies, freelancers and resellers. "FluxMuse lets you offer AI marketing and WhatsApp commerce to your clients under your own brand, on a wholesale plan, and keep the spread." Introduce yourself and the partner programme. Ask two questions early: "How many clients do you manage?" and "What do you charge them per month?" Those numbers drive the illustrative economics later. Be clear from the start that partner obligations and referral commission are still being finalised, and don't promise terms that aren't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agency's reality. Clients expect more every month, from content to WhatsApp sales to AI, while retainers stay flat. Reporting eats hours, and every new client adds another set of tools and logins. FluxMuse flips that. Partners buy the Agency tier at wholesale and set their own retail price. They run every client from one white-label platform with 50 client sub-accounts. And they resell AI agents and WhatsApp checkout under their own brand. Ask how many tools they currently pay for per client, and how long monthly reporting takes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commerce platform built for African SMBs. On the laptop is our website; on the phone is the demo store confirming an order inside a WhatsApp chat. Everything in this deck is live in the product today unless it's labelled "in review" or "coming soon", and we'll be precise about which is which. There's a 14-day free trial with no card required, so trying it costs nothing. Pause here and ask whether they already use WhatsApp Business, and on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run by four AI agents. The Strategist plans goals, channel mix and budget. The Creator writes copy and makes images in isiZulu, Afrikaans, Pidgin, Swahili, English and more. The Publisher schedules content across social, WhatsApp, email, SMS and USSD. Buyers then chat, browse and pay inside WhatsApp. The Analyst learns from orders and data and feeds insights back into the next plan. The point is that each step hands off to the next, so marketing and sales stop living in separate tools, and campaigns can go through approvals before anything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core agents: Strategist, Creator, Publisher and Analyst. Walk through one example for this prospect: the Strategist sets a goal for the month, the Creator drafts posts, the Publisher schedules them and runs the WhatsApp catalog, and the Analyst reports what worked. Behind them sit 23 specialist Flux agents for jobs like ads, nurture, support, commerce, finance and compliance, plus an AI Agent Marketplace. Don't read the chips aloud. Pick the two or three that match the prospect's pain, for example Flux Support for a busy inbox or Flux Nurture for repeat customers.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taps an ad, a post, a QR code or a wa.me link and lands in a chat. A chatbot or WhatsApp Flow replies instantly, they browse the catalog, build a cart and pay without leaving WhatsApp, using Yoco, Ozow, Paystack, pawaPay or Fincra. The order is confirmed and status updates arrive in the same chat. If they abandon the cart, a recovery message goes out automatically, and loyalty and retargeting bring them back. If you demo live, stick to the catalog, cart and confirmation screens shown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AI team runs every channel your buyers use. Live today: WhatsApp, Facebook Pages, Messenger, email, SMS, USSD, a website chat widget, landing pages and link-in-bio. Be precise about Instagram: it's in Meta App Review, so publishing, comments and DMs aren't live yet. TikTok, LinkedIn, X, YouTube, Threads and Pinterest are coming soon as part of our social adapters work, with no dates promised. If Instagram is their main channel, say so honestly and start them on WhatsApp and Facebook, adding Instagram once Meta approves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Agencies, digital and social media shops and freelancers managing five to 50 SMB clients feel a margin squeeze, spend hours on manual reporting, juggle too many tools per client, and have clients asking for WhatsApp commerce and AI. FluxMuse gives them one white-label platform with 50 client sub-accounts and reseller billing. Partners buy the Agency tier at a permanent wholesale price of R5,599 a month, 30% off the R7,999 list price, and set their own retail price. Don't quote a fixed margin percentage: margin depends on the agency's pricing and delivery costs.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 partner model works. FluxMuse invoices the agency at the wholesale Agency-tier price of R5,599 a month. The agency serves its clients under its own brand and bills them a retail price it sets. The example is illustrative only, not a forecast: 20 clients at R1,500 a month bills R30,000, and after R5,599 the agency keeps a gross spread of R24,401 a month, before its own service costs. Encourage them to run the numbers with their real client count and prices. Referral commission for clients on their own plans is still to be decided.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a partner gets on the Agency tier at wholesale pricing: R5,599 a month, 30% off the R7,999 list price, or R55,990 a year. Full white-label, so clients see the agency's brand. Fifty client sub-accounts, one per client. Reseller billing, so the agency bills its clients directly. Eighty channels and 500,000 AI credits a month, plus dedicated support. Clients get the same product as direct customers: the AI marketing team, WhatsApp commerce and local payment rails. Launch offers don't stack with wholesale pricing.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wholesale pricing is the Agency tier at 30% off list, in every currency we bill: R5,599, ₦463,000, KSh 44,999, GH₵ 3,799 or $299 a month, and ten times that for a year. It includes everything in Agency: full white-label, 50 client sub-accounts, reseller billing, 80 channels, 500,000 AI credits and dedicated support. Launch offers don't stack with wholesale. The example is illustrative only: a partner sets their own retail price and carries their own delivery costs. Referral commission on clients' own plans is still a founder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Becoming a partner follows the same path as our agency buying motion. It starts with an intro call about your clients, services and pricing. Then a white-label demo so you can see the platform under your brand. Next, pick one pilot client and launch them first, so you learn the workflow on a real account. Once that's working, move onto the Agency tier at wholesale pricing with reseller billing, and roll out to more clients. We don't quote fixed onboarding timings yet, and the formal partner terms are still being confirmed.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transparent about what's defined and what isn't. FluxMuse provides a partner directory in the product, sales material such as this deck and proposal templates, and consented pilot case studies from December 2026. Co-marketing specifics are still being finalised. Partner obligations, such as minimum active clients, brand standards and data-protection responsibilities under POPIA, are to be confirmed. Referral commission for clients who sign up to their own Starter, Growth or Scale plans is a founder decision that hasn't been made yet. Don't promise terms; take their questions and follow up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paid is where many chat sales die, so this matters. FluxMuse has five payment rails: Yoco for cards and tap-to-pay, Ozow for instant EFT, Paystack, pawaPay for mobile money, and Fincra for collections and payouts. Together they cover 23 African countries, all live from September 2026, with pawaPay and Fincra from 14 September. Botswana and Namibia are coming soon, once a rail covers them. For a South African business the headline is simple: card, tap-to-pay and instant EFT, inside the chat. Save the country detail for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proving this in the market right now. Twelve brands in Gauteng are running FluxMuse from September to 30 November 2026, with a suggested mix of solo entrepreneurs, SMEs and agencies. We track brands onboarded, WhatsApp conversations, orders and GMV, content published, time saved, conversion uplift and NPS. Be honest: the pilot is underway and results arrive in December 2026. We don't share projected results, and we only publish figures with each brand's written consent. Offer to send them the results pack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and payments. FluxMuse is POPIA, NDPR and GDPR ready. Fluxmuse Pty Ltd has passed Meta Business Verification and is a verified Meta Tech Provider, and WhatsApp runs on Meta's official Cloud API. Under the hood there's row-level security on every database table, encrypted tokens for connected accounts, audit export, and account deletion and data export. If they ask for a data processing agreement, a security questionnaire or certifications, don't improvise: note the request and follow up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coming, and it's indicative, not a commitment. On markets: pawaPay and Fincra go live in September 2026, the Gauteng pilot runs to 30 November, and South Africa launches nationally from 1 December. 2027 scales South Africa; Nigeria follows in February 2028, Kenya in April 2028, Ghana in June 2028, then the rest of the rail-covered countries in US dollars from November 2028. Those months are milestone-gated in the financial model, so they move with revenue. On product, in order: Meta permissions including Instagram, targeted for Q4 2026, then social adapters, then business app integrations, then the Flux_Partner programme with referral tracking and partner-managed workspaces. White-label, sub-accounts and reseller billing are already live today; the programme layer comes later.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concrete partner next step. Option one: book a 30-minute partner call to go through their clients, services and pricing in detail. Option two: start a 14-day free trial so they can explore the platform before committing. Option three: apply to become a partner and move onto the Agency tier at R5,599 a month wholesale, starting with one pilot client. Share your contact details and WhatsApp QR code. Follow up within 24 hours, and don't commit to commission or obligations that are still to be confirmed.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is for questions and follow-up, not the main talk track. It covers local-currency pricing for Nigeria, Kenya and Ghana plus USD for the other rail-covered countries, the full matrix of payment rails by country, partner wholesale pricing where relevant, and the questions prospects ask most. Only show prices to prospects in countries we sell to. If someone is in a country without a payment rail, including Botswana and Namibia for now, share the waitlist link instead of prices: [[WAITLIST LINK]].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for prospects in Nigeria, Kenya, Ghana or a USD market. It's one set of plans at fixed local price points, set at FX parity with the rand in early September 2026 and reviewed quarterly. Nigeria, Kenya and Ghana are billed in naira, shillings and cedis; the other 19 rail-covered countries are billed in US dollars. Annual plans are ten times monthly. The live website may still show FX-converted amounts, so quote this slide and say "billed in local currency". Everyone else joins the waitlist.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prices as the previous slide, as an editable table with annual prices added. Starter is ₦41,000, KSh 3,999, GH₵ 339 or $27 a month. Growth is ₦165,000, KSh 15,999, GH₵ 1,359 or $109. Scale is ₦413,000, KSh 39,999, GH₵ 3,399 or $269. Agency is ₦662,000, KSh 64,499, GH₵ 5,439 or $429. Enterprise starts from ₦1,650,000, KSh 161,000, GH₵ 13,600 or $1,099. If a prospect asks about another currency, the answer is USD, and never show these prices to a country we don't sell 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which of the five rails covers each of the 23 countries, grouped by region, with the billing currency. South Africa has four rails: Yoco, Ozow, Paystack and Fincra. Nigeria, Ghana and Kenya each have Paystack, pawaPay and Fincra. Most other countries are covered by pawaPay mobile money and Fincra. South Sudan and Zimbabwe are Fincra payouts only, so sales there open once subscription collection is confirmed. Botswana and Namibia are coming soon with no rail yet, so they're waitlist only.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they're checked against what the product does today. On data, stick to the controls listed and don't claim certifications we haven't confirmed. On WhatsApp numbers, explain that the number is connected through Meta's Embedded Signup and that we check it together during setup, because a number already used in the WhatsApp Business app may need extra steps. On payments, name only the five rails. On contracts, cancellation terms are still to be confirmed, so don't improvise; promise a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Languages: the Creator agent writes in isiZulu, Afrikaans, English, Pidgin, Swahili and more, so offer to generate a sample post in their language during the trial. Onboarding: typical setup takes one to two weeks, but Meta template approvals and catalog size can stretch that, so set expectations honestly. Shopify and WooCommerce users keep their store, and FluxMuse connects to it from the Growth plan. Availability: we sell in 23 countries with payment rails; anyone in Botswana, Namibia or another gated country gets the waitlist link, never prices.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16.png"/><Relationship Id="rId5" Type="http://schemas.openxmlformats.org/officeDocument/2006/relationships/image" Target="../media/image30.png"/><Relationship Id="rId6" Type="http://schemas.openxmlformats.org/officeDocument/2006/relationships/image" Target="../media/image25.png"/><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293|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294|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294|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295|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FLUXMUSE PARTNER PROGRAMME</a:t>
            </a:r>
          </a:p>
        </p:txBody>
      </p:sp>
      <p:sp>
        <p:nvSpPr>
          <p:cNvPr id="6" name="g296|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Serve more clients.</a:t>
            </a:r>
          </a:p>
          <a:p>
            <a:pPr algn="l">
              <a:lnSpc>
                <a:spcPct val="95000"/>
              </a:lnSpc>
            </a:pPr>
            <a:r>
              <a:rPr sz="3800" b="1">
                <a:solidFill>
                  <a:srgbClr val="FF6A00"/>
                </a:solidFill>
                <a:latin typeface="Poppins"/>
              </a:rPr>
              <a:t>Under your brand.</a:t>
            </a:r>
          </a:p>
        </p:txBody>
      </p:sp>
      <p:sp>
        <p:nvSpPr>
          <p:cNvPr id="7" name="g297|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White-label AI marketing and WhatsApp commerce for agencies and resellers.</a:t>
            </a:r>
          </a:p>
        </p:txBody>
      </p:sp>
      <p:sp>
        <p:nvSpPr>
          <p:cNvPr id="8" name="g298|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298|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[[PRESENTER]]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9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AGENCY SQUEEZE</a:t>
            </a:r>
          </a:p>
        </p:txBody>
      </p:sp>
      <p:sp>
        <p:nvSpPr>
          <p:cNvPr id="3" name="hdr29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agencies are up against</a:t>
            </a:r>
          </a:p>
        </p:txBody>
      </p:sp>
      <p:sp>
        <p:nvSpPr>
          <p:cNvPr id="4" name="g300|eyebrow|"/>
          <p:cNvSpPr txBox="1"/>
          <p:nvPr/>
        </p:nvSpPr>
        <p:spPr>
          <a:xfrm>
            <a:off x="548640" y="1481328"/>
            <a:ext cx="3657600" cy="256032"/>
          </a:xfrm>
          <a:prstGeom prst="rect">
            <a:avLst/>
          </a:prstGeom>
          <a:noFill/>
        </p:spPr>
        <p:txBody>
          <a:bodyPr wrap="square" lIns="0" rIns="0" tIns="0" bIns="0" anchor="t">
            <a:noAutofit/>
          </a:bodyPr>
          <a:lstStyle/>
          <a:p>
            <a:pPr algn="l"/>
            <a:r>
              <a:rPr sz="1200" b="1" spc="150">
                <a:solidFill>
                  <a:srgbClr val="5B6670"/>
                </a:solidFill>
                <a:latin typeface="Inter"/>
              </a:rPr>
              <a:t>TODAY</a:t>
            </a:r>
          </a:p>
        </p:txBody>
      </p:sp>
      <p:sp>
        <p:nvSpPr>
          <p:cNvPr id="5" name="g301|eyebrow|"/>
          <p:cNvSpPr txBox="1"/>
          <p:nvPr/>
        </p:nvSpPr>
        <p:spPr>
          <a:xfrm>
            <a:off x="548640" y="3767328"/>
            <a:ext cx="3657600" cy="256032"/>
          </a:xfrm>
          <a:prstGeom prst="rect">
            <a:avLst/>
          </a:prstGeom>
          <a:noFill/>
        </p:spPr>
        <p:txBody>
          <a:bodyPr wrap="square" lIns="0" rIns="0" tIns="0" bIns="0" anchor="t">
            <a:noAutofit/>
          </a:bodyPr>
          <a:lstStyle/>
          <a:p>
            <a:pPr algn="l"/>
            <a:r>
              <a:rPr sz="1200" b="1" spc="150">
                <a:solidFill>
                  <a:srgbClr val="C24E00"/>
                </a:solidFill>
                <a:latin typeface="Inter"/>
              </a:rPr>
              <a:t>WITH FLUXMUSE</a:t>
            </a:r>
          </a:p>
        </p:txBody>
      </p:sp>
      <p:sp>
        <p:nvSpPr>
          <p:cNvPr id="6" name="sq302|card|"/>
          <p:cNvSpPr/>
          <p:nvPr/>
        </p:nvSpPr>
        <p:spPr>
          <a:xfrm>
            <a:off x="548640" y="1810512"/>
            <a:ext cx="3511296" cy="1463040"/>
          </a:xfrm>
          <a:prstGeom prst="roundRect">
            <a:avLst>
              <a:gd name="adj" fmla="val 11249"/>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q302|deco|"/>
          <p:cNvSpPr/>
          <p:nvPr/>
        </p:nvSpPr>
        <p:spPr>
          <a:xfrm>
            <a:off x="813815" y="2240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sq302|icon|x_ink.png" descr="x_ink"/>
          <p:cNvPicPr>
            <a:picLocks noChangeAspect="1"/>
          </p:cNvPicPr>
          <p:nvPr/>
        </p:nvPicPr>
        <p:blipFill>
          <a:blip r:embed="rId2"/>
          <a:srcRect/>
          <a:stretch>
            <a:fillRect/>
          </a:stretch>
        </p:blipFill>
        <p:spPr>
          <a:xfrm>
            <a:off x="946586" y="2373050"/>
            <a:ext cx="337962" cy="337962"/>
          </a:xfrm>
          <a:prstGeom prst="rect">
            <a:avLst/>
          </a:prstGeom>
        </p:spPr>
      </p:pic>
      <p:sp>
        <p:nvSpPr>
          <p:cNvPr id="9" name="sq302|card|"/>
          <p:cNvSpPr txBox="1"/>
          <p:nvPr/>
        </p:nvSpPr>
        <p:spPr>
          <a:xfrm>
            <a:off x="1600200" y="1993392"/>
            <a:ext cx="2231136" cy="1097280"/>
          </a:xfrm>
          <a:prstGeom prst="rect">
            <a:avLst/>
          </a:prstGeom>
          <a:noFill/>
        </p:spPr>
        <p:txBody>
          <a:bodyPr wrap="square" lIns="0" rIns="0" tIns="0" bIns="0" anchor="ctr">
            <a:noAutofit/>
          </a:bodyPr>
          <a:lstStyle/>
          <a:p>
            <a:pPr algn="l"/>
            <a:r>
              <a:rPr sz="1800" b="1">
                <a:solidFill>
                  <a:srgbClr val="20242B"/>
                </a:solidFill>
                <a:latin typeface="Poppins"/>
              </a:rPr>
              <a:t>Margin squeeze on retainers</a:t>
            </a:r>
          </a:p>
        </p:txBody>
      </p:sp>
      <p:sp>
        <p:nvSpPr>
          <p:cNvPr id="10" name="g303|deco|"/>
          <p:cNvSpPr/>
          <p:nvPr/>
        </p:nvSpPr>
        <p:spPr>
          <a:xfrm>
            <a:off x="2121408" y="3346704"/>
            <a:ext cx="365760" cy="347472"/>
          </a:xfrm>
          <a:prstGeom prst="down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q304|card|"/>
          <p:cNvSpPr/>
          <p:nvPr/>
        </p:nvSpPr>
        <p:spPr>
          <a:xfrm>
            <a:off x="4340199" y="1810512"/>
            <a:ext cx="3511296" cy="1463040"/>
          </a:xfrm>
          <a:prstGeom prst="roundRect">
            <a:avLst>
              <a:gd name="adj" fmla="val 11249"/>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q304|deco|"/>
          <p:cNvSpPr/>
          <p:nvPr/>
        </p:nvSpPr>
        <p:spPr>
          <a:xfrm>
            <a:off x="4605375" y="2240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sq304|icon|x_ink.png" descr="x_ink"/>
          <p:cNvPicPr>
            <a:picLocks noChangeAspect="1"/>
          </p:cNvPicPr>
          <p:nvPr/>
        </p:nvPicPr>
        <p:blipFill>
          <a:blip r:embed="rId2"/>
          <a:srcRect/>
          <a:stretch>
            <a:fillRect/>
          </a:stretch>
        </p:blipFill>
        <p:spPr>
          <a:xfrm>
            <a:off x="4738146" y="2373050"/>
            <a:ext cx="337962" cy="337962"/>
          </a:xfrm>
          <a:prstGeom prst="rect">
            <a:avLst/>
          </a:prstGeom>
        </p:spPr>
      </p:pic>
      <p:sp>
        <p:nvSpPr>
          <p:cNvPr id="14" name="sq304|card|"/>
          <p:cNvSpPr txBox="1"/>
          <p:nvPr/>
        </p:nvSpPr>
        <p:spPr>
          <a:xfrm>
            <a:off x="5391759" y="1993392"/>
            <a:ext cx="2231136" cy="1097280"/>
          </a:xfrm>
          <a:prstGeom prst="rect">
            <a:avLst/>
          </a:prstGeom>
          <a:noFill/>
        </p:spPr>
        <p:txBody>
          <a:bodyPr wrap="square" lIns="0" rIns="0" tIns="0" bIns="0" anchor="ctr">
            <a:noAutofit/>
          </a:bodyPr>
          <a:lstStyle/>
          <a:p>
            <a:pPr algn="l"/>
            <a:r>
              <a:rPr sz="1800" b="1">
                <a:solidFill>
                  <a:srgbClr val="20242B"/>
                </a:solidFill>
                <a:latin typeface="Poppins"/>
              </a:rPr>
              <a:t>Manual reporting</a:t>
            </a:r>
          </a:p>
        </p:txBody>
      </p:sp>
      <p:sp>
        <p:nvSpPr>
          <p:cNvPr id="15" name="g305|deco|"/>
          <p:cNvSpPr/>
          <p:nvPr/>
        </p:nvSpPr>
        <p:spPr>
          <a:xfrm>
            <a:off x="5912967" y="3346704"/>
            <a:ext cx="365760" cy="347472"/>
          </a:xfrm>
          <a:prstGeom prst="down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q306|card|"/>
          <p:cNvSpPr/>
          <p:nvPr/>
        </p:nvSpPr>
        <p:spPr>
          <a:xfrm>
            <a:off x="8131759" y="1810512"/>
            <a:ext cx="3511296" cy="1463040"/>
          </a:xfrm>
          <a:prstGeom prst="roundRect">
            <a:avLst>
              <a:gd name="adj" fmla="val 11249"/>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q306|deco|"/>
          <p:cNvSpPr/>
          <p:nvPr/>
        </p:nvSpPr>
        <p:spPr>
          <a:xfrm>
            <a:off x="8396935" y="2240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sq306|icon|x_ink.png" descr="x_ink"/>
          <p:cNvPicPr>
            <a:picLocks noChangeAspect="1"/>
          </p:cNvPicPr>
          <p:nvPr/>
        </p:nvPicPr>
        <p:blipFill>
          <a:blip r:embed="rId2"/>
          <a:srcRect/>
          <a:stretch>
            <a:fillRect/>
          </a:stretch>
        </p:blipFill>
        <p:spPr>
          <a:xfrm>
            <a:off x="8529706" y="2373050"/>
            <a:ext cx="337962" cy="337962"/>
          </a:xfrm>
          <a:prstGeom prst="rect">
            <a:avLst/>
          </a:prstGeom>
        </p:spPr>
      </p:pic>
      <p:sp>
        <p:nvSpPr>
          <p:cNvPr id="19" name="sq306|card|"/>
          <p:cNvSpPr txBox="1"/>
          <p:nvPr/>
        </p:nvSpPr>
        <p:spPr>
          <a:xfrm>
            <a:off x="9183319" y="1993392"/>
            <a:ext cx="2231136" cy="1097280"/>
          </a:xfrm>
          <a:prstGeom prst="rect">
            <a:avLst/>
          </a:prstGeom>
          <a:noFill/>
        </p:spPr>
        <p:txBody>
          <a:bodyPr wrap="square" lIns="0" rIns="0" tIns="0" bIns="0" anchor="ctr">
            <a:noAutofit/>
          </a:bodyPr>
          <a:lstStyle/>
          <a:p>
            <a:pPr algn="l"/>
            <a:r>
              <a:rPr sz="1800" b="1">
                <a:solidFill>
                  <a:srgbClr val="20242B"/>
                </a:solidFill>
                <a:latin typeface="Poppins"/>
              </a:rPr>
              <a:t>Too many tools per client</a:t>
            </a:r>
          </a:p>
        </p:txBody>
      </p:sp>
      <p:sp>
        <p:nvSpPr>
          <p:cNvPr id="20" name="g307|deco|"/>
          <p:cNvSpPr/>
          <p:nvPr/>
        </p:nvSpPr>
        <p:spPr>
          <a:xfrm>
            <a:off x="9704527" y="3346704"/>
            <a:ext cx="365760" cy="347472"/>
          </a:xfrm>
          <a:prstGeom prst="down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q308|card|"/>
          <p:cNvSpPr/>
          <p:nvPr/>
        </p:nvSpPr>
        <p:spPr>
          <a:xfrm>
            <a:off x="548640" y="4096512"/>
            <a:ext cx="3511296" cy="1463040"/>
          </a:xfrm>
          <a:prstGeom prst="roundRect">
            <a:avLst>
              <a:gd name="adj" fmla="val 11249"/>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q308|deco|"/>
          <p:cNvSpPr/>
          <p:nvPr/>
        </p:nvSpPr>
        <p:spPr>
          <a:xfrm>
            <a:off x="813815" y="4526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sq308|icon|check_deep.png" descr="check_deep"/>
          <p:cNvPicPr>
            <a:picLocks noChangeAspect="1"/>
          </p:cNvPicPr>
          <p:nvPr/>
        </p:nvPicPr>
        <p:blipFill>
          <a:blip r:embed="rId3"/>
          <a:srcRect/>
          <a:stretch>
            <a:fillRect/>
          </a:stretch>
        </p:blipFill>
        <p:spPr>
          <a:xfrm>
            <a:off x="946586" y="4659050"/>
            <a:ext cx="337962" cy="337962"/>
          </a:xfrm>
          <a:prstGeom prst="rect">
            <a:avLst/>
          </a:prstGeom>
        </p:spPr>
      </p:pic>
      <p:sp>
        <p:nvSpPr>
          <p:cNvPr id="24" name="sq308|card|"/>
          <p:cNvSpPr txBox="1"/>
          <p:nvPr/>
        </p:nvSpPr>
        <p:spPr>
          <a:xfrm>
            <a:off x="1600200" y="4279392"/>
            <a:ext cx="2231136" cy="1097280"/>
          </a:xfrm>
          <a:prstGeom prst="rect">
            <a:avLst/>
          </a:prstGeom>
          <a:noFill/>
        </p:spPr>
        <p:txBody>
          <a:bodyPr wrap="square" lIns="0" rIns="0" tIns="0" bIns="0" anchor="ctr">
            <a:noAutofit/>
          </a:bodyPr>
          <a:lstStyle/>
          <a:p>
            <a:pPr algn="l"/>
            <a:r>
              <a:rPr sz="1800" b="1">
                <a:solidFill>
                  <a:srgbClr val="20242B"/>
                </a:solidFill>
                <a:latin typeface="Poppins"/>
              </a:rPr>
              <a:t>Wholesale price, your retail price</a:t>
            </a:r>
          </a:p>
        </p:txBody>
      </p:sp>
      <p:sp>
        <p:nvSpPr>
          <p:cNvPr id="25" name="sq309|card|"/>
          <p:cNvSpPr/>
          <p:nvPr/>
        </p:nvSpPr>
        <p:spPr>
          <a:xfrm>
            <a:off x="4340199" y="4096512"/>
            <a:ext cx="3511296" cy="1463040"/>
          </a:xfrm>
          <a:prstGeom prst="roundRect">
            <a:avLst>
              <a:gd name="adj" fmla="val 11249"/>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q309|deco|"/>
          <p:cNvSpPr/>
          <p:nvPr/>
        </p:nvSpPr>
        <p:spPr>
          <a:xfrm>
            <a:off x="4605375" y="4526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sq309|icon|check_deep.png" descr="check_deep"/>
          <p:cNvPicPr>
            <a:picLocks noChangeAspect="1"/>
          </p:cNvPicPr>
          <p:nvPr/>
        </p:nvPicPr>
        <p:blipFill>
          <a:blip r:embed="rId3"/>
          <a:srcRect/>
          <a:stretch>
            <a:fillRect/>
          </a:stretch>
        </p:blipFill>
        <p:spPr>
          <a:xfrm>
            <a:off x="4738146" y="4659050"/>
            <a:ext cx="337962" cy="337962"/>
          </a:xfrm>
          <a:prstGeom prst="rect">
            <a:avLst/>
          </a:prstGeom>
        </p:spPr>
      </p:pic>
      <p:sp>
        <p:nvSpPr>
          <p:cNvPr id="28" name="sq309|card|"/>
          <p:cNvSpPr txBox="1"/>
          <p:nvPr/>
        </p:nvSpPr>
        <p:spPr>
          <a:xfrm>
            <a:off x="5391759" y="4279392"/>
            <a:ext cx="2231136" cy="1097280"/>
          </a:xfrm>
          <a:prstGeom prst="rect">
            <a:avLst/>
          </a:prstGeom>
          <a:noFill/>
        </p:spPr>
        <p:txBody>
          <a:bodyPr wrap="square" lIns="0" rIns="0" tIns="0" bIns="0" anchor="ctr">
            <a:noAutofit/>
          </a:bodyPr>
          <a:lstStyle/>
          <a:p>
            <a:pPr algn="l"/>
            <a:r>
              <a:rPr sz="1800" b="1">
                <a:solidFill>
                  <a:srgbClr val="20242B"/>
                </a:solidFill>
                <a:latin typeface="Poppins"/>
              </a:rPr>
              <a:t>White-label, 50 sub-accounts</a:t>
            </a:r>
          </a:p>
        </p:txBody>
      </p:sp>
      <p:sp>
        <p:nvSpPr>
          <p:cNvPr id="29" name="sq310|card|"/>
          <p:cNvSpPr/>
          <p:nvPr/>
        </p:nvSpPr>
        <p:spPr>
          <a:xfrm>
            <a:off x="8131759" y="4096512"/>
            <a:ext cx="3511296" cy="1463040"/>
          </a:xfrm>
          <a:prstGeom prst="roundRect">
            <a:avLst>
              <a:gd name="adj" fmla="val 11249"/>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q310|deco|"/>
          <p:cNvSpPr/>
          <p:nvPr/>
        </p:nvSpPr>
        <p:spPr>
          <a:xfrm>
            <a:off x="8396935" y="4526280"/>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sq310|icon|check_deep.png" descr="check_deep"/>
          <p:cNvPicPr>
            <a:picLocks noChangeAspect="1"/>
          </p:cNvPicPr>
          <p:nvPr/>
        </p:nvPicPr>
        <p:blipFill>
          <a:blip r:embed="rId3"/>
          <a:srcRect/>
          <a:stretch>
            <a:fillRect/>
          </a:stretch>
        </p:blipFill>
        <p:spPr>
          <a:xfrm>
            <a:off x="8529706" y="4659050"/>
            <a:ext cx="337962" cy="337962"/>
          </a:xfrm>
          <a:prstGeom prst="rect">
            <a:avLst/>
          </a:prstGeom>
        </p:spPr>
      </p:pic>
      <p:sp>
        <p:nvSpPr>
          <p:cNvPr id="32" name="sq310|card|"/>
          <p:cNvSpPr txBox="1"/>
          <p:nvPr/>
        </p:nvSpPr>
        <p:spPr>
          <a:xfrm>
            <a:off x="9183319" y="4279392"/>
            <a:ext cx="2231136" cy="1097280"/>
          </a:xfrm>
          <a:prstGeom prst="rect">
            <a:avLst/>
          </a:prstGeom>
          <a:noFill/>
        </p:spPr>
        <p:txBody>
          <a:bodyPr wrap="square" lIns="0" rIns="0" tIns="0" bIns="0" anchor="ctr">
            <a:noAutofit/>
          </a:bodyPr>
          <a:lstStyle/>
          <a:p>
            <a:pPr algn="l"/>
            <a:r>
              <a:rPr sz="1800" b="1">
                <a:solidFill>
                  <a:srgbClr val="20242B"/>
                </a:solidFill>
                <a:latin typeface="Poppins"/>
              </a:rPr>
              <a:t>WhatsApp commerce + AI, your brand</a:t>
            </a:r>
          </a:p>
        </p:txBody>
      </p:sp>
      <p:sp>
        <p:nvSpPr>
          <p:cNvPr id="3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311|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311|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312|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An AI marketing team and WhatsApp commerce platform, built for African SMBs.</a:t>
            </a:r>
          </a:p>
        </p:txBody>
      </p:sp>
      <p:sp>
        <p:nvSpPr>
          <p:cNvPr id="5" name="g313|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313|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14-day free trial · no card required</a:t>
            </a:r>
          </a:p>
        </p:txBody>
      </p:sp>
      <p:pic>
        <p:nvPicPr>
          <p:cNvPr id="7" name="g314|img|screenshots/composites/hero-laptop-phone_night.png" descr="FluxMuse website on a laptop and an order confirmed inside a WhatsApp chat on a phone"/>
          <p:cNvPicPr>
            <a:picLocks noChangeAspect="1"/>
          </p:cNvPicPr>
          <p:nvPr/>
        </p:nvPicPr>
        <p:blipFill>
          <a:blip r:embed="rId2"/>
          <a:srcRect l="2000" t="9000" r="6000" b="2000"/>
          <a:stretch>
            <a:fillRect/>
          </a:stretch>
        </p:blipFill>
        <p:spPr>
          <a:xfrm>
            <a:off x="4617720" y="1453147"/>
            <a:ext cx="7178039" cy="3905985"/>
          </a:xfrm>
          <a:prstGeom prst="rect">
            <a:avLst/>
          </a:prstGeom>
        </p:spPr>
      </p:pic>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1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31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How it works: one loop, run by AI</a:t>
            </a:r>
          </a:p>
        </p:txBody>
      </p:sp>
      <p:pic>
        <p:nvPicPr>
          <p:cNvPr id="4" name="g316|img|infographics/how-fluxmuse-works.png" descr="Loop: Plan (Strategist), Create (Creator), Publish (Publisher), Sell (WhatsApp commerce), Learn (Analyst), with insights feeding the next pla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1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AI WORKFORCE</a:t>
            </a:r>
          </a:p>
        </p:txBody>
      </p:sp>
      <p:sp>
        <p:nvSpPr>
          <p:cNvPr id="3" name="hdr31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Your AI marketing team</a:t>
            </a:r>
          </a:p>
        </p:txBody>
      </p:sp>
      <p:pic>
        <p:nvPicPr>
          <p:cNvPr id="4" name="g318|img|infographics/ai-agent-roster.png" descr="Four core agents: Strategist, Creator, Publisher, Analyst; plus 23 specialist Flux agents and an AI Agent Marketplace"/>
          <p:cNvPicPr>
            <a:picLocks noChangeAspect="1"/>
          </p:cNvPicPr>
          <p:nvPr/>
        </p:nvPicPr>
        <p:blipFill>
          <a:blip r:embed="rId2"/>
          <a:srcRect t="19000" b="2000"/>
          <a:stretch>
            <a:fillRect/>
          </a:stretch>
        </p:blipFill>
        <p:spPr>
          <a:xfrm>
            <a:off x="548640" y="1393727"/>
            <a:ext cx="11094415" cy="493008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1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COMMERCE</a:t>
            </a:r>
          </a:p>
        </p:txBody>
      </p:sp>
      <p:sp>
        <p:nvSpPr>
          <p:cNvPr id="3" name="hdr31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Sell inside the chat</a:t>
            </a:r>
          </a:p>
        </p:txBody>
      </p:sp>
      <p:pic>
        <p:nvPicPr>
          <p:cNvPr id="4" name="g320|img|infographics/whatsapp-commerce-flow.png" descr="Discover, Chat, Catalog, Cart, Pay with Yoco, Ozow, Paystack, pawaPay or Fincra, Confirmed, Loyalty"/>
          <p:cNvPicPr>
            <a:picLocks noChangeAspect="1"/>
          </p:cNvPicPr>
          <p:nvPr/>
        </p:nvPicPr>
        <p:blipFill>
          <a:blip r:embed="rId2"/>
          <a:srcRect l="3500" t="27200" r="3500" b="37000"/>
          <a:stretch>
            <a:fillRect/>
          </a:stretch>
        </p:blipFill>
        <p:spPr>
          <a:xfrm>
            <a:off x="606042" y="1371600"/>
            <a:ext cx="10979611" cy="2377440"/>
          </a:xfrm>
          <a:prstGeom prst="rect">
            <a:avLst/>
          </a:prstGeom>
        </p:spPr>
      </p:pic>
      <p:pic>
        <p:nvPicPr>
          <p:cNvPr id="5" name="g321|img|screenshots/composites/checkout-in-chat-3-phones.png" descr="Three WhatsApp screens: browse the catalog, review the cart, pay and get confirmation"/>
          <p:cNvPicPr>
            <a:picLocks noChangeAspect="1"/>
          </p:cNvPicPr>
          <p:nvPr/>
        </p:nvPicPr>
        <p:blipFill>
          <a:blip r:embed="rId3"/>
          <a:srcRect l="12000" t="20500" r="12000" b="2000"/>
          <a:stretch>
            <a:fillRect/>
          </a:stretch>
        </p:blipFill>
        <p:spPr>
          <a:xfrm>
            <a:off x="548640" y="3886200"/>
            <a:ext cx="4272286" cy="2450592"/>
          </a:xfrm>
          <a:prstGeom prst="rect">
            <a:avLst/>
          </a:prstGeom>
        </p:spPr>
      </p:pic>
      <p:sp>
        <p:nvSpPr>
          <p:cNvPr id="6" name="g322|deco|"/>
          <p:cNvSpPr/>
          <p:nvPr/>
        </p:nvSpPr>
        <p:spPr>
          <a:xfrm>
            <a:off x="5559552" y="4023360"/>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322|icon|refresh_deep.png" descr="refresh_deep"/>
          <p:cNvPicPr>
            <a:picLocks noChangeAspect="1"/>
          </p:cNvPicPr>
          <p:nvPr/>
        </p:nvPicPr>
        <p:blipFill>
          <a:blip r:embed="rId4"/>
          <a:srcRect/>
          <a:stretch>
            <a:fillRect/>
          </a:stretch>
        </p:blipFill>
        <p:spPr>
          <a:xfrm>
            <a:off x="5668182" y="4131990"/>
            <a:ext cx="276514" cy="276514"/>
          </a:xfrm>
          <a:prstGeom prst="rect">
            <a:avLst/>
          </a:prstGeom>
        </p:spPr>
      </p:pic>
      <p:sp>
        <p:nvSpPr>
          <p:cNvPr id="8" name="g322|body|"/>
          <p:cNvSpPr txBox="1"/>
          <p:nvPr/>
        </p:nvSpPr>
        <p:spPr>
          <a:xfrm>
            <a:off x="6217920" y="4023360"/>
            <a:ext cx="5422392" cy="493776"/>
          </a:xfrm>
          <a:prstGeom prst="rect">
            <a:avLst/>
          </a:prstGeom>
          <a:noFill/>
        </p:spPr>
        <p:txBody>
          <a:bodyPr wrap="square" lIns="0" rIns="0" tIns="0" bIns="0" anchor="ctr">
            <a:noAutofit/>
          </a:bodyPr>
          <a:lstStyle/>
          <a:p>
            <a:pPr algn="l"/>
            <a:r>
              <a:rPr sz="1600" b="0">
                <a:solidFill>
                  <a:srgbClr val="20242B"/>
                </a:solidFill>
                <a:latin typeface="Inter"/>
              </a:rPr>
              <a:t>Abandoned carts get an automatic recovery message.</a:t>
            </a:r>
          </a:p>
        </p:txBody>
      </p:sp>
      <p:sp>
        <p:nvSpPr>
          <p:cNvPr id="9" name="g323|deco|"/>
          <p:cNvSpPr/>
          <p:nvPr/>
        </p:nvSpPr>
        <p:spPr>
          <a:xfrm>
            <a:off x="5559552" y="4681728"/>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323|icon|card_deep.png" descr="card_deep"/>
          <p:cNvPicPr>
            <a:picLocks noChangeAspect="1"/>
          </p:cNvPicPr>
          <p:nvPr/>
        </p:nvPicPr>
        <p:blipFill>
          <a:blip r:embed="rId5"/>
          <a:srcRect/>
          <a:stretch>
            <a:fillRect/>
          </a:stretch>
        </p:blipFill>
        <p:spPr>
          <a:xfrm>
            <a:off x="5668182" y="4790358"/>
            <a:ext cx="276514" cy="276514"/>
          </a:xfrm>
          <a:prstGeom prst="rect">
            <a:avLst/>
          </a:prstGeom>
        </p:spPr>
      </p:pic>
      <p:sp>
        <p:nvSpPr>
          <p:cNvPr id="11" name="g323|body|"/>
          <p:cNvSpPr txBox="1"/>
          <p:nvPr/>
        </p:nvSpPr>
        <p:spPr>
          <a:xfrm>
            <a:off x="6217920" y="4681728"/>
            <a:ext cx="5422392" cy="493776"/>
          </a:xfrm>
          <a:prstGeom prst="rect">
            <a:avLst/>
          </a:prstGeom>
          <a:noFill/>
        </p:spPr>
        <p:txBody>
          <a:bodyPr wrap="square" lIns="0" rIns="0" tIns="0" bIns="0" anchor="ctr">
            <a:noAutofit/>
          </a:bodyPr>
          <a:lstStyle/>
          <a:p>
            <a:pPr algn="l"/>
            <a:r>
              <a:rPr sz="1600" b="0">
                <a:solidFill>
                  <a:srgbClr val="20242B"/>
                </a:solidFill>
                <a:latin typeface="Inter"/>
              </a:rPr>
              <a:t>Buyers pay locally, with no redirect to a payment page.</a:t>
            </a:r>
          </a:p>
        </p:txBody>
      </p:sp>
      <p:sp>
        <p:nvSpPr>
          <p:cNvPr id="12" name="g324|deco|"/>
          <p:cNvSpPr/>
          <p:nvPr/>
        </p:nvSpPr>
        <p:spPr>
          <a:xfrm>
            <a:off x="5559552" y="5340096"/>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324|icon|users_deep.png" descr="users_deep"/>
          <p:cNvPicPr>
            <a:picLocks noChangeAspect="1"/>
          </p:cNvPicPr>
          <p:nvPr/>
        </p:nvPicPr>
        <p:blipFill>
          <a:blip r:embed="rId6"/>
          <a:srcRect/>
          <a:stretch>
            <a:fillRect/>
          </a:stretch>
        </p:blipFill>
        <p:spPr>
          <a:xfrm>
            <a:off x="5668182" y="5448726"/>
            <a:ext cx="276514" cy="276514"/>
          </a:xfrm>
          <a:prstGeom prst="rect">
            <a:avLst/>
          </a:prstGeom>
        </p:spPr>
      </p:pic>
      <p:sp>
        <p:nvSpPr>
          <p:cNvPr id="14" name="g324|body|"/>
          <p:cNvSpPr txBox="1"/>
          <p:nvPr/>
        </p:nvSpPr>
        <p:spPr>
          <a:xfrm>
            <a:off x="6217920" y="5340096"/>
            <a:ext cx="5422392" cy="493776"/>
          </a:xfrm>
          <a:prstGeom prst="rect">
            <a:avLst/>
          </a:prstGeom>
          <a:noFill/>
        </p:spPr>
        <p:txBody>
          <a:bodyPr wrap="square" lIns="0" rIns="0" tIns="0" bIns="0" anchor="ctr">
            <a:noAutofit/>
          </a:bodyPr>
          <a:lstStyle/>
          <a:p>
            <a:pPr algn="l"/>
            <a:r>
              <a:rPr sz="1600" b="0">
                <a:solidFill>
                  <a:srgbClr val="20242B"/>
                </a:solidFill>
                <a:latin typeface="Inter"/>
              </a:rPr>
              <a:t>Segments and retargeting start the next sale.</a:t>
            </a:r>
          </a:p>
        </p:txBody>
      </p:sp>
      <p:sp>
        <p:nvSpPr>
          <p:cNvPr id="15" name="g325|caption|"/>
          <p:cNvSpPr txBox="1"/>
          <p:nvPr/>
        </p:nvSpPr>
        <p:spPr>
          <a:xfrm>
            <a:off x="5577840" y="6053328"/>
            <a:ext cx="6035040" cy="237744"/>
          </a:xfrm>
          <a:prstGeom prst="rect">
            <a:avLst/>
          </a:prstGeom>
          <a:noFill/>
        </p:spPr>
        <p:txBody>
          <a:bodyPr wrap="square" lIns="0" rIns="0" tIns="0" bIns="0" anchor="t">
            <a:noAutofit/>
          </a:bodyPr>
          <a:lstStyle/>
          <a:p>
            <a:pPr algn="l"/>
            <a:r>
              <a:rPr sz="1100" b="0">
                <a:solidFill>
                  <a:srgbClr val="5B6670"/>
                </a:solidFill>
                <a:latin typeface="Inter"/>
              </a:rPr>
              <a:t>All five rails live September 2026 (pawaPay and Fincra from 14 Sept).</a:t>
            </a:r>
          </a:p>
        </p:txBody>
      </p:sp>
      <p:sp>
        <p:nvSpPr>
          <p:cNvPr id="1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26|eyebrow|"/>
          <p:cNvSpPr txBox="1"/>
          <p:nvPr/>
        </p:nvSpPr>
        <p:spPr>
          <a:xfrm>
            <a:off x="548640" y="384048"/>
            <a:ext cx="6949440" cy="237744"/>
          </a:xfrm>
          <a:prstGeom prst="rect">
            <a:avLst/>
          </a:prstGeom>
          <a:noFill/>
        </p:spPr>
        <p:txBody>
          <a:bodyPr wrap="square" lIns="0" rIns="0" tIns="0" bIns="0" anchor="t">
            <a:noAutofit/>
          </a:bodyPr>
          <a:lstStyle/>
          <a:p>
            <a:pPr algn="l"/>
            <a:r>
              <a:rPr sz="1200" b="1" spc="150">
                <a:solidFill>
                  <a:srgbClr val="C24E00"/>
                </a:solidFill>
                <a:latin typeface="Inter"/>
              </a:rPr>
              <a:t>CHANNELS</a:t>
            </a:r>
          </a:p>
        </p:txBody>
      </p:sp>
      <p:sp>
        <p:nvSpPr>
          <p:cNvPr id="3" name="hdr326|title|"/>
          <p:cNvSpPr txBox="1"/>
          <p:nvPr/>
        </p:nvSpPr>
        <p:spPr>
          <a:xfrm>
            <a:off x="548640" y="640080"/>
            <a:ext cx="6949440" cy="713232"/>
          </a:xfrm>
          <a:prstGeom prst="rect">
            <a:avLst/>
          </a:prstGeom>
          <a:noFill/>
        </p:spPr>
        <p:txBody>
          <a:bodyPr wrap="square" lIns="0" rIns="0" tIns="0" bIns="0" anchor="t">
            <a:noAutofit/>
          </a:bodyPr>
          <a:lstStyle/>
          <a:p>
            <a:pPr algn="l"/>
            <a:r>
              <a:rPr sz="3200" b="1">
                <a:solidFill>
                  <a:srgbClr val="20242B"/>
                </a:solidFill>
                <a:latin typeface="Poppins"/>
              </a:rPr>
              <a:t>One platform, every channel</a:t>
            </a:r>
          </a:p>
        </p:txBody>
      </p:sp>
      <p:sp>
        <p:nvSpPr>
          <p:cNvPr id="4" name="g327|caption|"/>
          <p:cNvSpPr txBox="1"/>
          <p:nvPr/>
        </p:nvSpPr>
        <p:spPr>
          <a:xfrm>
            <a:off x="7635240" y="676656"/>
            <a:ext cx="4005072" cy="566928"/>
          </a:xfrm>
          <a:prstGeom prst="rect">
            <a:avLst/>
          </a:prstGeom>
          <a:noFill/>
        </p:spPr>
        <p:txBody>
          <a:bodyPr wrap="square" lIns="0" rIns="0" tIns="0" bIns="0" anchor="t">
            <a:noAutofit/>
          </a:bodyPr>
          <a:lstStyle/>
          <a:p>
            <a:pPr algn="r"/>
            <a:r>
              <a:rPr sz="1100" b="0">
                <a:solidFill>
                  <a:srgbClr val="5B6670"/>
                </a:solidFill>
                <a:latin typeface="Inter"/>
              </a:rPr>
              <a:t>Instagram: in Meta review. TikTok, LinkedIn, X, YouTube, Threads and Pinterest: coming soon.</a:t>
            </a:r>
          </a:p>
        </p:txBody>
      </p:sp>
      <p:pic>
        <p:nvPicPr>
          <p:cNvPr id="5" name="g328|img|infographics/omnichannel-hub.png" descr="FluxMuse AI team connected to WhatsApp, Facebook Pages, Messenger, email, SMS, USSD, website chat widget, landing pages and link-in-bio; Instagram in Meta review"/>
          <p:cNvPicPr>
            <a:picLocks noChangeAspect="1"/>
          </p:cNvPicPr>
          <p:nvPr/>
        </p:nvPicPr>
        <p:blipFill>
          <a:blip r:embed="rId2"/>
          <a:srcRect t="19500"/>
          <a:stretch>
            <a:fillRect/>
          </a:stretch>
        </p:blipFill>
        <p:spPr>
          <a:xfrm>
            <a:off x="643524" y="1389888"/>
            <a:ext cx="10904645" cy="4937760"/>
          </a:xfrm>
          <a:prstGeom prst="rect">
            <a:avLst/>
          </a:prstGeom>
        </p:spPr>
      </p:pic>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2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AGENCIES &amp; PARTNERS</a:t>
            </a:r>
          </a:p>
        </p:txBody>
      </p:sp>
      <p:sp>
        <p:nvSpPr>
          <p:cNvPr id="3" name="hdr32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Agencies: serve more clients, your brand</a:t>
            </a:r>
          </a:p>
        </p:txBody>
      </p:sp>
      <p:pic>
        <p:nvPicPr>
          <p:cNvPr id="4" name="g330|img|infographics/segment-agency.png" descr="Agencies: pains, FluxMuse answers, Agency tier and partner wholesale pric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3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AGENCY PARTNER MODEL · ILLUSTRATIVE ECONOMICS</a:t>
            </a:r>
          </a:p>
        </p:txBody>
      </p:sp>
      <p:sp>
        <p:nvSpPr>
          <p:cNvPr id="3" name="hdr33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Resell FluxMuse under your own brand</a:t>
            </a:r>
          </a:p>
        </p:txBody>
      </p:sp>
      <p:pic>
        <p:nvPicPr>
          <p:cNvPr id="4" name="g332|img|infographics/agency-partner-model.png" descr="FluxMuse to agency on the wholesale Agency tier to clients at a retail price the agency sets; illustrative example of 20 clients"/>
          <p:cNvPicPr>
            <a:picLocks noChangeAspect="1"/>
          </p:cNvPicPr>
          <p:nvPr/>
        </p:nvPicPr>
        <p:blipFill>
          <a:blip r:embed="rId2"/>
          <a:srcRect t="19500"/>
          <a:stretch>
            <a:fillRect/>
          </a:stretch>
        </p:blipFill>
        <p:spPr>
          <a:xfrm>
            <a:off x="643524" y="1389888"/>
            <a:ext cx="10904645"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3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PARTNER PLAN · AGENCY TIER AT WHOLESALE</a:t>
            </a:r>
          </a:p>
        </p:txBody>
      </p:sp>
      <p:sp>
        <p:nvSpPr>
          <p:cNvPr id="3" name="hdr33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Everything you need to resell</a:t>
            </a:r>
          </a:p>
        </p:txBody>
      </p:sp>
      <p:sp>
        <p:nvSpPr>
          <p:cNvPr id="4" name="price334|card|"/>
          <p:cNvSpPr/>
          <p:nvPr/>
        </p:nvSpPr>
        <p:spPr>
          <a:xfrm>
            <a:off x="548640" y="1536192"/>
            <a:ext cx="3703320" cy="4617720"/>
          </a:xfrm>
          <a:prstGeom prst="roundRect">
            <a:avLst>
              <a:gd name="adj" fmla="val 493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ice334|eyebrow|"/>
          <p:cNvSpPr txBox="1"/>
          <p:nvPr/>
        </p:nvSpPr>
        <p:spPr>
          <a:xfrm>
            <a:off x="914400" y="1828800"/>
            <a:ext cx="3017520" cy="329184"/>
          </a:xfrm>
          <a:prstGeom prst="rect">
            <a:avLst/>
          </a:prstGeom>
          <a:noFill/>
        </p:spPr>
        <p:txBody>
          <a:bodyPr wrap="square" lIns="0" rIns="0" tIns="0" bIns="0" anchor="t">
            <a:noAutofit/>
          </a:bodyPr>
          <a:lstStyle/>
          <a:p>
            <a:pPr algn="l"/>
            <a:r>
              <a:rPr sz="1300" b="1" spc="120">
                <a:solidFill>
                  <a:srgbClr val="C24E00"/>
                </a:solidFill>
                <a:latin typeface="Inter"/>
              </a:rPr>
              <a:t>PARTNER WHOLESALE</a:t>
            </a:r>
          </a:p>
        </p:txBody>
      </p:sp>
      <p:sp>
        <p:nvSpPr>
          <p:cNvPr id="6" name="price334|card|"/>
          <p:cNvSpPr txBox="1"/>
          <p:nvPr/>
        </p:nvSpPr>
        <p:spPr>
          <a:xfrm>
            <a:off x="914400" y="2194560"/>
            <a:ext cx="3108960" cy="1097280"/>
          </a:xfrm>
          <a:prstGeom prst="rect">
            <a:avLst/>
          </a:prstGeom>
          <a:noFill/>
        </p:spPr>
        <p:txBody>
          <a:bodyPr wrap="square" lIns="0" rIns="0" tIns="0" bIns="0" anchor="t">
            <a:noAutofit/>
          </a:bodyPr>
          <a:lstStyle/>
          <a:p>
            <a:pPr algn="l"/>
            <a:r>
              <a:rPr sz="5400" b="1">
                <a:solidFill>
                  <a:srgbClr val="20242B"/>
                </a:solidFill>
                <a:latin typeface="Poppins"/>
              </a:rPr>
              <a:t>R5,599</a:t>
            </a:r>
          </a:p>
        </p:txBody>
      </p:sp>
      <p:sp>
        <p:nvSpPr>
          <p:cNvPr id="7" name="price334|card|"/>
          <p:cNvSpPr txBox="1"/>
          <p:nvPr/>
        </p:nvSpPr>
        <p:spPr>
          <a:xfrm>
            <a:off x="914400" y="3337560"/>
            <a:ext cx="3017520" cy="640080"/>
          </a:xfrm>
          <a:prstGeom prst="rect">
            <a:avLst/>
          </a:prstGeom>
          <a:noFill/>
        </p:spPr>
        <p:txBody>
          <a:bodyPr wrap="square" lIns="0" rIns="0" tIns="0" bIns="0" anchor="t">
            <a:noAutofit/>
          </a:bodyPr>
          <a:lstStyle/>
          <a:p>
            <a:pPr algn="l"/>
            <a:r>
              <a:rPr sz="1600" b="0">
                <a:solidFill>
                  <a:srgbClr val="20242B"/>
                </a:solidFill>
                <a:latin typeface="Inter"/>
              </a:rPr>
              <a:t>per month, billed to your agency</a:t>
            </a:r>
          </a:p>
        </p:txBody>
      </p:sp>
      <p:sp>
        <p:nvSpPr>
          <p:cNvPr id="8" name="price334|card|"/>
          <p:cNvSpPr txBox="1"/>
          <p:nvPr/>
        </p:nvSpPr>
        <p:spPr>
          <a:xfrm>
            <a:off x="914400" y="4114800"/>
            <a:ext cx="3017520" cy="640080"/>
          </a:xfrm>
          <a:prstGeom prst="rect">
            <a:avLst/>
          </a:prstGeom>
          <a:noFill/>
        </p:spPr>
        <p:txBody>
          <a:bodyPr wrap="square" lIns="0" rIns="0" tIns="0" bIns="0" anchor="t">
            <a:noAutofit/>
          </a:bodyPr>
          <a:lstStyle/>
          <a:p>
            <a:pPr algn="l"/>
            <a:r>
              <a:rPr sz="1600" b="1">
                <a:solidFill>
                  <a:srgbClr val="20242B"/>
                </a:solidFill>
                <a:latin typeface="Inter"/>
              </a:rPr>
              <a:t>30% off the R7,999 Agency list price</a:t>
            </a:r>
          </a:p>
        </p:txBody>
      </p:sp>
      <p:sp>
        <p:nvSpPr>
          <p:cNvPr id="9" name="price334|card|"/>
          <p:cNvSpPr txBox="1"/>
          <p:nvPr/>
        </p:nvSpPr>
        <p:spPr>
          <a:xfrm>
            <a:off x="914400" y="4937760"/>
            <a:ext cx="3017520" cy="822960"/>
          </a:xfrm>
          <a:prstGeom prst="rect">
            <a:avLst/>
          </a:prstGeom>
          <a:noFill/>
        </p:spPr>
        <p:txBody>
          <a:bodyPr wrap="square" lIns="0" rIns="0" tIns="0" bIns="0" anchor="t">
            <a:noAutofit/>
          </a:bodyPr>
          <a:lstStyle/>
          <a:p>
            <a:pPr algn="l"/>
            <a:r>
              <a:rPr sz="1400" b="0">
                <a:solidFill>
                  <a:srgbClr val="5B6670"/>
                </a:solidFill>
                <a:latin typeface="Inter"/>
              </a:rPr>
              <a:t>Annual: R55,990 (10× monthly). Launch offers don't stack.</a:t>
            </a:r>
          </a:p>
        </p:txBody>
      </p:sp>
      <p:sp>
        <p:nvSpPr>
          <p:cNvPr id="10" name="inc335|card|"/>
          <p:cNvSpPr/>
          <p:nvPr/>
        </p:nvSpPr>
        <p:spPr>
          <a:xfrm>
            <a:off x="4526280" y="153619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nc335|deco|"/>
          <p:cNvSpPr/>
          <p:nvPr/>
        </p:nvSpPr>
        <p:spPr>
          <a:xfrm>
            <a:off x="4791456" y="189280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inc335|icon|layers_deep.png" descr="layers_deep"/>
          <p:cNvPicPr>
            <a:picLocks noChangeAspect="1"/>
          </p:cNvPicPr>
          <p:nvPr/>
        </p:nvPicPr>
        <p:blipFill>
          <a:blip r:embed="rId2"/>
          <a:srcRect/>
          <a:stretch>
            <a:fillRect/>
          </a:stretch>
        </p:blipFill>
        <p:spPr>
          <a:xfrm>
            <a:off x="4936296" y="2037648"/>
            <a:ext cx="368686" cy="368686"/>
          </a:xfrm>
          <a:prstGeom prst="rect">
            <a:avLst/>
          </a:prstGeom>
        </p:spPr>
      </p:pic>
      <p:sp>
        <p:nvSpPr>
          <p:cNvPr id="13" name="inc335|card|"/>
          <p:cNvSpPr txBox="1"/>
          <p:nvPr/>
        </p:nvSpPr>
        <p:spPr>
          <a:xfrm>
            <a:off x="5623560" y="1719072"/>
            <a:ext cx="2139696" cy="1005840"/>
          </a:xfrm>
          <a:prstGeom prst="rect">
            <a:avLst/>
          </a:prstGeom>
          <a:noFill/>
        </p:spPr>
        <p:txBody>
          <a:bodyPr wrap="square" lIns="0" rIns="0" tIns="0" bIns="0" anchor="ctr">
            <a:noAutofit/>
          </a:bodyPr>
          <a:lstStyle/>
          <a:p>
            <a:pPr algn="l"/>
            <a:r>
              <a:rPr sz="1800" b="1">
                <a:solidFill>
                  <a:srgbClr val="20242B"/>
                </a:solidFill>
                <a:latin typeface="Poppins"/>
              </a:rPr>
              <a:t>Full white-label</a:t>
            </a:r>
          </a:p>
        </p:txBody>
      </p:sp>
      <p:sp>
        <p:nvSpPr>
          <p:cNvPr id="14" name="inc336|card|"/>
          <p:cNvSpPr/>
          <p:nvPr/>
        </p:nvSpPr>
        <p:spPr>
          <a:xfrm>
            <a:off x="8220456" y="153619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c336|deco|"/>
          <p:cNvSpPr/>
          <p:nvPr/>
        </p:nvSpPr>
        <p:spPr>
          <a:xfrm>
            <a:off x="8485632" y="189280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inc336|icon|users_deep.png" descr="users_deep"/>
          <p:cNvPicPr>
            <a:picLocks noChangeAspect="1"/>
          </p:cNvPicPr>
          <p:nvPr/>
        </p:nvPicPr>
        <p:blipFill>
          <a:blip r:embed="rId3"/>
          <a:srcRect/>
          <a:stretch>
            <a:fillRect/>
          </a:stretch>
        </p:blipFill>
        <p:spPr>
          <a:xfrm>
            <a:off x="8630472" y="2037648"/>
            <a:ext cx="368686" cy="368686"/>
          </a:xfrm>
          <a:prstGeom prst="rect">
            <a:avLst/>
          </a:prstGeom>
        </p:spPr>
      </p:pic>
      <p:sp>
        <p:nvSpPr>
          <p:cNvPr id="17" name="inc336|card|"/>
          <p:cNvSpPr txBox="1"/>
          <p:nvPr/>
        </p:nvSpPr>
        <p:spPr>
          <a:xfrm>
            <a:off x="9317736" y="1719072"/>
            <a:ext cx="2139696" cy="1005840"/>
          </a:xfrm>
          <a:prstGeom prst="rect">
            <a:avLst/>
          </a:prstGeom>
          <a:noFill/>
        </p:spPr>
        <p:txBody>
          <a:bodyPr wrap="square" lIns="0" rIns="0" tIns="0" bIns="0" anchor="ctr">
            <a:noAutofit/>
          </a:bodyPr>
          <a:lstStyle/>
          <a:p>
            <a:pPr algn="l"/>
            <a:r>
              <a:rPr sz="1800" b="1">
                <a:solidFill>
                  <a:srgbClr val="20242B"/>
                </a:solidFill>
                <a:latin typeface="Poppins"/>
              </a:rPr>
              <a:t>50 client sub-accounts</a:t>
            </a:r>
          </a:p>
        </p:txBody>
      </p:sp>
      <p:sp>
        <p:nvSpPr>
          <p:cNvPr id="18" name="inc337|card|"/>
          <p:cNvSpPr/>
          <p:nvPr/>
        </p:nvSpPr>
        <p:spPr>
          <a:xfrm>
            <a:off x="4526280" y="315925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nc337|deco|"/>
          <p:cNvSpPr/>
          <p:nvPr/>
        </p:nvSpPr>
        <p:spPr>
          <a:xfrm>
            <a:off x="4791456" y="3515868"/>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inc337|icon|wallet_deep.png" descr="wallet_deep"/>
          <p:cNvPicPr>
            <a:picLocks noChangeAspect="1"/>
          </p:cNvPicPr>
          <p:nvPr/>
        </p:nvPicPr>
        <p:blipFill>
          <a:blip r:embed="rId4"/>
          <a:srcRect/>
          <a:stretch>
            <a:fillRect/>
          </a:stretch>
        </p:blipFill>
        <p:spPr>
          <a:xfrm>
            <a:off x="4936296" y="3660708"/>
            <a:ext cx="368686" cy="368686"/>
          </a:xfrm>
          <a:prstGeom prst="rect">
            <a:avLst/>
          </a:prstGeom>
        </p:spPr>
      </p:pic>
      <p:sp>
        <p:nvSpPr>
          <p:cNvPr id="21" name="inc337|card|"/>
          <p:cNvSpPr txBox="1"/>
          <p:nvPr/>
        </p:nvSpPr>
        <p:spPr>
          <a:xfrm>
            <a:off x="5623560" y="3342132"/>
            <a:ext cx="2139696" cy="1005840"/>
          </a:xfrm>
          <a:prstGeom prst="rect">
            <a:avLst/>
          </a:prstGeom>
          <a:noFill/>
        </p:spPr>
        <p:txBody>
          <a:bodyPr wrap="square" lIns="0" rIns="0" tIns="0" bIns="0" anchor="ctr">
            <a:noAutofit/>
          </a:bodyPr>
          <a:lstStyle/>
          <a:p>
            <a:pPr algn="l"/>
            <a:r>
              <a:rPr sz="1800" b="1">
                <a:solidFill>
                  <a:srgbClr val="20242B"/>
                </a:solidFill>
                <a:latin typeface="Poppins"/>
              </a:rPr>
              <a:t>Reseller billing</a:t>
            </a:r>
          </a:p>
        </p:txBody>
      </p:sp>
      <p:sp>
        <p:nvSpPr>
          <p:cNvPr id="22" name="inc338|card|"/>
          <p:cNvSpPr/>
          <p:nvPr/>
        </p:nvSpPr>
        <p:spPr>
          <a:xfrm>
            <a:off x="8220456" y="315925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nc338|deco|"/>
          <p:cNvSpPr/>
          <p:nvPr/>
        </p:nvSpPr>
        <p:spPr>
          <a:xfrm>
            <a:off x="8485632" y="3515868"/>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inc338|icon|globe_deep.png" descr="globe_deep"/>
          <p:cNvPicPr>
            <a:picLocks noChangeAspect="1"/>
          </p:cNvPicPr>
          <p:nvPr/>
        </p:nvPicPr>
        <p:blipFill>
          <a:blip r:embed="rId5"/>
          <a:srcRect/>
          <a:stretch>
            <a:fillRect/>
          </a:stretch>
        </p:blipFill>
        <p:spPr>
          <a:xfrm>
            <a:off x="8630472" y="3660708"/>
            <a:ext cx="368686" cy="368686"/>
          </a:xfrm>
          <a:prstGeom prst="rect">
            <a:avLst/>
          </a:prstGeom>
        </p:spPr>
      </p:pic>
      <p:sp>
        <p:nvSpPr>
          <p:cNvPr id="25" name="inc338|card|"/>
          <p:cNvSpPr txBox="1"/>
          <p:nvPr/>
        </p:nvSpPr>
        <p:spPr>
          <a:xfrm>
            <a:off x="9317736" y="3342132"/>
            <a:ext cx="2139696" cy="1005840"/>
          </a:xfrm>
          <a:prstGeom prst="rect">
            <a:avLst/>
          </a:prstGeom>
          <a:noFill/>
        </p:spPr>
        <p:txBody>
          <a:bodyPr wrap="square" lIns="0" rIns="0" tIns="0" bIns="0" anchor="ctr">
            <a:noAutofit/>
          </a:bodyPr>
          <a:lstStyle/>
          <a:p>
            <a:pPr algn="l"/>
            <a:r>
              <a:rPr sz="1800" b="1">
                <a:solidFill>
                  <a:srgbClr val="20242B"/>
                </a:solidFill>
                <a:latin typeface="Poppins"/>
              </a:rPr>
              <a:t>80 channels</a:t>
            </a:r>
          </a:p>
        </p:txBody>
      </p:sp>
      <p:sp>
        <p:nvSpPr>
          <p:cNvPr id="26" name="inc339|card|"/>
          <p:cNvSpPr/>
          <p:nvPr/>
        </p:nvSpPr>
        <p:spPr>
          <a:xfrm>
            <a:off x="4526280" y="478231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c339|deco|"/>
          <p:cNvSpPr/>
          <p:nvPr/>
        </p:nvSpPr>
        <p:spPr>
          <a:xfrm>
            <a:off x="4791456" y="513892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inc339|icon|sparkles_deep.png" descr="sparkles_deep"/>
          <p:cNvPicPr>
            <a:picLocks noChangeAspect="1"/>
          </p:cNvPicPr>
          <p:nvPr/>
        </p:nvPicPr>
        <p:blipFill>
          <a:blip r:embed="rId6"/>
          <a:srcRect/>
          <a:stretch>
            <a:fillRect/>
          </a:stretch>
        </p:blipFill>
        <p:spPr>
          <a:xfrm>
            <a:off x="4936296" y="5283768"/>
            <a:ext cx="368686" cy="368686"/>
          </a:xfrm>
          <a:prstGeom prst="rect">
            <a:avLst/>
          </a:prstGeom>
        </p:spPr>
      </p:pic>
      <p:sp>
        <p:nvSpPr>
          <p:cNvPr id="29" name="inc339|card|"/>
          <p:cNvSpPr txBox="1"/>
          <p:nvPr/>
        </p:nvSpPr>
        <p:spPr>
          <a:xfrm>
            <a:off x="5623560" y="4965192"/>
            <a:ext cx="2139696" cy="1005840"/>
          </a:xfrm>
          <a:prstGeom prst="rect">
            <a:avLst/>
          </a:prstGeom>
          <a:noFill/>
        </p:spPr>
        <p:txBody>
          <a:bodyPr wrap="square" lIns="0" rIns="0" tIns="0" bIns="0" anchor="ctr">
            <a:noAutofit/>
          </a:bodyPr>
          <a:lstStyle/>
          <a:p>
            <a:pPr algn="l"/>
            <a:r>
              <a:rPr sz="1800" b="1">
                <a:solidFill>
                  <a:srgbClr val="20242B"/>
                </a:solidFill>
                <a:latin typeface="Poppins"/>
              </a:rPr>
              <a:t>500,000 AI credits/mo</a:t>
            </a:r>
          </a:p>
        </p:txBody>
      </p:sp>
      <p:sp>
        <p:nvSpPr>
          <p:cNvPr id="30" name="inc340|card|"/>
          <p:cNvSpPr/>
          <p:nvPr/>
        </p:nvSpPr>
        <p:spPr>
          <a:xfrm>
            <a:off x="8220456" y="4782312"/>
            <a:ext cx="3419856" cy="1371600"/>
          </a:xfrm>
          <a:prstGeom prst="roundRect">
            <a:avLst>
              <a:gd name="adj" fmla="val 12000"/>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c340|deco|"/>
          <p:cNvSpPr/>
          <p:nvPr/>
        </p:nvSpPr>
        <p:spPr>
          <a:xfrm>
            <a:off x="8485632" y="5138927"/>
            <a:ext cx="658368" cy="658368"/>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inc340|icon|chat_deep.png" descr="chat_deep"/>
          <p:cNvPicPr>
            <a:picLocks noChangeAspect="1"/>
          </p:cNvPicPr>
          <p:nvPr/>
        </p:nvPicPr>
        <p:blipFill>
          <a:blip r:embed="rId7"/>
          <a:srcRect/>
          <a:stretch>
            <a:fillRect/>
          </a:stretch>
        </p:blipFill>
        <p:spPr>
          <a:xfrm>
            <a:off x="8630472" y="5283768"/>
            <a:ext cx="368686" cy="368686"/>
          </a:xfrm>
          <a:prstGeom prst="rect">
            <a:avLst/>
          </a:prstGeom>
        </p:spPr>
      </p:pic>
      <p:sp>
        <p:nvSpPr>
          <p:cNvPr id="33" name="inc340|card|"/>
          <p:cNvSpPr txBox="1"/>
          <p:nvPr/>
        </p:nvSpPr>
        <p:spPr>
          <a:xfrm>
            <a:off x="9317736" y="4965192"/>
            <a:ext cx="2139696" cy="1005840"/>
          </a:xfrm>
          <a:prstGeom prst="rect">
            <a:avLst/>
          </a:prstGeom>
          <a:noFill/>
        </p:spPr>
        <p:txBody>
          <a:bodyPr wrap="square" lIns="0" rIns="0" tIns="0" bIns="0" anchor="ctr">
            <a:noAutofit/>
          </a:bodyPr>
          <a:lstStyle/>
          <a:p>
            <a:pPr algn="l"/>
            <a:r>
              <a:rPr sz="1800" b="1">
                <a:solidFill>
                  <a:srgbClr val="20242B"/>
                </a:solidFill>
                <a:latin typeface="Poppins"/>
              </a:rPr>
              <a:t>Dedicated support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4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30% OFF AGENCY LIST · EVERY BILLING CURRENCY</a:t>
            </a:r>
          </a:p>
        </p:txBody>
      </p:sp>
      <p:sp>
        <p:nvSpPr>
          <p:cNvPr id="3" name="hdr34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Partner wholesale pricing</a:t>
            </a:r>
          </a:p>
        </p:txBody>
      </p:sp>
      <p:graphicFrame>
        <p:nvGraphicFramePr>
          <p:cNvPr id="4" name="g342|table|wholesale"/>
          <p:cNvGraphicFramePr>
            <a:graphicFrameLocks noGrp="1"/>
          </p:cNvGraphicFramePr>
          <p:nvPr/>
        </p:nvGraphicFramePr>
        <p:xfrm>
          <a:off x="548640" y="1508760"/>
          <a:ext cx="11091672" cy="2377440"/>
        </p:xfrm>
        <a:graphic>
          <a:graphicData uri="http://schemas.openxmlformats.org/drawingml/2006/table">
            <a:tbl>
              <a:tblPr firstRow="0" bandRow="0"/>
              <a:tblGrid>
                <a:gridCol w="3319272"/>
                <a:gridCol w="1554480"/>
                <a:gridCol w="1554480"/>
                <a:gridCol w="1554480"/>
                <a:gridCol w="1554480"/>
                <a:gridCol w="1554480"/>
              </a:tblGrid>
              <a:tr h="566928">
                <a:tc>
                  <a:txBody>
                    <a:bodyPr wrap="square"/>
                    <a:lstStyle/>
                    <a:p>
                      <a:pPr algn="l"/>
                      <a:r>
                        <a:rPr sz="1600" b="1">
                          <a:solidFill>
                            <a:srgbClr val="FFFFFF"/>
                          </a:solidFill>
                          <a:latin typeface="Poppins"/>
                        </a:rPr>
                        <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ZAR</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NGN</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KES</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GHS</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USD</a:t>
                      </a:r>
                    </a:p>
                  </a:txBody>
                  <a:tcPr marL="109728" marR="109728" marT="36576" marB="36576" anchor="ctr">
                    <a:lnL w="0">
                      <a:noFill/>
                    </a:lnL>
                    <a:lnR w="0">
                      <a:noFill/>
                    </a:lnR>
                    <a:lnT w="0">
                      <a:noFill/>
                    </a:lnT>
                    <a:lnB w="0">
                      <a:noFill/>
                    </a:lnB>
                    <a:solidFill>
                      <a:srgbClr val="0F1419"/>
                    </a:solidFill>
                  </a:tcPr>
                </a:tc>
              </a:tr>
              <a:tr h="603504">
                <a:tc>
                  <a:txBody>
                    <a:bodyPr wrap="square"/>
                    <a:lstStyle/>
                    <a:p>
                      <a:pPr algn="l"/>
                      <a:r>
                        <a:rPr sz="1600" b="1">
                          <a:solidFill>
                            <a:srgbClr val="20242B"/>
                          </a:solidFill>
                          <a:latin typeface="Inter"/>
                        </a:rPr>
                        <a:t>Agency list / month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R7,999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₦662,000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KSh 64,499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GH₵ 5,439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$429</a:t>
                      </a:r>
                    </a:p>
                  </a:txBody>
                  <a:tcPr marL="109728" marR="109728" marT="36576" marB="36576" anchor="ctr">
                    <a:lnL w="0">
                      <a:noFill/>
                    </a:lnL>
                    <a:lnR w="0">
                      <a:noFill/>
                    </a:lnR>
                    <a:lnT w="0">
                      <a:noFill/>
                    </a:lnT>
                    <a:lnB w="12700">
                      <a:solidFill>
                        <a:srgbClr val="E3E6EA"/>
                      </a:solidFill>
                    </a:lnB>
                    <a:solidFill>
                      <a:srgbClr val="FFFFFF"/>
                    </a:solidFill>
                  </a:tcPr>
                </a:tc>
              </a:tr>
              <a:tr h="603504">
                <a:tc>
                  <a:txBody>
                    <a:bodyPr wrap="square"/>
                    <a:lstStyle/>
                    <a:p>
                      <a:pPr algn="l"/>
                      <a:r>
                        <a:rPr sz="1600" b="1">
                          <a:solidFill>
                            <a:srgbClr val="20242B"/>
                          </a:solidFill>
                          <a:latin typeface="Inter"/>
                        </a:rPr>
                        <a:t>Wholesale / month (−30%)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R5,599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₦463,000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KSh 44,999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GH₵ 3,799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$299</a:t>
                      </a:r>
                    </a:p>
                  </a:txBody>
                  <a:tcPr marL="109728" marR="109728" marT="36576" marB="36576" anchor="ctr">
                    <a:lnL w="0">
                      <a:noFill/>
                    </a:lnL>
                    <a:lnR w="0">
                      <a:noFill/>
                    </a:lnR>
                    <a:lnT w="0">
                      <a:noFill/>
                    </a:lnT>
                    <a:lnB w="12700">
                      <a:solidFill>
                        <a:srgbClr val="E3E6EA"/>
                      </a:solidFill>
                    </a:lnB>
                    <a:solidFill>
                      <a:srgbClr val="FFF4EB"/>
                    </a:solidFill>
                  </a:tcPr>
                </a:tc>
              </a:tr>
              <a:tr h="603504">
                <a:tc>
                  <a:txBody>
                    <a:bodyPr wrap="square"/>
                    <a:lstStyle/>
                    <a:p>
                      <a:pPr algn="l"/>
                      <a:r>
                        <a:rPr sz="1600" b="1">
                          <a:solidFill>
                            <a:srgbClr val="20242B"/>
                          </a:solidFill>
                          <a:latin typeface="Inter"/>
                        </a:rPr>
                        <a:t>Wholesale / year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R55,990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₦4,630,000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KSh 449,990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GH₵ 37,990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$2,990</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illus343|card|"/>
          <p:cNvSpPr/>
          <p:nvPr/>
        </p:nvSpPr>
        <p:spPr>
          <a:xfrm>
            <a:off x="548640" y="4224528"/>
            <a:ext cx="6720840" cy="1874519"/>
          </a:xfrm>
          <a:prstGeom prst="roundRect">
            <a:avLst>
              <a:gd name="adj" fmla="val 878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llus343|eyebrow|"/>
          <p:cNvSpPr txBox="1"/>
          <p:nvPr/>
        </p:nvSpPr>
        <p:spPr>
          <a:xfrm>
            <a:off x="868680" y="4407408"/>
            <a:ext cx="6035040" cy="274320"/>
          </a:xfrm>
          <a:prstGeom prst="rect">
            <a:avLst/>
          </a:prstGeom>
          <a:noFill/>
        </p:spPr>
        <p:txBody>
          <a:bodyPr wrap="square" lIns="0" rIns="0" tIns="0" bIns="0" anchor="t">
            <a:noAutofit/>
          </a:bodyPr>
          <a:lstStyle/>
          <a:p>
            <a:pPr algn="l"/>
            <a:r>
              <a:rPr sz="1200" b="1" spc="120">
                <a:solidFill>
                  <a:srgbClr val="C24E00"/>
                </a:solidFill>
                <a:latin typeface="Inter"/>
              </a:rPr>
              <a:t>ILLUSTRATIVE ONLY · NOT A FORECAST</a:t>
            </a:r>
          </a:p>
        </p:txBody>
      </p:sp>
      <p:sp>
        <p:nvSpPr>
          <p:cNvPr id="7" name="illus343|card|"/>
          <p:cNvSpPr txBox="1"/>
          <p:nvPr/>
        </p:nvSpPr>
        <p:spPr>
          <a:xfrm>
            <a:off x="868680" y="4754880"/>
            <a:ext cx="6126480" cy="1188720"/>
          </a:xfrm>
          <a:prstGeom prst="rect">
            <a:avLst/>
          </a:prstGeom>
          <a:noFill/>
        </p:spPr>
        <p:txBody>
          <a:bodyPr wrap="square" lIns="0" rIns="0" tIns="0" bIns="0" anchor="t">
            <a:noAutofit/>
          </a:bodyPr>
          <a:lstStyle/>
          <a:p>
            <a:pPr algn="l">
              <a:spcAft>
                <a:spcPts val="600"/>
              </a:spcAft>
            </a:pPr>
            <a:r>
              <a:rPr sz="1900" b="1">
                <a:solidFill>
                  <a:srgbClr val="20242B"/>
                </a:solidFill>
                <a:latin typeface="Poppins"/>
              </a:rPr>
              <a:t>20 clients × R1,500/mo = R30,000 billed</a:t>
            </a:r>
          </a:p>
          <a:p>
            <a:pPr algn="l"/>
            <a:r>
              <a:rPr sz="1600" b="0">
                <a:solidFill>
                  <a:srgbClr val="20242B"/>
                </a:solidFill>
                <a:latin typeface="Poppins"/>
              </a:rPr>
              <a:t>− R5,599 wholesale = R24,401/mo gross spread, before your own costs</a:t>
            </a:r>
          </a:p>
        </p:txBody>
      </p:sp>
      <p:sp>
        <p:nvSpPr>
          <p:cNvPr id="8" name="g344|body|"/>
          <p:cNvSpPr txBox="1"/>
          <p:nvPr/>
        </p:nvSpPr>
        <p:spPr>
          <a:xfrm>
            <a:off x="7589520" y="4315968"/>
            <a:ext cx="4050791" cy="1737360"/>
          </a:xfrm>
          <a:prstGeom prst="rect">
            <a:avLst/>
          </a:prstGeom>
          <a:noFill/>
        </p:spPr>
        <p:txBody>
          <a:bodyPr wrap="square" lIns="0" rIns="0" tIns="0" bIns="0" anchor="t">
            <a:noAutofit/>
          </a:bodyPr>
          <a:lstStyle/>
          <a:p>
            <a:pPr algn="l">
              <a:spcAft>
                <a:spcPts val="800"/>
              </a:spcAft>
            </a:pPr>
            <a:r>
              <a:rPr sz="1400" b="0">
                <a:solidFill>
                  <a:srgbClr val="5B6670"/>
                </a:solidFill>
                <a:latin typeface="Inter"/>
              </a:rPr>
              <a:t>Same inclusions as Agency. Annual = 10× monthly.</a:t>
            </a:r>
          </a:p>
          <a:p>
            <a:pPr algn="l">
              <a:spcAft>
                <a:spcPts val="800"/>
              </a:spcAft>
            </a:pPr>
            <a:r>
              <a:rPr sz="1400" b="0">
                <a:solidFill>
                  <a:srgbClr val="5B6670"/>
                </a:solidFill>
                <a:latin typeface="Inter"/>
              </a:rPr>
              <a:t>You set your retail price.</a:t>
            </a:r>
          </a:p>
          <a:p>
            <a:pPr algn="l"/>
            <a:r>
              <a:rPr sz="1400" b="0">
                <a:solidFill>
                  <a:srgbClr val="5B6670"/>
                </a:solidFill>
                <a:latin typeface="Inter"/>
              </a:rPr>
              <a:t>No payment rail? Waitlist only.</a:t>
            </a:r>
          </a:p>
        </p:txBody>
      </p:sp>
      <p:sp>
        <p:nvSpPr>
          <p:cNvPr id="9"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0"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4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BECOMING A PARTNER</a:t>
            </a:r>
          </a:p>
        </p:txBody>
      </p:sp>
      <p:sp>
        <p:nvSpPr>
          <p:cNvPr id="3" name="hdr34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call to first client</a:t>
            </a:r>
          </a:p>
        </p:txBody>
      </p:sp>
      <p:sp>
        <p:nvSpPr>
          <p:cNvPr id="4" name="line|deco|"/>
          <p:cNvSpPr/>
          <p:nvPr/>
        </p:nvSpPr>
        <p:spPr>
          <a:xfrm>
            <a:off x="1613916" y="2011680"/>
            <a:ext cx="8963863" cy="45720"/>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tep346|deco|"/>
          <p:cNvSpPr/>
          <p:nvPr/>
        </p:nvSpPr>
        <p:spPr>
          <a:xfrm>
            <a:off x="1248156"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ep346|card|"/>
          <p:cNvSpPr txBox="1"/>
          <p:nvPr/>
        </p:nvSpPr>
        <p:spPr>
          <a:xfrm>
            <a:off x="1248156"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1</a:t>
            </a:r>
          </a:p>
        </p:txBody>
      </p:sp>
      <p:sp>
        <p:nvSpPr>
          <p:cNvPr id="7" name="step346|card|"/>
          <p:cNvSpPr/>
          <p:nvPr/>
        </p:nvSpPr>
        <p:spPr>
          <a:xfrm>
            <a:off x="548640"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ep346|deco|"/>
          <p:cNvSpPr/>
          <p:nvPr/>
        </p:nvSpPr>
        <p:spPr>
          <a:xfrm>
            <a:off x="768096"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step346|icon|search_deep.png" descr="search_deep"/>
          <p:cNvPicPr>
            <a:picLocks noChangeAspect="1"/>
          </p:cNvPicPr>
          <p:nvPr/>
        </p:nvPicPr>
        <p:blipFill>
          <a:blip r:embed="rId2"/>
          <a:srcRect/>
          <a:stretch>
            <a:fillRect/>
          </a:stretch>
        </p:blipFill>
        <p:spPr>
          <a:xfrm>
            <a:off x="912936" y="3107496"/>
            <a:ext cx="368686" cy="368686"/>
          </a:xfrm>
          <a:prstGeom prst="rect">
            <a:avLst/>
          </a:prstGeom>
        </p:spPr>
      </p:pic>
      <p:sp>
        <p:nvSpPr>
          <p:cNvPr id="10" name="step346|card|"/>
          <p:cNvSpPr txBox="1"/>
          <p:nvPr/>
        </p:nvSpPr>
        <p:spPr>
          <a:xfrm>
            <a:off x="777240"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Intro call</a:t>
            </a:r>
          </a:p>
        </p:txBody>
      </p:sp>
      <p:sp>
        <p:nvSpPr>
          <p:cNvPr id="11" name="step346|card|"/>
          <p:cNvSpPr txBox="1"/>
          <p:nvPr/>
        </p:nvSpPr>
        <p:spPr>
          <a:xfrm>
            <a:off x="777240"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Clients, services, pricing</a:t>
            </a:r>
          </a:p>
        </p:txBody>
      </p:sp>
      <p:sp>
        <p:nvSpPr>
          <p:cNvPr id="12" name="step347|deco|"/>
          <p:cNvSpPr/>
          <p:nvPr/>
        </p:nvSpPr>
        <p:spPr>
          <a:xfrm>
            <a:off x="3489121"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ep347|card|"/>
          <p:cNvSpPr txBox="1"/>
          <p:nvPr/>
        </p:nvSpPr>
        <p:spPr>
          <a:xfrm>
            <a:off x="3489121"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2</a:t>
            </a:r>
          </a:p>
        </p:txBody>
      </p:sp>
      <p:sp>
        <p:nvSpPr>
          <p:cNvPr id="14" name="step347|card|"/>
          <p:cNvSpPr/>
          <p:nvPr/>
        </p:nvSpPr>
        <p:spPr>
          <a:xfrm>
            <a:off x="2789605"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347|deco|"/>
          <p:cNvSpPr/>
          <p:nvPr/>
        </p:nvSpPr>
        <p:spPr>
          <a:xfrm>
            <a:off x="3009061"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step347|icon|sparkles_deep.png" descr="sparkles_deep"/>
          <p:cNvPicPr>
            <a:picLocks noChangeAspect="1"/>
          </p:cNvPicPr>
          <p:nvPr/>
        </p:nvPicPr>
        <p:blipFill>
          <a:blip r:embed="rId3"/>
          <a:srcRect/>
          <a:stretch>
            <a:fillRect/>
          </a:stretch>
        </p:blipFill>
        <p:spPr>
          <a:xfrm>
            <a:off x="3153902" y="3107496"/>
            <a:ext cx="368686" cy="368686"/>
          </a:xfrm>
          <a:prstGeom prst="rect">
            <a:avLst/>
          </a:prstGeom>
        </p:spPr>
      </p:pic>
      <p:sp>
        <p:nvSpPr>
          <p:cNvPr id="17" name="step347|card|"/>
          <p:cNvSpPr txBox="1"/>
          <p:nvPr/>
        </p:nvSpPr>
        <p:spPr>
          <a:xfrm>
            <a:off x="3018205"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White-label demo</a:t>
            </a:r>
          </a:p>
        </p:txBody>
      </p:sp>
      <p:sp>
        <p:nvSpPr>
          <p:cNvPr id="18" name="step347|card|"/>
          <p:cNvSpPr txBox="1"/>
          <p:nvPr/>
        </p:nvSpPr>
        <p:spPr>
          <a:xfrm>
            <a:off x="3018205"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FluxMuse under your brand</a:t>
            </a:r>
          </a:p>
        </p:txBody>
      </p:sp>
      <p:sp>
        <p:nvSpPr>
          <p:cNvPr id="19" name="step348|deco|"/>
          <p:cNvSpPr/>
          <p:nvPr/>
        </p:nvSpPr>
        <p:spPr>
          <a:xfrm>
            <a:off x="5730087"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348|card|"/>
          <p:cNvSpPr txBox="1"/>
          <p:nvPr/>
        </p:nvSpPr>
        <p:spPr>
          <a:xfrm>
            <a:off x="5730087"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3</a:t>
            </a:r>
          </a:p>
        </p:txBody>
      </p:sp>
      <p:sp>
        <p:nvSpPr>
          <p:cNvPr id="21" name="step348|card|"/>
          <p:cNvSpPr/>
          <p:nvPr/>
        </p:nvSpPr>
        <p:spPr>
          <a:xfrm>
            <a:off x="5030571"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tep348|deco|"/>
          <p:cNvSpPr/>
          <p:nvPr/>
        </p:nvSpPr>
        <p:spPr>
          <a:xfrm>
            <a:off x="5250027"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step348|icon|target_deep.png" descr="target_deep"/>
          <p:cNvPicPr>
            <a:picLocks noChangeAspect="1"/>
          </p:cNvPicPr>
          <p:nvPr/>
        </p:nvPicPr>
        <p:blipFill>
          <a:blip r:embed="rId4"/>
          <a:srcRect/>
          <a:stretch>
            <a:fillRect/>
          </a:stretch>
        </p:blipFill>
        <p:spPr>
          <a:xfrm>
            <a:off x="5394868" y="3107496"/>
            <a:ext cx="368686" cy="368686"/>
          </a:xfrm>
          <a:prstGeom prst="rect">
            <a:avLst/>
          </a:prstGeom>
        </p:spPr>
      </p:pic>
      <p:sp>
        <p:nvSpPr>
          <p:cNvPr id="24" name="step348|card|"/>
          <p:cNvSpPr txBox="1"/>
          <p:nvPr/>
        </p:nvSpPr>
        <p:spPr>
          <a:xfrm>
            <a:off x="5259171"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Pilot client</a:t>
            </a:r>
          </a:p>
        </p:txBody>
      </p:sp>
      <p:sp>
        <p:nvSpPr>
          <p:cNvPr id="25" name="step348|card|"/>
          <p:cNvSpPr txBox="1"/>
          <p:nvPr/>
        </p:nvSpPr>
        <p:spPr>
          <a:xfrm>
            <a:off x="5259171"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Launch one client first</a:t>
            </a:r>
          </a:p>
        </p:txBody>
      </p:sp>
      <p:sp>
        <p:nvSpPr>
          <p:cNvPr id="26" name="step349|deco|"/>
          <p:cNvSpPr/>
          <p:nvPr/>
        </p:nvSpPr>
        <p:spPr>
          <a:xfrm>
            <a:off x="7971053"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ep349|card|"/>
          <p:cNvSpPr txBox="1"/>
          <p:nvPr/>
        </p:nvSpPr>
        <p:spPr>
          <a:xfrm>
            <a:off x="7971053"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4</a:t>
            </a:r>
          </a:p>
        </p:txBody>
      </p:sp>
      <p:sp>
        <p:nvSpPr>
          <p:cNvPr id="28" name="step349|card|"/>
          <p:cNvSpPr/>
          <p:nvPr/>
        </p:nvSpPr>
        <p:spPr>
          <a:xfrm>
            <a:off x="7271537"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step349|deco|"/>
          <p:cNvSpPr/>
          <p:nvPr/>
        </p:nvSpPr>
        <p:spPr>
          <a:xfrm>
            <a:off x="7490993"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step349|icon|briefcase_deep.png" descr="briefcase_deep"/>
          <p:cNvPicPr>
            <a:picLocks noChangeAspect="1"/>
          </p:cNvPicPr>
          <p:nvPr/>
        </p:nvPicPr>
        <p:blipFill>
          <a:blip r:embed="rId5"/>
          <a:srcRect/>
          <a:stretch>
            <a:fillRect/>
          </a:stretch>
        </p:blipFill>
        <p:spPr>
          <a:xfrm>
            <a:off x="7635834" y="3107496"/>
            <a:ext cx="368686" cy="368686"/>
          </a:xfrm>
          <a:prstGeom prst="rect">
            <a:avLst/>
          </a:prstGeom>
        </p:spPr>
      </p:pic>
      <p:sp>
        <p:nvSpPr>
          <p:cNvPr id="31" name="step349|card|"/>
          <p:cNvSpPr txBox="1"/>
          <p:nvPr/>
        </p:nvSpPr>
        <p:spPr>
          <a:xfrm>
            <a:off x="7500137"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Go wholesale</a:t>
            </a:r>
          </a:p>
        </p:txBody>
      </p:sp>
      <p:sp>
        <p:nvSpPr>
          <p:cNvPr id="32" name="step349|card|"/>
          <p:cNvSpPr txBox="1"/>
          <p:nvPr/>
        </p:nvSpPr>
        <p:spPr>
          <a:xfrm>
            <a:off x="7500137"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Agency tier at R5,599/mo</a:t>
            </a:r>
          </a:p>
        </p:txBody>
      </p:sp>
      <p:sp>
        <p:nvSpPr>
          <p:cNvPr id="33" name="step350|deco|"/>
          <p:cNvSpPr/>
          <p:nvPr/>
        </p:nvSpPr>
        <p:spPr>
          <a:xfrm>
            <a:off x="10212019" y="1673352"/>
            <a:ext cx="731520" cy="731520"/>
          </a:xfrm>
          <a:prstGeom prst="ellipse">
            <a:avLst/>
          </a:prstGeom>
          <a:solidFill>
            <a:srgbClr val="FFFFFF"/>
          </a:solidFill>
          <a:ln w="28575">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ep350|card|"/>
          <p:cNvSpPr txBox="1"/>
          <p:nvPr/>
        </p:nvSpPr>
        <p:spPr>
          <a:xfrm>
            <a:off x="10212019" y="1673352"/>
            <a:ext cx="731520" cy="731520"/>
          </a:xfrm>
          <a:prstGeom prst="rect">
            <a:avLst/>
          </a:prstGeom>
          <a:noFill/>
        </p:spPr>
        <p:txBody>
          <a:bodyPr wrap="square" lIns="0" rIns="0" tIns="0" bIns="0" anchor="ctr">
            <a:noAutofit/>
          </a:bodyPr>
          <a:lstStyle/>
          <a:p>
            <a:pPr algn="ctr"/>
            <a:r>
              <a:rPr sz="2000" b="1">
                <a:solidFill>
                  <a:srgbClr val="C24E00"/>
                </a:solidFill>
                <a:latin typeface="Poppins"/>
              </a:rPr>
              <a:t>5</a:t>
            </a:r>
          </a:p>
        </p:txBody>
      </p:sp>
      <p:sp>
        <p:nvSpPr>
          <p:cNvPr id="35" name="step350|card|"/>
          <p:cNvSpPr/>
          <p:nvPr/>
        </p:nvSpPr>
        <p:spPr>
          <a:xfrm>
            <a:off x="9512503" y="2697480"/>
            <a:ext cx="2130552" cy="2926080"/>
          </a:xfrm>
          <a:prstGeom prst="roundRect">
            <a:avLst>
              <a:gd name="adj" fmla="val 772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ep350|deco|"/>
          <p:cNvSpPr/>
          <p:nvPr/>
        </p:nvSpPr>
        <p:spPr>
          <a:xfrm>
            <a:off x="9731959" y="2962656"/>
            <a:ext cx="658368" cy="65836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step350|icon|megaphone_deep.png" descr="megaphone_deep"/>
          <p:cNvPicPr>
            <a:picLocks noChangeAspect="1"/>
          </p:cNvPicPr>
          <p:nvPr/>
        </p:nvPicPr>
        <p:blipFill>
          <a:blip r:embed="rId6"/>
          <a:srcRect/>
          <a:stretch>
            <a:fillRect/>
          </a:stretch>
        </p:blipFill>
        <p:spPr>
          <a:xfrm>
            <a:off x="9876800" y="3107496"/>
            <a:ext cx="368686" cy="368686"/>
          </a:xfrm>
          <a:prstGeom prst="rect">
            <a:avLst/>
          </a:prstGeom>
        </p:spPr>
      </p:pic>
      <p:sp>
        <p:nvSpPr>
          <p:cNvPr id="38" name="step350|card|"/>
          <p:cNvSpPr txBox="1"/>
          <p:nvPr/>
        </p:nvSpPr>
        <p:spPr>
          <a:xfrm>
            <a:off x="9741103" y="3840480"/>
            <a:ext cx="1719072" cy="731520"/>
          </a:xfrm>
          <a:prstGeom prst="rect">
            <a:avLst/>
          </a:prstGeom>
          <a:noFill/>
        </p:spPr>
        <p:txBody>
          <a:bodyPr wrap="square" lIns="0" rIns="0" tIns="0" bIns="0" anchor="t">
            <a:noAutofit/>
          </a:bodyPr>
          <a:lstStyle/>
          <a:p>
            <a:pPr algn="l"/>
            <a:r>
              <a:rPr sz="1800" b="1">
                <a:solidFill>
                  <a:srgbClr val="20242B"/>
                </a:solidFill>
                <a:latin typeface="Poppins"/>
              </a:rPr>
              <a:t>Roll out</a:t>
            </a:r>
          </a:p>
        </p:txBody>
      </p:sp>
      <p:sp>
        <p:nvSpPr>
          <p:cNvPr id="39" name="step350|card|"/>
          <p:cNvSpPr txBox="1"/>
          <p:nvPr/>
        </p:nvSpPr>
        <p:spPr>
          <a:xfrm>
            <a:off x="9741103" y="4526280"/>
            <a:ext cx="1719072" cy="1005840"/>
          </a:xfrm>
          <a:prstGeom prst="rect">
            <a:avLst/>
          </a:prstGeom>
          <a:noFill/>
        </p:spPr>
        <p:txBody>
          <a:bodyPr wrap="square" lIns="0" rIns="0" tIns="0" bIns="0" anchor="t">
            <a:noAutofit/>
          </a:bodyPr>
          <a:lstStyle/>
          <a:p>
            <a:pPr algn="l"/>
            <a:r>
              <a:rPr sz="1400" b="0">
                <a:solidFill>
                  <a:srgbClr val="5B6670"/>
                </a:solidFill>
                <a:latin typeface="Inter"/>
              </a:rPr>
              <a:t>Onboard more clients</a:t>
            </a:r>
          </a:p>
        </p:txBody>
      </p:sp>
      <p:sp>
        <p:nvSpPr>
          <p:cNvPr id="40" name="g351|caption|"/>
          <p:cNvSpPr txBox="1"/>
          <p:nvPr/>
        </p:nvSpPr>
        <p:spPr>
          <a:xfrm>
            <a:off x="548640" y="5852160"/>
            <a:ext cx="11094415" cy="274320"/>
          </a:xfrm>
          <a:prstGeom prst="rect">
            <a:avLst/>
          </a:prstGeom>
          <a:noFill/>
        </p:spPr>
        <p:txBody>
          <a:bodyPr wrap="square" lIns="0" rIns="0" tIns="0" bIns="0" anchor="t">
            <a:noAutofit/>
          </a:bodyPr>
          <a:lstStyle/>
          <a:p>
            <a:pPr algn="l"/>
            <a:r>
              <a:rPr sz="1200" b="0">
                <a:solidFill>
                  <a:srgbClr val="5B6670"/>
                </a:solidFill>
                <a:latin typeface="Inter"/>
              </a:rPr>
              <a:t>Timings depend on your team. Partner terms and co-marketing: [[TBC]].</a:t>
            </a:r>
          </a:p>
        </p:txBody>
      </p:sp>
      <p:sp>
        <p:nvSpPr>
          <p:cNvPr id="4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4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5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CO-MARKETING &amp; COMMITMENTS</a:t>
            </a:r>
          </a:p>
        </p:txBody>
      </p:sp>
      <p:sp>
        <p:nvSpPr>
          <p:cNvPr id="3" name="hdr35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we bring, and what we ask</a:t>
            </a:r>
          </a:p>
        </p:txBody>
      </p:sp>
      <p:sp>
        <p:nvSpPr>
          <p:cNvPr id="4" name="col353|card|"/>
          <p:cNvSpPr/>
          <p:nvPr/>
        </p:nvSpPr>
        <p:spPr>
          <a:xfrm>
            <a:off x="548640"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l353|card|"/>
          <p:cNvSpPr txBox="1"/>
          <p:nvPr/>
        </p:nvSpPr>
        <p:spPr>
          <a:xfrm>
            <a:off x="914400"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FluxMuse provides</a:t>
            </a:r>
          </a:p>
        </p:txBody>
      </p:sp>
      <p:sp>
        <p:nvSpPr>
          <p:cNvPr id="6" name="g354|deco|"/>
          <p:cNvSpPr/>
          <p:nvPr/>
        </p:nvSpPr>
        <p:spPr>
          <a:xfrm>
            <a:off x="914400"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354|icon|check_deep.png" descr="check_deep"/>
          <p:cNvPicPr>
            <a:picLocks noChangeAspect="1"/>
          </p:cNvPicPr>
          <p:nvPr/>
        </p:nvPicPr>
        <p:blipFill>
          <a:blip r:embed="rId2"/>
          <a:srcRect/>
          <a:stretch>
            <a:fillRect/>
          </a:stretch>
        </p:blipFill>
        <p:spPr>
          <a:xfrm>
            <a:off x="1027054" y="2700406"/>
            <a:ext cx="286755" cy="286755"/>
          </a:xfrm>
          <a:prstGeom prst="rect">
            <a:avLst/>
          </a:prstGeom>
        </p:spPr>
      </p:pic>
      <p:sp>
        <p:nvSpPr>
          <p:cNvPr id="8" name="g354|body|"/>
          <p:cNvSpPr txBox="1"/>
          <p:nvPr/>
        </p:nvSpPr>
        <p:spPr>
          <a:xfrm>
            <a:off x="1600200"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Partner directory listing</a:t>
            </a:r>
          </a:p>
        </p:txBody>
      </p:sp>
      <p:sp>
        <p:nvSpPr>
          <p:cNvPr id="9" name="g355|deco|"/>
          <p:cNvSpPr/>
          <p:nvPr/>
        </p:nvSpPr>
        <p:spPr>
          <a:xfrm>
            <a:off x="914400"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355|icon|check_deep.png" descr="check_deep"/>
          <p:cNvPicPr>
            <a:picLocks noChangeAspect="1"/>
          </p:cNvPicPr>
          <p:nvPr/>
        </p:nvPicPr>
        <p:blipFill>
          <a:blip r:embed="rId2"/>
          <a:srcRect/>
          <a:stretch>
            <a:fillRect/>
          </a:stretch>
        </p:blipFill>
        <p:spPr>
          <a:xfrm>
            <a:off x="1027054" y="3569086"/>
            <a:ext cx="286755" cy="286755"/>
          </a:xfrm>
          <a:prstGeom prst="rect">
            <a:avLst/>
          </a:prstGeom>
        </p:spPr>
      </p:pic>
      <p:sp>
        <p:nvSpPr>
          <p:cNvPr id="11" name="g355|body|"/>
          <p:cNvSpPr txBox="1"/>
          <p:nvPr/>
        </p:nvSpPr>
        <p:spPr>
          <a:xfrm>
            <a:off x="1600200"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This deck and proposal templates</a:t>
            </a:r>
          </a:p>
        </p:txBody>
      </p:sp>
      <p:sp>
        <p:nvSpPr>
          <p:cNvPr id="12" name="g356|deco|"/>
          <p:cNvSpPr/>
          <p:nvPr/>
        </p:nvSpPr>
        <p:spPr>
          <a:xfrm>
            <a:off x="914400"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356|icon|check_deep.png" descr="check_deep"/>
          <p:cNvPicPr>
            <a:picLocks noChangeAspect="1"/>
          </p:cNvPicPr>
          <p:nvPr/>
        </p:nvPicPr>
        <p:blipFill>
          <a:blip r:embed="rId2"/>
          <a:srcRect/>
          <a:stretch>
            <a:fillRect/>
          </a:stretch>
        </p:blipFill>
        <p:spPr>
          <a:xfrm>
            <a:off x="1027054" y="4437766"/>
            <a:ext cx="286755" cy="286755"/>
          </a:xfrm>
          <a:prstGeom prst="rect">
            <a:avLst/>
          </a:prstGeom>
        </p:spPr>
      </p:pic>
      <p:sp>
        <p:nvSpPr>
          <p:cNvPr id="14" name="g356|body|"/>
          <p:cNvSpPr txBox="1"/>
          <p:nvPr/>
        </p:nvSpPr>
        <p:spPr>
          <a:xfrm>
            <a:off x="1600200"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Consented pilot case studies (Dec 2026)</a:t>
            </a:r>
          </a:p>
        </p:txBody>
      </p:sp>
      <p:sp>
        <p:nvSpPr>
          <p:cNvPr id="15" name="g357|deco|"/>
          <p:cNvSpPr/>
          <p:nvPr/>
        </p:nvSpPr>
        <p:spPr>
          <a:xfrm>
            <a:off x="914400"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g357|icon|check_deep.png" descr="check_deep"/>
          <p:cNvPicPr>
            <a:picLocks noChangeAspect="1"/>
          </p:cNvPicPr>
          <p:nvPr/>
        </p:nvPicPr>
        <p:blipFill>
          <a:blip r:embed="rId2"/>
          <a:srcRect/>
          <a:stretch>
            <a:fillRect/>
          </a:stretch>
        </p:blipFill>
        <p:spPr>
          <a:xfrm>
            <a:off x="1027054" y="5306446"/>
            <a:ext cx="286755" cy="286755"/>
          </a:xfrm>
          <a:prstGeom prst="rect">
            <a:avLst/>
          </a:prstGeom>
        </p:spPr>
      </p:pic>
      <p:sp>
        <p:nvSpPr>
          <p:cNvPr id="17" name="g357|placeholder|"/>
          <p:cNvSpPr txBox="1"/>
          <p:nvPr/>
        </p:nvSpPr>
        <p:spPr>
          <a:xfrm>
            <a:off x="1600200"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Co-marketing support: [[TBC]]</a:t>
            </a:r>
          </a:p>
        </p:txBody>
      </p:sp>
      <p:sp>
        <p:nvSpPr>
          <p:cNvPr id="18" name="col358|card|"/>
          <p:cNvSpPr/>
          <p:nvPr/>
        </p:nvSpPr>
        <p:spPr>
          <a:xfrm>
            <a:off x="6202375"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ol358|card|"/>
          <p:cNvSpPr txBox="1"/>
          <p:nvPr/>
        </p:nvSpPr>
        <p:spPr>
          <a:xfrm>
            <a:off x="6568135"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Partners commit to</a:t>
            </a:r>
          </a:p>
        </p:txBody>
      </p:sp>
      <p:sp>
        <p:nvSpPr>
          <p:cNvPr id="20" name="g359|deco|"/>
          <p:cNvSpPr/>
          <p:nvPr/>
        </p:nvSpPr>
        <p:spPr>
          <a:xfrm>
            <a:off x="6568135"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g359|icon|file_deep.png" descr="file_deep"/>
          <p:cNvPicPr>
            <a:picLocks noChangeAspect="1"/>
          </p:cNvPicPr>
          <p:nvPr/>
        </p:nvPicPr>
        <p:blipFill>
          <a:blip r:embed="rId3"/>
          <a:srcRect/>
          <a:stretch>
            <a:fillRect/>
          </a:stretch>
        </p:blipFill>
        <p:spPr>
          <a:xfrm>
            <a:off x="6680789" y="2700406"/>
            <a:ext cx="286755" cy="286755"/>
          </a:xfrm>
          <a:prstGeom prst="rect">
            <a:avLst/>
          </a:prstGeom>
        </p:spPr>
      </p:pic>
      <p:sp>
        <p:nvSpPr>
          <p:cNvPr id="22" name="g359|placeholder|"/>
          <p:cNvSpPr txBox="1"/>
          <p:nvPr/>
        </p:nvSpPr>
        <p:spPr>
          <a:xfrm>
            <a:off x="7253935"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Partner obligations: [[TBC]]</a:t>
            </a:r>
          </a:p>
        </p:txBody>
      </p:sp>
      <p:sp>
        <p:nvSpPr>
          <p:cNvPr id="23" name="g360|deco|"/>
          <p:cNvSpPr/>
          <p:nvPr/>
        </p:nvSpPr>
        <p:spPr>
          <a:xfrm>
            <a:off x="6568135"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g360|icon|file_deep.png" descr="file_deep"/>
          <p:cNvPicPr>
            <a:picLocks noChangeAspect="1"/>
          </p:cNvPicPr>
          <p:nvPr/>
        </p:nvPicPr>
        <p:blipFill>
          <a:blip r:embed="rId3"/>
          <a:srcRect/>
          <a:stretch>
            <a:fillRect/>
          </a:stretch>
        </p:blipFill>
        <p:spPr>
          <a:xfrm>
            <a:off x="6680789" y="3569086"/>
            <a:ext cx="286755" cy="286755"/>
          </a:xfrm>
          <a:prstGeom prst="rect">
            <a:avLst/>
          </a:prstGeom>
        </p:spPr>
      </p:pic>
      <p:sp>
        <p:nvSpPr>
          <p:cNvPr id="25" name="g360|placeholder|"/>
          <p:cNvSpPr txBox="1"/>
          <p:nvPr/>
        </p:nvSpPr>
        <p:spPr>
          <a:xfrm>
            <a:off x="7253935"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Minimum active clients: [[TBC]]</a:t>
            </a:r>
          </a:p>
        </p:txBody>
      </p:sp>
      <p:sp>
        <p:nvSpPr>
          <p:cNvPr id="26" name="g361|deco|"/>
          <p:cNvSpPr/>
          <p:nvPr/>
        </p:nvSpPr>
        <p:spPr>
          <a:xfrm>
            <a:off x="6568135"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g361|icon|file_deep.png" descr="file_deep"/>
          <p:cNvPicPr>
            <a:picLocks noChangeAspect="1"/>
          </p:cNvPicPr>
          <p:nvPr/>
        </p:nvPicPr>
        <p:blipFill>
          <a:blip r:embed="rId3"/>
          <a:srcRect/>
          <a:stretch>
            <a:fillRect/>
          </a:stretch>
        </p:blipFill>
        <p:spPr>
          <a:xfrm>
            <a:off x="6680789" y="4437766"/>
            <a:ext cx="286755" cy="286755"/>
          </a:xfrm>
          <a:prstGeom prst="rect">
            <a:avLst/>
          </a:prstGeom>
        </p:spPr>
      </p:pic>
      <p:sp>
        <p:nvSpPr>
          <p:cNvPr id="28" name="g361|placeholder|"/>
          <p:cNvSpPr txBox="1"/>
          <p:nvPr/>
        </p:nvSpPr>
        <p:spPr>
          <a:xfrm>
            <a:off x="7253935"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Brand and POPIA standards: [[TBC]]</a:t>
            </a:r>
          </a:p>
        </p:txBody>
      </p:sp>
      <p:sp>
        <p:nvSpPr>
          <p:cNvPr id="29" name="g362|deco|"/>
          <p:cNvSpPr/>
          <p:nvPr/>
        </p:nvSpPr>
        <p:spPr>
          <a:xfrm>
            <a:off x="6568135"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g362|icon|file_deep.png" descr="file_deep"/>
          <p:cNvPicPr>
            <a:picLocks noChangeAspect="1"/>
          </p:cNvPicPr>
          <p:nvPr/>
        </p:nvPicPr>
        <p:blipFill>
          <a:blip r:embed="rId3"/>
          <a:srcRect/>
          <a:stretch>
            <a:fillRect/>
          </a:stretch>
        </p:blipFill>
        <p:spPr>
          <a:xfrm>
            <a:off x="6680789" y="5306446"/>
            <a:ext cx="286755" cy="286755"/>
          </a:xfrm>
          <a:prstGeom prst="rect">
            <a:avLst/>
          </a:prstGeom>
        </p:spPr>
      </p:pic>
      <p:sp>
        <p:nvSpPr>
          <p:cNvPr id="31" name="g362|placeholder|"/>
          <p:cNvSpPr txBox="1"/>
          <p:nvPr/>
        </p:nvSpPr>
        <p:spPr>
          <a:xfrm>
            <a:off x="7253935"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Referral commission: [[FOUNDER DECISION: referral commission %]]</a:t>
            </a:r>
          </a:p>
        </p:txBody>
      </p:sp>
      <p:sp>
        <p:nvSpPr>
          <p:cNvPr id="32"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3"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6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PAYMENTS COVERAGE</a:t>
            </a:r>
          </a:p>
        </p:txBody>
      </p:sp>
      <p:sp>
        <p:nvSpPr>
          <p:cNvPr id="3" name="hdr36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Get paid locally</a:t>
            </a:r>
          </a:p>
        </p:txBody>
      </p:sp>
      <p:pic>
        <p:nvPicPr>
          <p:cNvPr id="4" name="g364|img|infographics/payment-coverage-map.png" descr="Tile map of 23 African countries covered by 5 live payment rails, with Botswana and Namibia coming soon"/>
          <p:cNvPicPr>
            <a:picLocks noChangeAspect="1"/>
          </p:cNvPicPr>
          <p:nvPr/>
        </p:nvPicPr>
        <p:blipFill>
          <a:blip r:embed="rId2"/>
          <a:srcRect t="20500"/>
          <a:stretch>
            <a:fillRect/>
          </a:stretch>
        </p:blipFill>
        <p:spPr>
          <a:xfrm>
            <a:off x="574941" y="1389888"/>
            <a:ext cx="1104181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6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GAUTENG PILOT · UNDERWAY · RESULTS DECEMBER 2026</a:t>
            </a:r>
          </a:p>
        </p:txBody>
      </p:sp>
      <p:sp>
        <p:nvSpPr>
          <p:cNvPr id="3" name="hdr36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Proof: the Gauteng pilot</a:t>
            </a:r>
          </a:p>
        </p:txBody>
      </p:sp>
      <p:pic>
        <p:nvPicPr>
          <p:cNvPr id="4" name="g366|img|infographics/gauteng-pilot.png" descr="Gauteng pilot: 12 brands, September to 30 November 2026, suggested segment mix, KPIs tracked, results December 2026"/>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6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36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368|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368|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368|icon|shield_deep.png" descr="shield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368|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 NDPR, GDPR</a:t>
            </a:r>
          </a:p>
        </p:txBody>
      </p:sp>
      <p:sp>
        <p:nvSpPr>
          <p:cNvPr id="8" name="trust368|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Ready: South Africa, Nigeria, EU</a:t>
            </a:r>
          </a:p>
        </p:txBody>
      </p:sp>
      <p:sp>
        <p:nvSpPr>
          <p:cNvPr id="9" name="trust369|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369|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369|icon|checkCircle_deep.png" descr="checkCircle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369|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13" name="trust369|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14" name="trust370|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370|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370|icon|layers_deep.png" descr="layers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370|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18" name="trust370|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Every database table</a:t>
            </a:r>
          </a:p>
        </p:txBody>
      </p:sp>
      <p:sp>
        <p:nvSpPr>
          <p:cNvPr id="19" name="trust371|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371|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371|icon|plug_deep.png" descr="plug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371|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3" name="trust371|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4" name="trust372|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372|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372|icon|file_deep.png" descr="file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372|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Audit export</a:t>
            </a:r>
          </a:p>
        </p:txBody>
      </p:sp>
      <p:sp>
        <p:nvSpPr>
          <p:cNvPr id="28" name="trust372|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Exportable activity record</a:t>
            </a:r>
          </a:p>
        </p:txBody>
      </p:sp>
      <p:sp>
        <p:nvSpPr>
          <p:cNvPr id="29" name="trust373|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373|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373|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373|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373|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7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ROADMAP · INDICATIVE</a:t>
            </a:r>
          </a:p>
        </p:txBody>
      </p:sp>
      <p:sp>
        <p:nvSpPr>
          <p:cNvPr id="3" name="hdr37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What's coming</a:t>
            </a:r>
          </a:p>
        </p:txBody>
      </p:sp>
      <p:pic>
        <p:nvPicPr>
          <p:cNvPr id="4" name="g375|img|infographics/roadmap-2026-2027.png" descr="Indicative roadmap 2026 to 2028: markets and payments lane and product lane"/>
          <p:cNvPicPr>
            <a:picLocks noChangeAspect="1"/>
          </p:cNvPicPr>
          <p:nvPr/>
        </p:nvPicPr>
        <p:blipFill>
          <a:blip r:embed="rId2"/>
          <a:srcRect t="19500"/>
          <a:stretch>
            <a:fillRect/>
          </a:stretch>
        </p:blipFill>
        <p:spPr>
          <a:xfrm>
            <a:off x="643524" y="1389888"/>
            <a:ext cx="10904645"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376|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376|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build your partner practice</a:t>
            </a:r>
          </a:p>
        </p:txBody>
      </p:sp>
      <p:sp>
        <p:nvSpPr>
          <p:cNvPr id="4" name="cta377|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377|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377|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377|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30-minute partner call</a:t>
            </a:r>
          </a:p>
        </p:txBody>
      </p:sp>
      <p:sp>
        <p:nvSpPr>
          <p:cNvPr id="8" name="cta377|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Your clients, services and pricing.</a:t>
            </a:r>
          </a:p>
        </p:txBody>
      </p:sp>
      <p:sp>
        <p:nvSpPr>
          <p:cNvPr id="9" name="cta378|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378|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378|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378|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Start your 14-day free trial</a:t>
            </a:r>
          </a:p>
        </p:txBody>
      </p:sp>
      <p:sp>
        <p:nvSpPr>
          <p:cNvPr id="13" name="cta378|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No card required, at fluxmuse.ai.</a:t>
            </a:r>
          </a:p>
        </p:txBody>
      </p:sp>
      <p:sp>
        <p:nvSpPr>
          <p:cNvPr id="14" name="cta379|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379|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379|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379|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Apply to become a partner</a:t>
            </a:r>
          </a:p>
        </p:txBody>
      </p:sp>
      <p:sp>
        <p:nvSpPr>
          <p:cNvPr id="18" name="cta379|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Agency tier at R5,599/mo wholesale.</a:t>
            </a:r>
          </a:p>
        </p:txBody>
      </p:sp>
      <p:sp>
        <p:nvSpPr>
          <p:cNvPr id="19" name="contact380|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380|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380|placeholder|"/>
          <p:cNvSpPr txBox="1"/>
          <p:nvPr/>
        </p:nvSpPr>
        <p:spPr>
          <a:xfrm>
            <a:off x="8092440" y="2606040"/>
            <a:ext cx="3291840" cy="1188720"/>
          </a:xfrm>
          <a:prstGeom prst="rect">
            <a:avLst/>
          </a:prstGeom>
          <a:noFill/>
        </p:spPr>
        <p:txBody>
          <a:bodyPr wrap="square" lIns="0" rIns="0" tIns="0" bIns="0" anchor="t">
            <a:noAutofit/>
          </a:bodyPr>
          <a:lstStyle/>
          <a:p>
            <a:pPr algn="l">
              <a:spcAft>
                <a:spcPts val="400"/>
              </a:spcAft>
            </a:pPr>
            <a:r>
              <a:rPr sz="1600" b="1">
                <a:solidFill>
                  <a:srgbClr val="FFFFFF"/>
                </a:solidFill>
                <a:latin typeface="Inter"/>
              </a:rPr>
              <a:t>[[CONTACT NAME]]</a:t>
            </a:r>
          </a:p>
          <a:p>
            <a:pPr algn="l">
              <a:spcAft>
                <a:spcPts val="400"/>
              </a:spcAft>
            </a:pPr>
            <a:r>
              <a:rPr sz="1600" b="0">
                <a:solidFill>
                  <a:srgbClr val="D5DADF"/>
                </a:solidFill>
                <a:latin typeface="Inter"/>
              </a:rPr>
              <a:t>[[EMAIL]]</a:t>
            </a:r>
          </a:p>
          <a:p>
            <a:pPr algn="l"/>
            <a:r>
              <a:rPr sz="1600" b="0">
                <a:solidFill>
                  <a:srgbClr val="D5DADF"/>
                </a:solidFill>
                <a:latin typeface="Inter"/>
              </a:rPr>
              <a:t>[[WHATSAPP NUMBER]]</a:t>
            </a:r>
          </a:p>
        </p:txBody>
      </p:sp>
      <p:sp>
        <p:nvSpPr>
          <p:cNvPr id="22" name="contact380|deco|"/>
          <p:cNvSpPr/>
          <p:nvPr/>
        </p:nvSpPr>
        <p:spPr>
          <a:xfrm>
            <a:off x="8092440" y="3931920"/>
            <a:ext cx="1463040" cy="1463040"/>
          </a:xfrm>
          <a:prstGeom prst="roundRect">
            <a:avLst>
              <a:gd name="adj" fmla="val 6250"/>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380|caption|"/>
          <p:cNvSpPr txBox="1"/>
          <p:nvPr/>
        </p:nvSpPr>
        <p:spPr>
          <a:xfrm>
            <a:off x="8092440" y="3931920"/>
            <a:ext cx="1463040" cy="146304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380|placeholder|"/>
          <p:cNvSpPr txBox="1"/>
          <p:nvPr/>
        </p:nvSpPr>
        <p:spPr>
          <a:xfrm>
            <a:off x="9710928" y="4069080"/>
            <a:ext cx="178308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381|eyebrow|"/>
          <p:cNvSpPr txBox="1"/>
          <p:nvPr/>
        </p:nvSpPr>
        <p:spPr>
          <a:xfrm>
            <a:off x="548640" y="137160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382|title|"/>
          <p:cNvSpPr txBox="1"/>
          <p:nvPr/>
        </p:nvSpPr>
        <p:spPr>
          <a:xfrm>
            <a:off x="548640" y="166420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383|chip|"/>
          <p:cNvSpPr/>
          <p:nvPr/>
        </p:nvSpPr>
        <p:spPr>
          <a:xfrm>
            <a:off x="548640" y="2788920"/>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383|chip|"/>
          <p:cNvSpPr txBox="1"/>
          <p:nvPr/>
        </p:nvSpPr>
        <p:spPr>
          <a:xfrm>
            <a:off x="548640" y="2788920"/>
            <a:ext cx="868680" cy="512064"/>
          </a:xfrm>
          <a:prstGeom prst="rect">
            <a:avLst/>
          </a:prstGeom>
          <a:noFill/>
        </p:spPr>
        <p:txBody>
          <a:bodyPr wrap="square" lIns="0" rIns="0" tIns="0" bIns="0" anchor="ctr">
            <a:noAutofit/>
          </a:bodyPr>
          <a:lstStyle/>
          <a:p>
            <a:pPr algn="ctr"/>
            <a:r>
              <a:rPr sz="1600" b="1">
                <a:solidFill>
                  <a:srgbClr val="0F1419"/>
                </a:solidFill>
                <a:latin typeface="Poppins"/>
              </a:rPr>
              <a:t>A1</a:t>
            </a:r>
          </a:p>
        </p:txBody>
      </p:sp>
      <p:sp>
        <p:nvSpPr>
          <p:cNvPr id="6" name="ax383|body|"/>
          <p:cNvSpPr txBox="1"/>
          <p:nvPr/>
        </p:nvSpPr>
        <p:spPr>
          <a:xfrm>
            <a:off x="1645919" y="2788920"/>
            <a:ext cx="7315200" cy="512064"/>
          </a:xfrm>
          <a:prstGeom prst="rect">
            <a:avLst/>
          </a:prstGeom>
          <a:noFill/>
        </p:spPr>
        <p:txBody>
          <a:bodyPr wrap="square" lIns="0" rIns="0" tIns="0" bIns="0" anchor="ctr">
            <a:noAutofit/>
          </a:bodyPr>
          <a:lstStyle/>
          <a:p>
            <a:pPr algn="l"/>
            <a:r>
              <a:rPr sz="2000" b="0">
                <a:solidFill>
                  <a:srgbClr val="FFFFFF"/>
                </a:solidFill>
                <a:latin typeface="Inter"/>
              </a:rPr>
              <a:t>Regional pricing: Nigeria, Kenya, Ghana &amp; USD markets</a:t>
            </a:r>
          </a:p>
        </p:txBody>
      </p:sp>
      <p:sp>
        <p:nvSpPr>
          <p:cNvPr id="7" name="ax384|chip|"/>
          <p:cNvSpPr/>
          <p:nvPr/>
        </p:nvSpPr>
        <p:spPr>
          <a:xfrm>
            <a:off x="548640" y="3502152"/>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384|chip|"/>
          <p:cNvSpPr txBox="1"/>
          <p:nvPr/>
        </p:nvSpPr>
        <p:spPr>
          <a:xfrm>
            <a:off x="548640" y="3502152"/>
            <a:ext cx="868680" cy="512064"/>
          </a:xfrm>
          <a:prstGeom prst="rect">
            <a:avLst/>
          </a:prstGeom>
          <a:noFill/>
        </p:spPr>
        <p:txBody>
          <a:bodyPr wrap="square" lIns="0" rIns="0" tIns="0" bIns="0" anchor="ctr">
            <a:noAutofit/>
          </a:bodyPr>
          <a:lstStyle/>
          <a:p>
            <a:pPr algn="ctr"/>
            <a:r>
              <a:rPr sz="1600" b="1">
                <a:solidFill>
                  <a:srgbClr val="0F1419"/>
                </a:solidFill>
                <a:latin typeface="Poppins"/>
              </a:rPr>
              <a:t>A2</a:t>
            </a:r>
          </a:p>
        </p:txBody>
      </p:sp>
      <p:sp>
        <p:nvSpPr>
          <p:cNvPr id="9" name="ax384|body|"/>
          <p:cNvSpPr txBox="1"/>
          <p:nvPr/>
        </p:nvSpPr>
        <p:spPr>
          <a:xfrm>
            <a:off x="1645919" y="3502152"/>
            <a:ext cx="7315200" cy="512064"/>
          </a:xfrm>
          <a:prstGeom prst="rect">
            <a:avLst/>
          </a:prstGeom>
          <a:noFill/>
        </p:spPr>
        <p:txBody>
          <a:bodyPr wrap="square" lIns="0" rIns="0" tIns="0" bIns="0" anchor="ctr">
            <a:noAutofit/>
          </a:bodyPr>
          <a:lstStyle/>
          <a:p>
            <a:pPr algn="l"/>
            <a:r>
              <a:rPr sz="2000" b="0">
                <a:solidFill>
                  <a:srgbClr val="FFFFFF"/>
                </a:solidFill>
                <a:latin typeface="Inter"/>
              </a:rPr>
              <a:t>Payment rails by country</a:t>
            </a:r>
          </a:p>
        </p:txBody>
      </p:sp>
      <p:sp>
        <p:nvSpPr>
          <p:cNvPr id="10" name="ax385|chip|"/>
          <p:cNvSpPr/>
          <p:nvPr/>
        </p:nvSpPr>
        <p:spPr>
          <a:xfrm>
            <a:off x="548640" y="4215383"/>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x385|chip|"/>
          <p:cNvSpPr txBox="1"/>
          <p:nvPr/>
        </p:nvSpPr>
        <p:spPr>
          <a:xfrm>
            <a:off x="548640" y="4215383"/>
            <a:ext cx="868680" cy="512064"/>
          </a:xfrm>
          <a:prstGeom prst="rect">
            <a:avLst/>
          </a:prstGeom>
          <a:noFill/>
        </p:spPr>
        <p:txBody>
          <a:bodyPr wrap="square" lIns="0" rIns="0" tIns="0" bIns="0" anchor="ctr">
            <a:noAutofit/>
          </a:bodyPr>
          <a:lstStyle/>
          <a:p>
            <a:pPr algn="ctr"/>
            <a:r>
              <a:rPr sz="1600" b="1">
                <a:solidFill>
                  <a:srgbClr val="0F1419"/>
                </a:solidFill>
                <a:latin typeface="Poppins"/>
              </a:rPr>
              <a:t>A3</a:t>
            </a:r>
          </a:p>
        </p:txBody>
      </p:sp>
      <p:sp>
        <p:nvSpPr>
          <p:cNvPr id="12" name="ax385|body|"/>
          <p:cNvSpPr txBox="1"/>
          <p:nvPr/>
        </p:nvSpPr>
        <p:spPr>
          <a:xfrm>
            <a:off x="1645919" y="4215383"/>
            <a:ext cx="7315200" cy="512064"/>
          </a:xfrm>
          <a:prstGeom prst="rect">
            <a:avLst/>
          </a:prstGeom>
          <a:noFill/>
        </p:spPr>
        <p:txBody>
          <a:bodyPr wrap="square" lIns="0" rIns="0" tIns="0" bIns="0" anchor="ctr">
            <a:noAutofit/>
          </a:bodyPr>
          <a:lstStyle/>
          <a:p>
            <a:pPr algn="l"/>
            <a:r>
              <a:rPr sz="2000" b="0">
                <a:solidFill>
                  <a:srgbClr val="FFFFFF"/>
                </a:solidFill>
                <a:latin typeface="Inter"/>
              </a:rPr>
              <a:t>Frequently asked questions</a:t>
            </a:r>
          </a:p>
        </p:txBody>
      </p:sp>
      <p:sp>
        <p:nvSpPr>
          <p:cNvPr id="1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1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8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NIGERIA, KENYA, GHANA &amp; USD MARKETS</a:t>
            </a:r>
          </a:p>
        </p:txBody>
      </p:sp>
      <p:sp>
        <p:nvSpPr>
          <p:cNvPr id="3" name="hdr38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Regional pricing</a:t>
            </a:r>
          </a:p>
        </p:txBody>
      </p:sp>
      <p:pic>
        <p:nvPicPr>
          <p:cNvPr id="4" name="g387|img|infographics/pricing-regional.png" descr="Monthly plan prices in ZAR, NGN, KES, GHS and US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8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EDITABLE</a:t>
            </a:r>
          </a:p>
        </p:txBody>
      </p:sp>
      <p:sp>
        <p:nvSpPr>
          <p:cNvPr id="3" name="hdr38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Local-currency prices, monthly and annual</a:t>
            </a:r>
          </a:p>
        </p:txBody>
      </p:sp>
      <p:graphicFrame>
        <p:nvGraphicFramePr>
          <p:cNvPr id="4" name="g389|table|regional"/>
          <p:cNvGraphicFramePr>
            <a:graphicFrameLocks noGrp="1"/>
          </p:cNvGraphicFramePr>
          <p:nvPr/>
        </p:nvGraphicFramePr>
        <p:xfrm>
          <a:off x="548640" y="1508760"/>
          <a:ext cx="11091672" cy="3675888"/>
        </p:xfrm>
        <a:graphic>
          <a:graphicData uri="http://schemas.openxmlformats.org/drawingml/2006/table">
            <a:tbl>
              <a:tblPr firstRow="0" bandRow="0"/>
              <a:tblGrid>
                <a:gridCol w="1216152"/>
                <a:gridCol w="1234440"/>
                <a:gridCol w="1234440"/>
                <a:gridCol w="1234440"/>
                <a:gridCol w="1234440"/>
                <a:gridCol w="1234440"/>
                <a:gridCol w="1234440"/>
                <a:gridCol w="1234440"/>
                <a:gridCol w="1234440"/>
              </a:tblGrid>
              <a:tr h="566928">
                <a:tc>
                  <a:txBody>
                    <a:bodyPr wrap="square"/>
                    <a:lstStyle/>
                    <a:p>
                      <a:pPr algn="l"/>
                      <a:r>
                        <a:rPr sz="14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NGN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NGN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KES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KES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GHS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GHS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USD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USD / yr</a:t>
                      </a:r>
                    </a:p>
                  </a:txBody>
                  <a:tcPr marL="109728" marR="109728" marT="36576" marB="36576" anchor="ctr">
                    <a:lnL w="0">
                      <a:noFill/>
                    </a:lnL>
                    <a:lnR w="0">
                      <a:noFill/>
                    </a:lnR>
                    <a:lnT w="0">
                      <a:noFill/>
                    </a:lnT>
                    <a:lnB w="0">
                      <a:noFill/>
                    </a:lnB>
                    <a:solidFill>
                      <a:srgbClr val="0F1419"/>
                    </a:solidFill>
                  </a:tcPr>
                </a:tc>
              </a:tr>
              <a:tr h="621792">
                <a:tc>
                  <a:txBody>
                    <a:bodyPr wrap="square"/>
                    <a:lstStyle/>
                    <a:p>
                      <a:pPr algn="l"/>
                      <a:r>
                        <a:rPr sz="14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$270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₦165,000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₦1,650,000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KSh 15,999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KSh 159,990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GH₵ 1,359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GH₵ 13,590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$1,090</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₦413,000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₦4,130,000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$269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$2,690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₦6,620,000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64,499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644,990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5,439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54,390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$4,290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Enterprise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₦1,650,000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KSh 161,000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GH₵ 13,600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$1,099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390|caption|"/>
          <p:cNvSpPr txBox="1"/>
          <p:nvPr/>
        </p:nvSpPr>
        <p:spPr>
          <a:xfrm>
            <a:off x="548640" y="5440680"/>
            <a:ext cx="11094415" cy="685800"/>
          </a:xfrm>
          <a:prstGeom prst="rect">
            <a:avLst/>
          </a:prstGeom>
          <a:noFill/>
        </p:spPr>
        <p:txBody>
          <a:bodyPr wrap="square" lIns="0" rIns="0" tIns="0" bIns="0" anchor="t">
            <a:noAutofit/>
          </a:bodyPr>
          <a:lstStyle/>
          <a:p>
            <a:pPr algn="l">
              <a:spcAft>
                <a:spcPts val="400"/>
              </a:spcAft>
            </a:pPr>
            <a:r>
              <a:rPr sz="1200" b="0">
                <a:solidFill>
                  <a:srgbClr val="5B6670"/>
                </a:solidFill>
                <a:latin typeface="Inter"/>
              </a:rPr>
              <a:t>Billed in local currency at fixed price points, reviewed quarterly. USD applies in 19 other rail-covered countries.</a:t>
            </a:r>
          </a:p>
          <a:p>
            <a:pPr algn="l"/>
            <a:r>
              <a:rPr sz="1200" b="0">
                <a:solidFill>
                  <a:srgbClr val="5B6670"/>
                </a:solidFill>
                <a:latin typeface="Inter"/>
              </a:rPr>
              <a:t>Countries without a payment rail, including Botswana and Namibia (coming soon): waitlist only, no prices.</a:t>
            </a:r>
          </a:p>
        </p:txBody>
      </p:sp>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9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PAYMENT RAILS</a:t>
            </a:r>
          </a:p>
        </p:txBody>
      </p:sp>
      <p:sp>
        <p:nvSpPr>
          <p:cNvPr id="3" name="hdr39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Payment rails by country</a:t>
            </a:r>
          </a:p>
        </p:txBody>
      </p:sp>
      <p:pic>
        <p:nvPicPr>
          <p:cNvPr id="4" name="g392|img|infographics/payment-rails-matrix.png" descr="Matrix of 23 countries by region against 5 payment rails with billing currency; Botswana and Namibia coming soon"/>
          <p:cNvPicPr>
            <a:picLocks noChangeAspect="1"/>
          </p:cNvPicPr>
          <p:nvPr/>
        </p:nvPicPr>
        <p:blipFill>
          <a:blip r:embed="rId2"/>
          <a:srcRect t="19000" b="6000"/>
          <a:stretch>
            <a:fillRect/>
          </a:stretch>
        </p:blipFill>
        <p:spPr>
          <a:xfrm>
            <a:off x="548640" y="1518539"/>
            <a:ext cx="11094415" cy="4680456"/>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9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FAQ (1 OF 2)</a:t>
            </a:r>
          </a:p>
        </p:txBody>
      </p:sp>
      <p:sp>
        <p:nvSpPr>
          <p:cNvPr id="3" name="hdr39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394|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394|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394|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394|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394|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FluxMuse is POPIA, NDPR and GDPR ready, with row-level security on every table, encrypted tokens, audit export, and account deletion and data export.</a:t>
            </a:r>
          </a:p>
        </p:txBody>
      </p:sp>
      <p:sp>
        <p:nvSpPr>
          <p:cNvPr id="9" name="faq395|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395|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395|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395|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395|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You connect a WhatsApp Business number through Meta's official Embedded Signup (WhatsApp Cloud API). We check your number with you during setup.</a:t>
            </a:r>
          </a:p>
        </p:txBody>
      </p:sp>
      <p:sp>
        <p:nvSpPr>
          <p:cNvPr id="14" name="faq396|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396|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396|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396|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payment methods can customers use?</a:t>
            </a:r>
          </a:p>
        </p:txBody>
      </p:sp>
      <p:sp>
        <p:nvSpPr>
          <p:cNvPr id="18" name="faq396|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South Africa: Yoco card and tap-to-pay, Ozow instant EFT and Paystack. Across Africa: Paystack, pawaPay mobile money and Fincra, in 23 countries.</a:t>
            </a:r>
          </a:p>
        </p:txBody>
      </p:sp>
      <p:sp>
        <p:nvSpPr>
          <p:cNvPr id="19" name="faq397|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397|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397|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397|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contract? Can I cancel?</a:t>
            </a:r>
          </a:p>
        </p:txBody>
      </p:sp>
      <p:sp>
        <p:nvSpPr>
          <p:cNvPr id="23" name="faq397|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Start with a 14-day free trial, no card required. Then pay monthly, or annually for 2 months free.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9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FAQ (2 OF 2)</a:t>
            </a:r>
          </a:p>
        </p:txBody>
      </p:sp>
      <p:sp>
        <p:nvSpPr>
          <p:cNvPr id="3" name="hdr39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399|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399|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399|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399|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languages does it write in?</a:t>
            </a:r>
          </a:p>
        </p:txBody>
      </p:sp>
      <p:sp>
        <p:nvSpPr>
          <p:cNvPr id="8" name="faq399|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The Creator agent writes in isiZulu, Afrikaans, English, Pidgin, Swahili and more.</a:t>
            </a:r>
          </a:p>
        </p:txBody>
      </p:sp>
      <p:sp>
        <p:nvSpPr>
          <p:cNvPr id="9" name="faq400|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400|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400|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400|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onboarding take?</a:t>
            </a:r>
          </a:p>
        </p:txBody>
      </p:sp>
      <p:sp>
        <p:nvSpPr>
          <p:cNvPr id="13" name="faq400|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Typically 1–2 weeks to set up your WhatsApp number, catalog, payment rail and content calendar.</a:t>
            </a:r>
          </a:p>
        </p:txBody>
      </p:sp>
      <p:sp>
        <p:nvSpPr>
          <p:cNvPr id="14" name="faq401|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401|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401|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401|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401|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FluxMuse integrates with Shopify, WooCommerce and Takealot, plus HubSpot/CRM sync, accounting sync, Slack and Zapier, from the Growth plan.</a:t>
            </a:r>
          </a:p>
        </p:txBody>
      </p:sp>
      <p:sp>
        <p:nvSpPr>
          <p:cNvPr id="19" name="faq402|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402|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402|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402|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402|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23 African countries with local payment rails: ZAR, NGN, KES or GHS pricing, USD elsewhere. Botswana and Namibia are coming soon;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24</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Partner Programme</dc:title>
  <dc:subject>AI marketing &amp; WhatsApp commerce</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