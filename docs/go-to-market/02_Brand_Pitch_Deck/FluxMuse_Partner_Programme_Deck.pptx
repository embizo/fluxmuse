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for agencies, freelancers and resellers. "FluxMuse lets you offer an AI marketing team and WhatsApp selling to your clients under your own brand, on a partner wholesale plan, and keep the spread." Ask two questions early: "How many clients do you manage?" and "What do you charge them per month?" Those numbers drive the illustrative economics later. Two routes are live: refer customers for 15% to 25% commission, or resell on the Agency tier at the R6,999 wholesale price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agency's reality. Clients expect more every month, from content to WhatsApp selling to AI, while retainers stay flat. Reporting eats hours, and every new client adds another set of tools and logins. FluxMuse changes that. Partners buy the Agency tier at the partner price and set their own retail price. They run clients from one white-label, multi-client platform with unlimited brands. And they offer an AI marketing team on WhatsApp under their own brand. Ask how many tools they pay for per client, and how long reporting takes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FluxMuse in one line: an AI marketing team and WhatsApp shop for South African businesses. Be precise about what's live. Live and newly launched: photos to catalogue on WhatsApp, a hosted shop link, order alerts with SOLD, AI captions, images and short clips, and TikTok video posting. Being switched on: checkout through FluxMuse, Facebook and Instagram auto-posting, and AI Voice in beta. Newly launched means built and deployed, but no business has run it end to end yet, so we set you up by hand (CURRENT_OFFER.md §3). Ask whether they already use WhatsApp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works as a loop. Plan: your goals, products and the week ahead. Create: captions, images and short video clips, in your customers' languages. Publish: forward to WhatsApp Status, send broadcasts to contacts who have opted in, and post video to TikTok. Sell: a shop link built from your photos, with every order landing on WhatsApp. Learn: what sold, and what to post next. Facebook and Instagram auto-posting is being switched on, so don't promise it yet (CURRENT_OFFER.md §3). The point is that marketing and selling stop living in separate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A buyer finds you through a Status post, a QR code or your shop link. The assistant replies in their language. They browse a catalogue built from your photos, fill a cart, and the order lands on your WhatsApp; you reply SOLD to keep track. Be honest about payment: checkout through FluxMuse, via our payment partners, is built but being switched on, because it hasn't been tested with real money. Until then, orders arrive as a WhatsApp message and you take payment your usual way (CURRENT_OFFER.md §3). Broadcasts go only to consented contacts.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channels. Live today: WhatsApp Business, WhatsApp Status, the hosted shop link, TikTok video posting and broadcasts to consented contacts. Being switched on: Facebook Pages and Instagram posting, because Meta hasn't approved those permissions yet, and click-to-WhatsApp ads, which we run on our own account first. Not available: Instagram DMs and comments, and X posting. If Instagram is their main channel, say so honestly: until Meta approves it, the value is forwarding posts to WhatsApp Status (CURRENT_OFFER.md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Agencies and freelancers managing five to 50 small-business clients feel a margin squeeze, spend hours on reporting and tools per client, and have clients asking for WhatsApp selling and AI. FluxMuse gives them one white-label, multi-client platform with unlimited brands and 80 channels. Partners buy the Agency tier at a wholesale price of R6,999 a month, 30% off the R9,999 list price, and set their own retail price. Or they refer customers through the partner programme for 15% to 25% commission. Don't quote a fixed margin: it depends on the agency's pricing and costs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partner model works. FluxMuse invoices the agency the partner wholesale price of R6,999 a month, 30% off the R9,999 Agency list price. The agency serves its clients under its own brand and bills them a retail price it sets. The example is illustrative only, not a forecast: 20 clients at R1,500 a month bills R30,000, and after R6,999 the agency keeps a gross spread of R23,001 a month, before its own costs. Encourage them to run their own numbers. Referring instead earns 15% to 25% commission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partner gets on the Agency tier at the partner price: R6,999 a month, 30% off the R9,999 list price, or R69,990 a year. Full white-label, so clients see the agency's brand. Multi-client workspaces with unlimited brands and 80 channels. Bring your own cloud. And we set the first client up with them by hand. Clients get the same product as direct sign-ups: the live, newly launched WhatsApp features. Launch offers don't stack with partner pricing. Don't quote AI credit numbers (00_FACTS §2 "Partner wholesale";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wholesale pricing is the Agency tier at 30% off list: R6,999 a month instead of R9,999, or R69,990 a year, in rands. Paid sign-up is open in South Africa only for now, so there are no local-currency partner prices yet. Launch offers don't stack with partner pricing. The example is illustrative only, not a forecast: 20 clients at R1,500 bills R30,000; minus R6,999 leaves a R23,001 gross spread before the partner's own costs. Don't quote a fixed margin. A Gold Partner's own Agency plan also comes to R6,999, the same as wholesale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partner programme is live. Every partner starts as a Registered Partner, which our team switches on: 15% commission and 10% off their own plan. Five paying customers, or R5,000 a month billed to them, makes them Silver: 20% and 20%. Fifteen customers, or R15,000 a month, makes them Gold: 25% and 30%. Commission is on subscription fees customers actually pay in their first 12 months, not on credit top-ups or Custom. It's held 30 days, then paid monthly by EFT from R500. Partners can't discount for customers, and Founding Member doesn't stack with their level discount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Becoming a partner follows a simple path. The partner applies and tells us about their clients and how they sell. Our team then enables them as a Registered Partner, at 15% commission. They get a partner portal with their own ?ref= share link and QR code, and start sharing it. For the first customer, we set the business up with them, by hand, so they learn the workflow on a real account; the lead guarantee applies with its conditions. As paying customers grow, they level up to Silver and Gold automatically. We don't quote fixed timings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each side brings. FluxMuse provides the partner portal, where partners follow their customers, revenue, commission and payouts; their own ?ref= share link and QR code; hands-on setup of their first customers; and sales material such as this deck and the proposal templates. Partners commit to selling honestly within our claims rules: no trials, no invented results and no payment provider names. They prospect in line with POPIA, with consent, and keep their bank details current so payouts arrive. Case studies come only once they exist, with consent (CURRENT_OFFER.md §1 and §6).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payments. FluxMuse is open for paid sign-up in South Africa only, by card and EFT. Checkout through FluxMuse for your buyers is built and being switched on; it hasn't been tested end to end with real money yet. Nigeria, Kenya and Ghana are priced but not on sale. The other tiles are countries we're expanding into via our payment partners, banks and mobile money wallets across 23 African countries; none is open yet. Botswana and Namibia are coming soon. Never name a payment provider or gateway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where we are. FluxMuse is newly launched and has no paying customers or case studies yet. We're opening with a small first group of South African businesses, and we set each one up by hand, with weekly check-ins. That's the offer: close attention, not social proof. It's backed by the lead guarantee: three qualified leads in 30 days of go-live. If fewer arrive, and the business shared its link and posted at least weekly, we keep supporting them at no extra charge until three arrive. It is extra support, never cash back (CURRENT_OFFER.md §2 and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matters when you're handling customer chats. Fluxmuse (Pty) Ltd is a verified Meta Tech Provider, with business and access verification, and WhatsApp runs on Meta's official Cloud API. Broadcasts go only to contacts who have opted in, in line with POPIA. Under the hood there's row-level security, encrypted tokens for connected accounts, and data export and account deletion. If they ask for a data processing agreement, a security questionnaire or certifications, don't improvise: note the request and follow up in writing (CURRENT_OFFER.md §4; 00_FACTS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comes next, in order, with no dates. On markets: South Africa is open now. Next, checkout through FluxMuse once it's tested with real money. Then Nigeria, Kenya and Ghana, once our payment partners' accounts are live, and later other markets in US dollars. On product: the partner programme is live today, with the partner portal and share links, and white-label and multi-client run on the Agency tier. Next come Meta permissions for Facebook and Instagram posting, then social adapters and business apps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concrete partner next step. Option one: a 30-minute partner call to go through their clients, services and pricing. Option two: a white-label demo so they can see FluxMuse under their brand. Option three: apply, and our team enables them as a Registered Partner at 15% commission, or they resell on the Agency tier at R6,999 a month wholesale. Contact is Thabo Malebadi, thabo@fluxmuse.com. Quote only the terms on the levels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is for questions and follow-up, not the main talk track. It covers payment status by country, partner wholesale pricing where relevant, and the questions prospects ask most. Paid sign-up is open in South Africa only. Nigeria, Kenya and Ghana are priced but not on sale, so don't show local prices or offer checkout there; anyone outside South Africa, including Botswana and Namibia, gets the waitlist link instead: [[WAITLIST LINK]]. Regional price sheets are internal only and are not in customer decks (00_FACTS §2 "Market gating").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payment status by country, with no provider names. Only South Africa is open for paid sign-up, by card and EFT. Checkout through FluxMuse for a business's buyers is still being switched on. Nigeria, Kenya and Ghana are priced in local currency but not on sale. The countries marked not open yet are where we're expanding via our payment partners, banks and mobile money wallets across 23 African countries. Botswana and Namibia are coming soon. If asked which provider runs payments, say "our payment partners"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answers as written; they follow CURRENT_OFFER.md. On data, stick to the controls listed and don't claim certifications we haven't confirmed. On WhatsApp numbers, a number already used in the WhatsApp Business app may need extra steps, so check it together during setup. On payments, be clear that checkout through FluxMuse is being switched on and hasn't been tested with real money yet. There are no trials, and cancellation terms are still to be confirmed, so promise a written answer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guarantee always comes with its conditions: three qualified leads in 30 days of go-live; if fewer, and the business shared its link and posted at least weekly, we extend support at no extra charge until three arrive. It is never cash back. Setup is by hand, but Meta approvals and catalogue size can stretch it, so set expectations honestly. Store sync is being switched on, so don't promise it. Outside South Africa, share the waitlist link, never prices (CURRENT_OFFER.md §2 and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24.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27.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258|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259|deco|"/>
          <p:cNvSpPr/>
          <p:nvPr/>
        </p:nvSpPr>
        <p:spPr>
          <a:xfrm>
            <a:off x="7818120" y="1143000"/>
            <a:ext cx="3931920" cy="3931920"/>
          </a:xfrm>
          <a:prstGeom prst="ellipse">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g259|img|brand/fluxmuse-icon-512.png" descr="FluxMuse Muse icon"/>
          <p:cNvPicPr>
            <a:picLocks noChangeAspect="1"/>
          </p:cNvPicPr>
          <p:nvPr/>
        </p:nvPicPr>
        <p:blipFill>
          <a:blip r:embed="rId3"/>
          <a:srcRect/>
          <a:stretch>
            <a:fillRect/>
          </a:stretch>
        </p:blipFill>
        <p:spPr>
          <a:xfrm>
            <a:off x="8183879" y="1508760"/>
            <a:ext cx="3200400" cy="3200400"/>
          </a:xfrm>
          <a:prstGeom prst="rect">
            <a:avLst/>
          </a:prstGeom>
        </p:spPr>
      </p:pic>
      <p:sp>
        <p:nvSpPr>
          <p:cNvPr id="5" name="g260|eyebrow|"/>
          <p:cNvSpPr txBox="1"/>
          <p:nvPr/>
        </p:nvSpPr>
        <p:spPr>
          <a:xfrm>
            <a:off x="548640" y="1874519"/>
            <a:ext cx="6949440" cy="274320"/>
          </a:xfrm>
          <a:prstGeom prst="rect">
            <a:avLst/>
          </a:prstGeom>
          <a:noFill/>
        </p:spPr>
        <p:txBody>
          <a:bodyPr wrap="square" lIns="0" rIns="0" tIns="0" bIns="0" anchor="t">
            <a:noAutofit/>
          </a:bodyPr>
          <a:lstStyle/>
          <a:p>
            <a:pPr algn="l"/>
            <a:r>
              <a:rPr sz="1300" b="1" spc="150">
                <a:solidFill>
                  <a:srgbClr val="FF6A00"/>
                </a:solidFill>
                <a:latin typeface="Inter"/>
              </a:rPr>
              <a:t>FLUXMUSE PARTNER PROGRAMME</a:t>
            </a:r>
          </a:p>
        </p:txBody>
      </p:sp>
      <p:sp>
        <p:nvSpPr>
          <p:cNvPr id="6" name="g261|title|"/>
          <p:cNvSpPr txBox="1"/>
          <p:nvPr/>
        </p:nvSpPr>
        <p:spPr>
          <a:xfrm>
            <a:off x="548640" y="2212848"/>
            <a:ext cx="7040880" cy="1737360"/>
          </a:xfrm>
          <a:prstGeom prst="rect">
            <a:avLst/>
          </a:prstGeom>
          <a:noFill/>
        </p:spPr>
        <p:txBody>
          <a:bodyPr wrap="square" lIns="0" rIns="0" tIns="0" bIns="0" anchor="t">
            <a:noAutofit/>
          </a:bodyPr>
          <a:lstStyle/>
          <a:p>
            <a:pPr algn="l">
              <a:lnSpc>
                <a:spcPct val="95000"/>
              </a:lnSpc>
            </a:pPr>
            <a:r>
              <a:rPr sz="3800" b="1">
                <a:solidFill>
                  <a:srgbClr val="FFFFFF"/>
                </a:solidFill>
                <a:latin typeface="Poppins"/>
              </a:rPr>
              <a:t>Serve more clients.</a:t>
            </a:r>
          </a:p>
          <a:p>
            <a:pPr algn="l">
              <a:lnSpc>
                <a:spcPct val="95000"/>
              </a:lnSpc>
            </a:pPr>
            <a:r>
              <a:rPr sz="3800" b="1">
                <a:solidFill>
                  <a:srgbClr val="FF6A00"/>
                </a:solidFill>
                <a:latin typeface="Poppins"/>
              </a:rPr>
              <a:t>Under your brand.</a:t>
            </a:r>
          </a:p>
        </p:txBody>
      </p:sp>
      <p:sp>
        <p:nvSpPr>
          <p:cNvPr id="7" name="g262|body|"/>
          <p:cNvSpPr txBox="1"/>
          <p:nvPr/>
        </p:nvSpPr>
        <p:spPr>
          <a:xfrm>
            <a:off x="548640" y="4023360"/>
            <a:ext cx="6583680" cy="731520"/>
          </a:xfrm>
          <a:prstGeom prst="rect">
            <a:avLst/>
          </a:prstGeom>
          <a:noFill/>
        </p:spPr>
        <p:txBody>
          <a:bodyPr wrap="square" lIns="0" rIns="0" tIns="0" bIns="0" anchor="t">
            <a:noAutofit/>
          </a:bodyPr>
          <a:lstStyle/>
          <a:p>
            <a:pPr algn="l"/>
            <a:r>
              <a:rPr sz="1800" b="0">
                <a:solidFill>
                  <a:srgbClr val="D5DADF"/>
                </a:solidFill>
                <a:latin typeface="Inter"/>
              </a:rPr>
              <a:t>White-label AI marketing and WhatsApp selling for agencies and resellers.</a:t>
            </a:r>
          </a:p>
        </p:txBody>
      </p:sp>
      <p:sp>
        <p:nvSpPr>
          <p:cNvPr id="8" name="g263|placeholder|"/>
          <p:cNvSpPr txBox="1"/>
          <p:nvPr/>
        </p:nvSpPr>
        <p:spPr>
          <a:xfrm>
            <a:off x="548640" y="4983480"/>
            <a:ext cx="6766560" cy="384048"/>
          </a:xfrm>
          <a:prstGeom prst="rect">
            <a:avLst/>
          </a:prstGeom>
          <a:noFill/>
        </p:spPr>
        <p:txBody>
          <a:bodyPr wrap="square" lIns="0" rIns="0" tIns="0" bIns="0" anchor="t">
            <a:noAutofit/>
          </a:bodyPr>
          <a:lstStyle/>
          <a:p>
            <a:pPr algn="l"/>
            <a:r>
              <a:rPr sz="1800" b="0">
                <a:solidFill>
                  <a:srgbClr val="A7B0B8"/>
                </a:solidFill>
                <a:latin typeface="Inter"/>
              </a:rPr>
              <a:t>Prepared for </a:t>
            </a:r>
            <a:r>
              <a:rPr sz="1800" b="1">
                <a:solidFill>
                  <a:srgbClr val="FFFFFF"/>
                </a:solidFill>
                <a:latin typeface="Inter"/>
              </a:rPr>
              <a:t>[[PROSPECT NAME]]</a:t>
            </a:r>
          </a:p>
        </p:txBody>
      </p:sp>
      <p:sp>
        <p:nvSpPr>
          <p:cNvPr id="9" name="g263|placeholder|"/>
          <p:cNvSpPr txBox="1"/>
          <p:nvPr/>
        </p:nvSpPr>
        <p:spPr>
          <a:xfrm>
            <a:off x="548640" y="5413248"/>
            <a:ext cx="6766560" cy="329184"/>
          </a:xfrm>
          <a:prstGeom prst="rect">
            <a:avLst/>
          </a:prstGeom>
          <a:noFill/>
        </p:spPr>
        <p:txBody>
          <a:bodyPr wrap="square" lIns="0" rIns="0" tIns="0" bIns="0" anchor="t">
            <a:noAutofit/>
          </a:bodyPr>
          <a:lstStyle/>
          <a:p>
            <a:pPr algn="l"/>
            <a:r>
              <a:rPr sz="1500" b="0">
                <a:solidFill>
                  <a:srgbClr val="A7B0B8"/>
                </a:solidFill>
                <a:latin typeface="Inter"/>
              </a:rPr>
              <a:t>[[DATE]]  ·  Thabo Malebadi, 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6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AGENCY SQUEEZE</a:t>
            </a:r>
          </a:p>
        </p:txBody>
      </p:sp>
      <p:sp>
        <p:nvSpPr>
          <p:cNvPr id="3" name="hdr26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agencies are up against</a:t>
            </a:r>
          </a:p>
        </p:txBody>
      </p:sp>
      <p:sp>
        <p:nvSpPr>
          <p:cNvPr id="4" name="g265|eyebrow|"/>
          <p:cNvSpPr txBox="1"/>
          <p:nvPr/>
        </p:nvSpPr>
        <p:spPr>
          <a:xfrm>
            <a:off x="548640" y="1481328"/>
            <a:ext cx="3657600" cy="256032"/>
          </a:xfrm>
          <a:prstGeom prst="rect">
            <a:avLst/>
          </a:prstGeom>
          <a:noFill/>
        </p:spPr>
        <p:txBody>
          <a:bodyPr wrap="square" lIns="0" rIns="0" tIns="0" bIns="0" anchor="t">
            <a:noAutofit/>
          </a:bodyPr>
          <a:lstStyle/>
          <a:p>
            <a:pPr algn="l"/>
            <a:r>
              <a:rPr sz="1200" b="1" spc="150">
                <a:solidFill>
                  <a:srgbClr val="5B6670"/>
                </a:solidFill>
                <a:latin typeface="Inter"/>
              </a:rPr>
              <a:t>TODAY</a:t>
            </a:r>
          </a:p>
        </p:txBody>
      </p:sp>
      <p:sp>
        <p:nvSpPr>
          <p:cNvPr id="5" name="g266|eyebrow|"/>
          <p:cNvSpPr txBox="1"/>
          <p:nvPr/>
        </p:nvSpPr>
        <p:spPr>
          <a:xfrm>
            <a:off x="548640" y="3767328"/>
            <a:ext cx="3657600" cy="256032"/>
          </a:xfrm>
          <a:prstGeom prst="rect">
            <a:avLst/>
          </a:prstGeom>
          <a:noFill/>
        </p:spPr>
        <p:txBody>
          <a:bodyPr wrap="square" lIns="0" rIns="0" tIns="0" bIns="0" anchor="t">
            <a:noAutofit/>
          </a:bodyPr>
          <a:lstStyle/>
          <a:p>
            <a:pPr algn="l"/>
            <a:r>
              <a:rPr sz="1200" b="1" spc="150">
                <a:solidFill>
                  <a:srgbClr val="C24E00"/>
                </a:solidFill>
                <a:latin typeface="Inter"/>
              </a:rPr>
              <a:t>WITH FLUXMUSE</a:t>
            </a:r>
          </a:p>
        </p:txBody>
      </p:sp>
      <p:sp>
        <p:nvSpPr>
          <p:cNvPr id="6" name="sq267|card|"/>
          <p:cNvSpPr/>
          <p:nvPr/>
        </p:nvSpPr>
        <p:spPr>
          <a:xfrm>
            <a:off x="548640" y="1810512"/>
            <a:ext cx="3511296" cy="1463040"/>
          </a:xfrm>
          <a:prstGeom prst="roundRect">
            <a:avLst>
              <a:gd name="adj" fmla="val 11249"/>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q267|deco|"/>
          <p:cNvSpPr/>
          <p:nvPr/>
        </p:nvSpPr>
        <p:spPr>
          <a:xfrm>
            <a:off x="813815" y="2240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sq267|icon|x_ink.png" descr="x_ink"/>
          <p:cNvPicPr>
            <a:picLocks noChangeAspect="1"/>
          </p:cNvPicPr>
          <p:nvPr/>
        </p:nvPicPr>
        <p:blipFill>
          <a:blip r:embed="rId2"/>
          <a:srcRect/>
          <a:stretch>
            <a:fillRect/>
          </a:stretch>
        </p:blipFill>
        <p:spPr>
          <a:xfrm>
            <a:off x="946586" y="2373050"/>
            <a:ext cx="337962" cy="337962"/>
          </a:xfrm>
          <a:prstGeom prst="rect">
            <a:avLst/>
          </a:prstGeom>
        </p:spPr>
      </p:pic>
      <p:sp>
        <p:nvSpPr>
          <p:cNvPr id="9" name="sq267|card|"/>
          <p:cNvSpPr txBox="1"/>
          <p:nvPr/>
        </p:nvSpPr>
        <p:spPr>
          <a:xfrm>
            <a:off x="1600200" y="1993392"/>
            <a:ext cx="2231136" cy="1097280"/>
          </a:xfrm>
          <a:prstGeom prst="rect">
            <a:avLst/>
          </a:prstGeom>
          <a:noFill/>
        </p:spPr>
        <p:txBody>
          <a:bodyPr wrap="square" lIns="0" rIns="0" tIns="0" bIns="0" anchor="ctr">
            <a:noAutofit/>
          </a:bodyPr>
          <a:lstStyle/>
          <a:p>
            <a:pPr algn="l"/>
            <a:r>
              <a:rPr sz="1800" b="1">
                <a:solidFill>
                  <a:srgbClr val="20242B"/>
                </a:solidFill>
                <a:latin typeface="Poppins"/>
              </a:rPr>
              <a:t>Margin squeeze on retainers</a:t>
            </a:r>
          </a:p>
        </p:txBody>
      </p:sp>
      <p:sp>
        <p:nvSpPr>
          <p:cNvPr id="10" name="g268|deco|"/>
          <p:cNvSpPr/>
          <p:nvPr/>
        </p:nvSpPr>
        <p:spPr>
          <a:xfrm>
            <a:off x="2121408" y="3346704"/>
            <a:ext cx="365760" cy="347472"/>
          </a:xfrm>
          <a:prstGeom prst="down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q269|card|"/>
          <p:cNvSpPr/>
          <p:nvPr/>
        </p:nvSpPr>
        <p:spPr>
          <a:xfrm>
            <a:off x="4340199" y="1810512"/>
            <a:ext cx="3511296" cy="1463040"/>
          </a:xfrm>
          <a:prstGeom prst="roundRect">
            <a:avLst>
              <a:gd name="adj" fmla="val 11249"/>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q269|deco|"/>
          <p:cNvSpPr/>
          <p:nvPr/>
        </p:nvSpPr>
        <p:spPr>
          <a:xfrm>
            <a:off x="4605375" y="2240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sq269|icon|x_ink.png" descr="x_ink"/>
          <p:cNvPicPr>
            <a:picLocks noChangeAspect="1"/>
          </p:cNvPicPr>
          <p:nvPr/>
        </p:nvPicPr>
        <p:blipFill>
          <a:blip r:embed="rId2"/>
          <a:srcRect/>
          <a:stretch>
            <a:fillRect/>
          </a:stretch>
        </p:blipFill>
        <p:spPr>
          <a:xfrm>
            <a:off x="4738146" y="2373050"/>
            <a:ext cx="337962" cy="337962"/>
          </a:xfrm>
          <a:prstGeom prst="rect">
            <a:avLst/>
          </a:prstGeom>
        </p:spPr>
      </p:pic>
      <p:sp>
        <p:nvSpPr>
          <p:cNvPr id="14" name="sq269|card|"/>
          <p:cNvSpPr txBox="1"/>
          <p:nvPr/>
        </p:nvSpPr>
        <p:spPr>
          <a:xfrm>
            <a:off x="5391759" y="1993392"/>
            <a:ext cx="2231136" cy="1097280"/>
          </a:xfrm>
          <a:prstGeom prst="rect">
            <a:avLst/>
          </a:prstGeom>
          <a:noFill/>
        </p:spPr>
        <p:txBody>
          <a:bodyPr wrap="square" lIns="0" rIns="0" tIns="0" bIns="0" anchor="ctr">
            <a:noAutofit/>
          </a:bodyPr>
          <a:lstStyle/>
          <a:p>
            <a:pPr algn="l"/>
            <a:r>
              <a:rPr sz="1800" b="1">
                <a:solidFill>
                  <a:srgbClr val="20242B"/>
                </a:solidFill>
                <a:latin typeface="Poppins"/>
              </a:rPr>
              <a:t>Manual reporting</a:t>
            </a:r>
          </a:p>
        </p:txBody>
      </p:sp>
      <p:sp>
        <p:nvSpPr>
          <p:cNvPr id="15" name="g270|deco|"/>
          <p:cNvSpPr/>
          <p:nvPr/>
        </p:nvSpPr>
        <p:spPr>
          <a:xfrm>
            <a:off x="5912967" y="3346704"/>
            <a:ext cx="365760" cy="347472"/>
          </a:xfrm>
          <a:prstGeom prst="down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q271|card|"/>
          <p:cNvSpPr/>
          <p:nvPr/>
        </p:nvSpPr>
        <p:spPr>
          <a:xfrm>
            <a:off x="8131759" y="1810512"/>
            <a:ext cx="3511296" cy="1463040"/>
          </a:xfrm>
          <a:prstGeom prst="roundRect">
            <a:avLst>
              <a:gd name="adj" fmla="val 11249"/>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q271|deco|"/>
          <p:cNvSpPr/>
          <p:nvPr/>
        </p:nvSpPr>
        <p:spPr>
          <a:xfrm>
            <a:off x="8396935" y="2240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sq271|icon|x_ink.png" descr="x_ink"/>
          <p:cNvPicPr>
            <a:picLocks noChangeAspect="1"/>
          </p:cNvPicPr>
          <p:nvPr/>
        </p:nvPicPr>
        <p:blipFill>
          <a:blip r:embed="rId2"/>
          <a:srcRect/>
          <a:stretch>
            <a:fillRect/>
          </a:stretch>
        </p:blipFill>
        <p:spPr>
          <a:xfrm>
            <a:off x="8529706" y="2373050"/>
            <a:ext cx="337962" cy="337962"/>
          </a:xfrm>
          <a:prstGeom prst="rect">
            <a:avLst/>
          </a:prstGeom>
        </p:spPr>
      </p:pic>
      <p:sp>
        <p:nvSpPr>
          <p:cNvPr id="19" name="sq271|card|"/>
          <p:cNvSpPr txBox="1"/>
          <p:nvPr/>
        </p:nvSpPr>
        <p:spPr>
          <a:xfrm>
            <a:off x="9183319" y="1993392"/>
            <a:ext cx="2231136" cy="1097280"/>
          </a:xfrm>
          <a:prstGeom prst="rect">
            <a:avLst/>
          </a:prstGeom>
          <a:noFill/>
        </p:spPr>
        <p:txBody>
          <a:bodyPr wrap="square" lIns="0" rIns="0" tIns="0" bIns="0" anchor="ctr">
            <a:noAutofit/>
          </a:bodyPr>
          <a:lstStyle/>
          <a:p>
            <a:pPr algn="l"/>
            <a:r>
              <a:rPr sz="1800" b="1">
                <a:solidFill>
                  <a:srgbClr val="20242B"/>
                </a:solidFill>
                <a:latin typeface="Poppins"/>
              </a:rPr>
              <a:t>Too many tools per client</a:t>
            </a:r>
          </a:p>
        </p:txBody>
      </p:sp>
      <p:sp>
        <p:nvSpPr>
          <p:cNvPr id="20" name="g272|deco|"/>
          <p:cNvSpPr/>
          <p:nvPr/>
        </p:nvSpPr>
        <p:spPr>
          <a:xfrm>
            <a:off x="9704527" y="3346704"/>
            <a:ext cx="365760" cy="347472"/>
          </a:xfrm>
          <a:prstGeom prst="down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q273|card|"/>
          <p:cNvSpPr/>
          <p:nvPr/>
        </p:nvSpPr>
        <p:spPr>
          <a:xfrm>
            <a:off x="548640" y="4096512"/>
            <a:ext cx="3511296" cy="1463040"/>
          </a:xfrm>
          <a:prstGeom prst="roundRect">
            <a:avLst>
              <a:gd name="adj" fmla="val 11249"/>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q273|deco|"/>
          <p:cNvSpPr/>
          <p:nvPr/>
        </p:nvSpPr>
        <p:spPr>
          <a:xfrm>
            <a:off x="813815" y="4526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sq273|icon|check_deep.png" descr="check_deep"/>
          <p:cNvPicPr>
            <a:picLocks noChangeAspect="1"/>
          </p:cNvPicPr>
          <p:nvPr/>
        </p:nvPicPr>
        <p:blipFill>
          <a:blip r:embed="rId3"/>
          <a:srcRect/>
          <a:stretch>
            <a:fillRect/>
          </a:stretch>
        </p:blipFill>
        <p:spPr>
          <a:xfrm>
            <a:off x="946586" y="4659050"/>
            <a:ext cx="337962" cy="337962"/>
          </a:xfrm>
          <a:prstGeom prst="rect">
            <a:avLst/>
          </a:prstGeom>
        </p:spPr>
      </p:pic>
      <p:sp>
        <p:nvSpPr>
          <p:cNvPr id="24" name="sq273|card|"/>
          <p:cNvSpPr txBox="1"/>
          <p:nvPr/>
        </p:nvSpPr>
        <p:spPr>
          <a:xfrm>
            <a:off x="1600200" y="4279392"/>
            <a:ext cx="2231136" cy="1097280"/>
          </a:xfrm>
          <a:prstGeom prst="rect">
            <a:avLst/>
          </a:prstGeom>
          <a:noFill/>
        </p:spPr>
        <p:txBody>
          <a:bodyPr wrap="square" lIns="0" rIns="0" tIns="0" bIns="0" anchor="ctr">
            <a:noAutofit/>
          </a:bodyPr>
          <a:lstStyle/>
          <a:p>
            <a:pPr algn="l"/>
            <a:r>
              <a:rPr sz="1800" b="1">
                <a:solidFill>
                  <a:srgbClr val="20242B"/>
                </a:solidFill>
                <a:latin typeface="Poppins"/>
              </a:rPr>
              <a:t>Partner price, your retail price</a:t>
            </a:r>
          </a:p>
        </p:txBody>
      </p:sp>
      <p:sp>
        <p:nvSpPr>
          <p:cNvPr id="25" name="sq274|card|"/>
          <p:cNvSpPr/>
          <p:nvPr/>
        </p:nvSpPr>
        <p:spPr>
          <a:xfrm>
            <a:off x="4340199" y="4096512"/>
            <a:ext cx="3511296" cy="1463040"/>
          </a:xfrm>
          <a:prstGeom prst="roundRect">
            <a:avLst>
              <a:gd name="adj" fmla="val 11249"/>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q274|deco|"/>
          <p:cNvSpPr/>
          <p:nvPr/>
        </p:nvSpPr>
        <p:spPr>
          <a:xfrm>
            <a:off x="4605375" y="4526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sq274|icon|check_deep.png" descr="check_deep"/>
          <p:cNvPicPr>
            <a:picLocks noChangeAspect="1"/>
          </p:cNvPicPr>
          <p:nvPr/>
        </p:nvPicPr>
        <p:blipFill>
          <a:blip r:embed="rId3"/>
          <a:srcRect/>
          <a:stretch>
            <a:fillRect/>
          </a:stretch>
        </p:blipFill>
        <p:spPr>
          <a:xfrm>
            <a:off x="4738146" y="4659050"/>
            <a:ext cx="337962" cy="337962"/>
          </a:xfrm>
          <a:prstGeom prst="rect">
            <a:avLst/>
          </a:prstGeom>
        </p:spPr>
      </p:pic>
      <p:sp>
        <p:nvSpPr>
          <p:cNvPr id="28" name="sq274|card|"/>
          <p:cNvSpPr txBox="1"/>
          <p:nvPr/>
        </p:nvSpPr>
        <p:spPr>
          <a:xfrm>
            <a:off x="5391759" y="4279392"/>
            <a:ext cx="2231136" cy="1097280"/>
          </a:xfrm>
          <a:prstGeom prst="rect">
            <a:avLst/>
          </a:prstGeom>
          <a:noFill/>
        </p:spPr>
        <p:txBody>
          <a:bodyPr wrap="square" lIns="0" rIns="0" tIns="0" bIns="0" anchor="ctr">
            <a:noAutofit/>
          </a:bodyPr>
          <a:lstStyle/>
          <a:p>
            <a:pPr algn="l"/>
            <a:r>
              <a:rPr sz="1800" b="1">
                <a:solidFill>
                  <a:srgbClr val="20242B"/>
                </a:solidFill>
                <a:latin typeface="Poppins"/>
              </a:rPr>
              <a:t>White-label, multi-client</a:t>
            </a:r>
          </a:p>
        </p:txBody>
      </p:sp>
      <p:sp>
        <p:nvSpPr>
          <p:cNvPr id="29" name="sq275|card|"/>
          <p:cNvSpPr/>
          <p:nvPr/>
        </p:nvSpPr>
        <p:spPr>
          <a:xfrm>
            <a:off x="8131759" y="4096512"/>
            <a:ext cx="3511296" cy="1463040"/>
          </a:xfrm>
          <a:prstGeom prst="roundRect">
            <a:avLst>
              <a:gd name="adj" fmla="val 11249"/>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q275|deco|"/>
          <p:cNvSpPr/>
          <p:nvPr/>
        </p:nvSpPr>
        <p:spPr>
          <a:xfrm>
            <a:off x="8396935" y="4526280"/>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sq275|icon|check_deep.png" descr="check_deep"/>
          <p:cNvPicPr>
            <a:picLocks noChangeAspect="1"/>
          </p:cNvPicPr>
          <p:nvPr/>
        </p:nvPicPr>
        <p:blipFill>
          <a:blip r:embed="rId3"/>
          <a:srcRect/>
          <a:stretch>
            <a:fillRect/>
          </a:stretch>
        </p:blipFill>
        <p:spPr>
          <a:xfrm>
            <a:off x="8529706" y="4659050"/>
            <a:ext cx="337962" cy="337962"/>
          </a:xfrm>
          <a:prstGeom prst="rect">
            <a:avLst/>
          </a:prstGeom>
        </p:spPr>
      </p:pic>
      <p:sp>
        <p:nvSpPr>
          <p:cNvPr id="32" name="sq275|card|"/>
          <p:cNvSpPr txBox="1"/>
          <p:nvPr/>
        </p:nvSpPr>
        <p:spPr>
          <a:xfrm>
            <a:off x="9183319" y="4279392"/>
            <a:ext cx="2231136" cy="1097280"/>
          </a:xfrm>
          <a:prstGeom prst="rect">
            <a:avLst/>
          </a:prstGeom>
          <a:noFill/>
        </p:spPr>
        <p:txBody>
          <a:bodyPr wrap="square" lIns="0" rIns="0" tIns="0" bIns="0" anchor="ctr">
            <a:noAutofit/>
          </a:bodyPr>
          <a:lstStyle/>
          <a:p>
            <a:pPr algn="l"/>
            <a:r>
              <a:rPr sz="1800" b="1">
                <a:solidFill>
                  <a:srgbClr val="20242B"/>
                </a:solidFill>
                <a:latin typeface="Poppins"/>
              </a:rPr>
              <a:t>WhatsApp selling + AI, your brand</a:t>
            </a:r>
          </a:p>
        </p:txBody>
      </p:sp>
      <p:sp>
        <p:nvSpPr>
          <p:cNvPr id="3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276|eyebrow|"/>
          <p:cNvSpPr txBox="1"/>
          <p:nvPr/>
        </p:nvSpPr>
        <p:spPr>
          <a:xfrm>
            <a:off x="548640" y="1234440"/>
            <a:ext cx="3931920" cy="274320"/>
          </a:xfrm>
          <a:prstGeom prst="rect">
            <a:avLst/>
          </a:prstGeom>
          <a:noFill/>
        </p:spPr>
        <p:txBody>
          <a:bodyPr wrap="square" lIns="0" rIns="0" tIns="0" bIns="0" anchor="t">
            <a:noAutofit/>
          </a:bodyPr>
          <a:lstStyle/>
          <a:p>
            <a:pPr algn="l"/>
            <a:r>
              <a:rPr sz="1200" b="1" spc="150">
                <a:solidFill>
                  <a:srgbClr val="FF6A00"/>
                </a:solidFill>
                <a:latin typeface="Inter"/>
              </a:rPr>
              <a:t>MEET FLUXMUSE</a:t>
            </a:r>
          </a:p>
        </p:txBody>
      </p:sp>
      <p:sp>
        <p:nvSpPr>
          <p:cNvPr id="3" name="hdr276|title|"/>
          <p:cNvSpPr txBox="1"/>
          <p:nvPr/>
        </p:nvSpPr>
        <p:spPr>
          <a:xfrm>
            <a:off x="548640" y="1572768"/>
            <a:ext cx="3931920" cy="2103120"/>
          </a:xfrm>
          <a:prstGeom prst="rect">
            <a:avLst/>
          </a:prstGeom>
          <a:noFill/>
        </p:spPr>
        <p:txBody>
          <a:bodyPr wrap="square" lIns="0" rIns="0" tIns="0" bIns="0" anchor="t">
            <a:noAutofit/>
          </a:bodyPr>
          <a:lstStyle/>
          <a:p>
            <a:pPr algn="l">
              <a:lnSpc>
                <a:spcPct val="95000"/>
              </a:lnSpc>
            </a:pPr>
            <a:r>
              <a:rPr sz="3400" b="1">
                <a:solidFill>
                  <a:srgbClr val="FFFFFF"/>
                </a:solidFill>
                <a:latin typeface="Poppins"/>
              </a:rPr>
              <a:t>One AI team for marketing and sales</a:t>
            </a:r>
          </a:p>
        </p:txBody>
      </p:sp>
      <p:sp>
        <p:nvSpPr>
          <p:cNvPr id="4" name="g277|body|"/>
          <p:cNvSpPr txBox="1"/>
          <p:nvPr/>
        </p:nvSpPr>
        <p:spPr>
          <a:xfrm>
            <a:off x="548640" y="3749039"/>
            <a:ext cx="3749039" cy="914400"/>
          </a:xfrm>
          <a:prstGeom prst="rect">
            <a:avLst/>
          </a:prstGeom>
          <a:noFill/>
        </p:spPr>
        <p:txBody>
          <a:bodyPr wrap="square" lIns="0" rIns="0" tIns="0" bIns="0" anchor="t">
            <a:noAutofit/>
          </a:bodyPr>
          <a:lstStyle/>
          <a:p>
            <a:pPr algn="l"/>
            <a:r>
              <a:rPr sz="1700" b="0">
                <a:solidFill>
                  <a:srgbClr val="D5DADF"/>
                </a:solidFill>
                <a:latin typeface="Inter"/>
              </a:rPr>
              <a:t>AI marketing and a WhatsApp shop, for South African businesses.</a:t>
            </a:r>
          </a:p>
        </p:txBody>
      </p:sp>
      <p:sp>
        <p:nvSpPr>
          <p:cNvPr id="5" name="g278|chip|"/>
          <p:cNvSpPr/>
          <p:nvPr/>
        </p:nvSpPr>
        <p:spPr>
          <a:xfrm>
            <a:off x="548640" y="4892040"/>
            <a:ext cx="3611880" cy="475488"/>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278|chip|"/>
          <p:cNvSpPr txBox="1"/>
          <p:nvPr/>
        </p:nvSpPr>
        <p:spPr>
          <a:xfrm>
            <a:off x="548640" y="4892040"/>
            <a:ext cx="3611880" cy="475488"/>
          </a:xfrm>
          <a:prstGeom prst="rect">
            <a:avLst/>
          </a:prstGeom>
          <a:noFill/>
        </p:spPr>
        <p:txBody>
          <a:bodyPr wrap="square" lIns="0" rIns="0" tIns="0" bIns="0" anchor="ctr">
            <a:noAutofit/>
          </a:bodyPr>
          <a:lstStyle/>
          <a:p>
            <a:pPr algn="ctr"/>
            <a:r>
              <a:rPr sz="1400" b="1">
                <a:solidFill>
                  <a:srgbClr val="0F1419"/>
                </a:solidFill>
                <a:latin typeface="Inter"/>
              </a:rPr>
              <a:t>Set up by hand</a:t>
            </a:r>
          </a:p>
        </p:txBody>
      </p:sp>
      <p:sp>
        <p:nvSpPr>
          <p:cNvPr id="7" name="meet279|card|"/>
          <p:cNvSpPr/>
          <p:nvPr/>
        </p:nvSpPr>
        <p:spPr>
          <a:xfrm>
            <a:off x="4846320"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et279|eyebrow|"/>
          <p:cNvSpPr txBox="1"/>
          <p:nvPr/>
        </p:nvSpPr>
        <p:spPr>
          <a:xfrm>
            <a:off x="5120640" y="1463040"/>
            <a:ext cx="2743200" cy="274320"/>
          </a:xfrm>
          <a:prstGeom prst="rect">
            <a:avLst/>
          </a:prstGeom>
          <a:noFill/>
        </p:spPr>
        <p:txBody>
          <a:bodyPr wrap="square" lIns="0" rIns="0" tIns="0" bIns="0" anchor="t">
            <a:noAutofit/>
          </a:bodyPr>
          <a:lstStyle/>
          <a:p>
            <a:pPr algn="l"/>
            <a:r>
              <a:rPr sz="1200" b="1" spc="120">
                <a:solidFill>
                  <a:srgbClr val="FF6A00"/>
                </a:solidFill>
                <a:latin typeface="Inter"/>
              </a:rPr>
              <a:t>LIVE, NEWLY LAUNCHED</a:t>
            </a:r>
          </a:p>
        </p:txBody>
      </p:sp>
      <p:pic>
        <p:nvPicPr>
          <p:cNvPr id="9" name="g280|icon|checkCircle_orange.png" descr="checkCircle_orange"/>
          <p:cNvPicPr>
            <a:picLocks noChangeAspect="1"/>
          </p:cNvPicPr>
          <p:nvPr/>
        </p:nvPicPr>
        <p:blipFill>
          <a:blip r:embed="rId2"/>
          <a:srcRect/>
          <a:stretch>
            <a:fillRect/>
          </a:stretch>
        </p:blipFill>
        <p:spPr>
          <a:xfrm>
            <a:off x="5221224" y="2093975"/>
            <a:ext cx="256032" cy="256032"/>
          </a:xfrm>
          <a:prstGeom prst="rect">
            <a:avLst/>
          </a:prstGeom>
        </p:spPr>
      </p:pic>
      <p:sp>
        <p:nvSpPr>
          <p:cNvPr id="10" name="g280|card|"/>
          <p:cNvSpPr txBox="1"/>
          <p:nvPr/>
        </p:nvSpPr>
        <p:spPr>
          <a:xfrm>
            <a:off x="5715000"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Photos to catalogue</a:t>
            </a:r>
          </a:p>
        </p:txBody>
      </p:sp>
      <p:pic>
        <p:nvPicPr>
          <p:cNvPr id="11" name="g281|icon|checkCircle_orange.png" descr="checkCircle_orange"/>
          <p:cNvPicPr>
            <a:picLocks noChangeAspect="1"/>
          </p:cNvPicPr>
          <p:nvPr/>
        </p:nvPicPr>
        <p:blipFill>
          <a:blip r:embed="rId2"/>
          <a:srcRect/>
          <a:stretch>
            <a:fillRect/>
          </a:stretch>
        </p:blipFill>
        <p:spPr>
          <a:xfrm>
            <a:off x="5221224" y="2807208"/>
            <a:ext cx="256032" cy="256032"/>
          </a:xfrm>
          <a:prstGeom prst="rect">
            <a:avLst/>
          </a:prstGeom>
        </p:spPr>
      </p:pic>
      <p:sp>
        <p:nvSpPr>
          <p:cNvPr id="12" name="g281|card|"/>
          <p:cNvSpPr txBox="1"/>
          <p:nvPr/>
        </p:nvSpPr>
        <p:spPr>
          <a:xfrm>
            <a:off x="5715000"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Shop link</a:t>
            </a:r>
          </a:p>
        </p:txBody>
      </p:sp>
      <p:pic>
        <p:nvPicPr>
          <p:cNvPr id="13" name="g282|icon|checkCircle_orange.png" descr="checkCircle_orange"/>
          <p:cNvPicPr>
            <a:picLocks noChangeAspect="1"/>
          </p:cNvPicPr>
          <p:nvPr/>
        </p:nvPicPr>
        <p:blipFill>
          <a:blip r:embed="rId2"/>
          <a:srcRect/>
          <a:stretch>
            <a:fillRect/>
          </a:stretch>
        </p:blipFill>
        <p:spPr>
          <a:xfrm>
            <a:off x="5221224" y="3520440"/>
            <a:ext cx="256032" cy="256032"/>
          </a:xfrm>
          <a:prstGeom prst="rect">
            <a:avLst/>
          </a:prstGeom>
        </p:spPr>
      </p:pic>
      <p:sp>
        <p:nvSpPr>
          <p:cNvPr id="14" name="g282|card|"/>
          <p:cNvSpPr txBox="1"/>
          <p:nvPr/>
        </p:nvSpPr>
        <p:spPr>
          <a:xfrm>
            <a:off x="5715000"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Order alerts</a:t>
            </a:r>
          </a:p>
        </p:txBody>
      </p:sp>
      <p:pic>
        <p:nvPicPr>
          <p:cNvPr id="15" name="g283|icon|checkCircle_orange.png" descr="checkCircle_orange"/>
          <p:cNvPicPr>
            <a:picLocks noChangeAspect="1"/>
          </p:cNvPicPr>
          <p:nvPr/>
        </p:nvPicPr>
        <p:blipFill>
          <a:blip r:embed="rId2"/>
          <a:srcRect/>
          <a:stretch>
            <a:fillRect/>
          </a:stretch>
        </p:blipFill>
        <p:spPr>
          <a:xfrm>
            <a:off x="5221224" y="4233672"/>
            <a:ext cx="256032" cy="256032"/>
          </a:xfrm>
          <a:prstGeom prst="rect">
            <a:avLst/>
          </a:prstGeom>
        </p:spPr>
      </p:pic>
      <p:sp>
        <p:nvSpPr>
          <p:cNvPr id="16" name="g283|card|"/>
          <p:cNvSpPr txBox="1"/>
          <p:nvPr/>
        </p:nvSpPr>
        <p:spPr>
          <a:xfrm>
            <a:off x="5715000" y="4105656"/>
            <a:ext cx="2286000" cy="512064"/>
          </a:xfrm>
          <a:prstGeom prst="rect">
            <a:avLst/>
          </a:prstGeom>
          <a:noFill/>
        </p:spPr>
        <p:txBody>
          <a:bodyPr wrap="square" lIns="0" rIns="0" tIns="0" bIns="0" anchor="ctr">
            <a:noAutofit/>
          </a:bodyPr>
          <a:lstStyle/>
          <a:p>
            <a:pPr algn="l"/>
            <a:r>
              <a:rPr sz="1500" b="0">
                <a:solidFill>
                  <a:srgbClr val="FFFFFF"/>
                </a:solidFill>
                <a:latin typeface="Inter"/>
              </a:rPr>
              <a:t>AI posts &amp; clips</a:t>
            </a:r>
          </a:p>
        </p:txBody>
      </p:sp>
      <p:pic>
        <p:nvPicPr>
          <p:cNvPr id="17" name="g284|icon|checkCircle_orange.png" descr="checkCircle_orange"/>
          <p:cNvPicPr>
            <a:picLocks noChangeAspect="1"/>
          </p:cNvPicPr>
          <p:nvPr/>
        </p:nvPicPr>
        <p:blipFill>
          <a:blip r:embed="rId2"/>
          <a:srcRect/>
          <a:stretch>
            <a:fillRect/>
          </a:stretch>
        </p:blipFill>
        <p:spPr>
          <a:xfrm>
            <a:off x="5221224" y="4946904"/>
            <a:ext cx="256032" cy="256032"/>
          </a:xfrm>
          <a:prstGeom prst="rect">
            <a:avLst/>
          </a:prstGeom>
        </p:spPr>
      </p:pic>
      <p:sp>
        <p:nvSpPr>
          <p:cNvPr id="18" name="g284|card|"/>
          <p:cNvSpPr txBox="1"/>
          <p:nvPr/>
        </p:nvSpPr>
        <p:spPr>
          <a:xfrm>
            <a:off x="5715000" y="4818888"/>
            <a:ext cx="2286000" cy="512064"/>
          </a:xfrm>
          <a:prstGeom prst="rect">
            <a:avLst/>
          </a:prstGeom>
          <a:noFill/>
        </p:spPr>
        <p:txBody>
          <a:bodyPr wrap="square" lIns="0" rIns="0" tIns="0" bIns="0" anchor="ctr">
            <a:noAutofit/>
          </a:bodyPr>
          <a:lstStyle/>
          <a:p>
            <a:pPr algn="l"/>
            <a:r>
              <a:rPr sz="1500" b="0">
                <a:solidFill>
                  <a:srgbClr val="FFFFFF"/>
                </a:solidFill>
                <a:latin typeface="Inter"/>
              </a:rPr>
              <a:t>TikTok video</a:t>
            </a:r>
          </a:p>
        </p:txBody>
      </p:sp>
      <p:sp>
        <p:nvSpPr>
          <p:cNvPr id="19" name="meet285|card|"/>
          <p:cNvSpPr/>
          <p:nvPr/>
        </p:nvSpPr>
        <p:spPr>
          <a:xfrm>
            <a:off x="8348471"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et285|eyebrow|"/>
          <p:cNvSpPr txBox="1"/>
          <p:nvPr/>
        </p:nvSpPr>
        <p:spPr>
          <a:xfrm>
            <a:off x="8622792" y="1463040"/>
            <a:ext cx="2743200" cy="274320"/>
          </a:xfrm>
          <a:prstGeom prst="rect">
            <a:avLst/>
          </a:prstGeom>
          <a:noFill/>
        </p:spPr>
        <p:txBody>
          <a:bodyPr wrap="square" lIns="0" rIns="0" tIns="0" bIns="0" anchor="t">
            <a:noAutofit/>
          </a:bodyPr>
          <a:lstStyle/>
          <a:p>
            <a:pPr algn="l"/>
            <a:r>
              <a:rPr sz="1200" b="1" spc="120">
                <a:solidFill>
                  <a:srgbClr val="A7B0B8"/>
                </a:solidFill>
                <a:latin typeface="Inter"/>
              </a:rPr>
              <a:t>BEING SWITCHED ON</a:t>
            </a:r>
          </a:p>
        </p:txBody>
      </p:sp>
      <p:pic>
        <p:nvPicPr>
          <p:cNvPr id="21" name="g286|icon|clock_white.png" descr="clock_white"/>
          <p:cNvPicPr>
            <a:picLocks noChangeAspect="1"/>
          </p:cNvPicPr>
          <p:nvPr/>
        </p:nvPicPr>
        <p:blipFill>
          <a:blip r:embed="rId3"/>
          <a:srcRect/>
          <a:stretch>
            <a:fillRect/>
          </a:stretch>
        </p:blipFill>
        <p:spPr>
          <a:xfrm>
            <a:off x="8723376" y="2093975"/>
            <a:ext cx="256032" cy="256032"/>
          </a:xfrm>
          <a:prstGeom prst="rect">
            <a:avLst/>
          </a:prstGeom>
        </p:spPr>
      </p:pic>
      <p:sp>
        <p:nvSpPr>
          <p:cNvPr id="22" name="g286|card|"/>
          <p:cNvSpPr txBox="1"/>
          <p:nvPr/>
        </p:nvSpPr>
        <p:spPr>
          <a:xfrm>
            <a:off x="9217151"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Checkout</a:t>
            </a:r>
          </a:p>
        </p:txBody>
      </p:sp>
      <p:pic>
        <p:nvPicPr>
          <p:cNvPr id="23" name="g287|icon|clock_white.png" descr="clock_white"/>
          <p:cNvPicPr>
            <a:picLocks noChangeAspect="1"/>
          </p:cNvPicPr>
          <p:nvPr/>
        </p:nvPicPr>
        <p:blipFill>
          <a:blip r:embed="rId3"/>
          <a:srcRect/>
          <a:stretch>
            <a:fillRect/>
          </a:stretch>
        </p:blipFill>
        <p:spPr>
          <a:xfrm>
            <a:off x="8723376" y="2807208"/>
            <a:ext cx="256032" cy="256032"/>
          </a:xfrm>
          <a:prstGeom prst="rect">
            <a:avLst/>
          </a:prstGeom>
        </p:spPr>
      </p:pic>
      <p:sp>
        <p:nvSpPr>
          <p:cNvPr id="24" name="g287|card|"/>
          <p:cNvSpPr txBox="1"/>
          <p:nvPr/>
        </p:nvSpPr>
        <p:spPr>
          <a:xfrm>
            <a:off x="9217151"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Facebook &amp; Instagram</a:t>
            </a:r>
          </a:p>
        </p:txBody>
      </p:sp>
      <p:pic>
        <p:nvPicPr>
          <p:cNvPr id="25" name="g288|icon|clock_white.png" descr="clock_white"/>
          <p:cNvPicPr>
            <a:picLocks noChangeAspect="1"/>
          </p:cNvPicPr>
          <p:nvPr/>
        </p:nvPicPr>
        <p:blipFill>
          <a:blip r:embed="rId3"/>
          <a:srcRect/>
          <a:stretch>
            <a:fillRect/>
          </a:stretch>
        </p:blipFill>
        <p:spPr>
          <a:xfrm>
            <a:off x="8723376" y="3520440"/>
            <a:ext cx="256032" cy="256032"/>
          </a:xfrm>
          <a:prstGeom prst="rect">
            <a:avLst/>
          </a:prstGeom>
        </p:spPr>
      </p:pic>
      <p:sp>
        <p:nvSpPr>
          <p:cNvPr id="26" name="g288|card|"/>
          <p:cNvSpPr txBox="1"/>
          <p:nvPr/>
        </p:nvSpPr>
        <p:spPr>
          <a:xfrm>
            <a:off x="9217151"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AI Voice (beta)</a:t>
            </a:r>
          </a:p>
        </p:txBody>
      </p:sp>
      <p:sp>
        <p:nvSpPr>
          <p:cNvPr id="2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8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HOW FLUXMUSE WORKS</a:t>
            </a:r>
          </a:p>
        </p:txBody>
      </p:sp>
      <p:sp>
        <p:nvSpPr>
          <p:cNvPr id="3" name="hdr28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One loop, run by your AI marketing team</a:t>
            </a:r>
          </a:p>
        </p:txBody>
      </p:sp>
      <p:pic>
        <p:nvPicPr>
          <p:cNvPr id="4" name="g290|img|infographics/how-fluxmuse-works.png" descr="Loop: Plan, Create (captions, images, short clips), Publish (WhatsApp Status, consented broadcasts, TikTok), Sell (shop link from photos, every order on WhatsApp), Lear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9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WHATSAPP SELLING</a:t>
            </a:r>
          </a:p>
        </p:txBody>
      </p:sp>
      <p:sp>
        <p:nvSpPr>
          <p:cNvPr id="3" name="hdr29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tap to repeat order, on WhatsApp</a:t>
            </a:r>
          </a:p>
        </p:txBody>
      </p:sp>
      <p:pic>
        <p:nvPicPr>
          <p:cNvPr id="4" name="g292|img|infographics/whatsapp-commerce-flow.png" descr="Discover, Chat, Catalog, Cart, Pay (card and EFT in South Africa, being switched on), Order alert, Come back; checkout through FluxMuse not yet tested with real money"/>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9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CHANNELS</a:t>
            </a:r>
          </a:p>
        </p:txBody>
      </p:sp>
      <p:sp>
        <p:nvSpPr>
          <p:cNvPr id="3" name="hdr29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Where FluxMuse works today</a:t>
            </a:r>
          </a:p>
        </p:txBody>
      </p:sp>
      <p:pic>
        <p:nvPicPr>
          <p:cNvPr id="4" name="g294|img|infographics/omnichannel-hub.png" descr="FluxMuse AI team: live on WhatsApp Business, WhatsApp Status, hosted shop link, TikTok video and consented broadcasts; Facebook Pages, Instagram posts and WhatsApp ads being switched on; Instagram DMs and X posting not available"/>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9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AGENCIES &amp; PARTNERS</a:t>
            </a:r>
          </a:p>
        </p:txBody>
      </p:sp>
      <p:sp>
        <p:nvSpPr>
          <p:cNvPr id="3" name="hdr29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Agencies: serve more clients, your brand</a:t>
            </a:r>
          </a:p>
        </p:txBody>
      </p:sp>
      <p:pic>
        <p:nvPicPr>
          <p:cNvPr id="4" name="g296|img|infographics/segment-agency.png" descr="Agencies: three pains, three answers, Agency tier R9,999 list, partner price R6,999 a month"/>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9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AGENCY PARTNER MODEL · ILLUSTRATIVE ECONOMICS</a:t>
            </a:r>
          </a:p>
        </p:txBody>
      </p:sp>
      <p:sp>
        <p:nvSpPr>
          <p:cNvPr id="3" name="hdr29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Resell FluxMuse under your own brand</a:t>
            </a:r>
          </a:p>
        </p:txBody>
      </p:sp>
      <p:pic>
        <p:nvPicPr>
          <p:cNvPr id="4" name="g298|img|infographics/agency-partner-model.png" descr="FluxMuse to agency at the partner price R6,999 a month to clients at a retail price the agency sets; illustrative example of 20 clients at R1,500 giving a R23,001 gross spread"/>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9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PARTNER PLAN · AGENCY TIER AT WHOLESALE</a:t>
            </a:r>
          </a:p>
        </p:txBody>
      </p:sp>
      <p:sp>
        <p:nvSpPr>
          <p:cNvPr id="3" name="hdr29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Everything you need to resell</a:t>
            </a:r>
          </a:p>
        </p:txBody>
      </p:sp>
      <p:sp>
        <p:nvSpPr>
          <p:cNvPr id="4" name="price300|card|"/>
          <p:cNvSpPr/>
          <p:nvPr/>
        </p:nvSpPr>
        <p:spPr>
          <a:xfrm>
            <a:off x="548640" y="1536192"/>
            <a:ext cx="3703320" cy="4617720"/>
          </a:xfrm>
          <a:prstGeom prst="roundRect">
            <a:avLst>
              <a:gd name="adj" fmla="val 4938"/>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ice300|eyebrow|"/>
          <p:cNvSpPr txBox="1"/>
          <p:nvPr/>
        </p:nvSpPr>
        <p:spPr>
          <a:xfrm>
            <a:off x="914400" y="1828800"/>
            <a:ext cx="3017520" cy="329184"/>
          </a:xfrm>
          <a:prstGeom prst="rect">
            <a:avLst/>
          </a:prstGeom>
          <a:noFill/>
        </p:spPr>
        <p:txBody>
          <a:bodyPr wrap="square" lIns="0" rIns="0" tIns="0" bIns="0" anchor="t">
            <a:noAutofit/>
          </a:bodyPr>
          <a:lstStyle/>
          <a:p>
            <a:pPr algn="l"/>
            <a:r>
              <a:rPr sz="1300" b="1" spc="120">
                <a:solidFill>
                  <a:srgbClr val="C24E00"/>
                </a:solidFill>
                <a:latin typeface="Inter"/>
              </a:rPr>
              <a:t>PARTNER WHOLESALE</a:t>
            </a:r>
          </a:p>
        </p:txBody>
      </p:sp>
      <p:sp>
        <p:nvSpPr>
          <p:cNvPr id="6" name="price300|card|"/>
          <p:cNvSpPr txBox="1"/>
          <p:nvPr/>
        </p:nvSpPr>
        <p:spPr>
          <a:xfrm>
            <a:off x="914400" y="2194560"/>
            <a:ext cx="3108960" cy="1097280"/>
          </a:xfrm>
          <a:prstGeom prst="rect">
            <a:avLst/>
          </a:prstGeom>
          <a:noFill/>
        </p:spPr>
        <p:txBody>
          <a:bodyPr wrap="square" lIns="0" rIns="0" tIns="0" bIns="0" anchor="t">
            <a:noAutofit/>
          </a:bodyPr>
          <a:lstStyle/>
          <a:p>
            <a:pPr algn="l"/>
            <a:r>
              <a:rPr sz="5400" b="1">
                <a:solidFill>
                  <a:srgbClr val="20242B"/>
                </a:solidFill>
                <a:latin typeface="Poppins"/>
              </a:rPr>
              <a:t>R6,999</a:t>
            </a:r>
          </a:p>
        </p:txBody>
      </p:sp>
      <p:sp>
        <p:nvSpPr>
          <p:cNvPr id="7" name="price300|card|"/>
          <p:cNvSpPr txBox="1"/>
          <p:nvPr/>
        </p:nvSpPr>
        <p:spPr>
          <a:xfrm>
            <a:off x="914400" y="3337560"/>
            <a:ext cx="3017520" cy="640080"/>
          </a:xfrm>
          <a:prstGeom prst="rect">
            <a:avLst/>
          </a:prstGeom>
          <a:noFill/>
        </p:spPr>
        <p:txBody>
          <a:bodyPr wrap="square" lIns="0" rIns="0" tIns="0" bIns="0" anchor="t">
            <a:noAutofit/>
          </a:bodyPr>
          <a:lstStyle/>
          <a:p>
            <a:pPr algn="l"/>
            <a:r>
              <a:rPr sz="1600" b="0">
                <a:solidFill>
                  <a:srgbClr val="20242B"/>
                </a:solidFill>
                <a:latin typeface="Inter"/>
              </a:rPr>
              <a:t>per month</a:t>
            </a:r>
          </a:p>
        </p:txBody>
      </p:sp>
      <p:sp>
        <p:nvSpPr>
          <p:cNvPr id="8" name="price300|card|"/>
          <p:cNvSpPr txBox="1"/>
          <p:nvPr/>
        </p:nvSpPr>
        <p:spPr>
          <a:xfrm>
            <a:off x="914400" y="4114800"/>
            <a:ext cx="3017520" cy="640080"/>
          </a:xfrm>
          <a:prstGeom prst="rect">
            <a:avLst/>
          </a:prstGeom>
          <a:noFill/>
        </p:spPr>
        <p:txBody>
          <a:bodyPr wrap="square" lIns="0" rIns="0" tIns="0" bIns="0" anchor="t">
            <a:noAutofit/>
          </a:bodyPr>
          <a:lstStyle/>
          <a:p>
            <a:pPr algn="l"/>
            <a:r>
              <a:rPr sz="1600" b="1">
                <a:solidFill>
                  <a:srgbClr val="20242B"/>
                </a:solidFill>
                <a:latin typeface="Inter"/>
              </a:rPr>
              <a:t>30% off the R9,999 Agency list price</a:t>
            </a:r>
          </a:p>
        </p:txBody>
      </p:sp>
      <p:sp>
        <p:nvSpPr>
          <p:cNvPr id="9" name="price300|card|"/>
          <p:cNvSpPr txBox="1"/>
          <p:nvPr/>
        </p:nvSpPr>
        <p:spPr>
          <a:xfrm>
            <a:off x="914400" y="4937760"/>
            <a:ext cx="3017520" cy="822960"/>
          </a:xfrm>
          <a:prstGeom prst="rect">
            <a:avLst/>
          </a:prstGeom>
          <a:noFill/>
        </p:spPr>
        <p:txBody>
          <a:bodyPr wrap="square" lIns="0" rIns="0" tIns="0" bIns="0" anchor="t">
            <a:noAutofit/>
          </a:bodyPr>
          <a:lstStyle/>
          <a:p>
            <a:pPr algn="l"/>
            <a:r>
              <a:rPr sz="1400" b="0">
                <a:solidFill>
                  <a:srgbClr val="5B6670"/>
                </a:solidFill>
                <a:latin typeface="Inter"/>
              </a:rPr>
              <a:t>R69,990 a year. Launch offers don't stack.</a:t>
            </a:r>
          </a:p>
        </p:txBody>
      </p:sp>
      <p:sp>
        <p:nvSpPr>
          <p:cNvPr id="10" name="inc301|card|"/>
          <p:cNvSpPr/>
          <p:nvPr/>
        </p:nvSpPr>
        <p:spPr>
          <a:xfrm>
            <a:off x="4526280" y="153619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nc301|deco|"/>
          <p:cNvSpPr/>
          <p:nvPr/>
        </p:nvSpPr>
        <p:spPr>
          <a:xfrm>
            <a:off x="4791456" y="1892807"/>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nc301|icon|layers_deep.png" descr="layers_deep"/>
          <p:cNvPicPr>
            <a:picLocks noChangeAspect="1"/>
          </p:cNvPicPr>
          <p:nvPr/>
        </p:nvPicPr>
        <p:blipFill>
          <a:blip r:embed="rId2"/>
          <a:srcRect/>
          <a:stretch>
            <a:fillRect/>
          </a:stretch>
        </p:blipFill>
        <p:spPr>
          <a:xfrm>
            <a:off x="4936296" y="2037648"/>
            <a:ext cx="368686" cy="368686"/>
          </a:xfrm>
          <a:prstGeom prst="rect">
            <a:avLst/>
          </a:prstGeom>
        </p:spPr>
      </p:pic>
      <p:sp>
        <p:nvSpPr>
          <p:cNvPr id="13" name="inc301|card|"/>
          <p:cNvSpPr txBox="1"/>
          <p:nvPr/>
        </p:nvSpPr>
        <p:spPr>
          <a:xfrm>
            <a:off x="5623560" y="1719072"/>
            <a:ext cx="2139696" cy="1005840"/>
          </a:xfrm>
          <a:prstGeom prst="rect">
            <a:avLst/>
          </a:prstGeom>
          <a:noFill/>
        </p:spPr>
        <p:txBody>
          <a:bodyPr wrap="square" lIns="0" rIns="0" tIns="0" bIns="0" anchor="ctr">
            <a:noAutofit/>
          </a:bodyPr>
          <a:lstStyle/>
          <a:p>
            <a:pPr algn="l"/>
            <a:r>
              <a:rPr sz="1800" b="1">
                <a:solidFill>
                  <a:srgbClr val="20242B"/>
                </a:solidFill>
                <a:latin typeface="Poppins"/>
              </a:rPr>
              <a:t>Full white-label</a:t>
            </a:r>
          </a:p>
        </p:txBody>
      </p:sp>
      <p:sp>
        <p:nvSpPr>
          <p:cNvPr id="14" name="inc302|card|"/>
          <p:cNvSpPr/>
          <p:nvPr/>
        </p:nvSpPr>
        <p:spPr>
          <a:xfrm>
            <a:off x="8220456" y="153619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c302|deco|"/>
          <p:cNvSpPr/>
          <p:nvPr/>
        </p:nvSpPr>
        <p:spPr>
          <a:xfrm>
            <a:off x="8485632" y="1892807"/>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nc302|icon|users_deep.png" descr="users_deep"/>
          <p:cNvPicPr>
            <a:picLocks noChangeAspect="1"/>
          </p:cNvPicPr>
          <p:nvPr/>
        </p:nvPicPr>
        <p:blipFill>
          <a:blip r:embed="rId3"/>
          <a:srcRect/>
          <a:stretch>
            <a:fillRect/>
          </a:stretch>
        </p:blipFill>
        <p:spPr>
          <a:xfrm>
            <a:off x="8630472" y="2037648"/>
            <a:ext cx="368686" cy="368686"/>
          </a:xfrm>
          <a:prstGeom prst="rect">
            <a:avLst/>
          </a:prstGeom>
        </p:spPr>
      </p:pic>
      <p:sp>
        <p:nvSpPr>
          <p:cNvPr id="17" name="inc302|card|"/>
          <p:cNvSpPr txBox="1"/>
          <p:nvPr/>
        </p:nvSpPr>
        <p:spPr>
          <a:xfrm>
            <a:off x="9317736" y="1719072"/>
            <a:ext cx="2139696" cy="1005840"/>
          </a:xfrm>
          <a:prstGeom prst="rect">
            <a:avLst/>
          </a:prstGeom>
          <a:noFill/>
        </p:spPr>
        <p:txBody>
          <a:bodyPr wrap="square" lIns="0" rIns="0" tIns="0" bIns="0" anchor="ctr">
            <a:noAutofit/>
          </a:bodyPr>
          <a:lstStyle/>
          <a:p>
            <a:pPr algn="l"/>
            <a:r>
              <a:rPr sz="1800" b="1">
                <a:solidFill>
                  <a:srgbClr val="20242B"/>
                </a:solidFill>
                <a:latin typeface="Poppins"/>
              </a:rPr>
              <a:t>Multi-client workspaces</a:t>
            </a:r>
          </a:p>
        </p:txBody>
      </p:sp>
      <p:sp>
        <p:nvSpPr>
          <p:cNvPr id="18" name="inc303|card|"/>
          <p:cNvSpPr/>
          <p:nvPr/>
        </p:nvSpPr>
        <p:spPr>
          <a:xfrm>
            <a:off x="4526280" y="315925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nc303|deco|"/>
          <p:cNvSpPr/>
          <p:nvPr/>
        </p:nvSpPr>
        <p:spPr>
          <a:xfrm>
            <a:off x="4791456" y="3515868"/>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inc303|icon|briefcase_deep.png" descr="briefcase_deep"/>
          <p:cNvPicPr>
            <a:picLocks noChangeAspect="1"/>
          </p:cNvPicPr>
          <p:nvPr/>
        </p:nvPicPr>
        <p:blipFill>
          <a:blip r:embed="rId4"/>
          <a:srcRect/>
          <a:stretch>
            <a:fillRect/>
          </a:stretch>
        </p:blipFill>
        <p:spPr>
          <a:xfrm>
            <a:off x="4936296" y="3660708"/>
            <a:ext cx="368686" cy="368686"/>
          </a:xfrm>
          <a:prstGeom prst="rect">
            <a:avLst/>
          </a:prstGeom>
        </p:spPr>
      </p:pic>
      <p:sp>
        <p:nvSpPr>
          <p:cNvPr id="21" name="inc303|card|"/>
          <p:cNvSpPr txBox="1"/>
          <p:nvPr/>
        </p:nvSpPr>
        <p:spPr>
          <a:xfrm>
            <a:off x="5623560" y="3342132"/>
            <a:ext cx="2139696" cy="1005840"/>
          </a:xfrm>
          <a:prstGeom prst="rect">
            <a:avLst/>
          </a:prstGeom>
          <a:noFill/>
        </p:spPr>
        <p:txBody>
          <a:bodyPr wrap="square" lIns="0" rIns="0" tIns="0" bIns="0" anchor="ctr">
            <a:noAutofit/>
          </a:bodyPr>
          <a:lstStyle/>
          <a:p>
            <a:pPr algn="l"/>
            <a:r>
              <a:rPr sz="1800" b="1">
                <a:solidFill>
                  <a:srgbClr val="20242B"/>
                </a:solidFill>
                <a:latin typeface="Poppins"/>
              </a:rPr>
              <a:t>Unlimited brands</a:t>
            </a:r>
          </a:p>
        </p:txBody>
      </p:sp>
      <p:sp>
        <p:nvSpPr>
          <p:cNvPr id="22" name="inc304|card|"/>
          <p:cNvSpPr/>
          <p:nvPr/>
        </p:nvSpPr>
        <p:spPr>
          <a:xfrm>
            <a:off x="8220456" y="315925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nc304|deco|"/>
          <p:cNvSpPr/>
          <p:nvPr/>
        </p:nvSpPr>
        <p:spPr>
          <a:xfrm>
            <a:off x="8485632" y="3515868"/>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inc304|icon|globe_deep.png" descr="globe_deep"/>
          <p:cNvPicPr>
            <a:picLocks noChangeAspect="1"/>
          </p:cNvPicPr>
          <p:nvPr/>
        </p:nvPicPr>
        <p:blipFill>
          <a:blip r:embed="rId5"/>
          <a:srcRect/>
          <a:stretch>
            <a:fillRect/>
          </a:stretch>
        </p:blipFill>
        <p:spPr>
          <a:xfrm>
            <a:off x="8630472" y="3660708"/>
            <a:ext cx="368686" cy="368686"/>
          </a:xfrm>
          <a:prstGeom prst="rect">
            <a:avLst/>
          </a:prstGeom>
        </p:spPr>
      </p:pic>
      <p:sp>
        <p:nvSpPr>
          <p:cNvPr id="25" name="inc304|card|"/>
          <p:cNvSpPr txBox="1"/>
          <p:nvPr/>
        </p:nvSpPr>
        <p:spPr>
          <a:xfrm>
            <a:off x="9317736" y="3342132"/>
            <a:ext cx="2139696" cy="1005840"/>
          </a:xfrm>
          <a:prstGeom prst="rect">
            <a:avLst/>
          </a:prstGeom>
          <a:noFill/>
        </p:spPr>
        <p:txBody>
          <a:bodyPr wrap="square" lIns="0" rIns="0" tIns="0" bIns="0" anchor="ctr">
            <a:noAutofit/>
          </a:bodyPr>
          <a:lstStyle/>
          <a:p>
            <a:pPr algn="l"/>
            <a:r>
              <a:rPr sz="1800" b="1">
                <a:solidFill>
                  <a:srgbClr val="20242B"/>
                </a:solidFill>
                <a:latin typeface="Poppins"/>
              </a:rPr>
              <a:t>80 channels</a:t>
            </a:r>
          </a:p>
        </p:txBody>
      </p:sp>
      <p:sp>
        <p:nvSpPr>
          <p:cNvPr id="26" name="inc305|card|"/>
          <p:cNvSpPr/>
          <p:nvPr/>
        </p:nvSpPr>
        <p:spPr>
          <a:xfrm>
            <a:off x="4526280" y="478231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c305|deco|"/>
          <p:cNvSpPr/>
          <p:nvPr/>
        </p:nvSpPr>
        <p:spPr>
          <a:xfrm>
            <a:off x="4791456" y="5138927"/>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nc305|icon|plug_deep.png" descr="plug_deep"/>
          <p:cNvPicPr>
            <a:picLocks noChangeAspect="1"/>
          </p:cNvPicPr>
          <p:nvPr/>
        </p:nvPicPr>
        <p:blipFill>
          <a:blip r:embed="rId6"/>
          <a:srcRect/>
          <a:stretch>
            <a:fillRect/>
          </a:stretch>
        </p:blipFill>
        <p:spPr>
          <a:xfrm>
            <a:off x="4936296" y="5283768"/>
            <a:ext cx="368686" cy="368686"/>
          </a:xfrm>
          <a:prstGeom prst="rect">
            <a:avLst/>
          </a:prstGeom>
        </p:spPr>
      </p:pic>
      <p:sp>
        <p:nvSpPr>
          <p:cNvPr id="29" name="inc305|card|"/>
          <p:cNvSpPr txBox="1"/>
          <p:nvPr/>
        </p:nvSpPr>
        <p:spPr>
          <a:xfrm>
            <a:off x="5623560" y="4965192"/>
            <a:ext cx="2139696" cy="1005840"/>
          </a:xfrm>
          <a:prstGeom prst="rect">
            <a:avLst/>
          </a:prstGeom>
          <a:noFill/>
        </p:spPr>
        <p:txBody>
          <a:bodyPr wrap="square" lIns="0" rIns="0" tIns="0" bIns="0" anchor="ctr">
            <a:noAutofit/>
          </a:bodyPr>
          <a:lstStyle/>
          <a:p>
            <a:pPr algn="l"/>
            <a:r>
              <a:rPr sz="1800" b="1">
                <a:solidFill>
                  <a:srgbClr val="20242B"/>
                </a:solidFill>
                <a:latin typeface="Poppins"/>
              </a:rPr>
              <a:t>Bring your own cloud</a:t>
            </a:r>
          </a:p>
        </p:txBody>
      </p:sp>
      <p:sp>
        <p:nvSpPr>
          <p:cNvPr id="30" name="inc306|card|"/>
          <p:cNvSpPr/>
          <p:nvPr/>
        </p:nvSpPr>
        <p:spPr>
          <a:xfrm>
            <a:off x="8220456" y="4782312"/>
            <a:ext cx="3419856" cy="1371600"/>
          </a:xfrm>
          <a:prstGeom prst="roundRect">
            <a:avLst>
              <a:gd name="adj" fmla="val 12000"/>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c306|deco|"/>
          <p:cNvSpPr/>
          <p:nvPr/>
        </p:nvSpPr>
        <p:spPr>
          <a:xfrm>
            <a:off x="8485632" y="5138927"/>
            <a:ext cx="658368" cy="658368"/>
          </a:xfrm>
          <a:prstGeom prst="ellipse">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inc306|icon|chat_deep.png" descr="chat_deep"/>
          <p:cNvPicPr>
            <a:picLocks noChangeAspect="1"/>
          </p:cNvPicPr>
          <p:nvPr/>
        </p:nvPicPr>
        <p:blipFill>
          <a:blip r:embed="rId7"/>
          <a:srcRect/>
          <a:stretch>
            <a:fillRect/>
          </a:stretch>
        </p:blipFill>
        <p:spPr>
          <a:xfrm>
            <a:off x="8630472" y="5283768"/>
            <a:ext cx="368686" cy="368686"/>
          </a:xfrm>
          <a:prstGeom prst="rect">
            <a:avLst/>
          </a:prstGeom>
        </p:spPr>
      </p:pic>
      <p:sp>
        <p:nvSpPr>
          <p:cNvPr id="33" name="inc306|card|"/>
          <p:cNvSpPr txBox="1"/>
          <p:nvPr/>
        </p:nvSpPr>
        <p:spPr>
          <a:xfrm>
            <a:off x="9317736" y="4965192"/>
            <a:ext cx="2139696" cy="1005840"/>
          </a:xfrm>
          <a:prstGeom prst="rect">
            <a:avLst/>
          </a:prstGeom>
          <a:noFill/>
        </p:spPr>
        <p:txBody>
          <a:bodyPr wrap="square" lIns="0" rIns="0" tIns="0" bIns="0" anchor="ctr">
            <a:noAutofit/>
          </a:bodyPr>
          <a:lstStyle/>
          <a:p>
            <a:pPr algn="l"/>
            <a:r>
              <a:rPr sz="1800" b="1">
                <a:solidFill>
                  <a:srgbClr val="20242B"/>
                </a:solidFill>
                <a:latin typeface="Poppins"/>
              </a:rPr>
              <a:t>Set up with you by hand</a:t>
            </a:r>
          </a:p>
        </p:txBody>
      </p:sp>
      <p:sp>
        <p:nvSpPr>
          <p:cNvPr id="3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0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30% OFF THE AGENCY LIST PRICE</a:t>
            </a:r>
          </a:p>
        </p:txBody>
      </p:sp>
      <p:sp>
        <p:nvSpPr>
          <p:cNvPr id="3" name="hdr30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Partner wholesale pricing</a:t>
            </a:r>
          </a:p>
        </p:txBody>
      </p:sp>
      <p:graphicFrame>
        <p:nvGraphicFramePr>
          <p:cNvPr id="4" name="g308|table|wholesale"/>
          <p:cNvGraphicFramePr>
            <a:graphicFrameLocks noGrp="1"/>
          </p:cNvGraphicFramePr>
          <p:nvPr/>
        </p:nvGraphicFramePr>
        <p:xfrm>
          <a:off x="548640" y="1508760"/>
          <a:ext cx="9692640" cy="1773936"/>
        </p:xfrm>
        <a:graphic>
          <a:graphicData uri="http://schemas.openxmlformats.org/drawingml/2006/table">
            <a:tbl>
              <a:tblPr firstRow="0" bandRow="0"/>
              <a:tblGrid>
                <a:gridCol w="4206240"/>
                <a:gridCol w="2743200"/>
                <a:gridCol w="2743200"/>
              </a:tblGrid>
              <a:tr h="566928">
                <a:tc>
                  <a:txBody>
                    <a:bodyPr wrap="square"/>
                    <a:lstStyle/>
                    <a:p>
                      <a:pPr algn="l"/>
                      <a:r>
                        <a:rPr sz="1600" b="1">
                          <a:solidFill>
                            <a:srgbClr val="FFFFFF"/>
                          </a:solidFill>
                          <a:latin typeface="Poppins"/>
                        </a:rPr>
                        <a:t>ZAR</a:t>
                      </a:r>
                    </a:p>
                  </a:txBody>
                  <a:tcPr marL="109728" marR="109728" marT="36576" marB="36576" anchor="ctr">
                    <a:lnL w="0">
                      <a:noFill/>
                    </a:lnL>
                    <a:lnR w="0">
                      <a:noFill/>
                    </a:lnR>
                    <a:lnT w="0">
                      <a:noFill/>
                    </a:lnT>
                    <a:lnB w="0">
                      <a:noFill/>
                    </a:lnB>
                    <a:solidFill>
                      <a:srgbClr val="0F1419"/>
                    </a:solidFill>
                  </a:tcPr>
                </a:tc>
                <a:tc>
                  <a:txBody>
                    <a:bodyPr wrap="square"/>
                    <a:lstStyle/>
                    <a:p>
                      <a:pPr algn="ctr"/>
                      <a:r>
                        <a:rPr sz="1600" b="1">
                          <a:solidFill>
                            <a:srgbClr val="FFFFFF"/>
                          </a:solidFill>
                          <a:latin typeface="Poppins"/>
                        </a:rPr>
                        <a:t>Per month</a:t>
                      </a:r>
                    </a:p>
                  </a:txBody>
                  <a:tcPr marL="109728" marR="109728" marT="36576" marB="36576" anchor="ctr">
                    <a:lnL w="0">
                      <a:noFill/>
                    </a:lnL>
                    <a:lnR w="0">
                      <a:noFill/>
                    </a:lnR>
                    <a:lnT w="0">
                      <a:noFill/>
                    </a:lnT>
                    <a:lnB w="0">
                      <a:noFill/>
                    </a:lnB>
                    <a:solidFill>
                      <a:srgbClr val="0F1419"/>
                    </a:solidFill>
                  </a:tcPr>
                </a:tc>
                <a:tc>
                  <a:txBody>
                    <a:bodyPr wrap="square"/>
                    <a:lstStyle/>
                    <a:p>
                      <a:pPr algn="ctr"/>
                      <a:r>
                        <a:rPr sz="1600" b="1">
                          <a:solidFill>
                            <a:srgbClr val="FFFFFF"/>
                          </a:solidFill>
                          <a:latin typeface="Poppins"/>
                        </a:rPr>
                        <a:t>Per year (10×)</a:t>
                      </a:r>
                    </a:p>
                  </a:txBody>
                  <a:tcPr marL="109728" marR="109728" marT="36576" marB="36576" anchor="ctr">
                    <a:lnL w="0">
                      <a:noFill/>
                    </a:lnL>
                    <a:lnR w="0">
                      <a:noFill/>
                    </a:lnR>
                    <a:lnT w="0">
                      <a:noFill/>
                    </a:lnT>
                    <a:lnB w="0">
                      <a:noFill/>
                    </a:lnB>
                    <a:solidFill>
                      <a:srgbClr val="0F1419"/>
                    </a:solidFill>
                  </a:tcPr>
                </a:tc>
              </a:tr>
              <a:tr h="603504">
                <a:tc>
                  <a:txBody>
                    <a:bodyPr wrap="square"/>
                    <a:lstStyle/>
                    <a:p>
                      <a:pPr algn="l"/>
                      <a:r>
                        <a:rPr sz="1600" b="1">
                          <a:solidFill>
                            <a:srgbClr val="20242B"/>
                          </a:solidFill>
                          <a:latin typeface="Inter"/>
                        </a:rPr>
                        <a:t>Agency list price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600" b="0">
                          <a:solidFill>
                            <a:srgbClr val="20242B"/>
                          </a:solidFill>
                          <a:latin typeface="Inter"/>
                        </a:rPr>
                        <a:t>R9,999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600" b="0">
                          <a:solidFill>
                            <a:srgbClr val="20242B"/>
                          </a:solidFill>
                          <a:latin typeface="Inter"/>
                        </a:rPr>
                        <a:t>R99,990</a:t>
                      </a:r>
                    </a:p>
                  </a:txBody>
                  <a:tcPr marL="109728" marR="109728" marT="36576" marB="36576" anchor="ctr">
                    <a:lnL w="0">
                      <a:noFill/>
                    </a:lnL>
                    <a:lnR w="0">
                      <a:noFill/>
                    </a:lnR>
                    <a:lnT w="0">
                      <a:noFill/>
                    </a:lnT>
                    <a:lnB w="12700">
                      <a:solidFill>
                        <a:srgbClr val="E3E6EA"/>
                      </a:solidFill>
                    </a:lnB>
                    <a:solidFill>
                      <a:srgbClr val="FFFFFF"/>
                    </a:solidFill>
                  </a:tcPr>
                </a:tc>
              </a:tr>
              <a:tr h="603504">
                <a:tc>
                  <a:txBody>
                    <a:bodyPr wrap="square"/>
                    <a:lstStyle/>
                    <a:p>
                      <a:pPr algn="l"/>
                      <a:r>
                        <a:rPr sz="1600" b="1">
                          <a:solidFill>
                            <a:srgbClr val="20242B"/>
                          </a:solidFill>
                          <a:latin typeface="Inter"/>
                        </a:rPr>
                        <a:t>Partner wholesale (−30%)</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600" b="1">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600" b="1">
                          <a:solidFill>
                            <a:srgbClr val="20242B"/>
                          </a:solidFill>
                          <a:latin typeface="Inter"/>
                        </a:rPr>
                        <a:t>R69,990</a:t>
                      </a:r>
                    </a:p>
                  </a:txBody>
                  <a:tcPr marL="109728" marR="109728" marT="36576" marB="36576" anchor="ctr">
                    <a:lnL w="0">
                      <a:noFill/>
                    </a:lnL>
                    <a:lnR w="0">
                      <a:noFill/>
                    </a:lnR>
                    <a:lnT w="0">
                      <a:noFill/>
                    </a:lnT>
                    <a:lnB w="12700">
                      <a:solidFill>
                        <a:srgbClr val="E3E6EA"/>
                      </a:solidFill>
                    </a:lnB>
                    <a:solidFill>
                      <a:srgbClr val="FFF4EB"/>
                    </a:solidFill>
                  </a:tcPr>
                </a:tc>
              </a:tr>
            </a:tbl>
          </a:graphicData>
        </a:graphic>
      </p:graphicFrame>
      <p:sp>
        <p:nvSpPr>
          <p:cNvPr id="5" name="illus309|card|"/>
          <p:cNvSpPr/>
          <p:nvPr/>
        </p:nvSpPr>
        <p:spPr>
          <a:xfrm>
            <a:off x="548640" y="3886200"/>
            <a:ext cx="6720840" cy="2194560"/>
          </a:xfrm>
          <a:prstGeom prst="roundRect">
            <a:avLst>
              <a:gd name="adj" fmla="val 75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llus309|eyebrow|"/>
          <p:cNvSpPr txBox="1"/>
          <p:nvPr/>
        </p:nvSpPr>
        <p:spPr>
          <a:xfrm>
            <a:off x="868680" y="4069080"/>
            <a:ext cx="6035040" cy="274320"/>
          </a:xfrm>
          <a:prstGeom prst="rect">
            <a:avLst/>
          </a:prstGeom>
          <a:noFill/>
        </p:spPr>
        <p:txBody>
          <a:bodyPr wrap="square" lIns="0" rIns="0" tIns="0" bIns="0" anchor="t">
            <a:noAutofit/>
          </a:bodyPr>
          <a:lstStyle/>
          <a:p>
            <a:pPr algn="l"/>
            <a:r>
              <a:rPr sz="1200" b="1" spc="120">
                <a:solidFill>
                  <a:srgbClr val="C24E00"/>
                </a:solidFill>
                <a:latin typeface="Inter"/>
              </a:rPr>
              <a:t>ILLUSTRATIVE ONLY · NOT A FORECAST</a:t>
            </a:r>
          </a:p>
        </p:txBody>
      </p:sp>
      <p:sp>
        <p:nvSpPr>
          <p:cNvPr id="7" name="illus309|card|"/>
          <p:cNvSpPr txBox="1"/>
          <p:nvPr/>
        </p:nvSpPr>
        <p:spPr>
          <a:xfrm>
            <a:off x="868680" y="4434840"/>
            <a:ext cx="6126480" cy="1463040"/>
          </a:xfrm>
          <a:prstGeom prst="rect">
            <a:avLst/>
          </a:prstGeom>
          <a:noFill/>
        </p:spPr>
        <p:txBody>
          <a:bodyPr wrap="square" lIns="0" rIns="0" tIns="0" bIns="0" anchor="t">
            <a:noAutofit/>
          </a:bodyPr>
          <a:lstStyle/>
          <a:p>
            <a:pPr algn="l">
              <a:spcAft>
                <a:spcPts val="600"/>
              </a:spcAft>
            </a:pPr>
            <a:r>
              <a:rPr sz="1900" b="1">
                <a:solidFill>
                  <a:srgbClr val="20242B"/>
                </a:solidFill>
                <a:latin typeface="Poppins"/>
              </a:rPr>
              <a:t>20 clients × R1,500/mo = R30,000 billed</a:t>
            </a:r>
          </a:p>
          <a:p>
            <a:pPr algn="l"/>
            <a:r>
              <a:rPr sz="1600" b="0">
                <a:solidFill>
                  <a:srgbClr val="20242B"/>
                </a:solidFill>
                <a:latin typeface="Poppins"/>
              </a:rPr>
              <a:t>− R6,999 wholesale = R23,001/mo gross spread, before your own costs</a:t>
            </a:r>
          </a:p>
        </p:txBody>
      </p:sp>
      <p:sp>
        <p:nvSpPr>
          <p:cNvPr id="8" name="g310|body|"/>
          <p:cNvSpPr txBox="1"/>
          <p:nvPr/>
        </p:nvSpPr>
        <p:spPr>
          <a:xfrm>
            <a:off x="7589520" y="3977639"/>
            <a:ext cx="4050791" cy="2011680"/>
          </a:xfrm>
          <a:prstGeom prst="rect">
            <a:avLst/>
          </a:prstGeom>
          <a:noFill/>
        </p:spPr>
        <p:txBody>
          <a:bodyPr wrap="square" lIns="0" rIns="0" tIns="0" bIns="0" anchor="t">
            <a:noAutofit/>
          </a:bodyPr>
          <a:lstStyle/>
          <a:p>
            <a:pPr algn="l">
              <a:spcAft>
                <a:spcPts val="800"/>
              </a:spcAft>
            </a:pPr>
            <a:r>
              <a:rPr sz="1400" b="0">
                <a:solidFill>
                  <a:srgbClr val="5B6670"/>
                </a:solidFill>
                <a:latin typeface="Inter"/>
              </a:rPr>
              <a:t>You set your retail price.</a:t>
            </a:r>
          </a:p>
          <a:p>
            <a:pPr algn="l">
              <a:spcAft>
                <a:spcPts val="800"/>
              </a:spcAft>
            </a:pPr>
            <a:r>
              <a:rPr sz="1400" b="0">
                <a:solidFill>
                  <a:srgbClr val="5B6670"/>
                </a:solidFill>
                <a:latin typeface="Inter"/>
              </a:rPr>
              <a:t>Paid sign-up is South Africa only for now.</a:t>
            </a:r>
          </a:p>
          <a:p>
            <a:pPr algn="l"/>
            <a:r>
              <a:rPr sz="1400" b="0">
                <a:solidFill>
                  <a:srgbClr val="5B6670"/>
                </a:solidFill>
                <a:latin typeface="Inter"/>
              </a:rPr>
              <a:t>Local-currency partner prices: not set yet.</a:t>
            </a:r>
          </a:p>
        </p:txBody>
      </p:sp>
      <p:sp>
        <p:nvSpPr>
          <p:cNvPr id="9"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10"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1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PARTNER PROGRAMME · LIVE NOW</a:t>
            </a:r>
          </a:p>
        </p:txBody>
      </p:sp>
      <p:sp>
        <p:nvSpPr>
          <p:cNvPr id="3" name="hdr31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Three partner levels</a:t>
            </a:r>
          </a:p>
        </p:txBody>
      </p:sp>
      <p:graphicFrame>
        <p:nvGraphicFramePr>
          <p:cNvPr id="4" name="g312|table|partner-levels"/>
          <p:cNvGraphicFramePr>
            <a:graphicFrameLocks noGrp="1"/>
          </p:cNvGraphicFramePr>
          <p:nvPr/>
        </p:nvGraphicFramePr>
        <p:xfrm>
          <a:off x="548640" y="1417320"/>
          <a:ext cx="11091672" cy="2048256"/>
        </p:xfrm>
        <a:graphic>
          <a:graphicData uri="http://schemas.openxmlformats.org/drawingml/2006/table">
            <a:tbl>
              <a:tblPr firstRow="0" bandRow="0"/>
              <a:tblGrid>
                <a:gridCol w="2377440"/>
                <a:gridCol w="4690872"/>
                <a:gridCol w="1828800"/>
                <a:gridCol w="2194560"/>
              </a:tblGrid>
              <a:tr h="457200">
                <a:tc>
                  <a:txBody>
                    <a:bodyPr wrap="square"/>
                    <a:lstStyle/>
                    <a:p>
                      <a:pPr algn="l"/>
                      <a:r>
                        <a:rPr sz="1500" b="1">
                          <a:solidFill>
                            <a:srgbClr val="FFFFFF"/>
                          </a:solidFill>
                          <a:latin typeface="Poppins"/>
                        </a:rPr>
                        <a:t>Level</a:t>
                      </a:r>
                    </a:p>
                  </a:txBody>
                  <a:tcPr marL="109728" marR="109728" marT="36576" marB="36576" anchor="ctr">
                    <a:lnL w="0">
                      <a:noFill/>
                    </a:lnL>
                    <a:lnR w="0">
                      <a:noFill/>
                    </a:lnR>
                    <a:lnT w="0">
                      <a:noFill/>
                    </a:lnT>
                    <a:lnB w="0">
                      <a:noFill/>
                    </a:lnB>
                    <a:solidFill>
                      <a:srgbClr val="0F1419"/>
                    </a:solidFill>
                  </a:tcPr>
                </a:tc>
                <a:tc>
                  <a:txBody>
                    <a:bodyPr wrap="square"/>
                    <a:lstStyle/>
                    <a:p>
                      <a:pPr algn="l"/>
                      <a:r>
                        <a:rPr sz="1500" b="1">
                          <a:solidFill>
                            <a:srgbClr val="FFFFFF"/>
                          </a:solidFill>
                          <a:latin typeface="Poppins"/>
                        </a:rPr>
                        <a:t>Reached by</a:t>
                      </a:r>
                    </a:p>
                  </a:txBody>
                  <a:tcPr marL="109728" marR="109728" marT="36576" marB="36576" anchor="ctr">
                    <a:lnL w="0">
                      <a:noFill/>
                    </a:lnL>
                    <a:lnR w="0">
                      <a:noFill/>
                    </a:lnR>
                    <a:lnT w="0">
                      <a:noFill/>
                    </a:lnT>
                    <a:lnB w="0">
                      <a:noFill/>
                    </a:lnB>
                    <a:solidFill>
                      <a:srgbClr val="0F1419"/>
                    </a:solidFill>
                  </a:tcPr>
                </a:tc>
                <a:tc>
                  <a:txBody>
                    <a:bodyPr wrap="square"/>
                    <a:lstStyle/>
                    <a:p>
                      <a:pPr algn="ctr"/>
                      <a:r>
                        <a:rPr sz="1500" b="1">
                          <a:solidFill>
                            <a:srgbClr val="FFFFFF"/>
                          </a:solidFill>
                          <a:latin typeface="Poppins"/>
                        </a:rPr>
                        <a:t>Commission</a:t>
                      </a:r>
                    </a:p>
                  </a:txBody>
                  <a:tcPr marL="109728" marR="109728" marT="36576" marB="36576" anchor="ctr">
                    <a:lnL w="0">
                      <a:noFill/>
                    </a:lnL>
                    <a:lnR w="0">
                      <a:noFill/>
                    </a:lnR>
                    <a:lnT w="0">
                      <a:noFill/>
                    </a:lnT>
                    <a:lnB w="0">
                      <a:noFill/>
                    </a:lnB>
                    <a:solidFill>
                      <a:srgbClr val="0F1419"/>
                    </a:solidFill>
                  </a:tcPr>
                </a:tc>
                <a:tc>
                  <a:txBody>
                    <a:bodyPr wrap="square"/>
                    <a:lstStyle/>
                    <a:p>
                      <a:pPr algn="ctr"/>
                      <a:r>
                        <a:rPr sz="1500" b="1">
                          <a:solidFill>
                            <a:srgbClr val="FFFFFF"/>
                          </a:solidFill>
                          <a:latin typeface="Poppins"/>
                        </a:rPr>
                        <a:t>Off your own plan</a:t>
                      </a:r>
                    </a:p>
                  </a:txBody>
                  <a:tcPr marL="109728" marR="109728" marT="36576" marB="36576" anchor="ctr">
                    <a:lnL w="0">
                      <a:noFill/>
                    </a:lnL>
                    <a:lnR w="0">
                      <a:noFill/>
                    </a:lnR>
                    <a:lnT w="0">
                      <a:noFill/>
                    </a:lnT>
                    <a:lnB w="0">
                      <a:noFill/>
                    </a:lnB>
                    <a:solidFill>
                      <a:srgbClr val="0F1419"/>
                    </a:solidFill>
                  </a:tcPr>
                </a:tc>
              </a:tr>
              <a:tr h="530352">
                <a:tc>
                  <a:txBody>
                    <a:bodyPr wrap="square"/>
                    <a:lstStyle/>
                    <a:p>
                      <a:pPr algn="l"/>
                      <a:r>
                        <a:rPr sz="1500" b="1">
                          <a:solidFill>
                            <a:srgbClr val="20242B"/>
                          </a:solidFill>
                          <a:latin typeface="Inter"/>
                        </a:rPr>
                        <a:t>Registered Partner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500" b="0">
                          <a:solidFill>
                            <a:srgbClr val="20242B"/>
                          </a:solidFill>
                          <a:latin typeface="Inter"/>
                        </a:rPr>
                        <a:t>Our team enables you</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15%</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10%</a:t>
                      </a:r>
                    </a:p>
                  </a:txBody>
                  <a:tcPr marL="109728" marR="109728" marT="36576" marB="36576" anchor="ctr">
                    <a:lnL w="0">
                      <a:noFill/>
                    </a:lnL>
                    <a:lnR w="0">
                      <a:noFill/>
                    </a:lnR>
                    <a:lnT w="0">
                      <a:noFill/>
                    </a:lnT>
                    <a:lnB w="12700">
                      <a:solidFill>
                        <a:srgbClr val="E3E6EA"/>
                      </a:solidFill>
                    </a:lnB>
                    <a:solidFill>
                      <a:srgbClr val="FFFFFF"/>
                    </a:solidFill>
                  </a:tcPr>
                </a:tc>
              </a:tr>
              <a:tr h="530352">
                <a:tc>
                  <a:txBody>
                    <a:bodyPr wrap="square"/>
                    <a:lstStyle/>
                    <a:p>
                      <a:pPr algn="l"/>
                      <a:r>
                        <a:rPr sz="1500" b="1">
                          <a:solidFill>
                            <a:srgbClr val="20242B"/>
                          </a:solidFill>
                          <a:latin typeface="Inter"/>
                        </a:rPr>
                        <a:t>Silver Partner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500" b="0">
                          <a:solidFill>
                            <a:srgbClr val="20242B"/>
                          </a:solidFill>
                          <a:latin typeface="Inter"/>
                        </a:rPr>
                        <a:t>5 paying customers or R5,000/month billed</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20%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20%</a:t>
                      </a:r>
                    </a:p>
                  </a:txBody>
                  <a:tcPr marL="109728" marR="109728" marT="36576" marB="36576" anchor="ctr">
                    <a:lnL w="0">
                      <a:noFill/>
                    </a:lnL>
                    <a:lnR w="0">
                      <a:noFill/>
                    </a:lnR>
                    <a:lnT w="0">
                      <a:noFill/>
                    </a:lnT>
                    <a:lnB w="12700">
                      <a:solidFill>
                        <a:srgbClr val="E3E6EA"/>
                      </a:solidFill>
                    </a:lnB>
                    <a:solidFill>
                      <a:srgbClr val="FFFFFF"/>
                    </a:solidFill>
                  </a:tcPr>
                </a:tc>
              </a:tr>
              <a:tr h="530352">
                <a:tc>
                  <a:txBody>
                    <a:bodyPr wrap="square"/>
                    <a:lstStyle/>
                    <a:p>
                      <a:pPr algn="l"/>
                      <a:r>
                        <a:rPr sz="1500" b="1">
                          <a:solidFill>
                            <a:srgbClr val="20242B"/>
                          </a:solidFill>
                          <a:latin typeface="Inter"/>
                        </a:rPr>
                        <a:t>Gold Partner</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l"/>
                      <a:r>
                        <a:rPr sz="1500" b="0">
                          <a:solidFill>
                            <a:srgbClr val="20242B"/>
                          </a:solidFill>
                          <a:latin typeface="Inter"/>
                        </a:rPr>
                        <a:t>15 paying customers or R15,000/month billed</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800" b="1">
                          <a:solidFill>
                            <a:srgbClr val="20242B"/>
                          </a:solidFill>
                          <a:latin typeface="Poppins"/>
                        </a:rPr>
                        <a:t>25%</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800" b="1">
                          <a:solidFill>
                            <a:srgbClr val="20242B"/>
                          </a:solidFill>
                          <a:latin typeface="Poppins"/>
                        </a:rPr>
                        <a:t>30%</a:t>
                      </a:r>
                    </a:p>
                  </a:txBody>
                  <a:tcPr marL="109728" marR="109728" marT="36576" marB="36576" anchor="ctr">
                    <a:lnL w="0">
                      <a:noFill/>
                    </a:lnL>
                    <a:lnR w="0">
                      <a:noFill/>
                    </a:lnR>
                    <a:lnT w="0">
                      <a:noFill/>
                    </a:lnT>
                    <a:lnB w="12700">
                      <a:solidFill>
                        <a:srgbClr val="E3E6EA"/>
                      </a:solidFill>
                    </a:lnB>
                    <a:solidFill>
                      <a:srgbClr val="FFF4EB"/>
                    </a:solidFill>
                  </a:tcPr>
                </a:tc>
              </a:tr>
            </a:tbl>
          </a:graphicData>
        </a:graphic>
      </p:graphicFrame>
      <p:sp>
        <p:nvSpPr>
          <p:cNvPr id="5" name="lvl313|card|"/>
          <p:cNvSpPr/>
          <p:nvPr/>
        </p:nvSpPr>
        <p:spPr>
          <a:xfrm>
            <a:off x="548640" y="3675887"/>
            <a:ext cx="5440680" cy="2542032"/>
          </a:xfrm>
          <a:prstGeom prst="roundRect">
            <a:avLst>
              <a:gd name="adj" fmla="val 6474"/>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vl313|deco|"/>
          <p:cNvSpPr/>
          <p:nvPr/>
        </p:nvSpPr>
        <p:spPr>
          <a:xfrm>
            <a:off x="795527" y="3813048"/>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lvl313|icon|wallet_deep.png" descr="wallet_deep"/>
          <p:cNvPicPr>
            <a:picLocks noChangeAspect="1"/>
          </p:cNvPicPr>
          <p:nvPr/>
        </p:nvPicPr>
        <p:blipFill>
          <a:blip r:embed="rId2"/>
          <a:srcRect/>
          <a:stretch>
            <a:fillRect/>
          </a:stretch>
        </p:blipFill>
        <p:spPr>
          <a:xfrm>
            <a:off x="908182" y="3925702"/>
            <a:ext cx="286755" cy="286755"/>
          </a:xfrm>
          <a:prstGeom prst="rect">
            <a:avLst/>
          </a:prstGeom>
        </p:spPr>
      </p:pic>
      <p:sp>
        <p:nvSpPr>
          <p:cNvPr id="8" name="lvl313|card|"/>
          <p:cNvSpPr txBox="1"/>
          <p:nvPr/>
        </p:nvSpPr>
        <p:spPr>
          <a:xfrm>
            <a:off x="1463040" y="3877056"/>
            <a:ext cx="4297680" cy="384048"/>
          </a:xfrm>
          <a:prstGeom prst="rect">
            <a:avLst/>
          </a:prstGeom>
          <a:noFill/>
        </p:spPr>
        <p:txBody>
          <a:bodyPr wrap="square" lIns="0" rIns="0" tIns="0" bIns="0" anchor="ctr">
            <a:noAutofit/>
          </a:bodyPr>
          <a:lstStyle/>
          <a:p>
            <a:pPr algn="l"/>
            <a:r>
              <a:rPr sz="1800" b="1">
                <a:solidFill>
                  <a:srgbClr val="20242B"/>
                </a:solidFill>
                <a:latin typeface="Poppins"/>
              </a:rPr>
              <a:t>How commission works</a:t>
            </a:r>
          </a:p>
        </p:txBody>
      </p:sp>
      <p:sp>
        <p:nvSpPr>
          <p:cNvPr id="9" name="lvl313|caption|"/>
          <p:cNvSpPr txBox="1"/>
          <p:nvPr/>
        </p:nvSpPr>
        <p:spPr>
          <a:xfrm>
            <a:off x="868680" y="4434840"/>
            <a:ext cx="4846320" cy="1691640"/>
          </a:xfrm>
          <a:prstGeom prst="rect">
            <a:avLst/>
          </a:prstGeom>
          <a:noFill/>
        </p:spPr>
        <p:txBody>
          <a:bodyPr wrap="square" lIns="0" rIns="0" tIns="0" bIns="0" anchor="t">
            <a:noAutofit/>
          </a:bodyPr>
          <a:lstStyle/>
          <a:p>
            <a:pPr algn="l">
              <a:lnSpc>
                <a:spcPct val="105000"/>
              </a:lnSpc>
              <a:spcAft>
                <a:spcPts val="500"/>
              </a:spcAft>
            </a:pPr>
            <a:r>
              <a:rPr sz="1300" b="0">
                <a:solidFill>
                  <a:srgbClr val="20242B"/>
                </a:solidFill>
                <a:latin typeface="Inter"/>
              </a:rPr>
              <a:t>•  On subscription fees your customers actually pay, after discounts, in their first 12 months.</a:t>
            </a:r>
          </a:p>
          <a:p>
            <a:pPr algn="l">
              <a:lnSpc>
                <a:spcPct val="105000"/>
              </a:lnSpc>
              <a:spcAft>
                <a:spcPts val="500"/>
              </a:spcAft>
            </a:pPr>
            <a:r>
              <a:rPr sz="1300" b="0">
                <a:solidFill>
                  <a:srgbClr val="20242B"/>
                </a:solidFill>
                <a:latin typeface="Inter"/>
              </a:rPr>
              <a:t>•  Not on SMS, WhatsApp or AI credit top-ups, and not on Custom plans.</a:t>
            </a:r>
          </a:p>
          <a:p>
            <a:pPr algn="l">
              <a:lnSpc>
                <a:spcPct val="105000"/>
              </a:lnSpc>
              <a:spcAft>
                <a:spcPts val="500"/>
              </a:spcAft>
            </a:pPr>
            <a:r>
              <a:rPr sz="1300" b="0">
                <a:solidFill>
                  <a:srgbClr val="20242B"/>
                </a:solidFill>
                <a:latin typeface="Inter"/>
              </a:rPr>
              <a:t>•  Held for 30 days, then paid monthly by EFT once it reaches R500.</a:t>
            </a:r>
          </a:p>
        </p:txBody>
      </p:sp>
      <p:sp>
        <p:nvSpPr>
          <p:cNvPr id="10" name="lvl314|card|"/>
          <p:cNvSpPr/>
          <p:nvPr/>
        </p:nvSpPr>
        <p:spPr>
          <a:xfrm>
            <a:off x="6202375" y="3675887"/>
            <a:ext cx="5440680" cy="2542032"/>
          </a:xfrm>
          <a:prstGeom prst="roundRect">
            <a:avLst>
              <a:gd name="adj" fmla="val 6474"/>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vl314|deco|"/>
          <p:cNvSpPr/>
          <p:nvPr/>
        </p:nvSpPr>
        <p:spPr>
          <a:xfrm>
            <a:off x="6449263" y="3813048"/>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lvl314|icon|qr_deep.png" descr="qr_deep"/>
          <p:cNvPicPr>
            <a:picLocks noChangeAspect="1"/>
          </p:cNvPicPr>
          <p:nvPr/>
        </p:nvPicPr>
        <p:blipFill>
          <a:blip r:embed="rId3"/>
          <a:srcRect/>
          <a:stretch>
            <a:fillRect/>
          </a:stretch>
        </p:blipFill>
        <p:spPr>
          <a:xfrm>
            <a:off x="6561917" y="3925702"/>
            <a:ext cx="286755" cy="286755"/>
          </a:xfrm>
          <a:prstGeom prst="rect">
            <a:avLst/>
          </a:prstGeom>
        </p:spPr>
      </p:pic>
      <p:sp>
        <p:nvSpPr>
          <p:cNvPr id="13" name="lvl314|card|"/>
          <p:cNvSpPr txBox="1"/>
          <p:nvPr/>
        </p:nvSpPr>
        <p:spPr>
          <a:xfrm>
            <a:off x="7116775" y="3877056"/>
            <a:ext cx="4297680" cy="384048"/>
          </a:xfrm>
          <a:prstGeom prst="rect">
            <a:avLst/>
          </a:prstGeom>
          <a:noFill/>
        </p:spPr>
        <p:txBody>
          <a:bodyPr wrap="square" lIns="0" rIns="0" tIns="0" bIns="0" anchor="ctr">
            <a:noAutofit/>
          </a:bodyPr>
          <a:lstStyle/>
          <a:p>
            <a:pPr algn="l"/>
            <a:r>
              <a:rPr sz="1800" b="1">
                <a:solidFill>
                  <a:srgbClr val="20242B"/>
                </a:solidFill>
                <a:latin typeface="Poppins"/>
              </a:rPr>
              <a:t>Your link and your own plan</a:t>
            </a:r>
          </a:p>
        </p:txBody>
      </p:sp>
      <p:sp>
        <p:nvSpPr>
          <p:cNvPr id="14" name="lvl314|caption|"/>
          <p:cNvSpPr txBox="1"/>
          <p:nvPr/>
        </p:nvSpPr>
        <p:spPr>
          <a:xfrm>
            <a:off x="6522415" y="4434840"/>
            <a:ext cx="4846320" cy="1691640"/>
          </a:xfrm>
          <a:prstGeom prst="rect">
            <a:avLst/>
          </a:prstGeom>
          <a:noFill/>
        </p:spPr>
        <p:txBody>
          <a:bodyPr wrap="square" lIns="0" rIns="0" tIns="0" bIns="0" anchor="t">
            <a:noAutofit/>
          </a:bodyPr>
          <a:lstStyle/>
          <a:p>
            <a:pPr algn="l">
              <a:lnSpc>
                <a:spcPct val="105000"/>
              </a:lnSpc>
              <a:spcAft>
                <a:spcPts val="500"/>
              </a:spcAft>
            </a:pPr>
            <a:r>
              <a:rPr sz="1300" b="0">
                <a:solidFill>
                  <a:srgbClr val="20242B"/>
                </a:solidFill>
                <a:latin typeface="Inter"/>
              </a:rPr>
              <a:t>•  Share your ?ref= link and QR; follow customers, revenue, commission and payouts in your partner portal.</a:t>
            </a:r>
          </a:p>
          <a:p>
            <a:pPr algn="l">
              <a:lnSpc>
                <a:spcPct val="105000"/>
              </a:lnSpc>
              <a:spcAft>
                <a:spcPts val="500"/>
              </a:spcAft>
            </a:pPr>
            <a:r>
              <a:rPr sz="1300" b="0">
                <a:solidFill>
                  <a:srgbClr val="20242B"/>
                </a:solidFill>
                <a:latin typeface="Inter"/>
              </a:rPr>
              <a:t>•  You can't add discounts for customers. Your own plan gets the better of a running offer or your level discount.</a:t>
            </a:r>
          </a:p>
          <a:p>
            <a:pPr algn="l">
              <a:lnSpc>
                <a:spcPct val="105000"/>
              </a:lnSpc>
              <a:spcAft>
                <a:spcPts val="500"/>
              </a:spcAft>
            </a:pPr>
            <a:r>
              <a:rPr sz="1300" b="0">
                <a:solidFill>
                  <a:srgbClr val="20242B"/>
                </a:solidFill>
                <a:latin typeface="Inter"/>
              </a:rPr>
              <a:t>•  Gold on Agency comes to R6,999, the same as partner wholesale.</a:t>
            </a:r>
          </a:p>
        </p:txBody>
      </p:sp>
      <p:sp>
        <p:nvSpPr>
          <p:cNvPr id="1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1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1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BECOMING A PARTNER</a:t>
            </a:r>
          </a:p>
        </p:txBody>
      </p:sp>
      <p:sp>
        <p:nvSpPr>
          <p:cNvPr id="3" name="hdr31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application to your first customer</a:t>
            </a:r>
          </a:p>
        </p:txBody>
      </p:sp>
      <p:sp>
        <p:nvSpPr>
          <p:cNvPr id="4" name="line|deco|"/>
          <p:cNvSpPr/>
          <p:nvPr/>
        </p:nvSpPr>
        <p:spPr>
          <a:xfrm>
            <a:off x="1613916" y="2011680"/>
            <a:ext cx="8963863" cy="4572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ep316|deco|"/>
          <p:cNvSpPr/>
          <p:nvPr/>
        </p:nvSpPr>
        <p:spPr>
          <a:xfrm>
            <a:off x="1248156" y="1673352"/>
            <a:ext cx="731520" cy="731520"/>
          </a:xfrm>
          <a:prstGeom prst="ellipse">
            <a:avLst/>
          </a:prstGeom>
          <a:solidFill>
            <a:srgbClr val="FFFFFF"/>
          </a:solidFill>
          <a:ln w="28575">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ep316|card|"/>
          <p:cNvSpPr txBox="1"/>
          <p:nvPr/>
        </p:nvSpPr>
        <p:spPr>
          <a:xfrm>
            <a:off x="1248156" y="1673352"/>
            <a:ext cx="731520" cy="731520"/>
          </a:xfrm>
          <a:prstGeom prst="rect">
            <a:avLst/>
          </a:prstGeom>
          <a:noFill/>
        </p:spPr>
        <p:txBody>
          <a:bodyPr wrap="square" lIns="0" rIns="0" tIns="0" bIns="0" anchor="ctr">
            <a:noAutofit/>
          </a:bodyPr>
          <a:lstStyle/>
          <a:p>
            <a:pPr algn="ctr"/>
            <a:r>
              <a:rPr sz="2000" b="1">
                <a:solidFill>
                  <a:srgbClr val="C24E00"/>
                </a:solidFill>
                <a:latin typeface="Poppins"/>
              </a:rPr>
              <a:t>1</a:t>
            </a:r>
          </a:p>
        </p:txBody>
      </p:sp>
      <p:sp>
        <p:nvSpPr>
          <p:cNvPr id="7" name="step316|card|"/>
          <p:cNvSpPr/>
          <p:nvPr/>
        </p:nvSpPr>
        <p:spPr>
          <a:xfrm>
            <a:off x="548640" y="2697480"/>
            <a:ext cx="2130552" cy="2926080"/>
          </a:xfrm>
          <a:prstGeom prst="roundRect">
            <a:avLst>
              <a:gd name="adj" fmla="val 772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316|deco|"/>
          <p:cNvSpPr/>
          <p:nvPr/>
        </p:nvSpPr>
        <p:spPr>
          <a:xfrm>
            <a:off x="768096" y="2962656"/>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tep316|icon|file_deep.png" descr="file_deep"/>
          <p:cNvPicPr>
            <a:picLocks noChangeAspect="1"/>
          </p:cNvPicPr>
          <p:nvPr/>
        </p:nvPicPr>
        <p:blipFill>
          <a:blip r:embed="rId2"/>
          <a:srcRect/>
          <a:stretch>
            <a:fillRect/>
          </a:stretch>
        </p:blipFill>
        <p:spPr>
          <a:xfrm>
            <a:off x="912936" y="3107496"/>
            <a:ext cx="368686" cy="368686"/>
          </a:xfrm>
          <a:prstGeom prst="rect">
            <a:avLst/>
          </a:prstGeom>
        </p:spPr>
      </p:pic>
      <p:sp>
        <p:nvSpPr>
          <p:cNvPr id="10" name="step316|card|"/>
          <p:cNvSpPr txBox="1"/>
          <p:nvPr/>
        </p:nvSpPr>
        <p:spPr>
          <a:xfrm>
            <a:off x="777240" y="3840480"/>
            <a:ext cx="1719072" cy="731520"/>
          </a:xfrm>
          <a:prstGeom prst="rect">
            <a:avLst/>
          </a:prstGeom>
          <a:noFill/>
        </p:spPr>
        <p:txBody>
          <a:bodyPr wrap="square" lIns="0" rIns="0" tIns="0" bIns="0" anchor="t">
            <a:noAutofit/>
          </a:bodyPr>
          <a:lstStyle/>
          <a:p>
            <a:pPr algn="l"/>
            <a:r>
              <a:rPr sz="1800" b="1">
                <a:solidFill>
                  <a:srgbClr val="20242B"/>
                </a:solidFill>
                <a:latin typeface="Poppins"/>
              </a:rPr>
              <a:t>Apply</a:t>
            </a:r>
          </a:p>
        </p:txBody>
      </p:sp>
      <p:sp>
        <p:nvSpPr>
          <p:cNvPr id="11" name="step316|card|"/>
          <p:cNvSpPr txBox="1"/>
          <p:nvPr/>
        </p:nvSpPr>
        <p:spPr>
          <a:xfrm>
            <a:off x="777240" y="4526280"/>
            <a:ext cx="1719072" cy="1005840"/>
          </a:xfrm>
          <a:prstGeom prst="rect">
            <a:avLst/>
          </a:prstGeom>
          <a:noFill/>
        </p:spPr>
        <p:txBody>
          <a:bodyPr wrap="square" lIns="0" rIns="0" tIns="0" bIns="0" anchor="t">
            <a:noAutofit/>
          </a:bodyPr>
          <a:lstStyle/>
          <a:p>
            <a:pPr algn="l"/>
            <a:r>
              <a:rPr sz="1400" b="0">
                <a:solidFill>
                  <a:srgbClr val="5B6670"/>
                </a:solidFill>
                <a:latin typeface="Inter"/>
              </a:rPr>
              <a:t>How you sell</a:t>
            </a:r>
          </a:p>
        </p:txBody>
      </p:sp>
      <p:sp>
        <p:nvSpPr>
          <p:cNvPr id="12" name="step317|deco|"/>
          <p:cNvSpPr/>
          <p:nvPr/>
        </p:nvSpPr>
        <p:spPr>
          <a:xfrm>
            <a:off x="3489121" y="1673352"/>
            <a:ext cx="731520" cy="731520"/>
          </a:xfrm>
          <a:prstGeom prst="ellipse">
            <a:avLst/>
          </a:prstGeom>
          <a:solidFill>
            <a:srgbClr val="FFFFFF"/>
          </a:solidFill>
          <a:ln w="28575">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317|card|"/>
          <p:cNvSpPr txBox="1"/>
          <p:nvPr/>
        </p:nvSpPr>
        <p:spPr>
          <a:xfrm>
            <a:off x="3489121" y="1673352"/>
            <a:ext cx="731520" cy="731520"/>
          </a:xfrm>
          <a:prstGeom prst="rect">
            <a:avLst/>
          </a:prstGeom>
          <a:noFill/>
        </p:spPr>
        <p:txBody>
          <a:bodyPr wrap="square" lIns="0" rIns="0" tIns="0" bIns="0" anchor="ctr">
            <a:noAutofit/>
          </a:bodyPr>
          <a:lstStyle/>
          <a:p>
            <a:pPr algn="ctr"/>
            <a:r>
              <a:rPr sz="2000" b="1">
                <a:solidFill>
                  <a:srgbClr val="C24E00"/>
                </a:solidFill>
                <a:latin typeface="Poppins"/>
              </a:rPr>
              <a:t>2</a:t>
            </a:r>
          </a:p>
        </p:txBody>
      </p:sp>
      <p:sp>
        <p:nvSpPr>
          <p:cNvPr id="14" name="step317|card|"/>
          <p:cNvSpPr/>
          <p:nvPr/>
        </p:nvSpPr>
        <p:spPr>
          <a:xfrm>
            <a:off x="2789605" y="2697480"/>
            <a:ext cx="2130552" cy="2926080"/>
          </a:xfrm>
          <a:prstGeom prst="roundRect">
            <a:avLst>
              <a:gd name="adj" fmla="val 772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317|deco|"/>
          <p:cNvSpPr/>
          <p:nvPr/>
        </p:nvSpPr>
        <p:spPr>
          <a:xfrm>
            <a:off x="3009061" y="2962656"/>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tep317|icon|checkCircle_deep.png" descr="checkCircle_deep"/>
          <p:cNvPicPr>
            <a:picLocks noChangeAspect="1"/>
          </p:cNvPicPr>
          <p:nvPr/>
        </p:nvPicPr>
        <p:blipFill>
          <a:blip r:embed="rId3"/>
          <a:srcRect/>
          <a:stretch>
            <a:fillRect/>
          </a:stretch>
        </p:blipFill>
        <p:spPr>
          <a:xfrm>
            <a:off x="3153902" y="3107496"/>
            <a:ext cx="368686" cy="368686"/>
          </a:xfrm>
          <a:prstGeom prst="rect">
            <a:avLst/>
          </a:prstGeom>
        </p:spPr>
      </p:pic>
      <p:sp>
        <p:nvSpPr>
          <p:cNvPr id="17" name="step317|card|"/>
          <p:cNvSpPr txBox="1"/>
          <p:nvPr/>
        </p:nvSpPr>
        <p:spPr>
          <a:xfrm>
            <a:off x="3018205" y="3840480"/>
            <a:ext cx="1719072" cy="731520"/>
          </a:xfrm>
          <a:prstGeom prst="rect">
            <a:avLst/>
          </a:prstGeom>
          <a:noFill/>
        </p:spPr>
        <p:txBody>
          <a:bodyPr wrap="square" lIns="0" rIns="0" tIns="0" bIns="0" anchor="t">
            <a:noAutofit/>
          </a:bodyPr>
          <a:lstStyle/>
          <a:p>
            <a:pPr algn="l"/>
            <a:r>
              <a:rPr sz="1800" b="1">
                <a:solidFill>
                  <a:srgbClr val="20242B"/>
                </a:solidFill>
                <a:latin typeface="Poppins"/>
              </a:rPr>
              <a:t>We enable you</a:t>
            </a:r>
          </a:p>
        </p:txBody>
      </p:sp>
      <p:sp>
        <p:nvSpPr>
          <p:cNvPr id="18" name="step317|card|"/>
          <p:cNvSpPr txBox="1"/>
          <p:nvPr/>
        </p:nvSpPr>
        <p:spPr>
          <a:xfrm>
            <a:off x="3018205" y="4526280"/>
            <a:ext cx="1719072" cy="1005840"/>
          </a:xfrm>
          <a:prstGeom prst="rect">
            <a:avLst/>
          </a:prstGeom>
          <a:noFill/>
        </p:spPr>
        <p:txBody>
          <a:bodyPr wrap="square" lIns="0" rIns="0" tIns="0" bIns="0" anchor="t">
            <a:noAutofit/>
          </a:bodyPr>
          <a:lstStyle/>
          <a:p>
            <a:pPr algn="l"/>
            <a:r>
              <a:rPr sz="1400" b="0">
                <a:solidFill>
                  <a:srgbClr val="5B6670"/>
                </a:solidFill>
                <a:latin typeface="Inter"/>
              </a:rPr>
              <a:t>Registered Partner, 15%</a:t>
            </a:r>
          </a:p>
        </p:txBody>
      </p:sp>
      <p:sp>
        <p:nvSpPr>
          <p:cNvPr id="19" name="step318|deco|"/>
          <p:cNvSpPr/>
          <p:nvPr/>
        </p:nvSpPr>
        <p:spPr>
          <a:xfrm>
            <a:off x="5730087" y="1673352"/>
            <a:ext cx="731520" cy="731520"/>
          </a:xfrm>
          <a:prstGeom prst="ellipse">
            <a:avLst/>
          </a:prstGeom>
          <a:solidFill>
            <a:srgbClr val="FFFFFF"/>
          </a:solidFill>
          <a:ln w="28575">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318|card|"/>
          <p:cNvSpPr txBox="1"/>
          <p:nvPr/>
        </p:nvSpPr>
        <p:spPr>
          <a:xfrm>
            <a:off x="5730087" y="1673352"/>
            <a:ext cx="731520" cy="731520"/>
          </a:xfrm>
          <a:prstGeom prst="rect">
            <a:avLst/>
          </a:prstGeom>
          <a:noFill/>
        </p:spPr>
        <p:txBody>
          <a:bodyPr wrap="square" lIns="0" rIns="0" tIns="0" bIns="0" anchor="ctr">
            <a:noAutofit/>
          </a:bodyPr>
          <a:lstStyle/>
          <a:p>
            <a:pPr algn="ctr"/>
            <a:r>
              <a:rPr sz="2000" b="1">
                <a:solidFill>
                  <a:srgbClr val="C24E00"/>
                </a:solidFill>
                <a:latin typeface="Poppins"/>
              </a:rPr>
              <a:t>3</a:t>
            </a:r>
          </a:p>
        </p:txBody>
      </p:sp>
      <p:sp>
        <p:nvSpPr>
          <p:cNvPr id="21" name="step318|card|"/>
          <p:cNvSpPr/>
          <p:nvPr/>
        </p:nvSpPr>
        <p:spPr>
          <a:xfrm>
            <a:off x="5030571" y="2697480"/>
            <a:ext cx="2130552" cy="2926080"/>
          </a:xfrm>
          <a:prstGeom prst="roundRect">
            <a:avLst>
              <a:gd name="adj" fmla="val 772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ep318|deco|"/>
          <p:cNvSpPr/>
          <p:nvPr/>
        </p:nvSpPr>
        <p:spPr>
          <a:xfrm>
            <a:off x="5250027" y="2962656"/>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step318|icon|qr_deep.png" descr="qr_deep"/>
          <p:cNvPicPr>
            <a:picLocks noChangeAspect="1"/>
          </p:cNvPicPr>
          <p:nvPr/>
        </p:nvPicPr>
        <p:blipFill>
          <a:blip r:embed="rId4"/>
          <a:srcRect/>
          <a:stretch>
            <a:fillRect/>
          </a:stretch>
        </p:blipFill>
        <p:spPr>
          <a:xfrm>
            <a:off x="5394868" y="3107496"/>
            <a:ext cx="368686" cy="368686"/>
          </a:xfrm>
          <a:prstGeom prst="rect">
            <a:avLst/>
          </a:prstGeom>
        </p:spPr>
      </p:pic>
      <p:sp>
        <p:nvSpPr>
          <p:cNvPr id="24" name="step318|card|"/>
          <p:cNvSpPr txBox="1"/>
          <p:nvPr/>
        </p:nvSpPr>
        <p:spPr>
          <a:xfrm>
            <a:off x="5259171" y="3840480"/>
            <a:ext cx="1719072" cy="731520"/>
          </a:xfrm>
          <a:prstGeom prst="rect">
            <a:avLst/>
          </a:prstGeom>
          <a:noFill/>
        </p:spPr>
        <p:txBody>
          <a:bodyPr wrap="square" lIns="0" rIns="0" tIns="0" bIns="0" anchor="t">
            <a:noAutofit/>
          </a:bodyPr>
          <a:lstStyle/>
          <a:p>
            <a:pPr algn="l"/>
            <a:r>
              <a:rPr sz="1800" b="1">
                <a:solidFill>
                  <a:srgbClr val="20242B"/>
                </a:solidFill>
                <a:latin typeface="Poppins"/>
              </a:rPr>
              <a:t>Share your link</a:t>
            </a:r>
          </a:p>
        </p:txBody>
      </p:sp>
      <p:sp>
        <p:nvSpPr>
          <p:cNvPr id="25" name="step318|card|"/>
          <p:cNvSpPr txBox="1"/>
          <p:nvPr/>
        </p:nvSpPr>
        <p:spPr>
          <a:xfrm>
            <a:off x="5259171" y="4526280"/>
            <a:ext cx="1719072" cy="1005840"/>
          </a:xfrm>
          <a:prstGeom prst="rect">
            <a:avLst/>
          </a:prstGeom>
          <a:noFill/>
        </p:spPr>
        <p:txBody>
          <a:bodyPr wrap="square" lIns="0" rIns="0" tIns="0" bIns="0" anchor="t">
            <a:noAutofit/>
          </a:bodyPr>
          <a:lstStyle/>
          <a:p>
            <a:pPr algn="l"/>
            <a:r>
              <a:rPr sz="1400" b="0">
                <a:solidFill>
                  <a:srgbClr val="5B6670"/>
                </a:solidFill>
                <a:latin typeface="Inter"/>
              </a:rPr>
              <a:t>Link, QR and portal</a:t>
            </a:r>
          </a:p>
        </p:txBody>
      </p:sp>
      <p:sp>
        <p:nvSpPr>
          <p:cNvPr id="26" name="step319|deco|"/>
          <p:cNvSpPr/>
          <p:nvPr/>
        </p:nvSpPr>
        <p:spPr>
          <a:xfrm>
            <a:off x="7971053" y="1673352"/>
            <a:ext cx="731520" cy="731520"/>
          </a:xfrm>
          <a:prstGeom prst="ellipse">
            <a:avLst/>
          </a:prstGeom>
          <a:solidFill>
            <a:srgbClr val="FFFFFF"/>
          </a:solidFill>
          <a:ln w="28575">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ep319|card|"/>
          <p:cNvSpPr txBox="1"/>
          <p:nvPr/>
        </p:nvSpPr>
        <p:spPr>
          <a:xfrm>
            <a:off x="7971053" y="1673352"/>
            <a:ext cx="731520" cy="731520"/>
          </a:xfrm>
          <a:prstGeom prst="rect">
            <a:avLst/>
          </a:prstGeom>
          <a:noFill/>
        </p:spPr>
        <p:txBody>
          <a:bodyPr wrap="square" lIns="0" rIns="0" tIns="0" bIns="0" anchor="ctr">
            <a:noAutofit/>
          </a:bodyPr>
          <a:lstStyle/>
          <a:p>
            <a:pPr algn="ctr"/>
            <a:r>
              <a:rPr sz="2000" b="1">
                <a:solidFill>
                  <a:srgbClr val="C24E00"/>
                </a:solidFill>
                <a:latin typeface="Poppins"/>
              </a:rPr>
              <a:t>4</a:t>
            </a:r>
          </a:p>
        </p:txBody>
      </p:sp>
      <p:sp>
        <p:nvSpPr>
          <p:cNvPr id="28" name="step319|card|"/>
          <p:cNvSpPr/>
          <p:nvPr/>
        </p:nvSpPr>
        <p:spPr>
          <a:xfrm>
            <a:off x="7271537" y="2697480"/>
            <a:ext cx="2130552" cy="2926080"/>
          </a:xfrm>
          <a:prstGeom prst="roundRect">
            <a:avLst>
              <a:gd name="adj" fmla="val 772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319|deco|"/>
          <p:cNvSpPr/>
          <p:nvPr/>
        </p:nvSpPr>
        <p:spPr>
          <a:xfrm>
            <a:off x="7490993" y="2962656"/>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step319|icon|target_deep.png" descr="target_deep"/>
          <p:cNvPicPr>
            <a:picLocks noChangeAspect="1"/>
          </p:cNvPicPr>
          <p:nvPr/>
        </p:nvPicPr>
        <p:blipFill>
          <a:blip r:embed="rId5"/>
          <a:srcRect/>
          <a:stretch>
            <a:fillRect/>
          </a:stretch>
        </p:blipFill>
        <p:spPr>
          <a:xfrm>
            <a:off x="7635834" y="3107496"/>
            <a:ext cx="368686" cy="368686"/>
          </a:xfrm>
          <a:prstGeom prst="rect">
            <a:avLst/>
          </a:prstGeom>
        </p:spPr>
      </p:pic>
      <p:sp>
        <p:nvSpPr>
          <p:cNvPr id="31" name="step319|card|"/>
          <p:cNvSpPr txBox="1"/>
          <p:nvPr/>
        </p:nvSpPr>
        <p:spPr>
          <a:xfrm>
            <a:off x="7500137" y="3840480"/>
            <a:ext cx="1719072" cy="731520"/>
          </a:xfrm>
          <a:prstGeom prst="rect">
            <a:avLst/>
          </a:prstGeom>
          <a:noFill/>
        </p:spPr>
        <p:txBody>
          <a:bodyPr wrap="square" lIns="0" rIns="0" tIns="0" bIns="0" anchor="t">
            <a:noAutofit/>
          </a:bodyPr>
          <a:lstStyle/>
          <a:p>
            <a:pPr algn="l"/>
            <a:r>
              <a:rPr sz="1800" b="1">
                <a:solidFill>
                  <a:srgbClr val="20242B"/>
                </a:solidFill>
                <a:latin typeface="Poppins"/>
              </a:rPr>
              <a:t>First customer</a:t>
            </a:r>
          </a:p>
        </p:txBody>
      </p:sp>
      <p:sp>
        <p:nvSpPr>
          <p:cNvPr id="32" name="step319|card|"/>
          <p:cNvSpPr txBox="1"/>
          <p:nvPr/>
        </p:nvSpPr>
        <p:spPr>
          <a:xfrm>
            <a:off x="7500137" y="4526280"/>
            <a:ext cx="1719072" cy="1005840"/>
          </a:xfrm>
          <a:prstGeom prst="rect">
            <a:avLst/>
          </a:prstGeom>
          <a:noFill/>
        </p:spPr>
        <p:txBody>
          <a:bodyPr wrap="square" lIns="0" rIns="0" tIns="0" bIns="0" anchor="t">
            <a:noAutofit/>
          </a:bodyPr>
          <a:lstStyle/>
          <a:p>
            <a:pPr algn="l"/>
            <a:r>
              <a:rPr sz="1400" b="0">
                <a:solidFill>
                  <a:srgbClr val="5B6670"/>
                </a:solidFill>
                <a:latin typeface="Inter"/>
              </a:rPr>
              <a:t>Set up together</a:t>
            </a:r>
          </a:p>
        </p:txBody>
      </p:sp>
      <p:sp>
        <p:nvSpPr>
          <p:cNvPr id="33" name="step320|deco|"/>
          <p:cNvSpPr/>
          <p:nvPr/>
        </p:nvSpPr>
        <p:spPr>
          <a:xfrm>
            <a:off x="10212019" y="1673352"/>
            <a:ext cx="731520" cy="731520"/>
          </a:xfrm>
          <a:prstGeom prst="ellipse">
            <a:avLst/>
          </a:prstGeom>
          <a:solidFill>
            <a:srgbClr val="FFFFFF"/>
          </a:solidFill>
          <a:ln w="28575">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320|card|"/>
          <p:cNvSpPr txBox="1"/>
          <p:nvPr/>
        </p:nvSpPr>
        <p:spPr>
          <a:xfrm>
            <a:off x="10212019" y="1673352"/>
            <a:ext cx="731520" cy="731520"/>
          </a:xfrm>
          <a:prstGeom prst="rect">
            <a:avLst/>
          </a:prstGeom>
          <a:noFill/>
        </p:spPr>
        <p:txBody>
          <a:bodyPr wrap="square" lIns="0" rIns="0" tIns="0" bIns="0" anchor="ctr">
            <a:noAutofit/>
          </a:bodyPr>
          <a:lstStyle/>
          <a:p>
            <a:pPr algn="ctr"/>
            <a:r>
              <a:rPr sz="2000" b="1">
                <a:solidFill>
                  <a:srgbClr val="C24E00"/>
                </a:solidFill>
                <a:latin typeface="Poppins"/>
              </a:rPr>
              <a:t>5</a:t>
            </a:r>
          </a:p>
        </p:txBody>
      </p:sp>
      <p:sp>
        <p:nvSpPr>
          <p:cNvPr id="35" name="step320|card|"/>
          <p:cNvSpPr/>
          <p:nvPr/>
        </p:nvSpPr>
        <p:spPr>
          <a:xfrm>
            <a:off x="9512503" y="2697480"/>
            <a:ext cx="2130552" cy="2926080"/>
          </a:xfrm>
          <a:prstGeom prst="roundRect">
            <a:avLst>
              <a:gd name="adj" fmla="val 772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ep320|deco|"/>
          <p:cNvSpPr/>
          <p:nvPr/>
        </p:nvSpPr>
        <p:spPr>
          <a:xfrm>
            <a:off x="9731959" y="2962656"/>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step320|icon|trend_deep.png" descr="trend_deep"/>
          <p:cNvPicPr>
            <a:picLocks noChangeAspect="1"/>
          </p:cNvPicPr>
          <p:nvPr/>
        </p:nvPicPr>
        <p:blipFill>
          <a:blip r:embed="rId6"/>
          <a:srcRect/>
          <a:stretch>
            <a:fillRect/>
          </a:stretch>
        </p:blipFill>
        <p:spPr>
          <a:xfrm>
            <a:off x="9876800" y="3107496"/>
            <a:ext cx="368686" cy="368686"/>
          </a:xfrm>
          <a:prstGeom prst="rect">
            <a:avLst/>
          </a:prstGeom>
        </p:spPr>
      </p:pic>
      <p:sp>
        <p:nvSpPr>
          <p:cNvPr id="38" name="step320|card|"/>
          <p:cNvSpPr txBox="1"/>
          <p:nvPr/>
        </p:nvSpPr>
        <p:spPr>
          <a:xfrm>
            <a:off x="9741103" y="3840480"/>
            <a:ext cx="1719072" cy="731520"/>
          </a:xfrm>
          <a:prstGeom prst="rect">
            <a:avLst/>
          </a:prstGeom>
          <a:noFill/>
        </p:spPr>
        <p:txBody>
          <a:bodyPr wrap="square" lIns="0" rIns="0" tIns="0" bIns="0" anchor="t">
            <a:noAutofit/>
          </a:bodyPr>
          <a:lstStyle/>
          <a:p>
            <a:pPr algn="l"/>
            <a:r>
              <a:rPr sz="1800" b="1">
                <a:solidFill>
                  <a:srgbClr val="20242B"/>
                </a:solidFill>
                <a:latin typeface="Poppins"/>
              </a:rPr>
              <a:t>Level up</a:t>
            </a:r>
          </a:p>
        </p:txBody>
      </p:sp>
      <p:sp>
        <p:nvSpPr>
          <p:cNvPr id="39" name="step320|card|"/>
          <p:cNvSpPr txBox="1"/>
          <p:nvPr/>
        </p:nvSpPr>
        <p:spPr>
          <a:xfrm>
            <a:off x="9741103" y="4526280"/>
            <a:ext cx="1719072" cy="1005840"/>
          </a:xfrm>
          <a:prstGeom prst="rect">
            <a:avLst/>
          </a:prstGeom>
          <a:noFill/>
        </p:spPr>
        <p:txBody>
          <a:bodyPr wrap="square" lIns="0" rIns="0" tIns="0" bIns="0" anchor="t">
            <a:noAutofit/>
          </a:bodyPr>
          <a:lstStyle/>
          <a:p>
            <a:pPr algn="l"/>
            <a:r>
              <a:rPr sz="1400" b="0">
                <a:solidFill>
                  <a:srgbClr val="5B6670"/>
                </a:solidFill>
                <a:latin typeface="Inter"/>
              </a:rPr>
              <a:t>Silver, then Gold</a:t>
            </a:r>
          </a:p>
        </p:txBody>
      </p:sp>
      <p:sp>
        <p:nvSpPr>
          <p:cNvPr id="40" name="g321|caption|"/>
          <p:cNvSpPr txBox="1"/>
          <p:nvPr/>
        </p:nvSpPr>
        <p:spPr>
          <a:xfrm>
            <a:off x="548640" y="5852160"/>
            <a:ext cx="11094415" cy="274320"/>
          </a:xfrm>
          <a:prstGeom prst="rect">
            <a:avLst/>
          </a:prstGeom>
          <a:noFill/>
        </p:spPr>
        <p:txBody>
          <a:bodyPr wrap="square" lIns="0" rIns="0" tIns="0" bIns="0" anchor="t">
            <a:noAutofit/>
          </a:bodyPr>
          <a:lstStyle/>
          <a:p>
            <a:pPr algn="l"/>
            <a:r>
              <a:rPr sz="1200" b="0">
                <a:solidFill>
                  <a:srgbClr val="5B6670"/>
                </a:solidFill>
                <a:latin typeface="Inter"/>
              </a:rPr>
              <a:t>Timings depend on your team. Silver: 5 paying customers or R5,000/month billed. Gold: 15 or R15,000/month.</a:t>
            </a:r>
          </a:p>
        </p:txBody>
      </p:sp>
      <p:sp>
        <p:nvSpPr>
          <p:cNvPr id="41"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42"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2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SUPPORT &amp; COMMITMENTS</a:t>
            </a:r>
          </a:p>
        </p:txBody>
      </p:sp>
      <p:sp>
        <p:nvSpPr>
          <p:cNvPr id="3" name="hdr32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we bring, and what we ask</a:t>
            </a:r>
          </a:p>
        </p:txBody>
      </p:sp>
      <p:sp>
        <p:nvSpPr>
          <p:cNvPr id="4" name="col323|card|"/>
          <p:cNvSpPr/>
          <p:nvPr/>
        </p:nvSpPr>
        <p:spPr>
          <a:xfrm>
            <a:off x="548640"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l323|card|"/>
          <p:cNvSpPr txBox="1"/>
          <p:nvPr/>
        </p:nvSpPr>
        <p:spPr>
          <a:xfrm>
            <a:off x="914400"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FluxMuse provides</a:t>
            </a:r>
          </a:p>
        </p:txBody>
      </p:sp>
      <p:sp>
        <p:nvSpPr>
          <p:cNvPr id="6" name="g324|deco|"/>
          <p:cNvSpPr/>
          <p:nvPr/>
        </p:nvSpPr>
        <p:spPr>
          <a:xfrm>
            <a:off x="914400" y="2560320"/>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324|icon|layers_deep.png" descr="layers_deep"/>
          <p:cNvPicPr>
            <a:picLocks noChangeAspect="1"/>
          </p:cNvPicPr>
          <p:nvPr/>
        </p:nvPicPr>
        <p:blipFill>
          <a:blip r:embed="rId2"/>
          <a:srcRect/>
          <a:stretch>
            <a:fillRect/>
          </a:stretch>
        </p:blipFill>
        <p:spPr>
          <a:xfrm>
            <a:off x="1027054" y="2672974"/>
            <a:ext cx="286755" cy="286755"/>
          </a:xfrm>
          <a:prstGeom prst="rect">
            <a:avLst/>
          </a:prstGeom>
        </p:spPr>
      </p:pic>
      <p:sp>
        <p:nvSpPr>
          <p:cNvPr id="8" name="g324|body|"/>
          <p:cNvSpPr txBox="1"/>
          <p:nvPr/>
        </p:nvSpPr>
        <p:spPr>
          <a:xfrm>
            <a:off x="1600200" y="2468880"/>
            <a:ext cx="4114800" cy="329184"/>
          </a:xfrm>
          <a:prstGeom prst="rect">
            <a:avLst/>
          </a:prstGeom>
          <a:noFill/>
        </p:spPr>
        <p:txBody>
          <a:bodyPr wrap="square" lIns="0" rIns="0" tIns="0" bIns="0" anchor="t">
            <a:noAutofit/>
          </a:bodyPr>
          <a:lstStyle/>
          <a:p>
            <a:pPr algn="l"/>
            <a:r>
              <a:rPr sz="1600" b="1">
                <a:solidFill>
                  <a:srgbClr val="20242B"/>
                </a:solidFill>
                <a:latin typeface="Inter"/>
              </a:rPr>
              <a:t>Partner portal</a:t>
            </a:r>
          </a:p>
        </p:txBody>
      </p:sp>
      <p:sp>
        <p:nvSpPr>
          <p:cNvPr id="9" name="g324|caption|"/>
          <p:cNvSpPr txBox="1"/>
          <p:nvPr/>
        </p:nvSpPr>
        <p:spPr>
          <a:xfrm>
            <a:off x="1600200" y="2816352"/>
            <a:ext cx="4114800" cy="457200"/>
          </a:xfrm>
          <a:prstGeom prst="rect">
            <a:avLst/>
          </a:prstGeom>
          <a:noFill/>
        </p:spPr>
        <p:txBody>
          <a:bodyPr wrap="square" lIns="0" rIns="0" tIns="0" bIns="0" anchor="t">
            <a:noAutofit/>
          </a:bodyPr>
          <a:lstStyle/>
          <a:p>
            <a:pPr algn="l"/>
            <a:r>
              <a:rPr sz="1300" b="0">
                <a:solidFill>
                  <a:srgbClr val="5B6670"/>
                </a:solidFill>
                <a:latin typeface="Inter"/>
              </a:rPr>
              <a:t>Customers, revenue, commission and payouts</a:t>
            </a:r>
          </a:p>
        </p:txBody>
      </p:sp>
      <p:sp>
        <p:nvSpPr>
          <p:cNvPr id="10" name="g325|deco|"/>
          <p:cNvSpPr/>
          <p:nvPr/>
        </p:nvSpPr>
        <p:spPr>
          <a:xfrm>
            <a:off x="914400" y="345643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g325|icon|qr_deep.png" descr="qr_deep"/>
          <p:cNvPicPr>
            <a:picLocks noChangeAspect="1"/>
          </p:cNvPicPr>
          <p:nvPr/>
        </p:nvPicPr>
        <p:blipFill>
          <a:blip r:embed="rId3"/>
          <a:srcRect/>
          <a:stretch>
            <a:fillRect/>
          </a:stretch>
        </p:blipFill>
        <p:spPr>
          <a:xfrm>
            <a:off x="1027054" y="3569086"/>
            <a:ext cx="286755" cy="286755"/>
          </a:xfrm>
          <a:prstGeom prst="rect">
            <a:avLst/>
          </a:prstGeom>
        </p:spPr>
      </p:pic>
      <p:sp>
        <p:nvSpPr>
          <p:cNvPr id="12" name="g325|body|"/>
          <p:cNvSpPr txBox="1"/>
          <p:nvPr/>
        </p:nvSpPr>
        <p:spPr>
          <a:xfrm>
            <a:off x="1600200" y="3364992"/>
            <a:ext cx="4114800" cy="329184"/>
          </a:xfrm>
          <a:prstGeom prst="rect">
            <a:avLst/>
          </a:prstGeom>
          <a:noFill/>
        </p:spPr>
        <p:txBody>
          <a:bodyPr wrap="square" lIns="0" rIns="0" tIns="0" bIns="0" anchor="t">
            <a:noAutofit/>
          </a:bodyPr>
          <a:lstStyle/>
          <a:p>
            <a:pPr algn="l"/>
            <a:r>
              <a:rPr sz="1600" b="1">
                <a:solidFill>
                  <a:srgbClr val="20242B"/>
                </a:solidFill>
                <a:latin typeface="Inter"/>
              </a:rPr>
              <a:t>Share link and QR</a:t>
            </a:r>
          </a:p>
        </p:txBody>
      </p:sp>
      <p:sp>
        <p:nvSpPr>
          <p:cNvPr id="13" name="g325|caption|"/>
          <p:cNvSpPr txBox="1"/>
          <p:nvPr/>
        </p:nvSpPr>
        <p:spPr>
          <a:xfrm>
            <a:off x="1600200" y="3712464"/>
            <a:ext cx="4114800" cy="457200"/>
          </a:xfrm>
          <a:prstGeom prst="rect">
            <a:avLst/>
          </a:prstGeom>
          <a:noFill/>
        </p:spPr>
        <p:txBody>
          <a:bodyPr wrap="square" lIns="0" rIns="0" tIns="0" bIns="0" anchor="t">
            <a:noAutofit/>
          </a:bodyPr>
          <a:lstStyle/>
          <a:p>
            <a:pPr algn="l"/>
            <a:r>
              <a:rPr sz="1300" b="0">
                <a:solidFill>
                  <a:srgbClr val="5B6670"/>
                </a:solidFill>
                <a:latin typeface="Inter"/>
              </a:rPr>
              <a:t>Your own ?ref= link, ready to send</a:t>
            </a:r>
          </a:p>
        </p:txBody>
      </p:sp>
      <p:sp>
        <p:nvSpPr>
          <p:cNvPr id="14" name="g326|deco|"/>
          <p:cNvSpPr/>
          <p:nvPr/>
        </p:nvSpPr>
        <p:spPr>
          <a:xfrm>
            <a:off x="914400" y="4352544"/>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g326|icon|users_deep.png" descr="users_deep"/>
          <p:cNvPicPr>
            <a:picLocks noChangeAspect="1"/>
          </p:cNvPicPr>
          <p:nvPr/>
        </p:nvPicPr>
        <p:blipFill>
          <a:blip r:embed="rId4"/>
          <a:srcRect/>
          <a:stretch>
            <a:fillRect/>
          </a:stretch>
        </p:blipFill>
        <p:spPr>
          <a:xfrm>
            <a:off x="1027054" y="4465198"/>
            <a:ext cx="286755" cy="286755"/>
          </a:xfrm>
          <a:prstGeom prst="rect">
            <a:avLst/>
          </a:prstGeom>
        </p:spPr>
      </p:pic>
      <p:sp>
        <p:nvSpPr>
          <p:cNvPr id="16" name="g326|body|"/>
          <p:cNvSpPr txBox="1"/>
          <p:nvPr/>
        </p:nvSpPr>
        <p:spPr>
          <a:xfrm>
            <a:off x="1600200" y="4261104"/>
            <a:ext cx="4114800" cy="329184"/>
          </a:xfrm>
          <a:prstGeom prst="rect">
            <a:avLst/>
          </a:prstGeom>
          <a:noFill/>
        </p:spPr>
        <p:txBody>
          <a:bodyPr wrap="square" lIns="0" rIns="0" tIns="0" bIns="0" anchor="t">
            <a:noAutofit/>
          </a:bodyPr>
          <a:lstStyle/>
          <a:p>
            <a:pPr algn="l"/>
            <a:r>
              <a:rPr sz="1600" b="1">
                <a:solidFill>
                  <a:srgbClr val="20242B"/>
                </a:solidFill>
                <a:latin typeface="Inter"/>
              </a:rPr>
              <a:t>Hands-on setup</a:t>
            </a:r>
          </a:p>
        </p:txBody>
      </p:sp>
      <p:sp>
        <p:nvSpPr>
          <p:cNvPr id="17" name="g326|caption|"/>
          <p:cNvSpPr txBox="1"/>
          <p:nvPr/>
        </p:nvSpPr>
        <p:spPr>
          <a:xfrm>
            <a:off x="1600200" y="4608576"/>
            <a:ext cx="4114800" cy="457200"/>
          </a:xfrm>
          <a:prstGeom prst="rect">
            <a:avLst/>
          </a:prstGeom>
          <a:noFill/>
        </p:spPr>
        <p:txBody>
          <a:bodyPr wrap="square" lIns="0" rIns="0" tIns="0" bIns="0" anchor="t">
            <a:noAutofit/>
          </a:bodyPr>
          <a:lstStyle/>
          <a:p>
            <a:pPr algn="l"/>
            <a:r>
              <a:rPr sz="1300" b="0">
                <a:solidFill>
                  <a:srgbClr val="5B6670"/>
                </a:solidFill>
                <a:latin typeface="Inter"/>
              </a:rPr>
              <a:t>We set up your first customers with you</a:t>
            </a:r>
          </a:p>
        </p:txBody>
      </p:sp>
      <p:sp>
        <p:nvSpPr>
          <p:cNvPr id="18" name="g327|deco|"/>
          <p:cNvSpPr/>
          <p:nvPr/>
        </p:nvSpPr>
        <p:spPr>
          <a:xfrm>
            <a:off x="914400" y="5248656"/>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g327|icon|file_deep.png" descr="file_deep"/>
          <p:cNvPicPr>
            <a:picLocks noChangeAspect="1"/>
          </p:cNvPicPr>
          <p:nvPr/>
        </p:nvPicPr>
        <p:blipFill>
          <a:blip r:embed="rId5"/>
          <a:srcRect/>
          <a:stretch>
            <a:fillRect/>
          </a:stretch>
        </p:blipFill>
        <p:spPr>
          <a:xfrm>
            <a:off x="1027054" y="5361310"/>
            <a:ext cx="286755" cy="286755"/>
          </a:xfrm>
          <a:prstGeom prst="rect">
            <a:avLst/>
          </a:prstGeom>
        </p:spPr>
      </p:pic>
      <p:sp>
        <p:nvSpPr>
          <p:cNvPr id="20" name="g327|body|"/>
          <p:cNvSpPr txBox="1"/>
          <p:nvPr/>
        </p:nvSpPr>
        <p:spPr>
          <a:xfrm>
            <a:off x="1600200" y="5157216"/>
            <a:ext cx="4114800" cy="329184"/>
          </a:xfrm>
          <a:prstGeom prst="rect">
            <a:avLst/>
          </a:prstGeom>
          <a:noFill/>
        </p:spPr>
        <p:txBody>
          <a:bodyPr wrap="square" lIns="0" rIns="0" tIns="0" bIns="0" anchor="t">
            <a:noAutofit/>
          </a:bodyPr>
          <a:lstStyle/>
          <a:p>
            <a:pPr algn="l"/>
            <a:r>
              <a:rPr sz="1600" b="1">
                <a:solidFill>
                  <a:srgbClr val="20242B"/>
                </a:solidFill>
                <a:latin typeface="Inter"/>
              </a:rPr>
              <a:t>Sales material</a:t>
            </a:r>
          </a:p>
        </p:txBody>
      </p:sp>
      <p:sp>
        <p:nvSpPr>
          <p:cNvPr id="21" name="g327|caption|"/>
          <p:cNvSpPr txBox="1"/>
          <p:nvPr/>
        </p:nvSpPr>
        <p:spPr>
          <a:xfrm>
            <a:off x="1600200" y="5504688"/>
            <a:ext cx="4114800" cy="457200"/>
          </a:xfrm>
          <a:prstGeom prst="rect">
            <a:avLst/>
          </a:prstGeom>
          <a:noFill/>
        </p:spPr>
        <p:txBody>
          <a:bodyPr wrap="square" lIns="0" rIns="0" tIns="0" bIns="0" anchor="t">
            <a:noAutofit/>
          </a:bodyPr>
          <a:lstStyle/>
          <a:p>
            <a:pPr algn="l"/>
            <a:r>
              <a:rPr sz="1300" b="0">
                <a:solidFill>
                  <a:srgbClr val="5B6670"/>
                </a:solidFill>
                <a:latin typeface="Inter"/>
              </a:rPr>
              <a:t>This deck and proposal templates</a:t>
            </a:r>
          </a:p>
        </p:txBody>
      </p:sp>
      <p:sp>
        <p:nvSpPr>
          <p:cNvPr id="22" name="col328|card|"/>
          <p:cNvSpPr/>
          <p:nvPr/>
        </p:nvSpPr>
        <p:spPr>
          <a:xfrm>
            <a:off x="6202375"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l328|card|"/>
          <p:cNvSpPr txBox="1"/>
          <p:nvPr/>
        </p:nvSpPr>
        <p:spPr>
          <a:xfrm>
            <a:off x="6568135"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Partners commit to</a:t>
            </a:r>
          </a:p>
        </p:txBody>
      </p:sp>
      <p:sp>
        <p:nvSpPr>
          <p:cNvPr id="24" name="g329|deco|"/>
          <p:cNvSpPr/>
          <p:nvPr/>
        </p:nvSpPr>
        <p:spPr>
          <a:xfrm>
            <a:off x="6568135" y="2560320"/>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g329|icon|shield_deep.png" descr="shield_deep"/>
          <p:cNvPicPr>
            <a:picLocks noChangeAspect="1"/>
          </p:cNvPicPr>
          <p:nvPr/>
        </p:nvPicPr>
        <p:blipFill>
          <a:blip r:embed="rId6"/>
          <a:srcRect/>
          <a:stretch>
            <a:fillRect/>
          </a:stretch>
        </p:blipFill>
        <p:spPr>
          <a:xfrm>
            <a:off x="6680789" y="2672974"/>
            <a:ext cx="286755" cy="286755"/>
          </a:xfrm>
          <a:prstGeom prst="rect">
            <a:avLst/>
          </a:prstGeom>
        </p:spPr>
      </p:pic>
      <p:sp>
        <p:nvSpPr>
          <p:cNvPr id="26" name="g329|body|"/>
          <p:cNvSpPr txBox="1"/>
          <p:nvPr/>
        </p:nvSpPr>
        <p:spPr>
          <a:xfrm>
            <a:off x="7253935" y="2468880"/>
            <a:ext cx="4114800" cy="329184"/>
          </a:xfrm>
          <a:prstGeom prst="rect">
            <a:avLst/>
          </a:prstGeom>
          <a:noFill/>
        </p:spPr>
        <p:txBody>
          <a:bodyPr wrap="square" lIns="0" rIns="0" tIns="0" bIns="0" anchor="t">
            <a:noAutofit/>
          </a:bodyPr>
          <a:lstStyle/>
          <a:p>
            <a:pPr algn="l"/>
            <a:r>
              <a:rPr sz="1600" b="1">
                <a:solidFill>
                  <a:srgbClr val="20242B"/>
                </a:solidFill>
                <a:latin typeface="Inter"/>
              </a:rPr>
              <a:t>Honest selling</a:t>
            </a:r>
          </a:p>
        </p:txBody>
      </p:sp>
      <p:sp>
        <p:nvSpPr>
          <p:cNvPr id="27" name="g329|caption|"/>
          <p:cNvSpPr txBox="1"/>
          <p:nvPr/>
        </p:nvSpPr>
        <p:spPr>
          <a:xfrm>
            <a:off x="7253935" y="2816352"/>
            <a:ext cx="4114800" cy="685800"/>
          </a:xfrm>
          <a:prstGeom prst="rect">
            <a:avLst/>
          </a:prstGeom>
          <a:noFill/>
        </p:spPr>
        <p:txBody>
          <a:bodyPr wrap="square" lIns="0" rIns="0" tIns="0" bIns="0" anchor="t">
            <a:noAutofit/>
          </a:bodyPr>
          <a:lstStyle/>
          <a:p>
            <a:pPr algn="l"/>
            <a:r>
              <a:rPr sz="1300" b="0">
                <a:solidFill>
                  <a:srgbClr val="5B6670"/>
                </a:solidFill>
                <a:latin typeface="Inter"/>
              </a:rPr>
              <a:t>Within our claims rules: no trials, no invented results, no payment provider names</a:t>
            </a:r>
          </a:p>
        </p:txBody>
      </p:sp>
      <p:sp>
        <p:nvSpPr>
          <p:cNvPr id="28" name="g330|deco|"/>
          <p:cNvSpPr/>
          <p:nvPr/>
        </p:nvSpPr>
        <p:spPr>
          <a:xfrm>
            <a:off x="6568135" y="373075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g330|icon|chat_deep.png" descr="chat_deep"/>
          <p:cNvPicPr>
            <a:picLocks noChangeAspect="1"/>
          </p:cNvPicPr>
          <p:nvPr/>
        </p:nvPicPr>
        <p:blipFill>
          <a:blip r:embed="rId7"/>
          <a:srcRect/>
          <a:stretch>
            <a:fillRect/>
          </a:stretch>
        </p:blipFill>
        <p:spPr>
          <a:xfrm>
            <a:off x="6680789" y="3843406"/>
            <a:ext cx="286755" cy="286755"/>
          </a:xfrm>
          <a:prstGeom prst="rect">
            <a:avLst/>
          </a:prstGeom>
        </p:spPr>
      </p:pic>
      <p:sp>
        <p:nvSpPr>
          <p:cNvPr id="30" name="g330|body|"/>
          <p:cNvSpPr txBox="1"/>
          <p:nvPr/>
        </p:nvSpPr>
        <p:spPr>
          <a:xfrm>
            <a:off x="7253935" y="3639312"/>
            <a:ext cx="4114800" cy="329184"/>
          </a:xfrm>
          <a:prstGeom prst="rect">
            <a:avLst/>
          </a:prstGeom>
          <a:noFill/>
        </p:spPr>
        <p:txBody>
          <a:bodyPr wrap="square" lIns="0" rIns="0" tIns="0" bIns="0" anchor="t">
            <a:noAutofit/>
          </a:bodyPr>
          <a:lstStyle/>
          <a:p>
            <a:pPr algn="l"/>
            <a:r>
              <a:rPr sz="1600" b="1">
                <a:solidFill>
                  <a:srgbClr val="20242B"/>
                </a:solidFill>
                <a:latin typeface="Inter"/>
              </a:rPr>
              <a:t>Consent-first prospecting</a:t>
            </a:r>
          </a:p>
        </p:txBody>
      </p:sp>
      <p:sp>
        <p:nvSpPr>
          <p:cNvPr id="31" name="g330|caption|"/>
          <p:cNvSpPr txBox="1"/>
          <p:nvPr/>
        </p:nvSpPr>
        <p:spPr>
          <a:xfrm>
            <a:off x="7253935" y="3986784"/>
            <a:ext cx="4114800" cy="685800"/>
          </a:xfrm>
          <a:prstGeom prst="rect">
            <a:avLst/>
          </a:prstGeom>
          <a:noFill/>
        </p:spPr>
        <p:txBody>
          <a:bodyPr wrap="square" lIns="0" rIns="0" tIns="0" bIns="0" anchor="t">
            <a:noAutofit/>
          </a:bodyPr>
          <a:lstStyle/>
          <a:p>
            <a:pPr algn="l"/>
            <a:r>
              <a:rPr sz="1300" b="0">
                <a:solidFill>
                  <a:srgbClr val="5B6670"/>
                </a:solidFill>
                <a:latin typeface="Inter"/>
              </a:rPr>
              <a:t>POPIA-compliant: contact people with consent, never bulk unsolicited messages</a:t>
            </a:r>
          </a:p>
        </p:txBody>
      </p:sp>
      <p:sp>
        <p:nvSpPr>
          <p:cNvPr id="32" name="g331|deco|"/>
          <p:cNvSpPr/>
          <p:nvPr/>
        </p:nvSpPr>
        <p:spPr>
          <a:xfrm>
            <a:off x="6568135" y="4901183"/>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g331|icon|wallet_deep.png" descr="wallet_deep"/>
          <p:cNvPicPr>
            <a:picLocks noChangeAspect="1"/>
          </p:cNvPicPr>
          <p:nvPr/>
        </p:nvPicPr>
        <p:blipFill>
          <a:blip r:embed="rId8"/>
          <a:srcRect/>
          <a:stretch>
            <a:fillRect/>
          </a:stretch>
        </p:blipFill>
        <p:spPr>
          <a:xfrm>
            <a:off x="6680789" y="5013838"/>
            <a:ext cx="286755" cy="286755"/>
          </a:xfrm>
          <a:prstGeom prst="rect">
            <a:avLst/>
          </a:prstGeom>
        </p:spPr>
      </p:pic>
      <p:sp>
        <p:nvSpPr>
          <p:cNvPr id="34" name="g331|body|"/>
          <p:cNvSpPr txBox="1"/>
          <p:nvPr/>
        </p:nvSpPr>
        <p:spPr>
          <a:xfrm>
            <a:off x="7253935" y="4809744"/>
            <a:ext cx="4114800" cy="329184"/>
          </a:xfrm>
          <a:prstGeom prst="rect">
            <a:avLst/>
          </a:prstGeom>
          <a:noFill/>
        </p:spPr>
        <p:txBody>
          <a:bodyPr wrap="square" lIns="0" rIns="0" tIns="0" bIns="0" anchor="t">
            <a:noAutofit/>
          </a:bodyPr>
          <a:lstStyle/>
          <a:p>
            <a:pPr algn="l"/>
            <a:r>
              <a:rPr sz="1600" b="1">
                <a:solidFill>
                  <a:srgbClr val="20242B"/>
                </a:solidFill>
                <a:latin typeface="Inter"/>
              </a:rPr>
              <a:t>Current bank details</a:t>
            </a:r>
          </a:p>
        </p:txBody>
      </p:sp>
      <p:sp>
        <p:nvSpPr>
          <p:cNvPr id="35" name="g331|caption|"/>
          <p:cNvSpPr txBox="1"/>
          <p:nvPr/>
        </p:nvSpPr>
        <p:spPr>
          <a:xfrm>
            <a:off x="7253935" y="5157216"/>
            <a:ext cx="4114800" cy="685800"/>
          </a:xfrm>
          <a:prstGeom prst="rect">
            <a:avLst/>
          </a:prstGeom>
          <a:noFill/>
        </p:spPr>
        <p:txBody>
          <a:bodyPr wrap="square" lIns="0" rIns="0" tIns="0" bIns="0" anchor="t">
            <a:noAutofit/>
          </a:bodyPr>
          <a:lstStyle/>
          <a:p>
            <a:pPr algn="l"/>
            <a:r>
              <a:rPr sz="1300" b="0">
                <a:solidFill>
                  <a:srgbClr val="5B6670"/>
                </a:solidFill>
                <a:latin typeface="Inter"/>
              </a:rPr>
              <a:t>So your monthly commission payouts reach you</a:t>
            </a:r>
          </a:p>
        </p:txBody>
      </p:sp>
      <p:sp>
        <p:nvSpPr>
          <p:cNvPr id="3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3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PAYMENTS COVERAGE</a:t>
            </a:r>
          </a:p>
        </p:txBody>
      </p:sp>
      <p:sp>
        <p:nvSpPr>
          <p:cNvPr id="3" name="hdr33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Live in South Africa. The rest is pending.</a:t>
            </a:r>
          </a:p>
        </p:txBody>
      </p:sp>
      <p:pic>
        <p:nvPicPr>
          <p:cNvPr id="4" name="g333|img|infographics/payment-coverage-map.png" descr="Tile map by country status: South Africa live, paid sign-up by card and EFT; Nigeria, Kenya and Ghana priced, not on sale; 19 more countries in our payment partners' reach, not open yet; Botswana and Namibia coming soon"/>
          <p:cNvPicPr>
            <a:picLocks noChangeAspect="1"/>
          </p:cNvPicPr>
          <p:nvPr/>
        </p:nvPicPr>
        <p:blipFill>
          <a:blip r:embed="rId2"/>
          <a:srcRect t="20500"/>
          <a:stretch>
            <a:fillRect/>
          </a:stretch>
        </p:blipFill>
        <p:spPr>
          <a:xfrm>
            <a:off x="574941" y="1389888"/>
            <a:ext cx="11041811"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3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OUR FIRST GROUP OF BUSINESSES</a:t>
            </a:r>
          </a:p>
        </p:txBody>
      </p:sp>
      <p:sp>
        <p:nvSpPr>
          <p:cNvPr id="3" name="hdr33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Starting small, set up by hand</a:t>
            </a:r>
          </a:p>
        </p:txBody>
      </p:sp>
      <p:sp>
        <p:nvSpPr>
          <p:cNvPr id="4" name="fg335|card|"/>
          <p:cNvSpPr/>
          <p:nvPr/>
        </p:nvSpPr>
        <p:spPr>
          <a:xfrm>
            <a:off x="548640"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g335|card|"/>
          <p:cNvSpPr txBox="1"/>
          <p:nvPr/>
        </p:nvSpPr>
        <p:spPr>
          <a:xfrm>
            <a:off x="914400"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A small first group</a:t>
            </a:r>
          </a:p>
        </p:txBody>
      </p:sp>
      <p:sp>
        <p:nvSpPr>
          <p:cNvPr id="6" name="g336|deco|"/>
          <p:cNvSpPr/>
          <p:nvPr/>
        </p:nvSpPr>
        <p:spPr>
          <a:xfrm>
            <a:off x="914400" y="258775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336|icon|users_deep.png" descr="users_deep"/>
          <p:cNvPicPr>
            <a:picLocks noChangeAspect="1"/>
          </p:cNvPicPr>
          <p:nvPr/>
        </p:nvPicPr>
        <p:blipFill>
          <a:blip r:embed="rId2"/>
          <a:srcRect/>
          <a:stretch>
            <a:fillRect/>
          </a:stretch>
        </p:blipFill>
        <p:spPr>
          <a:xfrm>
            <a:off x="1027054" y="2700406"/>
            <a:ext cx="286755" cy="286755"/>
          </a:xfrm>
          <a:prstGeom prst="rect">
            <a:avLst/>
          </a:prstGeom>
        </p:spPr>
      </p:pic>
      <p:sp>
        <p:nvSpPr>
          <p:cNvPr id="8" name="g336|body|"/>
          <p:cNvSpPr txBox="1"/>
          <p:nvPr/>
        </p:nvSpPr>
        <p:spPr>
          <a:xfrm>
            <a:off x="1600200" y="2514600"/>
            <a:ext cx="4114800" cy="676656"/>
          </a:xfrm>
          <a:prstGeom prst="rect">
            <a:avLst/>
          </a:prstGeom>
          <a:noFill/>
        </p:spPr>
        <p:txBody>
          <a:bodyPr wrap="square" lIns="0" rIns="0" tIns="0" bIns="0" anchor="ctr">
            <a:noAutofit/>
          </a:bodyPr>
          <a:lstStyle/>
          <a:p>
            <a:pPr algn="l"/>
            <a:r>
              <a:rPr sz="1600" b="0">
                <a:solidFill>
                  <a:srgbClr val="20242B"/>
                </a:solidFill>
                <a:latin typeface="Inter"/>
              </a:rPr>
              <a:t>We set you up by hand</a:t>
            </a:r>
          </a:p>
        </p:txBody>
      </p:sp>
      <p:sp>
        <p:nvSpPr>
          <p:cNvPr id="9" name="g337|deco|"/>
          <p:cNvSpPr/>
          <p:nvPr/>
        </p:nvSpPr>
        <p:spPr>
          <a:xfrm>
            <a:off x="914400" y="345643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g337|icon|calendar_deep.png" descr="calendar_deep"/>
          <p:cNvPicPr>
            <a:picLocks noChangeAspect="1"/>
          </p:cNvPicPr>
          <p:nvPr/>
        </p:nvPicPr>
        <p:blipFill>
          <a:blip r:embed="rId3"/>
          <a:srcRect/>
          <a:stretch>
            <a:fillRect/>
          </a:stretch>
        </p:blipFill>
        <p:spPr>
          <a:xfrm>
            <a:off x="1027054" y="3569086"/>
            <a:ext cx="286755" cy="286755"/>
          </a:xfrm>
          <a:prstGeom prst="rect">
            <a:avLst/>
          </a:prstGeom>
        </p:spPr>
      </p:pic>
      <p:sp>
        <p:nvSpPr>
          <p:cNvPr id="11" name="g337|body|"/>
          <p:cNvSpPr txBox="1"/>
          <p:nvPr/>
        </p:nvSpPr>
        <p:spPr>
          <a:xfrm>
            <a:off x="1600200" y="3383280"/>
            <a:ext cx="4114800" cy="676656"/>
          </a:xfrm>
          <a:prstGeom prst="rect">
            <a:avLst/>
          </a:prstGeom>
          <a:noFill/>
        </p:spPr>
        <p:txBody>
          <a:bodyPr wrap="square" lIns="0" rIns="0" tIns="0" bIns="0" anchor="ctr">
            <a:noAutofit/>
          </a:bodyPr>
          <a:lstStyle/>
          <a:p>
            <a:pPr algn="l"/>
            <a:r>
              <a:rPr sz="1600" b="0">
                <a:solidFill>
                  <a:srgbClr val="20242B"/>
                </a:solidFill>
                <a:latin typeface="Inter"/>
              </a:rPr>
              <a:t>Weekly founder check-ins</a:t>
            </a:r>
          </a:p>
        </p:txBody>
      </p:sp>
      <p:sp>
        <p:nvSpPr>
          <p:cNvPr id="12" name="g338|deco|"/>
          <p:cNvSpPr/>
          <p:nvPr/>
        </p:nvSpPr>
        <p:spPr>
          <a:xfrm>
            <a:off x="914400" y="432511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g338|icon|chat_deep.png" descr="chat_deep"/>
          <p:cNvPicPr>
            <a:picLocks noChangeAspect="1"/>
          </p:cNvPicPr>
          <p:nvPr/>
        </p:nvPicPr>
        <p:blipFill>
          <a:blip r:embed="rId4"/>
          <a:srcRect/>
          <a:stretch>
            <a:fillRect/>
          </a:stretch>
        </p:blipFill>
        <p:spPr>
          <a:xfrm>
            <a:off x="1027054" y="4437766"/>
            <a:ext cx="286755" cy="286755"/>
          </a:xfrm>
          <a:prstGeom prst="rect">
            <a:avLst/>
          </a:prstGeom>
        </p:spPr>
      </p:pic>
      <p:sp>
        <p:nvSpPr>
          <p:cNvPr id="14" name="g338|body|"/>
          <p:cNvSpPr txBox="1"/>
          <p:nvPr/>
        </p:nvSpPr>
        <p:spPr>
          <a:xfrm>
            <a:off x="1600200" y="4251960"/>
            <a:ext cx="4114800" cy="676656"/>
          </a:xfrm>
          <a:prstGeom prst="rect">
            <a:avLst/>
          </a:prstGeom>
          <a:noFill/>
        </p:spPr>
        <p:txBody>
          <a:bodyPr wrap="square" lIns="0" rIns="0" tIns="0" bIns="0" anchor="ctr">
            <a:noAutofit/>
          </a:bodyPr>
          <a:lstStyle/>
          <a:p>
            <a:pPr algn="l"/>
            <a:r>
              <a:rPr sz="1600" b="0">
                <a:solidFill>
                  <a:srgbClr val="20242B"/>
                </a:solidFill>
                <a:latin typeface="Inter"/>
              </a:rPr>
              <a:t>You tell us what to fix first</a:t>
            </a:r>
          </a:p>
        </p:txBody>
      </p:sp>
      <p:sp>
        <p:nvSpPr>
          <p:cNvPr id="15" name="g339|deco|"/>
          <p:cNvSpPr/>
          <p:nvPr/>
        </p:nvSpPr>
        <p:spPr>
          <a:xfrm>
            <a:off x="914400" y="519379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g339|icon|shield_deep.png" descr="shield_deep"/>
          <p:cNvPicPr>
            <a:picLocks noChangeAspect="1"/>
          </p:cNvPicPr>
          <p:nvPr/>
        </p:nvPicPr>
        <p:blipFill>
          <a:blip r:embed="rId5"/>
          <a:srcRect/>
          <a:stretch>
            <a:fillRect/>
          </a:stretch>
        </p:blipFill>
        <p:spPr>
          <a:xfrm>
            <a:off x="1027054" y="5306446"/>
            <a:ext cx="286755" cy="286755"/>
          </a:xfrm>
          <a:prstGeom prst="rect">
            <a:avLst/>
          </a:prstGeom>
        </p:spPr>
      </p:pic>
      <p:sp>
        <p:nvSpPr>
          <p:cNvPr id="17" name="g339|body|"/>
          <p:cNvSpPr txBox="1"/>
          <p:nvPr/>
        </p:nvSpPr>
        <p:spPr>
          <a:xfrm>
            <a:off x="1600200" y="5120640"/>
            <a:ext cx="4114800" cy="676656"/>
          </a:xfrm>
          <a:prstGeom prst="rect">
            <a:avLst/>
          </a:prstGeom>
          <a:noFill/>
        </p:spPr>
        <p:txBody>
          <a:bodyPr wrap="square" lIns="0" rIns="0" tIns="0" bIns="0" anchor="ctr">
            <a:noAutofit/>
          </a:bodyPr>
          <a:lstStyle/>
          <a:p>
            <a:pPr algn="l"/>
            <a:r>
              <a:rPr sz="1600" b="0">
                <a:solidFill>
                  <a:srgbClr val="20242B"/>
                </a:solidFill>
                <a:latin typeface="Inter"/>
              </a:rPr>
              <a:t>Your story shared only with consent</a:t>
            </a:r>
          </a:p>
        </p:txBody>
      </p:sp>
      <p:sp>
        <p:nvSpPr>
          <p:cNvPr id="18" name="lg340|card|"/>
          <p:cNvSpPr/>
          <p:nvPr/>
        </p:nvSpPr>
        <p:spPr>
          <a:xfrm>
            <a:off x="6202375"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g340|deco|"/>
          <p:cNvSpPr/>
          <p:nvPr/>
        </p:nvSpPr>
        <p:spPr>
          <a:xfrm>
            <a:off x="6494983" y="180136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g340|icon|target_deep.png" descr="target_deep"/>
          <p:cNvPicPr>
            <a:picLocks noChangeAspect="1"/>
          </p:cNvPicPr>
          <p:nvPr/>
        </p:nvPicPr>
        <p:blipFill>
          <a:blip r:embed="rId6"/>
          <a:srcRect/>
          <a:stretch>
            <a:fillRect/>
          </a:stretch>
        </p:blipFill>
        <p:spPr>
          <a:xfrm>
            <a:off x="6667987" y="1974372"/>
            <a:ext cx="440375" cy="440375"/>
          </a:xfrm>
          <a:prstGeom prst="rect">
            <a:avLst/>
          </a:prstGeom>
        </p:spPr>
      </p:pic>
      <p:sp>
        <p:nvSpPr>
          <p:cNvPr id="21" name="lg340|eyebrow|"/>
          <p:cNvSpPr txBox="1"/>
          <p:nvPr/>
        </p:nvSpPr>
        <p:spPr>
          <a:xfrm>
            <a:off x="7482535" y="1938528"/>
            <a:ext cx="3840480" cy="274320"/>
          </a:xfrm>
          <a:prstGeom prst="rect">
            <a:avLst/>
          </a:prstGeom>
          <a:noFill/>
        </p:spPr>
        <p:txBody>
          <a:bodyPr wrap="square" lIns="0" rIns="0" tIns="0" bIns="0" anchor="t">
            <a:noAutofit/>
          </a:bodyPr>
          <a:lstStyle/>
          <a:p>
            <a:pPr algn="l"/>
            <a:r>
              <a:rPr sz="1300" b="1" spc="120">
                <a:solidFill>
                  <a:srgbClr val="C24E00"/>
                </a:solidFill>
                <a:latin typeface="Inter"/>
              </a:rPr>
              <a:t>LEAD GUARANTEE</a:t>
            </a:r>
          </a:p>
        </p:txBody>
      </p:sp>
      <p:sp>
        <p:nvSpPr>
          <p:cNvPr id="22" name="lg340|card|"/>
          <p:cNvSpPr txBox="1"/>
          <p:nvPr/>
        </p:nvSpPr>
        <p:spPr>
          <a:xfrm>
            <a:off x="7482535" y="2212848"/>
            <a:ext cx="3931920" cy="868680"/>
          </a:xfrm>
          <a:prstGeom prst="rect">
            <a:avLst/>
          </a:prstGeom>
          <a:noFill/>
        </p:spPr>
        <p:txBody>
          <a:bodyPr wrap="square" lIns="0" rIns="0" tIns="0" bIns="0" anchor="t">
            <a:noAutofit/>
          </a:bodyPr>
          <a:lstStyle/>
          <a:p>
            <a:pPr algn="l">
              <a:lnSpc>
                <a:spcPct val="95000"/>
              </a:lnSpc>
            </a:pPr>
            <a:r>
              <a:rPr sz="2200" b="1">
                <a:solidFill>
                  <a:srgbClr val="20242B"/>
                </a:solidFill>
                <a:latin typeface="Poppins"/>
              </a:rPr>
              <a:t>3 qualified leads in 30 days of go-live</a:t>
            </a:r>
          </a:p>
        </p:txBody>
      </p:sp>
      <p:sp>
        <p:nvSpPr>
          <p:cNvPr id="23" name="lg340|caption|"/>
          <p:cNvSpPr txBox="1"/>
          <p:nvPr/>
        </p:nvSpPr>
        <p:spPr>
          <a:xfrm>
            <a:off x="6568135" y="3429000"/>
            <a:ext cx="4709160" cy="2468880"/>
          </a:xfrm>
          <a:prstGeom prst="rect">
            <a:avLst/>
          </a:prstGeom>
          <a:noFill/>
        </p:spPr>
        <p:txBody>
          <a:bodyPr wrap="square" lIns="0" rIns="0" tIns="0" bIns="0" anchor="t">
            <a:noAutofit/>
          </a:bodyPr>
          <a:lstStyle/>
          <a:p>
            <a:pPr algn="l">
              <a:lnSpc>
                <a:spcPct val="110000"/>
              </a:lnSpc>
            </a:pPr>
            <a:r>
              <a:rPr sz="1500" b="0">
                <a:solidFill>
                  <a:srgbClr val="20242B"/>
                </a:solidFill>
                <a:latin typeface="Inter"/>
              </a:rPr>
              <a:t>A qualified lead is a new WhatsApp number that messages you through your FluxMuse link. If fewer than 3 arrive in 30 days, and you shared your link and posted at least weekly, we keep supporting you at no extra charge until you reach 3. Extra support, not a payout.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4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TRUST &amp; COMPLIANCE</a:t>
            </a:r>
          </a:p>
        </p:txBody>
      </p:sp>
      <p:sp>
        <p:nvSpPr>
          <p:cNvPr id="3" name="hdr34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Built to protect your customers' data</a:t>
            </a:r>
          </a:p>
        </p:txBody>
      </p:sp>
      <p:sp>
        <p:nvSpPr>
          <p:cNvPr id="4" name="trust342|card|"/>
          <p:cNvSpPr/>
          <p:nvPr/>
        </p:nvSpPr>
        <p:spPr>
          <a:xfrm>
            <a:off x="548640"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rust342|deco|"/>
          <p:cNvSpPr/>
          <p:nvPr/>
        </p:nvSpPr>
        <p:spPr>
          <a:xfrm>
            <a:off x="813816"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trust342|icon|checkCircle_deep.png" descr="checkCircle_deep"/>
          <p:cNvPicPr>
            <a:picLocks noChangeAspect="1"/>
          </p:cNvPicPr>
          <p:nvPr/>
        </p:nvPicPr>
        <p:blipFill>
          <a:blip r:embed="rId2"/>
          <a:srcRect/>
          <a:stretch>
            <a:fillRect/>
          </a:stretch>
        </p:blipFill>
        <p:spPr>
          <a:xfrm>
            <a:off x="970727" y="1958279"/>
            <a:ext cx="399409" cy="399409"/>
          </a:xfrm>
          <a:prstGeom prst="rect">
            <a:avLst/>
          </a:prstGeom>
        </p:spPr>
      </p:pic>
      <p:sp>
        <p:nvSpPr>
          <p:cNvPr id="7" name="trust342|card|"/>
          <p:cNvSpPr txBox="1"/>
          <p:nvPr/>
        </p:nvSpPr>
        <p:spPr>
          <a:xfrm>
            <a:off x="84124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Meta Tech Provider</a:t>
            </a:r>
          </a:p>
        </p:txBody>
      </p:sp>
      <p:sp>
        <p:nvSpPr>
          <p:cNvPr id="8" name="trust342|card|"/>
          <p:cNvSpPr txBox="1"/>
          <p:nvPr/>
        </p:nvSpPr>
        <p:spPr>
          <a:xfrm>
            <a:off x="84124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Verified by Meta</a:t>
            </a:r>
          </a:p>
        </p:txBody>
      </p:sp>
      <p:sp>
        <p:nvSpPr>
          <p:cNvPr id="9" name="trust343|card|"/>
          <p:cNvSpPr/>
          <p:nvPr/>
        </p:nvSpPr>
        <p:spPr>
          <a:xfrm>
            <a:off x="434019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st343|deco|"/>
          <p:cNvSpPr/>
          <p:nvPr/>
        </p:nvSpPr>
        <p:spPr>
          <a:xfrm>
            <a:off x="460537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trust343|icon|chat_deep.png" descr="chat_deep"/>
          <p:cNvPicPr>
            <a:picLocks noChangeAspect="1"/>
          </p:cNvPicPr>
          <p:nvPr/>
        </p:nvPicPr>
        <p:blipFill>
          <a:blip r:embed="rId3"/>
          <a:srcRect/>
          <a:stretch>
            <a:fillRect/>
          </a:stretch>
        </p:blipFill>
        <p:spPr>
          <a:xfrm>
            <a:off x="4762286" y="1958279"/>
            <a:ext cx="399409" cy="399409"/>
          </a:xfrm>
          <a:prstGeom prst="rect">
            <a:avLst/>
          </a:prstGeom>
        </p:spPr>
      </p:pic>
      <p:sp>
        <p:nvSpPr>
          <p:cNvPr id="12" name="trust343|card|"/>
          <p:cNvSpPr txBox="1"/>
          <p:nvPr/>
        </p:nvSpPr>
        <p:spPr>
          <a:xfrm>
            <a:off x="463280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Official WhatsApp API</a:t>
            </a:r>
          </a:p>
        </p:txBody>
      </p:sp>
      <p:sp>
        <p:nvSpPr>
          <p:cNvPr id="13" name="trust343|card|"/>
          <p:cNvSpPr txBox="1"/>
          <p:nvPr/>
        </p:nvSpPr>
        <p:spPr>
          <a:xfrm>
            <a:off x="463280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Meta Cloud API</a:t>
            </a:r>
          </a:p>
        </p:txBody>
      </p:sp>
      <p:sp>
        <p:nvSpPr>
          <p:cNvPr id="14" name="trust344|card|"/>
          <p:cNvSpPr/>
          <p:nvPr/>
        </p:nvSpPr>
        <p:spPr>
          <a:xfrm>
            <a:off x="813175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st344|deco|"/>
          <p:cNvSpPr/>
          <p:nvPr/>
        </p:nvSpPr>
        <p:spPr>
          <a:xfrm>
            <a:off x="839693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trust344|icon|shield_deep.png" descr="shield_deep"/>
          <p:cNvPicPr>
            <a:picLocks noChangeAspect="1"/>
          </p:cNvPicPr>
          <p:nvPr/>
        </p:nvPicPr>
        <p:blipFill>
          <a:blip r:embed="rId4"/>
          <a:srcRect/>
          <a:stretch>
            <a:fillRect/>
          </a:stretch>
        </p:blipFill>
        <p:spPr>
          <a:xfrm>
            <a:off x="8553846" y="1958279"/>
            <a:ext cx="399409" cy="399409"/>
          </a:xfrm>
          <a:prstGeom prst="rect">
            <a:avLst/>
          </a:prstGeom>
        </p:spPr>
      </p:pic>
      <p:sp>
        <p:nvSpPr>
          <p:cNvPr id="17" name="trust344|card|"/>
          <p:cNvSpPr txBox="1"/>
          <p:nvPr/>
        </p:nvSpPr>
        <p:spPr>
          <a:xfrm>
            <a:off x="842436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POPIA-aligned</a:t>
            </a:r>
          </a:p>
        </p:txBody>
      </p:sp>
      <p:sp>
        <p:nvSpPr>
          <p:cNvPr id="18" name="trust344|card|"/>
          <p:cNvSpPr txBox="1"/>
          <p:nvPr/>
        </p:nvSpPr>
        <p:spPr>
          <a:xfrm>
            <a:off x="842436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Consented broadcasts only</a:t>
            </a:r>
          </a:p>
        </p:txBody>
      </p:sp>
      <p:sp>
        <p:nvSpPr>
          <p:cNvPr id="19" name="trust345|card|"/>
          <p:cNvSpPr/>
          <p:nvPr/>
        </p:nvSpPr>
        <p:spPr>
          <a:xfrm>
            <a:off x="548640"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st345|deco|"/>
          <p:cNvSpPr/>
          <p:nvPr/>
        </p:nvSpPr>
        <p:spPr>
          <a:xfrm>
            <a:off x="813816"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trust345|icon|layers_deep.png" descr="layers_deep"/>
          <p:cNvPicPr>
            <a:picLocks noChangeAspect="1"/>
          </p:cNvPicPr>
          <p:nvPr/>
        </p:nvPicPr>
        <p:blipFill>
          <a:blip r:embed="rId5"/>
          <a:srcRect/>
          <a:stretch>
            <a:fillRect/>
          </a:stretch>
        </p:blipFill>
        <p:spPr>
          <a:xfrm>
            <a:off x="970727" y="4372295"/>
            <a:ext cx="399409" cy="399409"/>
          </a:xfrm>
          <a:prstGeom prst="rect">
            <a:avLst/>
          </a:prstGeom>
        </p:spPr>
      </p:pic>
      <p:sp>
        <p:nvSpPr>
          <p:cNvPr id="22" name="trust345|card|"/>
          <p:cNvSpPr txBox="1"/>
          <p:nvPr/>
        </p:nvSpPr>
        <p:spPr>
          <a:xfrm>
            <a:off x="84124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Row-level security</a:t>
            </a:r>
          </a:p>
        </p:txBody>
      </p:sp>
      <p:sp>
        <p:nvSpPr>
          <p:cNvPr id="23" name="trust345|card|"/>
          <p:cNvSpPr txBox="1"/>
          <p:nvPr/>
        </p:nvSpPr>
        <p:spPr>
          <a:xfrm>
            <a:off x="84124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Your data kept separate</a:t>
            </a:r>
          </a:p>
        </p:txBody>
      </p:sp>
      <p:sp>
        <p:nvSpPr>
          <p:cNvPr id="24" name="trust346|card|"/>
          <p:cNvSpPr/>
          <p:nvPr/>
        </p:nvSpPr>
        <p:spPr>
          <a:xfrm>
            <a:off x="434019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st346|deco|"/>
          <p:cNvSpPr/>
          <p:nvPr/>
        </p:nvSpPr>
        <p:spPr>
          <a:xfrm>
            <a:off x="460537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trust346|icon|plug_deep.png" descr="plug_deep"/>
          <p:cNvPicPr>
            <a:picLocks noChangeAspect="1"/>
          </p:cNvPicPr>
          <p:nvPr/>
        </p:nvPicPr>
        <p:blipFill>
          <a:blip r:embed="rId6"/>
          <a:srcRect/>
          <a:stretch>
            <a:fillRect/>
          </a:stretch>
        </p:blipFill>
        <p:spPr>
          <a:xfrm>
            <a:off x="4762286" y="4372295"/>
            <a:ext cx="399409" cy="399409"/>
          </a:xfrm>
          <a:prstGeom prst="rect">
            <a:avLst/>
          </a:prstGeom>
        </p:spPr>
      </p:pic>
      <p:sp>
        <p:nvSpPr>
          <p:cNvPr id="27" name="trust346|card|"/>
          <p:cNvSpPr txBox="1"/>
          <p:nvPr/>
        </p:nvSpPr>
        <p:spPr>
          <a:xfrm>
            <a:off x="463280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Encrypted tokens</a:t>
            </a:r>
          </a:p>
        </p:txBody>
      </p:sp>
      <p:sp>
        <p:nvSpPr>
          <p:cNvPr id="28" name="trust346|card|"/>
          <p:cNvSpPr txBox="1"/>
          <p:nvPr/>
        </p:nvSpPr>
        <p:spPr>
          <a:xfrm>
            <a:off x="463280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Connected accounts</a:t>
            </a:r>
          </a:p>
        </p:txBody>
      </p:sp>
      <p:sp>
        <p:nvSpPr>
          <p:cNvPr id="29" name="trust347|card|"/>
          <p:cNvSpPr/>
          <p:nvPr/>
        </p:nvSpPr>
        <p:spPr>
          <a:xfrm>
            <a:off x="813175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rust347|deco|"/>
          <p:cNvSpPr/>
          <p:nvPr/>
        </p:nvSpPr>
        <p:spPr>
          <a:xfrm>
            <a:off x="839693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trust347|icon|refresh_deep.png" descr="refresh_deep"/>
          <p:cNvPicPr>
            <a:picLocks noChangeAspect="1"/>
          </p:cNvPicPr>
          <p:nvPr/>
        </p:nvPicPr>
        <p:blipFill>
          <a:blip r:embed="rId7"/>
          <a:srcRect/>
          <a:stretch>
            <a:fillRect/>
          </a:stretch>
        </p:blipFill>
        <p:spPr>
          <a:xfrm>
            <a:off x="8553846" y="4372295"/>
            <a:ext cx="399409" cy="399409"/>
          </a:xfrm>
          <a:prstGeom prst="rect">
            <a:avLst/>
          </a:prstGeom>
        </p:spPr>
      </p:pic>
      <p:sp>
        <p:nvSpPr>
          <p:cNvPr id="32" name="trust347|card|"/>
          <p:cNvSpPr txBox="1"/>
          <p:nvPr/>
        </p:nvSpPr>
        <p:spPr>
          <a:xfrm>
            <a:off x="842436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Data export &amp; deletion</a:t>
            </a:r>
          </a:p>
        </p:txBody>
      </p:sp>
      <p:sp>
        <p:nvSpPr>
          <p:cNvPr id="33" name="trust347|card|"/>
          <p:cNvSpPr txBox="1"/>
          <p:nvPr/>
        </p:nvSpPr>
        <p:spPr>
          <a:xfrm>
            <a:off x="842436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Export data, delete account</a:t>
            </a:r>
          </a:p>
        </p:txBody>
      </p:sp>
      <p:sp>
        <p:nvSpPr>
          <p:cNvPr id="3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4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ROADMAP · INDICATIVE, NO DATES</a:t>
            </a:r>
          </a:p>
        </p:txBody>
      </p:sp>
      <p:sp>
        <p:nvSpPr>
          <p:cNvPr id="3" name="hdr34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comes next, in order</a:t>
            </a:r>
          </a:p>
        </p:txBody>
      </p:sp>
      <p:pic>
        <p:nvPicPr>
          <p:cNvPr id="4" name="g349|img|infographics/roadmap-2026-2027.png" descr="Indicative order, no dates. Markets: South Africa open now, then checkout through FluxMuse, then Nigeria, Kenya and Ghana, then other markets in USD. Product: live today including the partner programme, then Meta permissions, social adapters, business app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350|eyebrow|"/>
          <p:cNvSpPr txBox="1"/>
          <p:nvPr/>
        </p:nvSpPr>
        <p:spPr>
          <a:xfrm>
            <a:off x="548640" y="731520"/>
            <a:ext cx="11094415" cy="274320"/>
          </a:xfrm>
          <a:prstGeom prst="rect">
            <a:avLst/>
          </a:prstGeom>
          <a:noFill/>
        </p:spPr>
        <p:txBody>
          <a:bodyPr wrap="square" lIns="0" rIns="0" tIns="0" bIns="0" anchor="t">
            <a:noAutofit/>
          </a:bodyPr>
          <a:lstStyle/>
          <a:p>
            <a:pPr algn="l"/>
            <a:r>
              <a:rPr sz="1200" b="1" spc="150">
                <a:solidFill>
                  <a:srgbClr val="FF6A00"/>
                </a:solidFill>
                <a:latin typeface="Inter"/>
              </a:rPr>
              <a:t>NEXT STEPS</a:t>
            </a:r>
          </a:p>
        </p:txBody>
      </p:sp>
      <p:sp>
        <p:nvSpPr>
          <p:cNvPr id="3" name="hdr350|title|"/>
          <p:cNvSpPr txBox="1"/>
          <p:nvPr/>
        </p:nvSpPr>
        <p:spPr>
          <a:xfrm>
            <a:off x="548640" y="1005840"/>
            <a:ext cx="11094415" cy="731520"/>
          </a:xfrm>
          <a:prstGeom prst="rect">
            <a:avLst/>
          </a:prstGeom>
          <a:noFill/>
        </p:spPr>
        <p:txBody>
          <a:bodyPr wrap="square" lIns="0" rIns="0" tIns="0" bIns="0" anchor="t">
            <a:noAutofit/>
          </a:bodyPr>
          <a:lstStyle/>
          <a:p>
            <a:pPr algn="l"/>
            <a:r>
              <a:rPr sz="3600" b="1">
                <a:solidFill>
                  <a:srgbClr val="FFFFFF"/>
                </a:solidFill>
                <a:latin typeface="Poppins"/>
              </a:rPr>
              <a:t>Let's build your partner practice</a:t>
            </a:r>
          </a:p>
        </p:txBody>
      </p:sp>
      <p:sp>
        <p:nvSpPr>
          <p:cNvPr id="4" name="cta351|card|"/>
          <p:cNvSpPr/>
          <p:nvPr/>
        </p:nvSpPr>
        <p:spPr>
          <a:xfrm>
            <a:off x="548640" y="2057400"/>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ta351|deco|"/>
          <p:cNvSpPr/>
          <p:nvPr/>
        </p:nvSpPr>
        <p:spPr>
          <a:xfrm>
            <a:off x="841247" y="2331720"/>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ta351|card|"/>
          <p:cNvSpPr txBox="1"/>
          <p:nvPr/>
        </p:nvSpPr>
        <p:spPr>
          <a:xfrm>
            <a:off x="841247" y="2331720"/>
            <a:ext cx="566928" cy="566928"/>
          </a:xfrm>
          <a:prstGeom prst="rect">
            <a:avLst/>
          </a:prstGeom>
          <a:noFill/>
        </p:spPr>
        <p:txBody>
          <a:bodyPr wrap="square" lIns="0" rIns="0" tIns="0" bIns="0" anchor="ctr">
            <a:noAutofit/>
          </a:bodyPr>
          <a:lstStyle/>
          <a:p>
            <a:pPr algn="ctr"/>
            <a:r>
              <a:rPr sz="2000" b="1">
                <a:solidFill>
                  <a:srgbClr val="0F1419"/>
                </a:solidFill>
                <a:latin typeface="Poppins"/>
              </a:rPr>
              <a:t>1</a:t>
            </a:r>
          </a:p>
        </p:txBody>
      </p:sp>
      <p:sp>
        <p:nvSpPr>
          <p:cNvPr id="7" name="cta351|card|"/>
          <p:cNvSpPr txBox="1"/>
          <p:nvPr/>
        </p:nvSpPr>
        <p:spPr>
          <a:xfrm>
            <a:off x="1645919" y="2240280"/>
            <a:ext cx="5623560" cy="411480"/>
          </a:xfrm>
          <a:prstGeom prst="rect">
            <a:avLst/>
          </a:prstGeom>
          <a:noFill/>
        </p:spPr>
        <p:txBody>
          <a:bodyPr wrap="square" lIns="0" rIns="0" tIns="0" bIns="0" anchor="t">
            <a:noAutofit/>
          </a:bodyPr>
          <a:lstStyle/>
          <a:p>
            <a:pPr algn="l"/>
            <a:r>
              <a:rPr sz="2000" b="1">
                <a:solidFill>
                  <a:srgbClr val="FFFFFF"/>
                </a:solidFill>
                <a:latin typeface="Poppins"/>
              </a:rPr>
              <a:t>Book a 30-minute partner call</a:t>
            </a:r>
          </a:p>
        </p:txBody>
      </p:sp>
      <p:sp>
        <p:nvSpPr>
          <p:cNvPr id="8" name="cta351|card|"/>
          <p:cNvSpPr txBox="1"/>
          <p:nvPr/>
        </p:nvSpPr>
        <p:spPr>
          <a:xfrm>
            <a:off x="1645919" y="2697480"/>
            <a:ext cx="5623560" cy="347472"/>
          </a:xfrm>
          <a:prstGeom prst="rect">
            <a:avLst/>
          </a:prstGeom>
          <a:noFill/>
        </p:spPr>
        <p:txBody>
          <a:bodyPr wrap="square" lIns="0" rIns="0" tIns="0" bIns="0" anchor="t">
            <a:noAutofit/>
          </a:bodyPr>
          <a:lstStyle/>
          <a:p>
            <a:pPr algn="l"/>
            <a:r>
              <a:rPr sz="1500" b="0">
                <a:solidFill>
                  <a:srgbClr val="A7B0B8"/>
                </a:solidFill>
                <a:latin typeface="Inter"/>
              </a:rPr>
              <a:t>Your clients, services and pricing.</a:t>
            </a:r>
          </a:p>
        </p:txBody>
      </p:sp>
      <p:sp>
        <p:nvSpPr>
          <p:cNvPr id="9" name="cta352|card|"/>
          <p:cNvSpPr/>
          <p:nvPr/>
        </p:nvSpPr>
        <p:spPr>
          <a:xfrm>
            <a:off x="548640" y="3355848"/>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ta352|deco|"/>
          <p:cNvSpPr/>
          <p:nvPr/>
        </p:nvSpPr>
        <p:spPr>
          <a:xfrm>
            <a:off x="841247" y="3630168"/>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ta352|card|"/>
          <p:cNvSpPr txBox="1"/>
          <p:nvPr/>
        </p:nvSpPr>
        <p:spPr>
          <a:xfrm>
            <a:off x="841247" y="3630168"/>
            <a:ext cx="566928" cy="566928"/>
          </a:xfrm>
          <a:prstGeom prst="rect">
            <a:avLst/>
          </a:prstGeom>
          <a:noFill/>
        </p:spPr>
        <p:txBody>
          <a:bodyPr wrap="square" lIns="0" rIns="0" tIns="0" bIns="0" anchor="ctr">
            <a:noAutofit/>
          </a:bodyPr>
          <a:lstStyle/>
          <a:p>
            <a:pPr algn="ctr"/>
            <a:r>
              <a:rPr sz="2000" b="1">
                <a:solidFill>
                  <a:srgbClr val="0F1419"/>
                </a:solidFill>
                <a:latin typeface="Poppins"/>
              </a:rPr>
              <a:t>2</a:t>
            </a:r>
          </a:p>
        </p:txBody>
      </p:sp>
      <p:sp>
        <p:nvSpPr>
          <p:cNvPr id="12" name="cta352|card|"/>
          <p:cNvSpPr txBox="1"/>
          <p:nvPr/>
        </p:nvSpPr>
        <p:spPr>
          <a:xfrm>
            <a:off x="1645919" y="3538728"/>
            <a:ext cx="5623560" cy="411480"/>
          </a:xfrm>
          <a:prstGeom prst="rect">
            <a:avLst/>
          </a:prstGeom>
          <a:noFill/>
        </p:spPr>
        <p:txBody>
          <a:bodyPr wrap="square" lIns="0" rIns="0" tIns="0" bIns="0" anchor="t">
            <a:noAutofit/>
          </a:bodyPr>
          <a:lstStyle/>
          <a:p>
            <a:pPr algn="l"/>
            <a:r>
              <a:rPr sz="2000" b="1">
                <a:solidFill>
                  <a:srgbClr val="FFFFFF"/>
                </a:solidFill>
                <a:latin typeface="Poppins"/>
              </a:rPr>
              <a:t>See a white-label demo</a:t>
            </a:r>
          </a:p>
        </p:txBody>
      </p:sp>
      <p:sp>
        <p:nvSpPr>
          <p:cNvPr id="13" name="cta352|card|"/>
          <p:cNvSpPr txBox="1"/>
          <p:nvPr/>
        </p:nvSpPr>
        <p:spPr>
          <a:xfrm>
            <a:off x="1645919" y="3995928"/>
            <a:ext cx="5623560" cy="347472"/>
          </a:xfrm>
          <a:prstGeom prst="rect">
            <a:avLst/>
          </a:prstGeom>
          <a:noFill/>
        </p:spPr>
        <p:txBody>
          <a:bodyPr wrap="square" lIns="0" rIns="0" tIns="0" bIns="0" anchor="t">
            <a:noAutofit/>
          </a:bodyPr>
          <a:lstStyle/>
          <a:p>
            <a:pPr algn="l"/>
            <a:r>
              <a:rPr sz="1500" b="0">
                <a:solidFill>
                  <a:srgbClr val="A7B0B8"/>
                </a:solidFill>
                <a:latin typeface="Inter"/>
              </a:rPr>
              <a:t>FluxMuse under your brand.</a:t>
            </a:r>
          </a:p>
        </p:txBody>
      </p:sp>
      <p:sp>
        <p:nvSpPr>
          <p:cNvPr id="14" name="cta353|card|"/>
          <p:cNvSpPr/>
          <p:nvPr/>
        </p:nvSpPr>
        <p:spPr>
          <a:xfrm>
            <a:off x="548640" y="4654296"/>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ta353|deco|"/>
          <p:cNvSpPr/>
          <p:nvPr/>
        </p:nvSpPr>
        <p:spPr>
          <a:xfrm>
            <a:off x="841247" y="4928616"/>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ta353|card|"/>
          <p:cNvSpPr txBox="1"/>
          <p:nvPr/>
        </p:nvSpPr>
        <p:spPr>
          <a:xfrm>
            <a:off x="841247" y="4928616"/>
            <a:ext cx="566928" cy="566928"/>
          </a:xfrm>
          <a:prstGeom prst="rect">
            <a:avLst/>
          </a:prstGeom>
          <a:noFill/>
        </p:spPr>
        <p:txBody>
          <a:bodyPr wrap="square" lIns="0" rIns="0" tIns="0" bIns="0" anchor="ctr">
            <a:noAutofit/>
          </a:bodyPr>
          <a:lstStyle/>
          <a:p>
            <a:pPr algn="ctr"/>
            <a:r>
              <a:rPr sz="2000" b="1">
                <a:solidFill>
                  <a:srgbClr val="0F1419"/>
                </a:solidFill>
                <a:latin typeface="Poppins"/>
              </a:rPr>
              <a:t>3</a:t>
            </a:r>
          </a:p>
        </p:txBody>
      </p:sp>
      <p:sp>
        <p:nvSpPr>
          <p:cNvPr id="17" name="cta353|card|"/>
          <p:cNvSpPr txBox="1"/>
          <p:nvPr/>
        </p:nvSpPr>
        <p:spPr>
          <a:xfrm>
            <a:off x="1645919" y="4837176"/>
            <a:ext cx="5623560" cy="411480"/>
          </a:xfrm>
          <a:prstGeom prst="rect">
            <a:avLst/>
          </a:prstGeom>
          <a:noFill/>
        </p:spPr>
        <p:txBody>
          <a:bodyPr wrap="square" lIns="0" rIns="0" tIns="0" bIns="0" anchor="t">
            <a:noAutofit/>
          </a:bodyPr>
          <a:lstStyle/>
          <a:p>
            <a:pPr algn="l"/>
            <a:r>
              <a:rPr sz="2000" b="1">
                <a:solidFill>
                  <a:srgbClr val="FFFFFF"/>
                </a:solidFill>
                <a:latin typeface="Poppins"/>
              </a:rPr>
              <a:t>Apply to become a partner</a:t>
            </a:r>
          </a:p>
        </p:txBody>
      </p:sp>
      <p:sp>
        <p:nvSpPr>
          <p:cNvPr id="18" name="cta353|card|"/>
          <p:cNvSpPr txBox="1"/>
          <p:nvPr/>
        </p:nvSpPr>
        <p:spPr>
          <a:xfrm>
            <a:off x="1645919" y="5294376"/>
            <a:ext cx="5623560" cy="347472"/>
          </a:xfrm>
          <a:prstGeom prst="rect">
            <a:avLst/>
          </a:prstGeom>
          <a:noFill/>
        </p:spPr>
        <p:txBody>
          <a:bodyPr wrap="square" lIns="0" rIns="0" tIns="0" bIns="0" anchor="t">
            <a:noAutofit/>
          </a:bodyPr>
          <a:lstStyle/>
          <a:p>
            <a:pPr algn="l"/>
            <a:r>
              <a:rPr sz="1500" b="0">
                <a:solidFill>
                  <a:srgbClr val="A7B0B8"/>
                </a:solidFill>
                <a:latin typeface="Inter"/>
              </a:rPr>
              <a:t>15–25% commission, or R6,999/mo wholesale.</a:t>
            </a:r>
          </a:p>
        </p:txBody>
      </p:sp>
      <p:sp>
        <p:nvSpPr>
          <p:cNvPr id="19" name="contact354|card|"/>
          <p:cNvSpPr/>
          <p:nvPr/>
        </p:nvSpPr>
        <p:spPr>
          <a:xfrm>
            <a:off x="7772400" y="2057400"/>
            <a:ext cx="3867912" cy="3712463"/>
          </a:xfrm>
          <a:prstGeom prst="roundRect">
            <a:avLst>
              <a:gd name="adj" fmla="val 4433"/>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act354|eyebrow|"/>
          <p:cNvSpPr txBox="1"/>
          <p:nvPr/>
        </p:nvSpPr>
        <p:spPr>
          <a:xfrm>
            <a:off x="8092440" y="2286000"/>
            <a:ext cx="3291840" cy="274320"/>
          </a:xfrm>
          <a:prstGeom prst="rect">
            <a:avLst/>
          </a:prstGeom>
          <a:noFill/>
        </p:spPr>
        <p:txBody>
          <a:bodyPr wrap="square" lIns="0" rIns="0" tIns="0" bIns="0" anchor="t">
            <a:noAutofit/>
          </a:bodyPr>
          <a:lstStyle/>
          <a:p>
            <a:pPr algn="l"/>
            <a:r>
              <a:rPr sz="1200" b="1" spc="150">
                <a:solidFill>
                  <a:srgbClr val="FF6A00"/>
                </a:solidFill>
                <a:latin typeface="Inter"/>
              </a:rPr>
              <a:t>TALK TO US</a:t>
            </a:r>
          </a:p>
        </p:txBody>
      </p:sp>
      <p:sp>
        <p:nvSpPr>
          <p:cNvPr id="21" name="contact354|body|"/>
          <p:cNvSpPr txBox="1"/>
          <p:nvPr/>
        </p:nvSpPr>
        <p:spPr>
          <a:xfrm>
            <a:off x="8092440" y="2606040"/>
            <a:ext cx="3291840" cy="1280160"/>
          </a:xfrm>
          <a:prstGeom prst="rect">
            <a:avLst/>
          </a:prstGeom>
          <a:noFill/>
        </p:spPr>
        <p:txBody>
          <a:bodyPr wrap="square" lIns="0" rIns="0" tIns="0" bIns="0" anchor="t">
            <a:noAutofit/>
          </a:bodyPr>
          <a:lstStyle/>
          <a:p>
            <a:pPr algn="l">
              <a:spcAft>
                <a:spcPts val="200"/>
              </a:spcAft>
            </a:pPr>
            <a:r>
              <a:rPr sz="1500" b="1">
                <a:solidFill>
                  <a:srgbClr val="FFFFFF"/>
                </a:solidFill>
                <a:latin typeface="Inter"/>
              </a:rPr>
              <a:t>Thabo Malebadi</a:t>
            </a:r>
          </a:p>
          <a:p>
            <a:pPr algn="l">
              <a:spcAft>
                <a:spcPts val="400"/>
              </a:spcAft>
            </a:pPr>
            <a:r>
              <a:rPr sz="1500" b="0">
                <a:solidFill>
                  <a:srgbClr val="D5DADF"/>
                </a:solidFill>
                <a:latin typeface="Inter"/>
              </a:rPr>
              <a:t>Founder</a:t>
            </a:r>
          </a:p>
          <a:p>
            <a:pPr algn="l">
              <a:spcAft>
                <a:spcPts val="400"/>
              </a:spcAft>
            </a:pPr>
            <a:r>
              <a:rPr sz="1500" b="0">
                <a:solidFill>
                  <a:srgbClr val="D5DADF"/>
                </a:solidFill>
                <a:latin typeface="Inter"/>
              </a:rPr>
              <a:t>thabo@fluxmuse.com</a:t>
            </a:r>
          </a:p>
          <a:p>
            <a:pPr algn="l"/>
            <a:r>
              <a:rPr sz="1500" b="0">
                <a:solidFill>
                  <a:srgbClr val="D5DADF"/>
                </a:solidFill>
                <a:latin typeface="Inter"/>
              </a:rPr>
              <a:t>fluxmuse.ai</a:t>
            </a:r>
          </a:p>
        </p:txBody>
      </p:sp>
      <p:sp>
        <p:nvSpPr>
          <p:cNvPr id="22" name="contact354|deco|"/>
          <p:cNvSpPr/>
          <p:nvPr/>
        </p:nvSpPr>
        <p:spPr>
          <a:xfrm>
            <a:off x="8092440" y="4023360"/>
            <a:ext cx="1371600" cy="1371600"/>
          </a:xfrm>
          <a:prstGeom prst="roundRect">
            <a:avLst>
              <a:gd name="adj" fmla="val 6666"/>
            </a:avLst>
          </a:prstGeom>
          <a:noFill/>
          <a:ln w="15875">
            <a:solidFill>
              <a:srgbClr val="A7B0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ntact354|caption|"/>
          <p:cNvSpPr txBox="1"/>
          <p:nvPr/>
        </p:nvSpPr>
        <p:spPr>
          <a:xfrm>
            <a:off x="8092440" y="4023360"/>
            <a:ext cx="1371600" cy="1371600"/>
          </a:xfrm>
          <a:prstGeom prst="rect">
            <a:avLst/>
          </a:prstGeom>
          <a:noFill/>
        </p:spPr>
        <p:txBody>
          <a:bodyPr wrap="square" lIns="0" rIns="0" tIns="0" bIns="0" anchor="ctr">
            <a:noAutofit/>
          </a:bodyPr>
          <a:lstStyle/>
          <a:p>
            <a:pPr algn="ctr"/>
            <a:r>
              <a:rPr sz="1100" b="0">
                <a:solidFill>
                  <a:srgbClr val="A7B0B8"/>
                </a:solidFill>
                <a:latin typeface="Inter"/>
              </a:rPr>
              <a:t>[[wa.me QR CODE]]</a:t>
            </a:r>
          </a:p>
        </p:txBody>
      </p:sp>
      <p:sp>
        <p:nvSpPr>
          <p:cNvPr id="24" name="contact354|placeholder|"/>
          <p:cNvSpPr txBox="1"/>
          <p:nvPr/>
        </p:nvSpPr>
        <p:spPr>
          <a:xfrm>
            <a:off x="9646920" y="4114800"/>
            <a:ext cx="1828800" cy="1280160"/>
          </a:xfrm>
          <a:prstGeom prst="rect">
            <a:avLst/>
          </a:prstGeom>
          <a:noFill/>
        </p:spPr>
        <p:txBody>
          <a:bodyPr wrap="square" lIns="0" rIns="0" tIns="0" bIns="0" anchor="t">
            <a:noAutofit/>
          </a:bodyPr>
          <a:lstStyle/>
          <a:p>
            <a:pPr algn="l">
              <a:spcAft>
                <a:spcPts val="600"/>
              </a:spcAft>
            </a:pPr>
            <a:r>
              <a:rPr sz="1400" b="0">
                <a:solidFill>
                  <a:srgbClr val="A7B0B8"/>
                </a:solidFill>
                <a:latin typeface="Inter"/>
              </a:rPr>
              <a:t>Scan to chat on WhatsApp</a:t>
            </a:r>
          </a:p>
          <a:p>
            <a:pPr algn="l"/>
            <a:r>
              <a:rPr sz="1400" b="1">
                <a:solidFill>
                  <a:srgbClr val="FFFFFF"/>
                </a:solidFill>
                <a:latin typeface="Inter"/>
              </a:rPr>
              <a:t>wa.me/</a:t>
            </a:r>
          </a:p>
          <a:p>
            <a:pPr algn="l"/>
            <a:r>
              <a:rPr sz="1400" b="1">
                <a:solidFill>
                  <a:srgbClr val="FFFFFF"/>
                </a:solidFill>
                <a:latin typeface="Inter"/>
              </a:rPr>
              <a:t>[[NUMBER]]</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g355|eyebrow|"/>
          <p:cNvSpPr txBox="1"/>
          <p:nvPr/>
        </p:nvSpPr>
        <p:spPr>
          <a:xfrm>
            <a:off x="548640" y="1371600"/>
            <a:ext cx="11094415" cy="274320"/>
          </a:xfrm>
          <a:prstGeom prst="rect">
            <a:avLst/>
          </a:prstGeom>
          <a:noFill/>
        </p:spPr>
        <p:txBody>
          <a:bodyPr wrap="square" lIns="0" rIns="0" tIns="0" bIns="0" anchor="t">
            <a:noAutofit/>
          </a:bodyPr>
          <a:lstStyle/>
          <a:p>
            <a:pPr algn="l"/>
            <a:r>
              <a:rPr sz="1200" b="1" spc="150">
                <a:solidFill>
                  <a:srgbClr val="FF6A00"/>
                </a:solidFill>
                <a:latin typeface="Inter"/>
              </a:rPr>
              <a:t>APPENDIX</a:t>
            </a:r>
          </a:p>
        </p:txBody>
      </p:sp>
      <p:sp>
        <p:nvSpPr>
          <p:cNvPr id="3" name="g356|title|"/>
          <p:cNvSpPr txBox="1"/>
          <p:nvPr/>
        </p:nvSpPr>
        <p:spPr>
          <a:xfrm>
            <a:off x="548640" y="1664208"/>
            <a:ext cx="11094415" cy="822960"/>
          </a:xfrm>
          <a:prstGeom prst="rect">
            <a:avLst/>
          </a:prstGeom>
          <a:noFill/>
        </p:spPr>
        <p:txBody>
          <a:bodyPr wrap="square" lIns="0" rIns="0" tIns="0" bIns="0" anchor="t">
            <a:noAutofit/>
          </a:bodyPr>
          <a:lstStyle/>
          <a:p>
            <a:pPr algn="l"/>
            <a:r>
              <a:rPr sz="4000" b="1">
                <a:solidFill>
                  <a:srgbClr val="FFFFFF"/>
                </a:solidFill>
                <a:latin typeface="Poppins"/>
              </a:rPr>
              <a:t>Reference slides</a:t>
            </a:r>
          </a:p>
        </p:txBody>
      </p:sp>
      <p:sp>
        <p:nvSpPr>
          <p:cNvPr id="4" name="ax357|chip|"/>
          <p:cNvSpPr/>
          <p:nvPr/>
        </p:nvSpPr>
        <p:spPr>
          <a:xfrm>
            <a:off x="548640" y="2788920"/>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x357|chip|"/>
          <p:cNvSpPr txBox="1"/>
          <p:nvPr/>
        </p:nvSpPr>
        <p:spPr>
          <a:xfrm>
            <a:off x="548640" y="2788920"/>
            <a:ext cx="868680" cy="512064"/>
          </a:xfrm>
          <a:prstGeom prst="rect">
            <a:avLst/>
          </a:prstGeom>
          <a:noFill/>
        </p:spPr>
        <p:txBody>
          <a:bodyPr wrap="square" lIns="0" rIns="0" tIns="0" bIns="0" anchor="ctr">
            <a:noAutofit/>
          </a:bodyPr>
          <a:lstStyle/>
          <a:p>
            <a:pPr algn="ctr"/>
            <a:r>
              <a:rPr sz="1600" b="1">
                <a:solidFill>
                  <a:srgbClr val="0F1419"/>
                </a:solidFill>
                <a:latin typeface="Poppins"/>
              </a:rPr>
              <a:t>A1</a:t>
            </a:r>
          </a:p>
        </p:txBody>
      </p:sp>
      <p:sp>
        <p:nvSpPr>
          <p:cNvPr id="6" name="ax357|body|"/>
          <p:cNvSpPr txBox="1"/>
          <p:nvPr/>
        </p:nvSpPr>
        <p:spPr>
          <a:xfrm>
            <a:off x="1645919" y="2788920"/>
            <a:ext cx="7315200" cy="512064"/>
          </a:xfrm>
          <a:prstGeom prst="rect">
            <a:avLst/>
          </a:prstGeom>
          <a:noFill/>
        </p:spPr>
        <p:txBody>
          <a:bodyPr wrap="square" lIns="0" rIns="0" tIns="0" bIns="0" anchor="ctr">
            <a:noAutofit/>
          </a:bodyPr>
          <a:lstStyle/>
          <a:p>
            <a:pPr algn="l"/>
            <a:r>
              <a:rPr sz="2000" b="0">
                <a:solidFill>
                  <a:srgbClr val="FFFFFF"/>
                </a:solidFill>
                <a:latin typeface="Inter"/>
              </a:rPr>
              <a:t>Payment status by country</a:t>
            </a:r>
          </a:p>
        </p:txBody>
      </p:sp>
      <p:sp>
        <p:nvSpPr>
          <p:cNvPr id="7" name="ax358|chip|"/>
          <p:cNvSpPr/>
          <p:nvPr/>
        </p:nvSpPr>
        <p:spPr>
          <a:xfrm>
            <a:off x="548640" y="3502152"/>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x358|chip|"/>
          <p:cNvSpPr txBox="1"/>
          <p:nvPr/>
        </p:nvSpPr>
        <p:spPr>
          <a:xfrm>
            <a:off x="548640" y="3502152"/>
            <a:ext cx="868680" cy="512064"/>
          </a:xfrm>
          <a:prstGeom prst="rect">
            <a:avLst/>
          </a:prstGeom>
          <a:noFill/>
        </p:spPr>
        <p:txBody>
          <a:bodyPr wrap="square" lIns="0" rIns="0" tIns="0" bIns="0" anchor="ctr">
            <a:noAutofit/>
          </a:bodyPr>
          <a:lstStyle/>
          <a:p>
            <a:pPr algn="ctr"/>
            <a:r>
              <a:rPr sz="1600" b="1">
                <a:solidFill>
                  <a:srgbClr val="0F1419"/>
                </a:solidFill>
                <a:latin typeface="Poppins"/>
              </a:rPr>
              <a:t>A2</a:t>
            </a:r>
          </a:p>
        </p:txBody>
      </p:sp>
      <p:sp>
        <p:nvSpPr>
          <p:cNvPr id="9" name="ax358|body|"/>
          <p:cNvSpPr txBox="1"/>
          <p:nvPr/>
        </p:nvSpPr>
        <p:spPr>
          <a:xfrm>
            <a:off x="1645919" y="3502152"/>
            <a:ext cx="7315200" cy="512064"/>
          </a:xfrm>
          <a:prstGeom prst="rect">
            <a:avLst/>
          </a:prstGeom>
          <a:noFill/>
        </p:spPr>
        <p:txBody>
          <a:bodyPr wrap="square" lIns="0" rIns="0" tIns="0" bIns="0" anchor="ctr">
            <a:noAutofit/>
          </a:bodyPr>
          <a:lstStyle/>
          <a:p>
            <a:pPr algn="l"/>
            <a:r>
              <a:rPr sz="2000" b="0">
                <a:solidFill>
                  <a:srgbClr val="FFFFFF"/>
                </a:solidFill>
                <a:latin typeface="Inter"/>
              </a:rPr>
              <a:t>Frequently asked questions</a:t>
            </a:r>
          </a:p>
        </p:txBody>
      </p:sp>
      <p:sp>
        <p:nvSpPr>
          <p:cNvPr id="10"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11"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5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PAYMENT STATUS</a:t>
            </a:r>
          </a:p>
        </p:txBody>
      </p:sp>
      <p:sp>
        <p:nvSpPr>
          <p:cNvPr id="3" name="hdr35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is live, and what is still pending</a:t>
            </a:r>
          </a:p>
        </p:txBody>
      </p:sp>
      <p:pic>
        <p:nvPicPr>
          <p:cNvPr id="4" name="g360|img|infographics/payment-rails-matrix.png" descr="Table of countries by status: South Africa live, card and EFT; Nigeria, Kenya and Ghana priced, not on sale; other covered countries not open yet; Botswana and Namibia coming soo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6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FAQ (1 OF 2)</a:t>
            </a:r>
          </a:p>
        </p:txBody>
      </p:sp>
      <p:sp>
        <p:nvSpPr>
          <p:cNvPr id="3" name="hdr36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362|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362|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362|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362|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my customers' data safe?</a:t>
            </a:r>
          </a:p>
        </p:txBody>
      </p:sp>
      <p:sp>
        <p:nvSpPr>
          <p:cNvPr id="8" name="faq362|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Row-level security, encrypted tokens, broadcasts only to consented contacts, and data export and account deletion. Fluxmuse is a verified Meta Tech Provider.</a:t>
            </a:r>
          </a:p>
        </p:txBody>
      </p:sp>
      <p:sp>
        <p:nvSpPr>
          <p:cNvPr id="9" name="faq363|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363|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363|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363|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Can I use my own WhatsApp number?</a:t>
            </a:r>
          </a:p>
        </p:txBody>
      </p:sp>
      <p:sp>
        <p:nvSpPr>
          <p:cNvPr id="13" name="faq363|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Yes. We connect your WhatsApp Business number through Meta's official Cloud API setup, with you, by hand.</a:t>
            </a:r>
          </a:p>
        </p:txBody>
      </p:sp>
      <p:sp>
        <p:nvSpPr>
          <p:cNvPr id="14" name="faq364|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364|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364|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364|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How do my customers pay?</a:t>
            </a:r>
          </a:p>
        </p:txBody>
      </p:sp>
      <p:sp>
        <p:nvSpPr>
          <p:cNvPr id="18" name="faq364|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Today, orders arrive as a WhatsApp message and you take payment your usual way. Checkout through FluxMuse, via our payment partners, is being switched on in South Africa.</a:t>
            </a:r>
          </a:p>
        </p:txBody>
      </p:sp>
      <p:sp>
        <p:nvSpPr>
          <p:cNvPr id="19" name="faq365|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365|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365|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365|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trial? Can I cancel?</a:t>
            </a:r>
          </a:p>
        </p:txBody>
      </p:sp>
      <p:sp>
        <p:nvSpPr>
          <p:cNvPr id="23" name="faq365|placeholder|"/>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No trials: every paid plan starts with payment, monthly or annual (10× monthly). Free is a permanent plan. Cancellation terms: [[CONFIRM TERMS]].</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6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FAQ (2 OF 2)</a:t>
            </a:r>
          </a:p>
        </p:txBody>
      </p:sp>
      <p:sp>
        <p:nvSpPr>
          <p:cNvPr id="3" name="hdr36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367|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367|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367|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367|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guarantee?</a:t>
            </a:r>
          </a:p>
        </p:txBody>
      </p:sp>
      <p:sp>
        <p:nvSpPr>
          <p:cNvPr id="8" name="faq367|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A lead guarantee: 3 qualified leads in 30 days of go-live. If fewer, and you shared your link and posted weekly, we keep supporting you free until you reach 3.</a:t>
            </a:r>
          </a:p>
        </p:txBody>
      </p:sp>
      <p:sp>
        <p:nvSpPr>
          <p:cNvPr id="9" name="faq368|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368|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368|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368|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How long does setup take?</a:t>
            </a:r>
          </a:p>
        </p:txBody>
      </p:sp>
      <p:sp>
        <p:nvSpPr>
          <p:cNvPr id="13" name="faq368|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We set you up by hand: WhatsApp number, catalogue from your photos, shop link. We aim for your first week; Meta approvals can stretch it.</a:t>
            </a:r>
          </a:p>
        </p:txBody>
      </p:sp>
      <p:sp>
        <p:nvSpPr>
          <p:cNvPr id="14" name="faq369|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369|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369|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369|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 already use Shopify or WooCommerce.</a:t>
            </a:r>
          </a:p>
        </p:txBody>
      </p:sp>
      <p:sp>
        <p:nvSpPr>
          <p:cNvPr id="18" name="faq369|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Keep them. Sync from Shopify and WooCommerce is being switched on. Until then, we build your catalogue from product photos.</a:t>
            </a:r>
          </a:p>
        </p:txBody>
      </p:sp>
      <p:sp>
        <p:nvSpPr>
          <p:cNvPr id="19" name="faq370|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370|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370|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370|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Where can I buy FluxMuse?</a:t>
            </a:r>
          </a:p>
        </p:txBody>
      </p:sp>
      <p:sp>
        <p:nvSpPr>
          <p:cNvPr id="23" name="faq370|card|"/>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South Africa, today. Nigeria, Kenya and Ghana are priced but not yet on sale. Other countries can join the waitlist.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22</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FluxMuse Partner Programme</dc:title>
  <dc:subject>AI marketing &amp; WhatsApp selling</dc:subject>
  <dc:creator>Fluxmuse (Pty)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