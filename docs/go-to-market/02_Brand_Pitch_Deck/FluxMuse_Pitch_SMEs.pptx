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a conversation about time and control. "FluxMuse gives your team an AI marketing team inside WhatsApp: a shop link built from your photos, an order alert for every sale, and help posting and replying." Confirm who's in the room: owner, marketing, operations. Ask: "Which tools do you use today for social, WhatsApp and orders, and who runs each one?" If they manage brands for clients, they're an agency: use the Partner deck. Facts follow CURRENT_OFFER.md.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business with staff, the problem is usually fragmentation. Posts, chats and orders sit in separate tools, often run by different people. Agency retainers are hard to justify, staff answer WhatsApp by hand, and nobody has a clear view of what sells. On the right is the FluxMuse answer: an AI marketing team in WhatsApp, a catalogue and shop link from product photos, and replies in the customer's language. These features are newly launched (CURRENT_OFFER.md §3). Ask how many tools they pay for today, and who owns each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FluxMuse in one line: an AI marketing team and WhatsApp shop for South African businesses. Be precise about what's live. Live and newly launched: photos to catalogue on WhatsApp, a hosted shop link, order alerts with SOLD, AI captions, images and short clips, and TikTok video posting. Being switched on: checkout through FluxMuse, Facebook and Instagram auto-posting, and AI Voice in beta. Newly launched means built and deployed, but no business has run it end to end yet, so we set you up by hand (CURRENT_OFFER.md §3). Ask whether they already use WhatsApp Business.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FluxMuse works as a loop. Plan: your goals, products and the week ahead. Create: captions, images and short video clips, in your customers' languages. Publish: forward to WhatsApp Status, send broadcasts to contacts who have opted in, and post video to TikTok. Sell: a shop link built from your photos, with every order landing on WhatsApp. Learn: what sold, and what to post next. Facebook and Instagram auto-posting is being switched on, so don't promise it yet (CURRENT_OFFER.md §3). The point is that marketing and selling stop living in separate tools.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pitch. A buyer finds you through a Status post, a QR code or your shop link. The assistant replies in their language. They browse a catalogue built from your photos, fill a cart, and the order lands on your WhatsApp; you reply SOLD to keep track. Be honest about payment: checkout through FluxMuse, via our payment partners, is built but being switched on, because it hasn't been tested with real money. Until then, orders arrive as a WhatsApp message and you take payment your usual way (CURRENT_OFFER.md §3). Broadcasts go only to consented contacts.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platform, with every piece labelled. Solid chips are live and newly launched: WhatsApp Business, Status, TikTok video, consented broadcasts, catalogue from photos, captions, images, clips, voice-note transcription, the shop link and order alerts. Dashed chips are being switched on: Facebook and Instagram posting, AI Voice in beta, checkout through FluxMuse, the daily digest, click-to-WhatsApp ads and Shopify and WooCommerce sync. Instagram DMs and X posting are not available. Labels follow CURRENT_OFFER.md §3. Ask which piece matters most to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SMEs rarely start from zero, so be honest about what connects today. On the left is what's being switched on: sync from Shopify and WooCommerce, which is only partly built, so don't promise it, plus Facebook and Instagram posting, AI Voice in beta and the daily digest. Until sync is on, we build the catalogue from product photos. On the right is what a team can use now: WhatsApp templates and quick replies, several brands on one account, order alerts, consented broadcasts and replies in the customer's language. AI Voice is beta, evaluated together (CURRENT_OFFER.md §3).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straight about payments. FluxMuse is open for paid sign-up in South Africa only, by card and EFT. Checkout through FluxMuse for your buyers is built and being switched on; it hasn't been tested end to end with real money yet. Nigeria, Kenya and Ghana are priced but not on sale. The other tiles are countries we're expanding into via our payment partners, banks and mobile money wallets across 23 African countries; none is open yet. Botswana and Namibia are coming soon. Never name a payment provider or gateway (CURRENT_OFFER.md §3; 00_FACTS §3).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SMEs are retailers, restaurants, e-commerce brands, clinics, property, auto and education businesses with five to 200 staff. The usual story: disconnected tools and agency retainers, WhatsApp handled by hand by busy staff, and no clear view of what sells. FluxMuse puts an AI marketing team on WhatsApp, answers customers in their language, and sends an order alert for every sale. Growth at R1,999 a month is the usual start: three brands and 15 channels. Scale at R4,999 suits multi-brand groups. Founding Members pay R1,399 for the first two Growth bills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we work together. First a discovery call about your goals and products. Then a demo shop built from your own public photos, shown live; that's a demo, not a trial. Once you choose a paid plan, we set you up by hand: WhatsApp Business number, catalogue and shop link. On go-live day the lead guarantee starts: three qualified leads in 30 days, as long as you share your link and post weekly; if not, we keep supporting you at no extra charge. Then weekly check-ins. Goals are agreed together, not promised results (CURRENT_OFFER.md §2).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where we are. FluxMuse is newly launched and has no paying customers or case studies yet. We're opening with a small first group of South African businesses, and we set each one up by hand, with weekly check-ins. That's the offer: close attention, not social proof. It's backed by the lead guarantee: three qualified leads in 30 days of go-live. If fewer arrive, and the business shared its link and posted at least weekly, we keep supporting them at no extra charge until three arrive. It is extra support, never cash back (CURRENT_OFFER.md §2 and §4).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SMEs start on Growth at R1,999 a month: three brands, 15 channels and inbound AI Voice in beta. Single-brand businesses can start on Starter at R499. Multi-brand groups should look at Scale at R4,999: ten brands, 40 channels, and inbound and outbound AI Voice in beta, which we evaluate together. Annual billing is ten times monthly. No trials: every paid plan starts with payment. Founding Members pay 30% less for the first two bills, R1,399 on Growth, until 31 December 2026. Larger groups: Corporate or Custom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same pricing as an editable table, useful when you tailor the deck. It shows all nine plans with monthly and annual prices, where annual is ten times monthly, plus brands and channels. The Founding Member column is 30% off the first two monthly bills, rounded down to whole rands, on every self-serve plan from Nano to Agency until 31 December 2026; Custom is excluded. It doesn't stack with partner pricing: the Agency wholesale price is also R6,999, but it runs every month. If you edit a price, check CURRENT_OFFER.md §1 first, and never add per-plan AI credit numbers.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Founding Member is live now on every self-serve plan until 31 December 2026: 30% off the first two monthly bills. On Growth that's R1,399 instead of R1,999 for two months; on Scale R3,499 instead of R4,999; on Starter R349; on Corporate R4,899. Then the normal price. It's a discount, not a free period. Don't offer bonus months on annual plans or other perks; only the discount is confirmed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matters when you're handling customer chats. Fluxmuse (Pty) Ltd is a verified Meta Tech Provider, with business and access verification, and WhatsApp runs on Meta's official Cloud API. Broadcasts go only to contacts who have opted in, in line with POPIA. Under the hood there's row-level security, encrypted tokens for connected accounts, and data export and account deletion. If they ask for a data processing agreement, a security questionnaire or certifications, don't improvise: note the request and follow up in writing (CURRENT_OFFER.md §4; 00_FACTS §1).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comes next, in order, with no dates. On markets: South Africa is open now, by card and EFT. Next, checkout through FluxMuse, switched on once it's tested end to end with real money. Then Nigeria, Kenya and Ghana, once our payment partners' accounts are live. Later, other markets in US dollars; Botswana and Namibia are coming soon. On product: the partner programme is already live; next come Meta permissions for Facebook and Instagram posting, then social adapters and business app integrations. Timing depends on approvals, so don't give dates (00_FACTS §1 "Roadmap").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one agreed next step and an owner for it. Option one: a 20-minute call with the people who run marketing, sales and operations, to map goals, channels, tools and team. Option two: a demo shop built from their own public photos, shown live. Option three: a tailored proposal for Starter, Growth, Scale or Corporate. Contact is Thabo Malebadi, thabo@fluxmuse.com. Follow up within 24 hours with the deck and a short written summary (CURRENT_OFFER.md §2).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appendix is for questions and follow-up, not the main talk track. It covers payment status by country, partner wholesale pricing where relevant, and the questions prospects ask most. Paid sign-up is open in South Africa only. Nigeria, Kenya and Ghana are priced but not on sale, so don't show local prices or offer checkout there; anyone outside South Africa, including Botswana and Namibia, gets the waitlist link instead: [[WAITLIST LINK]]. Regional price sheets are internal only and are not in customer decks (00_FACTS §2 "Market gating").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shows payment status by country, with no provider names. Only South Africa is open for paid sign-up, by card and EFT. Checkout through FluxMuse for a business's buyers is still being switched on. Nigeria, Kenya and Ghana are priced in local currency but not on sale. The countries marked not open yet are where we're expanding via our payment partners, banks and mobile money wallets across 23 African countries. Botswana and Namibia are coming soon. If asked which provider runs payments, say "our payment partners" (CURRENT_OFFER.md §3; 00_FACTS §3).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answers as written; they follow CURRENT_OFFER.md. On data, stick to the controls listed and don't claim certifications we haven't confirmed. On WhatsApp numbers, a number already used in the WhatsApp Business app may need extra steps, so check it together during setup. On payments, be clear that checkout through FluxMuse is being switched on and hasn't been tested with real money yet. There are no trials, and cancellation terms are still to be confirmed, so promise a written answer rather than improvising.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lead guarantee always comes with its conditions: three qualified leads in 30 days of go-live; if fewer, and the business shared its link and posted at least weekly, we extend support at no extra charge until three arrive. It is never cash back. Setup is by hand, but Meta approvals and catalogue size can stretch it, so set expectations honestly. Store sync is being switched on, so don't promise it. Outside South Africa, share the waitlist link, never prices (CURRENT_OFFER.md §2 and §3).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9.png"/><Relationship Id="rId4" Type="http://schemas.openxmlformats.org/officeDocument/2006/relationships/image" Target="../media/image11.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1.png"/><Relationship Id="rId4" Type="http://schemas.openxmlformats.org/officeDocument/2006/relationships/image" Target="../media/image20.png"/><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image" Target="../media/image24.png"/><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pic>
        <p:nvPicPr>
          <p:cNvPr id="2" name="g165|img|brand/fluxmuse-logo-dark.png" descr="FluxMuse logo"/>
          <p:cNvPicPr>
            <a:picLocks noChangeAspect="1"/>
          </p:cNvPicPr>
          <p:nvPr/>
        </p:nvPicPr>
        <p:blipFill>
          <a:blip r:embed="rId2"/>
          <a:srcRect/>
          <a:stretch>
            <a:fillRect/>
          </a:stretch>
        </p:blipFill>
        <p:spPr>
          <a:xfrm>
            <a:off x="548640" y="502920"/>
            <a:ext cx="2377440" cy="789290"/>
          </a:xfrm>
          <a:prstGeom prst="rect">
            <a:avLst/>
          </a:prstGeom>
        </p:spPr>
      </p:pic>
      <p:sp>
        <p:nvSpPr>
          <p:cNvPr id="3" name="g166|deco|"/>
          <p:cNvSpPr/>
          <p:nvPr/>
        </p:nvSpPr>
        <p:spPr>
          <a:xfrm>
            <a:off x="7818120" y="1143000"/>
            <a:ext cx="3931920" cy="3931920"/>
          </a:xfrm>
          <a:prstGeom prst="ellipse">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g166|img|brand/fluxmuse-icon-512.png" descr="FluxMuse Muse icon"/>
          <p:cNvPicPr>
            <a:picLocks noChangeAspect="1"/>
          </p:cNvPicPr>
          <p:nvPr/>
        </p:nvPicPr>
        <p:blipFill>
          <a:blip r:embed="rId3"/>
          <a:srcRect/>
          <a:stretch>
            <a:fillRect/>
          </a:stretch>
        </p:blipFill>
        <p:spPr>
          <a:xfrm>
            <a:off x="8183879" y="1508760"/>
            <a:ext cx="3200400" cy="3200400"/>
          </a:xfrm>
          <a:prstGeom prst="rect">
            <a:avLst/>
          </a:prstGeom>
        </p:spPr>
      </p:pic>
      <p:sp>
        <p:nvSpPr>
          <p:cNvPr id="5" name="g167|eyebrow|"/>
          <p:cNvSpPr txBox="1"/>
          <p:nvPr/>
        </p:nvSpPr>
        <p:spPr>
          <a:xfrm>
            <a:off x="548640" y="1874519"/>
            <a:ext cx="6949440" cy="274320"/>
          </a:xfrm>
          <a:prstGeom prst="rect">
            <a:avLst/>
          </a:prstGeom>
          <a:noFill/>
        </p:spPr>
        <p:txBody>
          <a:bodyPr wrap="square" lIns="0" rIns="0" tIns="0" bIns="0" anchor="t">
            <a:noAutofit/>
          </a:bodyPr>
          <a:lstStyle/>
          <a:p>
            <a:pPr algn="l"/>
            <a:r>
              <a:rPr sz="1300" b="1" spc="150">
                <a:solidFill>
                  <a:srgbClr val="FF6A00"/>
                </a:solidFill>
                <a:latin typeface="Inter"/>
              </a:rPr>
              <a:t>AI MARKETING &amp; WHATSAPP SELLING</a:t>
            </a:r>
          </a:p>
        </p:txBody>
      </p:sp>
      <p:sp>
        <p:nvSpPr>
          <p:cNvPr id="6" name="g168|title|"/>
          <p:cNvSpPr txBox="1"/>
          <p:nvPr/>
        </p:nvSpPr>
        <p:spPr>
          <a:xfrm>
            <a:off x="548640" y="2212848"/>
            <a:ext cx="7040880" cy="1737360"/>
          </a:xfrm>
          <a:prstGeom prst="rect">
            <a:avLst/>
          </a:prstGeom>
          <a:noFill/>
        </p:spPr>
        <p:txBody>
          <a:bodyPr wrap="square" lIns="0" rIns="0" tIns="0" bIns="0" anchor="t">
            <a:noAutofit/>
          </a:bodyPr>
          <a:lstStyle/>
          <a:p>
            <a:pPr algn="l">
              <a:lnSpc>
                <a:spcPct val="95000"/>
              </a:lnSpc>
            </a:pPr>
            <a:r>
              <a:rPr sz="3800" b="1">
                <a:solidFill>
                  <a:srgbClr val="FFFFFF"/>
                </a:solidFill>
                <a:latin typeface="Poppins"/>
              </a:rPr>
              <a:t>Your AI marketing team.</a:t>
            </a:r>
          </a:p>
          <a:p>
            <a:pPr algn="l">
              <a:lnSpc>
                <a:spcPct val="95000"/>
              </a:lnSpc>
            </a:pPr>
            <a:r>
              <a:rPr sz="3800" b="1">
                <a:solidFill>
                  <a:srgbClr val="FF6A00"/>
                </a:solidFill>
                <a:latin typeface="Poppins"/>
              </a:rPr>
              <a:t>Selling on WhatsApp.</a:t>
            </a:r>
          </a:p>
        </p:txBody>
      </p:sp>
      <p:sp>
        <p:nvSpPr>
          <p:cNvPr id="7" name="g169|body|"/>
          <p:cNvSpPr txBox="1"/>
          <p:nvPr/>
        </p:nvSpPr>
        <p:spPr>
          <a:xfrm>
            <a:off x="548640" y="4023360"/>
            <a:ext cx="6583680" cy="731520"/>
          </a:xfrm>
          <a:prstGeom prst="rect">
            <a:avLst/>
          </a:prstGeom>
          <a:noFill/>
        </p:spPr>
        <p:txBody>
          <a:bodyPr wrap="square" lIns="0" rIns="0" tIns="0" bIns="0" anchor="t">
            <a:noAutofit/>
          </a:bodyPr>
          <a:lstStyle/>
          <a:p>
            <a:pPr algn="l"/>
            <a:r>
              <a:rPr sz="1800" b="0">
                <a:solidFill>
                  <a:srgbClr val="D5DADF"/>
                </a:solidFill>
                <a:latin typeface="Inter"/>
              </a:rPr>
              <a:t>Send photos, get a shop link, and let your AI team help you post and reply. Built for South Africa.</a:t>
            </a:r>
          </a:p>
        </p:txBody>
      </p:sp>
      <p:sp>
        <p:nvSpPr>
          <p:cNvPr id="8" name="g170|placeholder|"/>
          <p:cNvSpPr txBox="1"/>
          <p:nvPr/>
        </p:nvSpPr>
        <p:spPr>
          <a:xfrm>
            <a:off x="548640" y="4983480"/>
            <a:ext cx="6766560" cy="384048"/>
          </a:xfrm>
          <a:prstGeom prst="rect">
            <a:avLst/>
          </a:prstGeom>
          <a:noFill/>
        </p:spPr>
        <p:txBody>
          <a:bodyPr wrap="square" lIns="0" rIns="0" tIns="0" bIns="0" anchor="t">
            <a:noAutofit/>
          </a:bodyPr>
          <a:lstStyle/>
          <a:p>
            <a:pPr algn="l"/>
            <a:r>
              <a:rPr sz="1800" b="0">
                <a:solidFill>
                  <a:srgbClr val="A7B0B8"/>
                </a:solidFill>
                <a:latin typeface="Inter"/>
              </a:rPr>
              <a:t>Prepared for </a:t>
            </a:r>
            <a:r>
              <a:rPr sz="1800" b="1">
                <a:solidFill>
                  <a:srgbClr val="FFFFFF"/>
                </a:solidFill>
                <a:latin typeface="Inter"/>
              </a:rPr>
              <a:t>[[PROSPECT NAME]]</a:t>
            </a:r>
          </a:p>
        </p:txBody>
      </p:sp>
      <p:sp>
        <p:nvSpPr>
          <p:cNvPr id="9" name="g170|placeholder|"/>
          <p:cNvSpPr txBox="1"/>
          <p:nvPr/>
        </p:nvSpPr>
        <p:spPr>
          <a:xfrm>
            <a:off x="548640" y="5413248"/>
            <a:ext cx="6766560" cy="329184"/>
          </a:xfrm>
          <a:prstGeom prst="rect">
            <a:avLst/>
          </a:prstGeom>
          <a:noFill/>
        </p:spPr>
        <p:txBody>
          <a:bodyPr wrap="square" lIns="0" rIns="0" tIns="0" bIns="0" anchor="t">
            <a:noAutofit/>
          </a:bodyPr>
          <a:lstStyle/>
          <a:p>
            <a:pPr algn="l"/>
            <a:r>
              <a:rPr sz="1500" b="0">
                <a:solidFill>
                  <a:srgbClr val="A7B0B8"/>
                </a:solidFill>
                <a:latin typeface="Inter"/>
              </a:rPr>
              <a:t>[[DATE]]  ·  Thabo Malebadi, founder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71|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THE PROBLEM WE SOLVE</a:t>
            </a:r>
          </a:p>
        </p:txBody>
      </p:sp>
      <p:sp>
        <p:nvSpPr>
          <p:cNvPr id="3" name="hdr171|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Marketing and selling, without the patchwork</a:t>
            </a:r>
          </a:p>
        </p:txBody>
      </p:sp>
      <p:pic>
        <p:nvPicPr>
          <p:cNvPr id="4" name="g172|img|infographics/problem-solution.png" descr="Today: disconnected tools, retainers beyond small budgets, orders lost in chats, after-hours messages unanswered. With FluxMuse: an AI marketing team in WhatsApp, paid plans from R149, photos to a catalogue and shop link, answers in the customer's language."/>
          <p:cNvPicPr>
            <a:picLocks noChangeAspect="1"/>
          </p:cNvPicPr>
          <p:nvPr/>
        </p:nvPicPr>
        <p:blipFill>
          <a:blip r:embed="rId2"/>
          <a:srcRect l="2000" t="21000" r="2000" b="15000"/>
          <a:stretch>
            <a:fillRect/>
          </a:stretch>
        </p:blipFill>
        <p:spPr>
          <a:xfrm>
            <a:off x="548640" y="1778565"/>
            <a:ext cx="11094415" cy="4160405"/>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hdr173|eyebrow|"/>
          <p:cNvSpPr txBox="1"/>
          <p:nvPr/>
        </p:nvSpPr>
        <p:spPr>
          <a:xfrm>
            <a:off x="548640" y="1234440"/>
            <a:ext cx="3931920" cy="274320"/>
          </a:xfrm>
          <a:prstGeom prst="rect">
            <a:avLst/>
          </a:prstGeom>
          <a:noFill/>
        </p:spPr>
        <p:txBody>
          <a:bodyPr wrap="square" lIns="0" rIns="0" tIns="0" bIns="0" anchor="t">
            <a:noAutofit/>
          </a:bodyPr>
          <a:lstStyle/>
          <a:p>
            <a:pPr algn="l"/>
            <a:r>
              <a:rPr sz="1200" b="1" spc="150">
                <a:solidFill>
                  <a:srgbClr val="FF6A00"/>
                </a:solidFill>
                <a:latin typeface="Inter"/>
              </a:rPr>
              <a:t>MEET FLUXMUSE</a:t>
            </a:r>
          </a:p>
        </p:txBody>
      </p:sp>
      <p:sp>
        <p:nvSpPr>
          <p:cNvPr id="3" name="hdr173|title|"/>
          <p:cNvSpPr txBox="1"/>
          <p:nvPr/>
        </p:nvSpPr>
        <p:spPr>
          <a:xfrm>
            <a:off x="548640" y="1572768"/>
            <a:ext cx="3931920" cy="2103120"/>
          </a:xfrm>
          <a:prstGeom prst="rect">
            <a:avLst/>
          </a:prstGeom>
          <a:noFill/>
        </p:spPr>
        <p:txBody>
          <a:bodyPr wrap="square" lIns="0" rIns="0" tIns="0" bIns="0" anchor="t">
            <a:noAutofit/>
          </a:bodyPr>
          <a:lstStyle/>
          <a:p>
            <a:pPr algn="l">
              <a:lnSpc>
                <a:spcPct val="95000"/>
              </a:lnSpc>
            </a:pPr>
            <a:r>
              <a:rPr sz="3400" b="1">
                <a:solidFill>
                  <a:srgbClr val="FFFFFF"/>
                </a:solidFill>
                <a:latin typeface="Poppins"/>
              </a:rPr>
              <a:t>One AI team for marketing and sales</a:t>
            </a:r>
          </a:p>
        </p:txBody>
      </p:sp>
      <p:sp>
        <p:nvSpPr>
          <p:cNvPr id="4" name="g174|body|"/>
          <p:cNvSpPr txBox="1"/>
          <p:nvPr/>
        </p:nvSpPr>
        <p:spPr>
          <a:xfrm>
            <a:off x="548640" y="3749039"/>
            <a:ext cx="3749039" cy="914400"/>
          </a:xfrm>
          <a:prstGeom prst="rect">
            <a:avLst/>
          </a:prstGeom>
          <a:noFill/>
        </p:spPr>
        <p:txBody>
          <a:bodyPr wrap="square" lIns="0" rIns="0" tIns="0" bIns="0" anchor="t">
            <a:noAutofit/>
          </a:bodyPr>
          <a:lstStyle/>
          <a:p>
            <a:pPr algn="l"/>
            <a:r>
              <a:rPr sz="1700" b="0">
                <a:solidFill>
                  <a:srgbClr val="D5DADF"/>
                </a:solidFill>
                <a:latin typeface="Inter"/>
              </a:rPr>
              <a:t>AI marketing and a WhatsApp shop, for South African businesses.</a:t>
            </a:r>
          </a:p>
        </p:txBody>
      </p:sp>
      <p:sp>
        <p:nvSpPr>
          <p:cNvPr id="5" name="g175|chip|"/>
          <p:cNvSpPr/>
          <p:nvPr/>
        </p:nvSpPr>
        <p:spPr>
          <a:xfrm>
            <a:off x="548640" y="4892040"/>
            <a:ext cx="3611880" cy="475488"/>
          </a:xfrm>
          <a:prstGeom prst="roundRect">
            <a:avLst>
              <a:gd name="adj" fmla="val 50000"/>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175|chip|"/>
          <p:cNvSpPr txBox="1"/>
          <p:nvPr/>
        </p:nvSpPr>
        <p:spPr>
          <a:xfrm>
            <a:off x="548640" y="4892040"/>
            <a:ext cx="3611880" cy="475488"/>
          </a:xfrm>
          <a:prstGeom prst="rect">
            <a:avLst/>
          </a:prstGeom>
          <a:noFill/>
        </p:spPr>
        <p:txBody>
          <a:bodyPr wrap="square" lIns="0" rIns="0" tIns="0" bIns="0" anchor="ctr">
            <a:noAutofit/>
          </a:bodyPr>
          <a:lstStyle/>
          <a:p>
            <a:pPr algn="ctr"/>
            <a:r>
              <a:rPr sz="1400" b="1">
                <a:solidFill>
                  <a:srgbClr val="0F1419"/>
                </a:solidFill>
                <a:latin typeface="Inter"/>
              </a:rPr>
              <a:t>Set up by hand</a:t>
            </a:r>
          </a:p>
        </p:txBody>
      </p:sp>
      <p:sp>
        <p:nvSpPr>
          <p:cNvPr id="7" name="meet176|card|"/>
          <p:cNvSpPr/>
          <p:nvPr/>
        </p:nvSpPr>
        <p:spPr>
          <a:xfrm>
            <a:off x="4846320" y="1234440"/>
            <a:ext cx="3291840" cy="4572000"/>
          </a:xfrm>
          <a:prstGeom prst="roundRect">
            <a:avLst>
              <a:gd name="adj" fmla="val 5555"/>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eet176|eyebrow|"/>
          <p:cNvSpPr txBox="1"/>
          <p:nvPr/>
        </p:nvSpPr>
        <p:spPr>
          <a:xfrm>
            <a:off x="5120640" y="1463040"/>
            <a:ext cx="2743200" cy="274320"/>
          </a:xfrm>
          <a:prstGeom prst="rect">
            <a:avLst/>
          </a:prstGeom>
          <a:noFill/>
        </p:spPr>
        <p:txBody>
          <a:bodyPr wrap="square" lIns="0" rIns="0" tIns="0" bIns="0" anchor="t">
            <a:noAutofit/>
          </a:bodyPr>
          <a:lstStyle/>
          <a:p>
            <a:pPr algn="l"/>
            <a:r>
              <a:rPr sz="1200" b="1" spc="120">
                <a:solidFill>
                  <a:srgbClr val="FF6A00"/>
                </a:solidFill>
                <a:latin typeface="Inter"/>
              </a:rPr>
              <a:t>LIVE, NEWLY LAUNCHED</a:t>
            </a:r>
          </a:p>
        </p:txBody>
      </p:sp>
      <p:pic>
        <p:nvPicPr>
          <p:cNvPr id="9" name="g177|icon|checkCircle_orange.png" descr="checkCircle_orange"/>
          <p:cNvPicPr>
            <a:picLocks noChangeAspect="1"/>
          </p:cNvPicPr>
          <p:nvPr/>
        </p:nvPicPr>
        <p:blipFill>
          <a:blip r:embed="rId2"/>
          <a:srcRect/>
          <a:stretch>
            <a:fillRect/>
          </a:stretch>
        </p:blipFill>
        <p:spPr>
          <a:xfrm>
            <a:off x="5221224" y="2093975"/>
            <a:ext cx="256032" cy="256032"/>
          </a:xfrm>
          <a:prstGeom prst="rect">
            <a:avLst/>
          </a:prstGeom>
        </p:spPr>
      </p:pic>
      <p:sp>
        <p:nvSpPr>
          <p:cNvPr id="10" name="g177|card|"/>
          <p:cNvSpPr txBox="1"/>
          <p:nvPr/>
        </p:nvSpPr>
        <p:spPr>
          <a:xfrm>
            <a:off x="5715000" y="1965960"/>
            <a:ext cx="2286000" cy="512064"/>
          </a:xfrm>
          <a:prstGeom prst="rect">
            <a:avLst/>
          </a:prstGeom>
          <a:noFill/>
        </p:spPr>
        <p:txBody>
          <a:bodyPr wrap="square" lIns="0" rIns="0" tIns="0" bIns="0" anchor="ctr">
            <a:noAutofit/>
          </a:bodyPr>
          <a:lstStyle/>
          <a:p>
            <a:pPr algn="l"/>
            <a:r>
              <a:rPr sz="1500" b="0">
                <a:solidFill>
                  <a:srgbClr val="FFFFFF"/>
                </a:solidFill>
                <a:latin typeface="Inter"/>
              </a:rPr>
              <a:t>Photos to catalogue</a:t>
            </a:r>
          </a:p>
        </p:txBody>
      </p:sp>
      <p:pic>
        <p:nvPicPr>
          <p:cNvPr id="11" name="g178|icon|checkCircle_orange.png" descr="checkCircle_orange"/>
          <p:cNvPicPr>
            <a:picLocks noChangeAspect="1"/>
          </p:cNvPicPr>
          <p:nvPr/>
        </p:nvPicPr>
        <p:blipFill>
          <a:blip r:embed="rId2"/>
          <a:srcRect/>
          <a:stretch>
            <a:fillRect/>
          </a:stretch>
        </p:blipFill>
        <p:spPr>
          <a:xfrm>
            <a:off x="5221224" y="2807208"/>
            <a:ext cx="256032" cy="256032"/>
          </a:xfrm>
          <a:prstGeom prst="rect">
            <a:avLst/>
          </a:prstGeom>
        </p:spPr>
      </p:pic>
      <p:sp>
        <p:nvSpPr>
          <p:cNvPr id="12" name="g178|card|"/>
          <p:cNvSpPr txBox="1"/>
          <p:nvPr/>
        </p:nvSpPr>
        <p:spPr>
          <a:xfrm>
            <a:off x="5715000" y="2679191"/>
            <a:ext cx="2286000" cy="512064"/>
          </a:xfrm>
          <a:prstGeom prst="rect">
            <a:avLst/>
          </a:prstGeom>
          <a:noFill/>
        </p:spPr>
        <p:txBody>
          <a:bodyPr wrap="square" lIns="0" rIns="0" tIns="0" bIns="0" anchor="ctr">
            <a:noAutofit/>
          </a:bodyPr>
          <a:lstStyle/>
          <a:p>
            <a:pPr algn="l"/>
            <a:r>
              <a:rPr sz="1500" b="0">
                <a:solidFill>
                  <a:srgbClr val="FFFFFF"/>
                </a:solidFill>
                <a:latin typeface="Inter"/>
              </a:rPr>
              <a:t>Shop link</a:t>
            </a:r>
          </a:p>
        </p:txBody>
      </p:sp>
      <p:pic>
        <p:nvPicPr>
          <p:cNvPr id="13" name="g179|icon|checkCircle_orange.png" descr="checkCircle_orange"/>
          <p:cNvPicPr>
            <a:picLocks noChangeAspect="1"/>
          </p:cNvPicPr>
          <p:nvPr/>
        </p:nvPicPr>
        <p:blipFill>
          <a:blip r:embed="rId2"/>
          <a:srcRect/>
          <a:stretch>
            <a:fillRect/>
          </a:stretch>
        </p:blipFill>
        <p:spPr>
          <a:xfrm>
            <a:off x="5221224" y="3520440"/>
            <a:ext cx="256032" cy="256032"/>
          </a:xfrm>
          <a:prstGeom prst="rect">
            <a:avLst/>
          </a:prstGeom>
        </p:spPr>
      </p:pic>
      <p:sp>
        <p:nvSpPr>
          <p:cNvPr id="14" name="g179|card|"/>
          <p:cNvSpPr txBox="1"/>
          <p:nvPr/>
        </p:nvSpPr>
        <p:spPr>
          <a:xfrm>
            <a:off x="5715000" y="3392424"/>
            <a:ext cx="2286000" cy="512064"/>
          </a:xfrm>
          <a:prstGeom prst="rect">
            <a:avLst/>
          </a:prstGeom>
          <a:noFill/>
        </p:spPr>
        <p:txBody>
          <a:bodyPr wrap="square" lIns="0" rIns="0" tIns="0" bIns="0" anchor="ctr">
            <a:noAutofit/>
          </a:bodyPr>
          <a:lstStyle/>
          <a:p>
            <a:pPr algn="l"/>
            <a:r>
              <a:rPr sz="1500" b="0">
                <a:solidFill>
                  <a:srgbClr val="FFFFFF"/>
                </a:solidFill>
                <a:latin typeface="Inter"/>
              </a:rPr>
              <a:t>Order alerts</a:t>
            </a:r>
          </a:p>
        </p:txBody>
      </p:sp>
      <p:pic>
        <p:nvPicPr>
          <p:cNvPr id="15" name="g180|icon|checkCircle_orange.png" descr="checkCircle_orange"/>
          <p:cNvPicPr>
            <a:picLocks noChangeAspect="1"/>
          </p:cNvPicPr>
          <p:nvPr/>
        </p:nvPicPr>
        <p:blipFill>
          <a:blip r:embed="rId2"/>
          <a:srcRect/>
          <a:stretch>
            <a:fillRect/>
          </a:stretch>
        </p:blipFill>
        <p:spPr>
          <a:xfrm>
            <a:off x="5221224" y="4233672"/>
            <a:ext cx="256032" cy="256032"/>
          </a:xfrm>
          <a:prstGeom prst="rect">
            <a:avLst/>
          </a:prstGeom>
        </p:spPr>
      </p:pic>
      <p:sp>
        <p:nvSpPr>
          <p:cNvPr id="16" name="g180|card|"/>
          <p:cNvSpPr txBox="1"/>
          <p:nvPr/>
        </p:nvSpPr>
        <p:spPr>
          <a:xfrm>
            <a:off x="5715000" y="4105656"/>
            <a:ext cx="2286000" cy="512064"/>
          </a:xfrm>
          <a:prstGeom prst="rect">
            <a:avLst/>
          </a:prstGeom>
          <a:noFill/>
        </p:spPr>
        <p:txBody>
          <a:bodyPr wrap="square" lIns="0" rIns="0" tIns="0" bIns="0" anchor="ctr">
            <a:noAutofit/>
          </a:bodyPr>
          <a:lstStyle/>
          <a:p>
            <a:pPr algn="l"/>
            <a:r>
              <a:rPr sz="1500" b="0">
                <a:solidFill>
                  <a:srgbClr val="FFFFFF"/>
                </a:solidFill>
                <a:latin typeface="Inter"/>
              </a:rPr>
              <a:t>AI posts &amp; clips</a:t>
            </a:r>
          </a:p>
        </p:txBody>
      </p:sp>
      <p:pic>
        <p:nvPicPr>
          <p:cNvPr id="17" name="g181|icon|checkCircle_orange.png" descr="checkCircle_orange"/>
          <p:cNvPicPr>
            <a:picLocks noChangeAspect="1"/>
          </p:cNvPicPr>
          <p:nvPr/>
        </p:nvPicPr>
        <p:blipFill>
          <a:blip r:embed="rId2"/>
          <a:srcRect/>
          <a:stretch>
            <a:fillRect/>
          </a:stretch>
        </p:blipFill>
        <p:spPr>
          <a:xfrm>
            <a:off x="5221224" y="4946904"/>
            <a:ext cx="256032" cy="256032"/>
          </a:xfrm>
          <a:prstGeom prst="rect">
            <a:avLst/>
          </a:prstGeom>
        </p:spPr>
      </p:pic>
      <p:sp>
        <p:nvSpPr>
          <p:cNvPr id="18" name="g181|card|"/>
          <p:cNvSpPr txBox="1"/>
          <p:nvPr/>
        </p:nvSpPr>
        <p:spPr>
          <a:xfrm>
            <a:off x="5715000" y="4818888"/>
            <a:ext cx="2286000" cy="512064"/>
          </a:xfrm>
          <a:prstGeom prst="rect">
            <a:avLst/>
          </a:prstGeom>
          <a:noFill/>
        </p:spPr>
        <p:txBody>
          <a:bodyPr wrap="square" lIns="0" rIns="0" tIns="0" bIns="0" anchor="ctr">
            <a:noAutofit/>
          </a:bodyPr>
          <a:lstStyle/>
          <a:p>
            <a:pPr algn="l"/>
            <a:r>
              <a:rPr sz="1500" b="0">
                <a:solidFill>
                  <a:srgbClr val="FFFFFF"/>
                </a:solidFill>
                <a:latin typeface="Inter"/>
              </a:rPr>
              <a:t>TikTok video</a:t>
            </a:r>
          </a:p>
        </p:txBody>
      </p:sp>
      <p:sp>
        <p:nvSpPr>
          <p:cNvPr id="19" name="meet182|card|"/>
          <p:cNvSpPr/>
          <p:nvPr/>
        </p:nvSpPr>
        <p:spPr>
          <a:xfrm>
            <a:off x="8348471" y="1234440"/>
            <a:ext cx="3291840" cy="4572000"/>
          </a:xfrm>
          <a:prstGeom prst="roundRect">
            <a:avLst>
              <a:gd name="adj" fmla="val 5555"/>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eet182|eyebrow|"/>
          <p:cNvSpPr txBox="1"/>
          <p:nvPr/>
        </p:nvSpPr>
        <p:spPr>
          <a:xfrm>
            <a:off x="8622792" y="1463040"/>
            <a:ext cx="2743200" cy="274320"/>
          </a:xfrm>
          <a:prstGeom prst="rect">
            <a:avLst/>
          </a:prstGeom>
          <a:noFill/>
        </p:spPr>
        <p:txBody>
          <a:bodyPr wrap="square" lIns="0" rIns="0" tIns="0" bIns="0" anchor="t">
            <a:noAutofit/>
          </a:bodyPr>
          <a:lstStyle/>
          <a:p>
            <a:pPr algn="l"/>
            <a:r>
              <a:rPr sz="1200" b="1" spc="120">
                <a:solidFill>
                  <a:srgbClr val="A7B0B8"/>
                </a:solidFill>
                <a:latin typeface="Inter"/>
              </a:rPr>
              <a:t>BEING SWITCHED ON</a:t>
            </a:r>
          </a:p>
        </p:txBody>
      </p:sp>
      <p:pic>
        <p:nvPicPr>
          <p:cNvPr id="21" name="g183|icon|clock_white.png" descr="clock_white"/>
          <p:cNvPicPr>
            <a:picLocks noChangeAspect="1"/>
          </p:cNvPicPr>
          <p:nvPr/>
        </p:nvPicPr>
        <p:blipFill>
          <a:blip r:embed="rId3"/>
          <a:srcRect/>
          <a:stretch>
            <a:fillRect/>
          </a:stretch>
        </p:blipFill>
        <p:spPr>
          <a:xfrm>
            <a:off x="8723376" y="2093975"/>
            <a:ext cx="256032" cy="256032"/>
          </a:xfrm>
          <a:prstGeom prst="rect">
            <a:avLst/>
          </a:prstGeom>
        </p:spPr>
      </p:pic>
      <p:sp>
        <p:nvSpPr>
          <p:cNvPr id="22" name="g183|card|"/>
          <p:cNvSpPr txBox="1"/>
          <p:nvPr/>
        </p:nvSpPr>
        <p:spPr>
          <a:xfrm>
            <a:off x="9217151" y="1965960"/>
            <a:ext cx="2286000" cy="512064"/>
          </a:xfrm>
          <a:prstGeom prst="rect">
            <a:avLst/>
          </a:prstGeom>
          <a:noFill/>
        </p:spPr>
        <p:txBody>
          <a:bodyPr wrap="square" lIns="0" rIns="0" tIns="0" bIns="0" anchor="ctr">
            <a:noAutofit/>
          </a:bodyPr>
          <a:lstStyle/>
          <a:p>
            <a:pPr algn="l"/>
            <a:r>
              <a:rPr sz="1500" b="0">
                <a:solidFill>
                  <a:srgbClr val="FFFFFF"/>
                </a:solidFill>
                <a:latin typeface="Inter"/>
              </a:rPr>
              <a:t>Checkout</a:t>
            </a:r>
          </a:p>
        </p:txBody>
      </p:sp>
      <p:pic>
        <p:nvPicPr>
          <p:cNvPr id="23" name="g184|icon|clock_white.png" descr="clock_white"/>
          <p:cNvPicPr>
            <a:picLocks noChangeAspect="1"/>
          </p:cNvPicPr>
          <p:nvPr/>
        </p:nvPicPr>
        <p:blipFill>
          <a:blip r:embed="rId3"/>
          <a:srcRect/>
          <a:stretch>
            <a:fillRect/>
          </a:stretch>
        </p:blipFill>
        <p:spPr>
          <a:xfrm>
            <a:off x="8723376" y="2807208"/>
            <a:ext cx="256032" cy="256032"/>
          </a:xfrm>
          <a:prstGeom prst="rect">
            <a:avLst/>
          </a:prstGeom>
        </p:spPr>
      </p:pic>
      <p:sp>
        <p:nvSpPr>
          <p:cNvPr id="24" name="g184|card|"/>
          <p:cNvSpPr txBox="1"/>
          <p:nvPr/>
        </p:nvSpPr>
        <p:spPr>
          <a:xfrm>
            <a:off x="9217151" y="2679191"/>
            <a:ext cx="2286000" cy="512064"/>
          </a:xfrm>
          <a:prstGeom prst="rect">
            <a:avLst/>
          </a:prstGeom>
          <a:noFill/>
        </p:spPr>
        <p:txBody>
          <a:bodyPr wrap="square" lIns="0" rIns="0" tIns="0" bIns="0" anchor="ctr">
            <a:noAutofit/>
          </a:bodyPr>
          <a:lstStyle/>
          <a:p>
            <a:pPr algn="l"/>
            <a:r>
              <a:rPr sz="1500" b="0">
                <a:solidFill>
                  <a:srgbClr val="FFFFFF"/>
                </a:solidFill>
                <a:latin typeface="Inter"/>
              </a:rPr>
              <a:t>Facebook &amp; Instagram</a:t>
            </a:r>
          </a:p>
        </p:txBody>
      </p:sp>
      <p:pic>
        <p:nvPicPr>
          <p:cNvPr id="25" name="g185|icon|clock_white.png" descr="clock_white"/>
          <p:cNvPicPr>
            <a:picLocks noChangeAspect="1"/>
          </p:cNvPicPr>
          <p:nvPr/>
        </p:nvPicPr>
        <p:blipFill>
          <a:blip r:embed="rId3"/>
          <a:srcRect/>
          <a:stretch>
            <a:fillRect/>
          </a:stretch>
        </p:blipFill>
        <p:spPr>
          <a:xfrm>
            <a:off x="8723376" y="3520440"/>
            <a:ext cx="256032" cy="256032"/>
          </a:xfrm>
          <a:prstGeom prst="rect">
            <a:avLst/>
          </a:prstGeom>
        </p:spPr>
      </p:pic>
      <p:sp>
        <p:nvSpPr>
          <p:cNvPr id="26" name="g185|card|"/>
          <p:cNvSpPr txBox="1"/>
          <p:nvPr/>
        </p:nvSpPr>
        <p:spPr>
          <a:xfrm>
            <a:off x="9217151" y="3392424"/>
            <a:ext cx="2286000" cy="512064"/>
          </a:xfrm>
          <a:prstGeom prst="rect">
            <a:avLst/>
          </a:prstGeom>
          <a:noFill/>
        </p:spPr>
        <p:txBody>
          <a:bodyPr wrap="square" lIns="0" rIns="0" tIns="0" bIns="0" anchor="ctr">
            <a:noAutofit/>
          </a:bodyPr>
          <a:lstStyle/>
          <a:p>
            <a:pPr algn="l"/>
            <a:r>
              <a:rPr sz="1500" b="0">
                <a:solidFill>
                  <a:srgbClr val="FFFFFF"/>
                </a:solidFill>
                <a:latin typeface="Inter"/>
              </a:rPr>
              <a:t>AI Voice (beta)</a:t>
            </a:r>
          </a:p>
        </p:txBody>
      </p:sp>
      <p:sp>
        <p:nvSpPr>
          <p:cNvPr id="27"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A7B0B8"/>
                </a:solidFill>
                <a:latin typeface="Inter"/>
              </a:rPr>
              <a:t>FluxMuse · fluxmuse.ai</a:t>
            </a:r>
          </a:p>
        </p:txBody>
      </p:sp>
      <p:sp>
        <p:nvSpPr>
          <p:cNvPr id="28"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A7B0B8"/>
                </a:solidFill>
                <a:latin typeface="Inter"/>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86|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HOW FLUXMUSE WORKS</a:t>
            </a:r>
          </a:p>
        </p:txBody>
      </p:sp>
      <p:sp>
        <p:nvSpPr>
          <p:cNvPr id="3" name="hdr186|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One loop, run by your AI marketing team</a:t>
            </a:r>
          </a:p>
        </p:txBody>
      </p:sp>
      <p:pic>
        <p:nvPicPr>
          <p:cNvPr id="4" name="g187|img|infographics/how-fluxmuse-works.png" descr="Loop: Plan, Create (captions, images, short clips), Publish (WhatsApp Status, consented broadcasts, TikTok), Sell (shop link from photos, every order on WhatsApp), Learn"/>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88|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WHATSAPP SELLING</a:t>
            </a:r>
          </a:p>
        </p:txBody>
      </p:sp>
      <p:sp>
        <p:nvSpPr>
          <p:cNvPr id="3" name="hdr188|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From first tap to repeat order, on WhatsApp</a:t>
            </a:r>
          </a:p>
        </p:txBody>
      </p:sp>
      <p:pic>
        <p:nvPicPr>
          <p:cNvPr id="4" name="g189|img|infographics/whatsapp-commerce-flow.png" descr="Discover, Chat, Catalog, Cart, Pay (card and EFT in South Africa, being switched on), Order alert, Come back; checkout through FluxMuse not yet tested with real money"/>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90|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PLATFORM</a:t>
            </a:r>
          </a:p>
        </p:txBody>
      </p:sp>
      <p:sp>
        <p:nvSpPr>
          <p:cNvPr id="3" name="hdr190|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Live today, and being switched on</a:t>
            </a:r>
          </a:p>
        </p:txBody>
      </p:sp>
      <p:pic>
        <p:nvPicPr>
          <p:cNvPr id="4" name="g191|img|infographics/platform-stack.png" descr="Six layers: channels, AI team, shop and orders, growth, integrations, trust; each chip marked live, being switched on or not available"/>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192|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YOUR TOOLS &amp; YOUR TEAM</a:t>
            </a:r>
          </a:p>
        </p:txBody>
      </p:sp>
      <p:sp>
        <p:nvSpPr>
          <p:cNvPr id="3" name="hdr192|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Fits how your team already works</a:t>
            </a:r>
          </a:p>
        </p:txBody>
      </p:sp>
      <p:sp>
        <p:nvSpPr>
          <p:cNvPr id="4" name="intg193|card|"/>
          <p:cNvSpPr/>
          <p:nvPr/>
        </p:nvSpPr>
        <p:spPr>
          <a:xfrm>
            <a:off x="548640" y="1536192"/>
            <a:ext cx="5440680" cy="4617720"/>
          </a:xfrm>
          <a:prstGeom prst="roundRect">
            <a:avLst>
              <a:gd name="adj" fmla="val 396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ntg193|deco|"/>
          <p:cNvSpPr/>
          <p:nvPr/>
        </p:nvSpPr>
        <p:spPr>
          <a:xfrm>
            <a:off x="813815" y="1728216"/>
            <a:ext cx="603504" cy="6035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intg193|icon|plug_deep.png" descr="plug_deep"/>
          <p:cNvPicPr>
            <a:picLocks noChangeAspect="1"/>
          </p:cNvPicPr>
          <p:nvPr/>
        </p:nvPicPr>
        <p:blipFill>
          <a:blip r:embed="rId2"/>
          <a:srcRect/>
          <a:stretch>
            <a:fillRect/>
          </a:stretch>
        </p:blipFill>
        <p:spPr>
          <a:xfrm>
            <a:off x="946586" y="1860986"/>
            <a:ext cx="337962" cy="337962"/>
          </a:xfrm>
          <a:prstGeom prst="rect">
            <a:avLst/>
          </a:prstGeom>
        </p:spPr>
      </p:pic>
      <p:sp>
        <p:nvSpPr>
          <p:cNvPr id="7" name="intg193|card|"/>
          <p:cNvSpPr txBox="1"/>
          <p:nvPr/>
        </p:nvSpPr>
        <p:spPr>
          <a:xfrm>
            <a:off x="1554480" y="1801368"/>
            <a:ext cx="4114800" cy="457200"/>
          </a:xfrm>
          <a:prstGeom prst="rect">
            <a:avLst/>
          </a:prstGeom>
          <a:noFill/>
        </p:spPr>
        <p:txBody>
          <a:bodyPr wrap="square" lIns="0" rIns="0" tIns="0" bIns="0" anchor="t">
            <a:noAutofit/>
          </a:bodyPr>
          <a:lstStyle/>
          <a:p>
            <a:pPr algn="l"/>
            <a:r>
              <a:rPr sz="2000" b="1">
                <a:solidFill>
                  <a:srgbClr val="20242B"/>
                </a:solidFill>
                <a:latin typeface="Poppins"/>
              </a:rPr>
              <a:t>Being switched on</a:t>
            </a:r>
          </a:p>
        </p:txBody>
      </p:sp>
      <p:sp>
        <p:nvSpPr>
          <p:cNvPr id="8" name="g194|chip|"/>
          <p:cNvSpPr/>
          <p:nvPr/>
        </p:nvSpPr>
        <p:spPr>
          <a:xfrm>
            <a:off x="868680" y="2651760"/>
            <a:ext cx="2286000" cy="548640"/>
          </a:xfrm>
          <a:prstGeom prst="roundRect">
            <a:avLst>
              <a:gd name="adj" fmla="val 50000"/>
            </a:avLst>
          </a:prstGeom>
          <a:solidFill>
            <a:srgbClr val="FFFFFF"/>
          </a:solidFill>
          <a:ln w="12700">
            <a:solidFill>
              <a:srgbClr val="5B66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194|chip|"/>
          <p:cNvSpPr txBox="1"/>
          <p:nvPr/>
        </p:nvSpPr>
        <p:spPr>
          <a:xfrm>
            <a:off x="868680" y="2651760"/>
            <a:ext cx="2286000" cy="548640"/>
          </a:xfrm>
          <a:prstGeom prst="rect">
            <a:avLst/>
          </a:prstGeom>
          <a:noFill/>
        </p:spPr>
        <p:txBody>
          <a:bodyPr wrap="square" lIns="0" rIns="0" tIns="0" bIns="0" anchor="ctr">
            <a:noAutofit/>
          </a:bodyPr>
          <a:lstStyle/>
          <a:p>
            <a:pPr algn="ctr"/>
            <a:r>
              <a:rPr sz="1400" b="1">
                <a:solidFill>
                  <a:srgbClr val="20242B"/>
                </a:solidFill>
                <a:latin typeface="Inter"/>
              </a:rPr>
              <a:t>Shopify sync</a:t>
            </a:r>
          </a:p>
        </p:txBody>
      </p:sp>
      <p:sp>
        <p:nvSpPr>
          <p:cNvPr id="10" name="g195|chip|"/>
          <p:cNvSpPr/>
          <p:nvPr/>
        </p:nvSpPr>
        <p:spPr>
          <a:xfrm>
            <a:off x="3337560" y="2651760"/>
            <a:ext cx="2286000" cy="548640"/>
          </a:xfrm>
          <a:prstGeom prst="roundRect">
            <a:avLst>
              <a:gd name="adj" fmla="val 50000"/>
            </a:avLst>
          </a:prstGeom>
          <a:solidFill>
            <a:srgbClr val="FFFFFF"/>
          </a:solidFill>
          <a:ln w="12700">
            <a:solidFill>
              <a:srgbClr val="5B66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195|chip|"/>
          <p:cNvSpPr txBox="1"/>
          <p:nvPr/>
        </p:nvSpPr>
        <p:spPr>
          <a:xfrm>
            <a:off x="3337560" y="2651760"/>
            <a:ext cx="2286000" cy="548640"/>
          </a:xfrm>
          <a:prstGeom prst="rect">
            <a:avLst/>
          </a:prstGeom>
          <a:noFill/>
        </p:spPr>
        <p:txBody>
          <a:bodyPr wrap="square" lIns="0" rIns="0" tIns="0" bIns="0" anchor="ctr">
            <a:noAutofit/>
          </a:bodyPr>
          <a:lstStyle/>
          <a:p>
            <a:pPr algn="ctr"/>
            <a:r>
              <a:rPr sz="1400" b="1">
                <a:solidFill>
                  <a:srgbClr val="20242B"/>
                </a:solidFill>
                <a:latin typeface="Inter"/>
              </a:rPr>
              <a:t>WooCommerce sync</a:t>
            </a:r>
          </a:p>
        </p:txBody>
      </p:sp>
      <p:sp>
        <p:nvSpPr>
          <p:cNvPr id="12" name="g196|chip|"/>
          <p:cNvSpPr/>
          <p:nvPr/>
        </p:nvSpPr>
        <p:spPr>
          <a:xfrm>
            <a:off x="868680" y="3383280"/>
            <a:ext cx="2286000" cy="548640"/>
          </a:xfrm>
          <a:prstGeom prst="roundRect">
            <a:avLst>
              <a:gd name="adj" fmla="val 50000"/>
            </a:avLst>
          </a:prstGeom>
          <a:solidFill>
            <a:srgbClr val="FFFFFF"/>
          </a:solidFill>
          <a:ln w="12700">
            <a:solidFill>
              <a:srgbClr val="5B66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196|chip|"/>
          <p:cNvSpPr txBox="1"/>
          <p:nvPr/>
        </p:nvSpPr>
        <p:spPr>
          <a:xfrm>
            <a:off x="868680" y="3383280"/>
            <a:ext cx="2286000" cy="548640"/>
          </a:xfrm>
          <a:prstGeom prst="rect">
            <a:avLst/>
          </a:prstGeom>
          <a:noFill/>
        </p:spPr>
        <p:txBody>
          <a:bodyPr wrap="square" lIns="0" rIns="0" tIns="0" bIns="0" anchor="ctr">
            <a:noAutofit/>
          </a:bodyPr>
          <a:lstStyle/>
          <a:p>
            <a:pPr algn="ctr"/>
            <a:r>
              <a:rPr sz="1400" b="1">
                <a:solidFill>
                  <a:srgbClr val="20242B"/>
                </a:solidFill>
                <a:latin typeface="Inter"/>
              </a:rPr>
              <a:t>FB/Instagram posts</a:t>
            </a:r>
          </a:p>
        </p:txBody>
      </p:sp>
      <p:sp>
        <p:nvSpPr>
          <p:cNvPr id="14" name="g197|chip|"/>
          <p:cNvSpPr/>
          <p:nvPr/>
        </p:nvSpPr>
        <p:spPr>
          <a:xfrm>
            <a:off x="3337560" y="3383280"/>
            <a:ext cx="2286000" cy="548640"/>
          </a:xfrm>
          <a:prstGeom prst="roundRect">
            <a:avLst>
              <a:gd name="adj" fmla="val 50000"/>
            </a:avLst>
          </a:prstGeom>
          <a:solidFill>
            <a:srgbClr val="FFFFFF"/>
          </a:solidFill>
          <a:ln w="12700">
            <a:solidFill>
              <a:srgbClr val="5B66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197|chip|"/>
          <p:cNvSpPr txBox="1"/>
          <p:nvPr/>
        </p:nvSpPr>
        <p:spPr>
          <a:xfrm>
            <a:off x="3337560" y="3383280"/>
            <a:ext cx="2286000" cy="548640"/>
          </a:xfrm>
          <a:prstGeom prst="rect">
            <a:avLst/>
          </a:prstGeom>
          <a:noFill/>
        </p:spPr>
        <p:txBody>
          <a:bodyPr wrap="square" lIns="0" rIns="0" tIns="0" bIns="0" anchor="ctr">
            <a:noAutofit/>
          </a:bodyPr>
          <a:lstStyle/>
          <a:p>
            <a:pPr algn="ctr"/>
            <a:r>
              <a:rPr sz="1400" b="1">
                <a:solidFill>
                  <a:srgbClr val="20242B"/>
                </a:solidFill>
                <a:latin typeface="Inter"/>
              </a:rPr>
              <a:t>AI Voice (beta)</a:t>
            </a:r>
          </a:p>
        </p:txBody>
      </p:sp>
      <p:sp>
        <p:nvSpPr>
          <p:cNvPr id="16" name="g198|chip|"/>
          <p:cNvSpPr/>
          <p:nvPr/>
        </p:nvSpPr>
        <p:spPr>
          <a:xfrm>
            <a:off x="868680" y="4114800"/>
            <a:ext cx="2286000" cy="548640"/>
          </a:xfrm>
          <a:prstGeom prst="roundRect">
            <a:avLst>
              <a:gd name="adj" fmla="val 50000"/>
            </a:avLst>
          </a:prstGeom>
          <a:solidFill>
            <a:srgbClr val="FFFFFF"/>
          </a:solidFill>
          <a:ln w="12700">
            <a:solidFill>
              <a:srgbClr val="5B66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g198|chip|"/>
          <p:cNvSpPr txBox="1"/>
          <p:nvPr/>
        </p:nvSpPr>
        <p:spPr>
          <a:xfrm>
            <a:off x="868680" y="4114800"/>
            <a:ext cx="2286000" cy="548640"/>
          </a:xfrm>
          <a:prstGeom prst="rect">
            <a:avLst/>
          </a:prstGeom>
          <a:noFill/>
        </p:spPr>
        <p:txBody>
          <a:bodyPr wrap="square" lIns="0" rIns="0" tIns="0" bIns="0" anchor="ctr">
            <a:noAutofit/>
          </a:bodyPr>
          <a:lstStyle/>
          <a:p>
            <a:pPr algn="ctr"/>
            <a:r>
              <a:rPr sz="1400" b="1">
                <a:solidFill>
                  <a:srgbClr val="20242B"/>
                </a:solidFill>
                <a:latin typeface="Inter"/>
              </a:rPr>
              <a:t>Daily digest</a:t>
            </a:r>
          </a:p>
        </p:txBody>
      </p:sp>
      <p:sp>
        <p:nvSpPr>
          <p:cNvPr id="18" name="intg193|caption|"/>
          <p:cNvSpPr txBox="1"/>
          <p:nvPr/>
        </p:nvSpPr>
        <p:spPr>
          <a:xfrm>
            <a:off x="868680" y="4983480"/>
            <a:ext cx="4846320" cy="822960"/>
          </a:xfrm>
          <a:prstGeom prst="rect">
            <a:avLst/>
          </a:prstGeom>
          <a:noFill/>
        </p:spPr>
        <p:txBody>
          <a:bodyPr wrap="square" lIns="0" rIns="0" tIns="0" bIns="0" anchor="t">
            <a:noAutofit/>
          </a:bodyPr>
          <a:lstStyle/>
          <a:p>
            <a:pPr algn="l"/>
            <a:r>
              <a:rPr sz="1300" b="0">
                <a:solidFill>
                  <a:srgbClr val="5B6670"/>
                </a:solidFill>
                <a:latin typeface="Inter"/>
              </a:rPr>
              <a:t>Until sync is on, we build your catalogue from product photos.</a:t>
            </a:r>
          </a:p>
        </p:txBody>
      </p:sp>
      <p:sp>
        <p:nvSpPr>
          <p:cNvPr id="19" name="team199|card|"/>
          <p:cNvSpPr/>
          <p:nvPr/>
        </p:nvSpPr>
        <p:spPr>
          <a:xfrm>
            <a:off x="6199632" y="1536192"/>
            <a:ext cx="5440680" cy="4617720"/>
          </a:xfrm>
          <a:prstGeom prst="roundRect">
            <a:avLst>
              <a:gd name="adj" fmla="val 3960"/>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am199|deco|"/>
          <p:cNvSpPr/>
          <p:nvPr/>
        </p:nvSpPr>
        <p:spPr>
          <a:xfrm>
            <a:off x="6464808" y="1728216"/>
            <a:ext cx="603504" cy="60350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team199|icon|users_deep.png" descr="users_deep"/>
          <p:cNvPicPr>
            <a:picLocks noChangeAspect="1"/>
          </p:cNvPicPr>
          <p:nvPr/>
        </p:nvPicPr>
        <p:blipFill>
          <a:blip r:embed="rId3"/>
          <a:srcRect/>
          <a:stretch>
            <a:fillRect/>
          </a:stretch>
        </p:blipFill>
        <p:spPr>
          <a:xfrm>
            <a:off x="6597578" y="1860986"/>
            <a:ext cx="337962" cy="337962"/>
          </a:xfrm>
          <a:prstGeom prst="rect">
            <a:avLst/>
          </a:prstGeom>
        </p:spPr>
      </p:pic>
      <p:sp>
        <p:nvSpPr>
          <p:cNvPr id="22" name="team199|card|"/>
          <p:cNvSpPr txBox="1"/>
          <p:nvPr/>
        </p:nvSpPr>
        <p:spPr>
          <a:xfrm>
            <a:off x="7205472" y="1801368"/>
            <a:ext cx="4114800" cy="457200"/>
          </a:xfrm>
          <a:prstGeom prst="rect">
            <a:avLst/>
          </a:prstGeom>
          <a:noFill/>
        </p:spPr>
        <p:txBody>
          <a:bodyPr wrap="square" lIns="0" rIns="0" tIns="0" bIns="0" anchor="t">
            <a:noAutofit/>
          </a:bodyPr>
          <a:lstStyle/>
          <a:p>
            <a:pPr algn="l"/>
            <a:r>
              <a:rPr sz="2000" b="1">
                <a:solidFill>
                  <a:srgbClr val="20242B"/>
                </a:solidFill>
                <a:latin typeface="Poppins"/>
              </a:rPr>
              <a:t>Live now</a:t>
            </a:r>
          </a:p>
        </p:txBody>
      </p:sp>
      <p:sp>
        <p:nvSpPr>
          <p:cNvPr id="23" name="g200|deco|"/>
          <p:cNvSpPr/>
          <p:nvPr/>
        </p:nvSpPr>
        <p:spPr>
          <a:xfrm>
            <a:off x="6537960" y="269748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g200|icon|chat_deep.png" descr="chat_deep"/>
          <p:cNvPicPr>
            <a:picLocks noChangeAspect="1"/>
          </p:cNvPicPr>
          <p:nvPr/>
        </p:nvPicPr>
        <p:blipFill>
          <a:blip r:embed="rId4"/>
          <a:srcRect/>
          <a:stretch>
            <a:fillRect/>
          </a:stretch>
        </p:blipFill>
        <p:spPr>
          <a:xfrm>
            <a:off x="6638544" y="2798064"/>
            <a:ext cx="256032" cy="256032"/>
          </a:xfrm>
          <a:prstGeom prst="rect">
            <a:avLst/>
          </a:prstGeom>
        </p:spPr>
      </p:pic>
      <p:sp>
        <p:nvSpPr>
          <p:cNvPr id="25" name="g200|body|"/>
          <p:cNvSpPr txBox="1"/>
          <p:nvPr/>
        </p:nvSpPr>
        <p:spPr>
          <a:xfrm>
            <a:off x="7178040" y="2670048"/>
            <a:ext cx="4297680" cy="512064"/>
          </a:xfrm>
          <a:prstGeom prst="rect">
            <a:avLst/>
          </a:prstGeom>
          <a:noFill/>
        </p:spPr>
        <p:txBody>
          <a:bodyPr wrap="square" lIns="0" rIns="0" tIns="0" bIns="0" anchor="ctr">
            <a:noAutofit/>
          </a:bodyPr>
          <a:lstStyle/>
          <a:p>
            <a:pPr algn="l"/>
            <a:r>
              <a:rPr sz="1600" b="0">
                <a:solidFill>
                  <a:srgbClr val="20242B"/>
                </a:solidFill>
                <a:latin typeface="Inter"/>
              </a:rPr>
              <a:t>Templates &amp; quick replies</a:t>
            </a:r>
          </a:p>
        </p:txBody>
      </p:sp>
      <p:sp>
        <p:nvSpPr>
          <p:cNvPr id="26" name="g201|deco|"/>
          <p:cNvSpPr/>
          <p:nvPr/>
        </p:nvSpPr>
        <p:spPr>
          <a:xfrm>
            <a:off x="6537960" y="335584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g201|icon|layers_deep.png" descr="layers_deep"/>
          <p:cNvPicPr>
            <a:picLocks noChangeAspect="1"/>
          </p:cNvPicPr>
          <p:nvPr/>
        </p:nvPicPr>
        <p:blipFill>
          <a:blip r:embed="rId5"/>
          <a:srcRect/>
          <a:stretch>
            <a:fillRect/>
          </a:stretch>
        </p:blipFill>
        <p:spPr>
          <a:xfrm>
            <a:off x="6638544" y="3456432"/>
            <a:ext cx="256032" cy="256032"/>
          </a:xfrm>
          <a:prstGeom prst="rect">
            <a:avLst/>
          </a:prstGeom>
        </p:spPr>
      </p:pic>
      <p:sp>
        <p:nvSpPr>
          <p:cNvPr id="28" name="g201|body|"/>
          <p:cNvSpPr txBox="1"/>
          <p:nvPr/>
        </p:nvSpPr>
        <p:spPr>
          <a:xfrm>
            <a:off x="7178040" y="3328415"/>
            <a:ext cx="4297680" cy="512064"/>
          </a:xfrm>
          <a:prstGeom prst="rect">
            <a:avLst/>
          </a:prstGeom>
          <a:noFill/>
        </p:spPr>
        <p:txBody>
          <a:bodyPr wrap="square" lIns="0" rIns="0" tIns="0" bIns="0" anchor="ctr">
            <a:noAutofit/>
          </a:bodyPr>
          <a:lstStyle/>
          <a:p>
            <a:pPr algn="l"/>
            <a:r>
              <a:rPr sz="1600" b="0">
                <a:solidFill>
                  <a:srgbClr val="20242B"/>
                </a:solidFill>
                <a:latin typeface="Inter"/>
              </a:rPr>
              <a:t>10 brands (Scale)</a:t>
            </a:r>
          </a:p>
        </p:txBody>
      </p:sp>
      <p:sp>
        <p:nvSpPr>
          <p:cNvPr id="29" name="g202|deco|"/>
          <p:cNvSpPr/>
          <p:nvPr/>
        </p:nvSpPr>
        <p:spPr>
          <a:xfrm>
            <a:off x="6537960" y="4014215"/>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g202|icon|bag_deep.png" descr="bag_deep"/>
          <p:cNvPicPr>
            <a:picLocks noChangeAspect="1"/>
          </p:cNvPicPr>
          <p:nvPr/>
        </p:nvPicPr>
        <p:blipFill>
          <a:blip r:embed="rId6"/>
          <a:srcRect/>
          <a:stretch>
            <a:fillRect/>
          </a:stretch>
        </p:blipFill>
        <p:spPr>
          <a:xfrm>
            <a:off x="6638544" y="4114800"/>
            <a:ext cx="256032" cy="256032"/>
          </a:xfrm>
          <a:prstGeom prst="rect">
            <a:avLst/>
          </a:prstGeom>
        </p:spPr>
      </p:pic>
      <p:sp>
        <p:nvSpPr>
          <p:cNvPr id="31" name="g202|body|"/>
          <p:cNvSpPr txBox="1"/>
          <p:nvPr/>
        </p:nvSpPr>
        <p:spPr>
          <a:xfrm>
            <a:off x="7178040" y="3986783"/>
            <a:ext cx="4297680" cy="512064"/>
          </a:xfrm>
          <a:prstGeom prst="rect">
            <a:avLst/>
          </a:prstGeom>
          <a:noFill/>
        </p:spPr>
        <p:txBody>
          <a:bodyPr wrap="square" lIns="0" rIns="0" tIns="0" bIns="0" anchor="ctr">
            <a:noAutofit/>
          </a:bodyPr>
          <a:lstStyle/>
          <a:p>
            <a:pPr algn="l"/>
            <a:r>
              <a:rPr sz="1600" b="0">
                <a:solidFill>
                  <a:srgbClr val="20242B"/>
                </a:solidFill>
                <a:latin typeface="Inter"/>
              </a:rPr>
              <a:t>Order alerts</a:t>
            </a:r>
          </a:p>
        </p:txBody>
      </p:sp>
      <p:sp>
        <p:nvSpPr>
          <p:cNvPr id="32" name="g203|deco|"/>
          <p:cNvSpPr/>
          <p:nvPr/>
        </p:nvSpPr>
        <p:spPr>
          <a:xfrm>
            <a:off x="6537960" y="4672584"/>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g203|icon|send_deep.png" descr="send_deep"/>
          <p:cNvPicPr>
            <a:picLocks noChangeAspect="1"/>
          </p:cNvPicPr>
          <p:nvPr/>
        </p:nvPicPr>
        <p:blipFill>
          <a:blip r:embed="rId7"/>
          <a:srcRect/>
          <a:stretch>
            <a:fillRect/>
          </a:stretch>
        </p:blipFill>
        <p:spPr>
          <a:xfrm>
            <a:off x="6638544" y="4773168"/>
            <a:ext cx="256032" cy="256032"/>
          </a:xfrm>
          <a:prstGeom prst="rect">
            <a:avLst/>
          </a:prstGeom>
        </p:spPr>
      </p:pic>
      <p:sp>
        <p:nvSpPr>
          <p:cNvPr id="34" name="g203|body|"/>
          <p:cNvSpPr txBox="1"/>
          <p:nvPr/>
        </p:nvSpPr>
        <p:spPr>
          <a:xfrm>
            <a:off x="7178040" y="4645152"/>
            <a:ext cx="4297680" cy="512064"/>
          </a:xfrm>
          <a:prstGeom prst="rect">
            <a:avLst/>
          </a:prstGeom>
          <a:noFill/>
        </p:spPr>
        <p:txBody>
          <a:bodyPr wrap="square" lIns="0" rIns="0" tIns="0" bIns="0" anchor="ctr">
            <a:noAutofit/>
          </a:bodyPr>
          <a:lstStyle/>
          <a:p>
            <a:pPr algn="l"/>
            <a:r>
              <a:rPr sz="1600" b="0">
                <a:solidFill>
                  <a:srgbClr val="20242B"/>
                </a:solidFill>
                <a:latin typeface="Inter"/>
              </a:rPr>
              <a:t>Consented broadcasts</a:t>
            </a:r>
          </a:p>
        </p:txBody>
      </p:sp>
      <p:sp>
        <p:nvSpPr>
          <p:cNvPr id="35" name="g204|deco|"/>
          <p:cNvSpPr/>
          <p:nvPr/>
        </p:nvSpPr>
        <p:spPr>
          <a:xfrm>
            <a:off x="6537960" y="5330952"/>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g204|icon|globe_deep.png" descr="globe_deep"/>
          <p:cNvPicPr>
            <a:picLocks noChangeAspect="1"/>
          </p:cNvPicPr>
          <p:nvPr/>
        </p:nvPicPr>
        <p:blipFill>
          <a:blip r:embed="rId8"/>
          <a:srcRect/>
          <a:stretch>
            <a:fillRect/>
          </a:stretch>
        </p:blipFill>
        <p:spPr>
          <a:xfrm>
            <a:off x="6638544" y="5431536"/>
            <a:ext cx="256032" cy="256032"/>
          </a:xfrm>
          <a:prstGeom prst="rect">
            <a:avLst/>
          </a:prstGeom>
        </p:spPr>
      </p:pic>
      <p:sp>
        <p:nvSpPr>
          <p:cNvPr id="37" name="g204|body|"/>
          <p:cNvSpPr txBox="1"/>
          <p:nvPr/>
        </p:nvSpPr>
        <p:spPr>
          <a:xfrm>
            <a:off x="7178040" y="5303520"/>
            <a:ext cx="4297680" cy="512064"/>
          </a:xfrm>
          <a:prstGeom prst="rect">
            <a:avLst/>
          </a:prstGeom>
          <a:noFill/>
        </p:spPr>
        <p:txBody>
          <a:bodyPr wrap="square" lIns="0" rIns="0" tIns="0" bIns="0" anchor="ctr">
            <a:noAutofit/>
          </a:bodyPr>
          <a:lstStyle/>
          <a:p>
            <a:pPr algn="l"/>
            <a:r>
              <a:rPr sz="1600" b="0">
                <a:solidFill>
                  <a:srgbClr val="20242B"/>
                </a:solidFill>
                <a:latin typeface="Inter"/>
              </a:rPr>
              <a:t>Replies in their language</a:t>
            </a:r>
          </a:p>
        </p:txBody>
      </p:sp>
      <p:sp>
        <p:nvSpPr>
          <p:cNvPr id="38"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39"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05|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PAYMENTS COVERAGE</a:t>
            </a:r>
          </a:p>
        </p:txBody>
      </p:sp>
      <p:sp>
        <p:nvSpPr>
          <p:cNvPr id="3" name="hdr205|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Live in South Africa. The rest is pending.</a:t>
            </a:r>
          </a:p>
        </p:txBody>
      </p:sp>
      <p:pic>
        <p:nvPicPr>
          <p:cNvPr id="4" name="g206|img|infographics/payment-coverage-map.png" descr="Tile map by country status: South Africa live, paid sign-up by card and EFT; Nigeria, Kenya and Ghana priced, not on sale; 19 more countries in our payment partners' reach, not open yet; Botswana and Namibia coming soon"/>
          <p:cNvPicPr>
            <a:picLocks noChangeAspect="1"/>
          </p:cNvPicPr>
          <p:nvPr/>
        </p:nvPicPr>
        <p:blipFill>
          <a:blip r:embed="rId2"/>
          <a:srcRect t="20500"/>
          <a:stretch>
            <a:fillRect/>
          </a:stretch>
        </p:blipFill>
        <p:spPr>
          <a:xfrm>
            <a:off x="574941" y="1389888"/>
            <a:ext cx="11041811"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07|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LAUNCH SEGMENT · SMES</a:t>
            </a:r>
          </a:p>
        </p:txBody>
      </p:sp>
      <p:sp>
        <p:nvSpPr>
          <p:cNvPr id="3" name="hdr207|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SMEs: 5–200 staff</a:t>
            </a:r>
          </a:p>
        </p:txBody>
      </p:sp>
      <p:pic>
        <p:nvPicPr>
          <p:cNvPr id="4" name="g208|img|infographics/segment-sme.png" descr="SMEs: three pains, three newly launched answers, Growth R1,999 a month, Founding Member R1,399 for the first two bills"/>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09|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WORKING WITH FLUXMUSE</a:t>
            </a:r>
          </a:p>
        </p:txBody>
      </p:sp>
      <p:sp>
        <p:nvSpPr>
          <p:cNvPr id="3" name="hdr209|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From first call to your first orders</a:t>
            </a:r>
          </a:p>
        </p:txBody>
      </p:sp>
      <p:pic>
        <p:nvPicPr>
          <p:cNvPr id="4" name="g210|img|infographics/brand-engagement-journey.png" descr="Discovery call, demo on your products, set up by hand, go live (lead guarantee starts), weekly check-ins, keep growing; measures agreed together"/>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11|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OUR FIRST GROUP OF BUSINESSES</a:t>
            </a:r>
          </a:p>
        </p:txBody>
      </p:sp>
      <p:sp>
        <p:nvSpPr>
          <p:cNvPr id="3" name="hdr211|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Starting small, set up by hand</a:t>
            </a:r>
          </a:p>
        </p:txBody>
      </p:sp>
      <p:sp>
        <p:nvSpPr>
          <p:cNvPr id="4" name="fg212|card|"/>
          <p:cNvSpPr/>
          <p:nvPr/>
        </p:nvSpPr>
        <p:spPr>
          <a:xfrm>
            <a:off x="548640" y="1536192"/>
            <a:ext cx="5440680" cy="4617720"/>
          </a:xfrm>
          <a:prstGeom prst="roundRect">
            <a:avLst>
              <a:gd name="adj" fmla="val 396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g212|card|"/>
          <p:cNvSpPr txBox="1"/>
          <p:nvPr/>
        </p:nvSpPr>
        <p:spPr>
          <a:xfrm>
            <a:off x="914400" y="1810512"/>
            <a:ext cx="4663440" cy="457200"/>
          </a:xfrm>
          <a:prstGeom prst="rect">
            <a:avLst/>
          </a:prstGeom>
          <a:noFill/>
        </p:spPr>
        <p:txBody>
          <a:bodyPr wrap="square" lIns="0" rIns="0" tIns="0" bIns="0" anchor="t">
            <a:noAutofit/>
          </a:bodyPr>
          <a:lstStyle/>
          <a:p>
            <a:pPr algn="l"/>
            <a:r>
              <a:rPr sz="2200" b="1">
                <a:solidFill>
                  <a:srgbClr val="20242B"/>
                </a:solidFill>
                <a:latin typeface="Poppins"/>
              </a:rPr>
              <a:t>A small first group</a:t>
            </a:r>
          </a:p>
        </p:txBody>
      </p:sp>
      <p:sp>
        <p:nvSpPr>
          <p:cNvPr id="6" name="g213|deco|"/>
          <p:cNvSpPr/>
          <p:nvPr/>
        </p:nvSpPr>
        <p:spPr>
          <a:xfrm>
            <a:off x="914400" y="2587752"/>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g213|icon|users_deep.png" descr="users_deep"/>
          <p:cNvPicPr>
            <a:picLocks noChangeAspect="1"/>
          </p:cNvPicPr>
          <p:nvPr/>
        </p:nvPicPr>
        <p:blipFill>
          <a:blip r:embed="rId2"/>
          <a:srcRect/>
          <a:stretch>
            <a:fillRect/>
          </a:stretch>
        </p:blipFill>
        <p:spPr>
          <a:xfrm>
            <a:off x="1027054" y="2700406"/>
            <a:ext cx="286755" cy="286755"/>
          </a:xfrm>
          <a:prstGeom prst="rect">
            <a:avLst/>
          </a:prstGeom>
        </p:spPr>
      </p:pic>
      <p:sp>
        <p:nvSpPr>
          <p:cNvPr id="8" name="g213|body|"/>
          <p:cNvSpPr txBox="1"/>
          <p:nvPr/>
        </p:nvSpPr>
        <p:spPr>
          <a:xfrm>
            <a:off x="1600200" y="2514600"/>
            <a:ext cx="4114800" cy="676656"/>
          </a:xfrm>
          <a:prstGeom prst="rect">
            <a:avLst/>
          </a:prstGeom>
          <a:noFill/>
        </p:spPr>
        <p:txBody>
          <a:bodyPr wrap="square" lIns="0" rIns="0" tIns="0" bIns="0" anchor="ctr">
            <a:noAutofit/>
          </a:bodyPr>
          <a:lstStyle/>
          <a:p>
            <a:pPr algn="l"/>
            <a:r>
              <a:rPr sz="1600" b="0">
                <a:solidFill>
                  <a:srgbClr val="20242B"/>
                </a:solidFill>
                <a:latin typeface="Inter"/>
              </a:rPr>
              <a:t>We set you up by hand</a:t>
            </a:r>
          </a:p>
        </p:txBody>
      </p:sp>
      <p:sp>
        <p:nvSpPr>
          <p:cNvPr id="9" name="g214|deco|"/>
          <p:cNvSpPr/>
          <p:nvPr/>
        </p:nvSpPr>
        <p:spPr>
          <a:xfrm>
            <a:off x="914400" y="3456432"/>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g214|icon|calendar_deep.png" descr="calendar_deep"/>
          <p:cNvPicPr>
            <a:picLocks noChangeAspect="1"/>
          </p:cNvPicPr>
          <p:nvPr/>
        </p:nvPicPr>
        <p:blipFill>
          <a:blip r:embed="rId3"/>
          <a:srcRect/>
          <a:stretch>
            <a:fillRect/>
          </a:stretch>
        </p:blipFill>
        <p:spPr>
          <a:xfrm>
            <a:off x="1027054" y="3569086"/>
            <a:ext cx="286755" cy="286755"/>
          </a:xfrm>
          <a:prstGeom prst="rect">
            <a:avLst/>
          </a:prstGeom>
        </p:spPr>
      </p:pic>
      <p:sp>
        <p:nvSpPr>
          <p:cNvPr id="11" name="g214|body|"/>
          <p:cNvSpPr txBox="1"/>
          <p:nvPr/>
        </p:nvSpPr>
        <p:spPr>
          <a:xfrm>
            <a:off x="1600200" y="3383280"/>
            <a:ext cx="4114800" cy="676656"/>
          </a:xfrm>
          <a:prstGeom prst="rect">
            <a:avLst/>
          </a:prstGeom>
          <a:noFill/>
        </p:spPr>
        <p:txBody>
          <a:bodyPr wrap="square" lIns="0" rIns="0" tIns="0" bIns="0" anchor="ctr">
            <a:noAutofit/>
          </a:bodyPr>
          <a:lstStyle/>
          <a:p>
            <a:pPr algn="l"/>
            <a:r>
              <a:rPr sz="1600" b="0">
                <a:solidFill>
                  <a:srgbClr val="20242B"/>
                </a:solidFill>
                <a:latin typeface="Inter"/>
              </a:rPr>
              <a:t>Weekly founder check-ins</a:t>
            </a:r>
          </a:p>
        </p:txBody>
      </p:sp>
      <p:sp>
        <p:nvSpPr>
          <p:cNvPr id="12" name="g215|deco|"/>
          <p:cNvSpPr/>
          <p:nvPr/>
        </p:nvSpPr>
        <p:spPr>
          <a:xfrm>
            <a:off x="914400" y="4325112"/>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g215|icon|chat_deep.png" descr="chat_deep"/>
          <p:cNvPicPr>
            <a:picLocks noChangeAspect="1"/>
          </p:cNvPicPr>
          <p:nvPr/>
        </p:nvPicPr>
        <p:blipFill>
          <a:blip r:embed="rId4"/>
          <a:srcRect/>
          <a:stretch>
            <a:fillRect/>
          </a:stretch>
        </p:blipFill>
        <p:spPr>
          <a:xfrm>
            <a:off x="1027054" y="4437766"/>
            <a:ext cx="286755" cy="286755"/>
          </a:xfrm>
          <a:prstGeom prst="rect">
            <a:avLst/>
          </a:prstGeom>
        </p:spPr>
      </p:pic>
      <p:sp>
        <p:nvSpPr>
          <p:cNvPr id="14" name="g215|body|"/>
          <p:cNvSpPr txBox="1"/>
          <p:nvPr/>
        </p:nvSpPr>
        <p:spPr>
          <a:xfrm>
            <a:off x="1600200" y="4251960"/>
            <a:ext cx="4114800" cy="676656"/>
          </a:xfrm>
          <a:prstGeom prst="rect">
            <a:avLst/>
          </a:prstGeom>
          <a:noFill/>
        </p:spPr>
        <p:txBody>
          <a:bodyPr wrap="square" lIns="0" rIns="0" tIns="0" bIns="0" anchor="ctr">
            <a:noAutofit/>
          </a:bodyPr>
          <a:lstStyle/>
          <a:p>
            <a:pPr algn="l"/>
            <a:r>
              <a:rPr sz="1600" b="0">
                <a:solidFill>
                  <a:srgbClr val="20242B"/>
                </a:solidFill>
                <a:latin typeface="Inter"/>
              </a:rPr>
              <a:t>You tell us what to fix first</a:t>
            </a:r>
          </a:p>
        </p:txBody>
      </p:sp>
      <p:sp>
        <p:nvSpPr>
          <p:cNvPr id="15" name="g216|deco|"/>
          <p:cNvSpPr/>
          <p:nvPr/>
        </p:nvSpPr>
        <p:spPr>
          <a:xfrm>
            <a:off x="914400" y="5193792"/>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g216|icon|shield_deep.png" descr="shield_deep"/>
          <p:cNvPicPr>
            <a:picLocks noChangeAspect="1"/>
          </p:cNvPicPr>
          <p:nvPr/>
        </p:nvPicPr>
        <p:blipFill>
          <a:blip r:embed="rId5"/>
          <a:srcRect/>
          <a:stretch>
            <a:fillRect/>
          </a:stretch>
        </p:blipFill>
        <p:spPr>
          <a:xfrm>
            <a:off x="1027054" y="5306446"/>
            <a:ext cx="286755" cy="286755"/>
          </a:xfrm>
          <a:prstGeom prst="rect">
            <a:avLst/>
          </a:prstGeom>
        </p:spPr>
      </p:pic>
      <p:sp>
        <p:nvSpPr>
          <p:cNvPr id="17" name="g216|body|"/>
          <p:cNvSpPr txBox="1"/>
          <p:nvPr/>
        </p:nvSpPr>
        <p:spPr>
          <a:xfrm>
            <a:off x="1600200" y="5120640"/>
            <a:ext cx="4114800" cy="676656"/>
          </a:xfrm>
          <a:prstGeom prst="rect">
            <a:avLst/>
          </a:prstGeom>
          <a:noFill/>
        </p:spPr>
        <p:txBody>
          <a:bodyPr wrap="square" lIns="0" rIns="0" tIns="0" bIns="0" anchor="ctr">
            <a:noAutofit/>
          </a:bodyPr>
          <a:lstStyle/>
          <a:p>
            <a:pPr algn="l"/>
            <a:r>
              <a:rPr sz="1600" b="0">
                <a:solidFill>
                  <a:srgbClr val="20242B"/>
                </a:solidFill>
                <a:latin typeface="Inter"/>
              </a:rPr>
              <a:t>Your story shared only with consent</a:t>
            </a:r>
          </a:p>
        </p:txBody>
      </p:sp>
      <p:sp>
        <p:nvSpPr>
          <p:cNvPr id="18" name="lg217|card|"/>
          <p:cNvSpPr/>
          <p:nvPr/>
        </p:nvSpPr>
        <p:spPr>
          <a:xfrm>
            <a:off x="6202375" y="1536192"/>
            <a:ext cx="5440680" cy="4617720"/>
          </a:xfrm>
          <a:prstGeom prst="roundRect">
            <a:avLst>
              <a:gd name="adj" fmla="val 3960"/>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lg217|deco|"/>
          <p:cNvSpPr/>
          <p:nvPr/>
        </p:nvSpPr>
        <p:spPr>
          <a:xfrm>
            <a:off x="6494983" y="1801368"/>
            <a:ext cx="786384" cy="7863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lg217|icon|target_deep.png" descr="target_deep"/>
          <p:cNvPicPr>
            <a:picLocks noChangeAspect="1"/>
          </p:cNvPicPr>
          <p:nvPr/>
        </p:nvPicPr>
        <p:blipFill>
          <a:blip r:embed="rId6"/>
          <a:srcRect/>
          <a:stretch>
            <a:fillRect/>
          </a:stretch>
        </p:blipFill>
        <p:spPr>
          <a:xfrm>
            <a:off x="6667987" y="1974372"/>
            <a:ext cx="440375" cy="440375"/>
          </a:xfrm>
          <a:prstGeom prst="rect">
            <a:avLst/>
          </a:prstGeom>
        </p:spPr>
      </p:pic>
      <p:sp>
        <p:nvSpPr>
          <p:cNvPr id="21" name="lg217|eyebrow|"/>
          <p:cNvSpPr txBox="1"/>
          <p:nvPr/>
        </p:nvSpPr>
        <p:spPr>
          <a:xfrm>
            <a:off x="7482535" y="1938528"/>
            <a:ext cx="3840480" cy="274320"/>
          </a:xfrm>
          <a:prstGeom prst="rect">
            <a:avLst/>
          </a:prstGeom>
          <a:noFill/>
        </p:spPr>
        <p:txBody>
          <a:bodyPr wrap="square" lIns="0" rIns="0" tIns="0" bIns="0" anchor="t">
            <a:noAutofit/>
          </a:bodyPr>
          <a:lstStyle/>
          <a:p>
            <a:pPr algn="l"/>
            <a:r>
              <a:rPr sz="1300" b="1" spc="120">
                <a:solidFill>
                  <a:srgbClr val="C24E00"/>
                </a:solidFill>
                <a:latin typeface="Inter"/>
              </a:rPr>
              <a:t>LEAD GUARANTEE</a:t>
            </a:r>
          </a:p>
        </p:txBody>
      </p:sp>
      <p:sp>
        <p:nvSpPr>
          <p:cNvPr id="22" name="lg217|card|"/>
          <p:cNvSpPr txBox="1"/>
          <p:nvPr/>
        </p:nvSpPr>
        <p:spPr>
          <a:xfrm>
            <a:off x="7482535" y="2212848"/>
            <a:ext cx="3931920" cy="868680"/>
          </a:xfrm>
          <a:prstGeom prst="rect">
            <a:avLst/>
          </a:prstGeom>
          <a:noFill/>
        </p:spPr>
        <p:txBody>
          <a:bodyPr wrap="square" lIns="0" rIns="0" tIns="0" bIns="0" anchor="t">
            <a:noAutofit/>
          </a:bodyPr>
          <a:lstStyle/>
          <a:p>
            <a:pPr algn="l">
              <a:lnSpc>
                <a:spcPct val="95000"/>
              </a:lnSpc>
            </a:pPr>
            <a:r>
              <a:rPr sz="2200" b="1">
                <a:solidFill>
                  <a:srgbClr val="20242B"/>
                </a:solidFill>
                <a:latin typeface="Poppins"/>
              </a:rPr>
              <a:t>3 qualified leads in 30 days of go-live</a:t>
            </a:r>
          </a:p>
        </p:txBody>
      </p:sp>
      <p:sp>
        <p:nvSpPr>
          <p:cNvPr id="23" name="lg217|caption|"/>
          <p:cNvSpPr txBox="1"/>
          <p:nvPr/>
        </p:nvSpPr>
        <p:spPr>
          <a:xfrm>
            <a:off x="6568135" y="3429000"/>
            <a:ext cx="4709160" cy="2468880"/>
          </a:xfrm>
          <a:prstGeom prst="rect">
            <a:avLst/>
          </a:prstGeom>
          <a:noFill/>
        </p:spPr>
        <p:txBody>
          <a:bodyPr wrap="square" lIns="0" rIns="0" tIns="0" bIns="0" anchor="t">
            <a:noAutofit/>
          </a:bodyPr>
          <a:lstStyle/>
          <a:p>
            <a:pPr algn="l">
              <a:lnSpc>
                <a:spcPct val="110000"/>
              </a:lnSpc>
            </a:pPr>
            <a:r>
              <a:rPr sz="1500" b="0">
                <a:solidFill>
                  <a:srgbClr val="20242B"/>
                </a:solidFill>
                <a:latin typeface="Inter"/>
              </a:rPr>
              <a:t>A qualified lead is a new WhatsApp number that messages you through your FluxMuse link. If fewer than 3 arrive in 30 days, and you shared your link and posted at least weekly, we keep supporting you at no extra charge until you reach 3. Extra support, not a payout.</a:t>
            </a:r>
          </a:p>
        </p:txBody>
      </p:sp>
      <p:sp>
        <p:nvSpPr>
          <p:cNvPr id="24"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25"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18|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PRICING (ZAR) · YOUR PLANS</a:t>
            </a:r>
          </a:p>
        </p:txBody>
      </p:sp>
      <p:sp>
        <p:nvSpPr>
          <p:cNvPr id="3" name="hdr218|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Plans for a growing team</a:t>
            </a:r>
          </a:p>
        </p:txBody>
      </p:sp>
      <p:sp>
        <p:nvSpPr>
          <p:cNvPr id="4" name="plan219|card|"/>
          <p:cNvSpPr/>
          <p:nvPr/>
        </p:nvSpPr>
        <p:spPr>
          <a:xfrm>
            <a:off x="548640" y="1536192"/>
            <a:ext cx="3511296" cy="3931920"/>
          </a:xfrm>
          <a:prstGeom prst="roundRect">
            <a:avLst>
              <a:gd name="adj" fmla="val 520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lan219|card|"/>
          <p:cNvSpPr txBox="1"/>
          <p:nvPr/>
        </p:nvSpPr>
        <p:spPr>
          <a:xfrm>
            <a:off x="868680" y="1783080"/>
            <a:ext cx="2871215" cy="457200"/>
          </a:xfrm>
          <a:prstGeom prst="rect">
            <a:avLst/>
          </a:prstGeom>
          <a:noFill/>
        </p:spPr>
        <p:txBody>
          <a:bodyPr wrap="square" lIns="0" rIns="0" tIns="0" bIns="0" anchor="t">
            <a:noAutofit/>
          </a:bodyPr>
          <a:lstStyle/>
          <a:p>
            <a:pPr algn="l"/>
            <a:r>
              <a:rPr sz="2200" b="1">
                <a:solidFill>
                  <a:srgbClr val="20242B"/>
                </a:solidFill>
                <a:latin typeface="Poppins"/>
              </a:rPr>
              <a:t>Starter</a:t>
            </a:r>
          </a:p>
        </p:txBody>
      </p:sp>
      <p:sp>
        <p:nvSpPr>
          <p:cNvPr id="6" name="plan219|card|"/>
          <p:cNvSpPr txBox="1"/>
          <p:nvPr/>
        </p:nvSpPr>
        <p:spPr>
          <a:xfrm>
            <a:off x="868680" y="2286000"/>
            <a:ext cx="2871215" cy="731520"/>
          </a:xfrm>
          <a:prstGeom prst="rect">
            <a:avLst/>
          </a:prstGeom>
          <a:noFill/>
        </p:spPr>
        <p:txBody>
          <a:bodyPr wrap="square" lIns="0" rIns="0" tIns="0" bIns="0" anchor="t">
            <a:noAutofit/>
          </a:bodyPr>
          <a:lstStyle/>
          <a:p>
            <a:pPr algn="l"/>
            <a:r>
              <a:rPr sz="3600" b="1">
                <a:solidFill>
                  <a:srgbClr val="20242B"/>
                </a:solidFill>
                <a:latin typeface="Poppins"/>
              </a:rPr>
              <a:t>R499</a:t>
            </a:r>
            <a:r>
              <a:rPr sz="1600" b="0">
                <a:solidFill>
                  <a:srgbClr val="20242B"/>
                </a:solidFill>
                <a:latin typeface="Inter"/>
              </a:rPr>
              <a:t>/mo</a:t>
            </a:r>
          </a:p>
        </p:txBody>
      </p:sp>
      <p:sp>
        <p:nvSpPr>
          <p:cNvPr id="7" name="plan219|caption|"/>
          <p:cNvSpPr txBox="1"/>
          <p:nvPr/>
        </p:nvSpPr>
        <p:spPr>
          <a:xfrm>
            <a:off x="868680" y="3017520"/>
            <a:ext cx="2871215" cy="274320"/>
          </a:xfrm>
          <a:prstGeom prst="rect">
            <a:avLst/>
          </a:prstGeom>
          <a:noFill/>
        </p:spPr>
        <p:txBody>
          <a:bodyPr wrap="square" lIns="0" rIns="0" tIns="0" bIns="0" anchor="t">
            <a:noAutofit/>
          </a:bodyPr>
          <a:lstStyle/>
          <a:p>
            <a:pPr algn="l"/>
            <a:r>
              <a:rPr sz="1300" b="0">
                <a:solidFill>
                  <a:srgbClr val="5B6670"/>
                </a:solidFill>
                <a:latin typeface="Inter"/>
              </a:rPr>
              <a:t>or R4,990/yr</a:t>
            </a:r>
          </a:p>
        </p:txBody>
      </p:sp>
      <p:sp>
        <p:nvSpPr>
          <p:cNvPr id="8" name="plan219|card|"/>
          <p:cNvSpPr txBox="1"/>
          <p:nvPr/>
        </p:nvSpPr>
        <p:spPr>
          <a:xfrm>
            <a:off x="868680" y="3429000"/>
            <a:ext cx="2871215" cy="365760"/>
          </a:xfrm>
          <a:prstGeom prst="rect">
            <a:avLst/>
          </a:prstGeom>
          <a:noFill/>
        </p:spPr>
        <p:txBody>
          <a:bodyPr wrap="square" lIns="0" rIns="0" tIns="0" bIns="0" anchor="t">
            <a:noAutofit/>
          </a:bodyPr>
          <a:lstStyle/>
          <a:p>
            <a:pPr algn="l"/>
            <a:r>
              <a:rPr sz="1500" b="0">
                <a:solidFill>
                  <a:srgbClr val="20242B"/>
                </a:solidFill>
                <a:latin typeface="Inter"/>
              </a:rPr>
              <a:t>1 brand · 3 channels</a:t>
            </a:r>
          </a:p>
        </p:txBody>
      </p:sp>
      <p:sp>
        <p:nvSpPr>
          <p:cNvPr id="9" name="plan219|card|"/>
          <p:cNvSpPr txBox="1"/>
          <p:nvPr/>
        </p:nvSpPr>
        <p:spPr>
          <a:xfrm>
            <a:off x="868680" y="3840480"/>
            <a:ext cx="2871215" cy="365760"/>
          </a:xfrm>
          <a:prstGeom prst="rect">
            <a:avLst/>
          </a:prstGeom>
          <a:noFill/>
        </p:spPr>
        <p:txBody>
          <a:bodyPr wrap="square" lIns="0" rIns="0" tIns="0" bIns="0" anchor="t">
            <a:noAutofit/>
          </a:bodyPr>
          <a:lstStyle/>
          <a:p>
            <a:pPr algn="l"/>
            <a:r>
              <a:rPr sz="1500" b="1">
                <a:solidFill>
                  <a:srgbClr val="C24E00"/>
                </a:solidFill>
                <a:latin typeface="Inter"/>
              </a:rPr>
              <a:t>One brand</a:t>
            </a:r>
          </a:p>
        </p:txBody>
      </p:sp>
      <p:sp>
        <p:nvSpPr>
          <p:cNvPr id="10" name="plan219|caption|"/>
          <p:cNvSpPr txBox="1"/>
          <p:nvPr/>
        </p:nvSpPr>
        <p:spPr>
          <a:xfrm>
            <a:off x="868680" y="4526280"/>
            <a:ext cx="2871215" cy="731520"/>
          </a:xfrm>
          <a:prstGeom prst="rect">
            <a:avLst/>
          </a:prstGeom>
          <a:noFill/>
        </p:spPr>
        <p:txBody>
          <a:bodyPr wrap="square" lIns="0" rIns="0" tIns="0" bIns="0" anchor="t">
            <a:noAutofit/>
          </a:bodyPr>
          <a:lstStyle/>
          <a:p>
            <a:pPr algn="l">
              <a:spcAft>
                <a:spcPts val="200"/>
              </a:spcAft>
            </a:pPr>
            <a:r>
              <a:rPr sz="1100" b="1">
                <a:solidFill>
                  <a:srgbClr val="C24E00"/>
                </a:solidFill>
                <a:latin typeface="Inter"/>
              </a:rPr>
              <a:t>FOUNDING MEMBER</a:t>
            </a:r>
          </a:p>
          <a:p>
            <a:pPr algn="l"/>
            <a:r>
              <a:rPr sz="1300" b="0">
                <a:solidFill>
                  <a:srgbClr val="20242B"/>
                </a:solidFill>
                <a:latin typeface="Inter"/>
              </a:rPr>
              <a:t>R349 for your first 2 bills</a:t>
            </a:r>
          </a:p>
        </p:txBody>
      </p:sp>
      <p:sp>
        <p:nvSpPr>
          <p:cNvPr id="11" name="plan220|card|"/>
          <p:cNvSpPr/>
          <p:nvPr/>
        </p:nvSpPr>
        <p:spPr>
          <a:xfrm>
            <a:off x="4340199" y="1536192"/>
            <a:ext cx="3511296" cy="3931920"/>
          </a:xfrm>
          <a:prstGeom prst="roundRect">
            <a:avLst>
              <a:gd name="adj" fmla="val 5208"/>
            </a:avLst>
          </a:prstGeom>
          <a:solidFill>
            <a:srgbClr val="FFF4EB"/>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lan220|card|"/>
          <p:cNvSpPr txBox="1"/>
          <p:nvPr/>
        </p:nvSpPr>
        <p:spPr>
          <a:xfrm>
            <a:off x="4660239" y="1783080"/>
            <a:ext cx="2871215" cy="457200"/>
          </a:xfrm>
          <a:prstGeom prst="rect">
            <a:avLst/>
          </a:prstGeom>
          <a:noFill/>
        </p:spPr>
        <p:txBody>
          <a:bodyPr wrap="square" lIns="0" rIns="0" tIns="0" bIns="0" anchor="t">
            <a:noAutofit/>
          </a:bodyPr>
          <a:lstStyle/>
          <a:p>
            <a:pPr algn="l"/>
            <a:r>
              <a:rPr sz="2200" b="1">
                <a:solidFill>
                  <a:srgbClr val="20242B"/>
                </a:solidFill>
                <a:latin typeface="Poppins"/>
              </a:rPr>
              <a:t>Growth</a:t>
            </a:r>
          </a:p>
        </p:txBody>
      </p:sp>
      <p:sp>
        <p:nvSpPr>
          <p:cNvPr id="13" name="plan220|card|"/>
          <p:cNvSpPr txBox="1"/>
          <p:nvPr/>
        </p:nvSpPr>
        <p:spPr>
          <a:xfrm>
            <a:off x="4660239" y="2286000"/>
            <a:ext cx="2871215" cy="731520"/>
          </a:xfrm>
          <a:prstGeom prst="rect">
            <a:avLst/>
          </a:prstGeom>
          <a:noFill/>
        </p:spPr>
        <p:txBody>
          <a:bodyPr wrap="square" lIns="0" rIns="0" tIns="0" bIns="0" anchor="t">
            <a:noAutofit/>
          </a:bodyPr>
          <a:lstStyle/>
          <a:p>
            <a:pPr algn="l"/>
            <a:r>
              <a:rPr sz="3600" b="1">
                <a:solidFill>
                  <a:srgbClr val="20242B"/>
                </a:solidFill>
                <a:latin typeface="Poppins"/>
              </a:rPr>
              <a:t>R1,999</a:t>
            </a:r>
            <a:r>
              <a:rPr sz="1600" b="0">
                <a:solidFill>
                  <a:srgbClr val="20242B"/>
                </a:solidFill>
                <a:latin typeface="Inter"/>
              </a:rPr>
              <a:t>/mo</a:t>
            </a:r>
          </a:p>
        </p:txBody>
      </p:sp>
      <p:sp>
        <p:nvSpPr>
          <p:cNvPr id="14" name="plan220|caption|"/>
          <p:cNvSpPr txBox="1"/>
          <p:nvPr/>
        </p:nvSpPr>
        <p:spPr>
          <a:xfrm>
            <a:off x="4660239" y="3017520"/>
            <a:ext cx="2871215" cy="274320"/>
          </a:xfrm>
          <a:prstGeom prst="rect">
            <a:avLst/>
          </a:prstGeom>
          <a:noFill/>
        </p:spPr>
        <p:txBody>
          <a:bodyPr wrap="square" lIns="0" rIns="0" tIns="0" bIns="0" anchor="t">
            <a:noAutofit/>
          </a:bodyPr>
          <a:lstStyle/>
          <a:p>
            <a:pPr algn="l"/>
            <a:r>
              <a:rPr sz="1300" b="0">
                <a:solidFill>
                  <a:srgbClr val="5B6670"/>
                </a:solidFill>
                <a:latin typeface="Inter"/>
              </a:rPr>
              <a:t>or R19,990/yr</a:t>
            </a:r>
          </a:p>
        </p:txBody>
      </p:sp>
      <p:sp>
        <p:nvSpPr>
          <p:cNvPr id="15" name="plan220|card|"/>
          <p:cNvSpPr txBox="1"/>
          <p:nvPr/>
        </p:nvSpPr>
        <p:spPr>
          <a:xfrm>
            <a:off x="4660239" y="3429000"/>
            <a:ext cx="2871215" cy="365760"/>
          </a:xfrm>
          <a:prstGeom prst="rect">
            <a:avLst/>
          </a:prstGeom>
          <a:noFill/>
        </p:spPr>
        <p:txBody>
          <a:bodyPr wrap="square" lIns="0" rIns="0" tIns="0" bIns="0" anchor="t">
            <a:noAutofit/>
          </a:bodyPr>
          <a:lstStyle/>
          <a:p>
            <a:pPr algn="l"/>
            <a:r>
              <a:rPr sz="1500" b="0">
                <a:solidFill>
                  <a:srgbClr val="20242B"/>
                </a:solidFill>
                <a:latin typeface="Inter"/>
              </a:rPr>
              <a:t>3 brands · 15 channels</a:t>
            </a:r>
          </a:p>
        </p:txBody>
      </p:sp>
      <p:sp>
        <p:nvSpPr>
          <p:cNvPr id="16" name="plan220|card|"/>
          <p:cNvSpPr txBox="1"/>
          <p:nvPr/>
        </p:nvSpPr>
        <p:spPr>
          <a:xfrm>
            <a:off x="4660239" y="3840480"/>
            <a:ext cx="2871215" cy="365760"/>
          </a:xfrm>
          <a:prstGeom prst="rect">
            <a:avLst/>
          </a:prstGeom>
          <a:noFill/>
        </p:spPr>
        <p:txBody>
          <a:bodyPr wrap="square" lIns="0" rIns="0" tIns="0" bIns="0" anchor="t">
            <a:noAutofit/>
          </a:bodyPr>
          <a:lstStyle/>
          <a:p>
            <a:pPr algn="l"/>
            <a:r>
              <a:rPr sz="1500" b="1">
                <a:solidFill>
                  <a:srgbClr val="C24E00"/>
                </a:solidFill>
                <a:latin typeface="Inter"/>
              </a:rPr>
              <a:t>+ AI Voice (beta)</a:t>
            </a:r>
          </a:p>
        </p:txBody>
      </p:sp>
      <p:sp>
        <p:nvSpPr>
          <p:cNvPr id="17" name="plan220|caption|"/>
          <p:cNvSpPr txBox="1"/>
          <p:nvPr/>
        </p:nvSpPr>
        <p:spPr>
          <a:xfrm>
            <a:off x="4660239" y="4526280"/>
            <a:ext cx="2871215" cy="731520"/>
          </a:xfrm>
          <a:prstGeom prst="rect">
            <a:avLst/>
          </a:prstGeom>
          <a:noFill/>
        </p:spPr>
        <p:txBody>
          <a:bodyPr wrap="square" lIns="0" rIns="0" tIns="0" bIns="0" anchor="t">
            <a:noAutofit/>
          </a:bodyPr>
          <a:lstStyle/>
          <a:p>
            <a:pPr algn="l">
              <a:spcAft>
                <a:spcPts val="200"/>
              </a:spcAft>
            </a:pPr>
            <a:r>
              <a:rPr sz="1100" b="1">
                <a:solidFill>
                  <a:srgbClr val="C24E00"/>
                </a:solidFill>
                <a:latin typeface="Inter"/>
              </a:rPr>
              <a:t>FOUNDING MEMBER</a:t>
            </a:r>
          </a:p>
          <a:p>
            <a:pPr algn="l"/>
            <a:r>
              <a:rPr sz="1300" b="0">
                <a:solidFill>
                  <a:srgbClr val="20242B"/>
                </a:solidFill>
                <a:latin typeface="Inter"/>
              </a:rPr>
              <a:t>R1,399 for your first 2 bills</a:t>
            </a:r>
          </a:p>
        </p:txBody>
      </p:sp>
      <p:sp>
        <p:nvSpPr>
          <p:cNvPr id="18" name="plan221|card|"/>
          <p:cNvSpPr/>
          <p:nvPr/>
        </p:nvSpPr>
        <p:spPr>
          <a:xfrm>
            <a:off x="8131759" y="1536192"/>
            <a:ext cx="3511296" cy="3931920"/>
          </a:xfrm>
          <a:prstGeom prst="roundRect">
            <a:avLst>
              <a:gd name="adj" fmla="val 520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lan221|card|"/>
          <p:cNvSpPr txBox="1"/>
          <p:nvPr/>
        </p:nvSpPr>
        <p:spPr>
          <a:xfrm>
            <a:off x="8451799" y="1783080"/>
            <a:ext cx="2871215" cy="457200"/>
          </a:xfrm>
          <a:prstGeom prst="rect">
            <a:avLst/>
          </a:prstGeom>
          <a:noFill/>
        </p:spPr>
        <p:txBody>
          <a:bodyPr wrap="square" lIns="0" rIns="0" tIns="0" bIns="0" anchor="t">
            <a:noAutofit/>
          </a:bodyPr>
          <a:lstStyle/>
          <a:p>
            <a:pPr algn="l"/>
            <a:r>
              <a:rPr sz="2200" b="1">
                <a:solidFill>
                  <a:srgbClr val="20242B"/>
                </a:solidFill>
                <a:latin typeface="Poppins"/>
              </a:rPr>
              <a:t>Scale</a:t>
            </a:r>
          </a:p>
        </p:txBody>
      </p:sp>
      <p:sp>
        <p:nvSpPr>
          <p:cNvPr id="20" name="plan221|card|"/>
          <p:cNvSpPr txBox="1"/>
          <p:nvPr/>
        </p:nvSpPr>
        <p:spPr>
          <a:xfrm>
            <a:off x="8451799" y="2286000"/>
            <a:ext cx="2871215" cy="731520"/>
          </a:xfrm>
          <a:prstGeom prst="rect">
            <a:avLst/>
          </a:prstGeom>
          <a:noFill/>
        </p:spPr>
        <p:txBody>
          <a:bodyPr wrap="square" lIns="0" rIns="0" tIns="0" bIns="0" anchor="t">
            <a:noAutofit/>
          </a:bodyPr>
          <a:lstStyle/>
          <a:p>
            <a:pPr algn="l"/>
            <a:r>
              <a:rPr sz="3600" b="1">
                <a:solidFill>
                  <a:srgbClr val="20242B"/>
                </a:solidFill>
                <a:latin typeface="Poppins"/>
              </a:rPr>
              <a:t>R4,999</a:t>
            </a:r>
            <a:r>
              <a:rPr sz="1600" b="0">
                <a:solidFill>
                  <a:srgbClr val="20242B"/>
                </a:solidFill>
                <a:latin typeface="Inter"/>
              </a:rPr>
              <a:t>/mo</a:t>
            </a:r>
          </a:p>
        </p:txBody>
      </p:sp>
      <p:sp>
        <p:nvSpPr>
          <p:cNvPr id="21" name="plan221|caption|"/>
          <p:cNvSpPr txBox="1"/>
          <p:nvPr/>
        </p:nvSpPr>
        <p:spPr>
          <a:xfrm>
            <a:off x="8451799" y="3017520"/>
            <a:ext cx="2871215" cy="274320"/>
          </a:xfrm>
          <a:prstGeom prst="rect">
            <a:avLst/>
          </a:prstGeom>
          <a:noFill/>
        </p:spPr>
        <p:txBody>
          <a:bodyPr wrap="square" lIns="0" rIns="0" tIns="0" bIns="0" anchor="t">
            <a:noAutofit/>
          </a:bodyPr>
          <a:lstStyle/>
          <a:p>
            <a:pPr algn="l"/>
            <a:r>
              <a:rPr sz="1300" b="0">
                <a:solidFill>
                  <a:srgbClr val="5B6670"/>
                </a:solidFill>
                <a:latin typeface="Inter"/>
              </a:rPr>
              <a:t>or R49,990/yr</a:t>
            </a:r>
          </a:p>
        </p:txBody>
      </p:sp>
      <p:sp>
        <p:nvSpPr>
          <p:cNvPr id="22" name="plan221|card|"/>
          <p:cNvSpPr txBox="1"/>
          <p:nvPr/>
        </p:nvSpPr>
        <p:spPr>
          <a:xfrm>
            <a:off x="8451799" y="3429000"/>
            <a:ext cx="2871215" cy="365760"/>
          </a:xfrm>
          <a:prstGeom prst="rect">
            <a:avLst/>
          </a:prstGeom>
          <a:noFill/>
        </p:spPr>
        <p:txBody>
          <a:bodyPr wrap="square" lIns="0" rIns="0" tIns="0" bIns="0" anchor="t">
            <a:noAutofit/>
          </a:bodyPr>
          <a:lstStyle/>
          <a:p>
            <a:pPr algn="l"/>
            <a:r>
              <a:rPr sz="1500" b="0">
                <a:solidFill>
                  <a:srgbClr val="20242B"/>
                </a:solidFill>
                <a:latin typeface="Inter"/>
              </a:rPr>
              <a:t>10 brands · 40 channels</a:t>
            </a:r>
          </a:p>
        </p:txBody>
      </p:sp>
      <p:sp>
        <p:nvSpPr>
          <p:cNvPr id="23" name="plan221|card|"/>
          <p:cNvSpPr txBox="1"/>
          <p:nvPr/>
        </p:nvSpPr>
        <p:spPr>
          <a:xfrm>
            <a:off x="8451799" y="3840480"/>
            <a:ext cx="2871215" cy="365760"/>
          </a:xfrm>
          <a:prstGeom prst="rect">
            <a:avLst/>
          </a:prstGeom>
          <a:noFill/>
        </p:spPr>
        <p:txBody>
          <a:bodyPr wrap="square" lIns="0" rIns="0" tIns="0" bIns="0" anchor="t">
            <a:noAutofit/>
          </a:bodyPr>
          <a:lstStyle/>
          <a:p>
            <a:pPr algn="l"/>
            <a:r>
              <a:rPr sz="1500" b="1">
                <a:solidFill>
                  <a:srgbClr val="C24E00"/>
                </a:solidFill>
                <a:latin typeface="Inter"/>
              </a:rPr>
              <a:t>+ outbound Voice (beta)</a:t>
            </a:r>
          </a:p>
        </p:txBody>
      </p:sp>
      <p:sp>
        <p:nvSpPr>
          <p:cNvPr id="24" name="plan221|caption|"/>
          <p:cNvSpPr txBox="1"/>
          <p:nvPr/>
        </p:nvSpPr>
        <p:spPr>
          <a:xfrm>
            <a:off x="8451799" y="4526280"/>
            <a:ext cx="2871215" cy="731520"/>
          </a:xfrm>
          <a:prstGeom prst="rect">
            <a:avLst/>
          </a:prstGeom>
          <a:noFill/>
        </p:spPr>
        <p:txBody>
          <a:bodyPr wrap="square" lIns="0" rIns="0" tIns="0" bIns="0" anchor="t">
            <a:noAutofit/>
          </a:bodyPr>
          <a:lstStyle/>
          <a:p>
            <a:pPr algn="l">
              <a:spcAft>
                <a:spcPts val="200"/>
              </a:spcAft>
            </a:pPr>
            <a:r>
              <a:rPr sz="1100" b="1">
                <a:solidFill>
                  <a:srgbClr val="C24E00"/>
                </a:solidFill>
                <a:latin typeface="Inter"/>
              </a:rPr>
              <a:t>FOUNDING MEMBER</a:t>
            </a:r>
          </a:p>
          <a:p>
            <a:pPr algn="l"/>
            <a:r>
              <a:rPr sz="1300" b="0">
                <a:solidFill>
                  <a:srgbClr val="20242B"/>
                </a:solidFill>
                <a:latin typeface="Inter"/>
              </a:rPr>
              <a:t>R3,499 for your first 2 bills</a:t>
            </a:r>
          </a:p>
        </p:txBody>
      </p:sp>
      <p:sp>
        <p:nvSpPr>
          <p:cNvPr id="25" name="g222|caption|"/>
          <p:cNvSpPr txBox="1"/>
          <p:nvPr/>
        </p:nvSpPr>
        <p:spPr>
          <a:xfrm>
            <a:off x="548640" y="5669280"/>
            <a:ext cx="11094415" cy="548640"/>
          </a:xfrm>
          <a:prstGeom prst="rect">
            <a:avLst/>
          </a:prstGeom>
          <a:noFill/>
        </p:spPr>
        <p:txBody>
          <a:bodyPr wrap="square" lIns="0" rIns="0" tIns="0" bIns="0" anchor="t">
            <a:noAutofit/>
          </a:bodyPr>
          <a:lstStyle/>
          <a:p>
            <a:pPr algn="l">
              <a:spcAft>
                <a:spcPts val="200"/>
              </a:spcAft>
            </a:pPr>
            <a:r>
              <a:rPr sz="1200" b="0">
                <a:solidFill>
                  <a:srgbClr val="5B6670"/>
                </a:solidFill>
                <a:latin typeface="Inter"/>
              </a:rPr>
              <a:t>Prices in rands are what you pay. Every paid plan starts with payment; no trials. Annual = 10× monthly. AI credit allowances: see fluxmuse.ai/pricing.</a:t>
            </a:r>
          </a:p>
          <a:p>
            <a:pPr algn="l"/>
            <a:r>
              <a:rPr sz="1200" b="0">
                <a:solidFill>
                  <a:srgbClr val="5B6670"/>
                </a:solidFill>
                <a:latin typeface="Inter"/>
              </a:rPr>
              <a:t>Founding Member: 30% off your first two monthly bills on every plan, Nano to Agency, until 31 December 2026.</a:t>
            </a:r>
          </a:p>
        </p:txBody>
      </p:sp>
      <p:sp>
        <p:nvSpPr>
          <p:cNvPr id="26"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27"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23|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PRICING (ZAR) · EDITABLE</a:t>
            </a:r>
          </a:p>
        </p:txBody>
      </p:sp>
      <p:sp>
        <p:nvSpPr>
          <p:cNvPr id="3" name="hdr223|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Plans at a glance</a:t>
            </a:r>
          </a:p>
        </p:txBody>
      </p:sp>
      <p:graphicFrame>
        <p:nvGraphicFramePr>
          <p:cNvPr id="4" name="g224|table|pricing-zar"/>
          <p:cNvGraphicFramePr>
            <a:graphicFrameLocks noGrp="1"/>
          </p:cNvGraphicFramePr>
          <p:nvPr/>
        </p:nvGraphicFramePr>
        <p:xfrm>
          <a:off x="548640" y="1417320"/>
          <a:ext cx="11091672" cy="3959352"/>
        </p:xfrm>
        <a:graphic>
          <a:graphicData uri="http://schemas.openxmlformats.org/drawingml/2006/table">
            <a:tbl>
              <a:tblPr firstRow="0" bandRow="0"/>
              <a:tblGrid>
                <a:gridCol w="1463040"/>
                <a:gridCol w="1463040"/>
                <a:gridCol w="1463040"/>
                <a:gridCol w="1554480"/>
                <a:gridCol w="2103120"/>
                <a:gridCol w="3044952"/>
              </a:tblGrid>
              <a:tr h="420624">
                <a:tc>
                  <a:txBody>
                    <a:bodyPr wrap="square"/>
                    <a:lstStyle/>
                    <a:p>
                      <a:pPr algn="l"/>
                      <a:r>
                        <a:rPr sz="1400" b="1">
                          <a:solidFill>
                            <a:srgbClr val="FFFFFF"/>
                          </a:solidFill>
                          <a:latin typeface="Poppins"/>
                        </a:rPr>
                        <a:t>Band</a:t>
                      </a:r>
                    </a:p>
                  </a:txBody>
                  <a:tcPr marL="109728" marR="109728" marT="36576" marB="36576" anchor="ctr">
                    <a:lnL w="0">
                      <a:noFill/>
                    </a:lnL>
                    <a:lnR w="0">
                      <a:noFill/>
                    </a:lnR>
                    <a:lnT w="0">
                      <a:noFill/>
                    </a:lnT>
                    <a:lnB w="0">
                      <a:noFill/>
                    </a:lnB>
                    <a:solidFill>
                      <a:srgbClr val="0F1419"/>
                    </a:solidFill>
                  </a:tcPr>
                </a:tc>
                <a:tc>
                  <a:txBody>
                    <a:bodyPr wrap="square"/>
                    <a:lstStyle/>
                    <a:p>
                      <a:pPr algn="l"/>
                      <a:r>
                        <a:rPr sz="1400" b="1">
                          <a:solidFill>
                            <a:srgbClr val="FFFFFF"/>
                          </a:solidFill>
                          <a:latin typeface="Poppins"/>
                        </a:rPr>
                        <a:t>Plan</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Monthly</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Annual</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Brands · channels</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Founding Member, first 2 bills</a:t>
                      </a:r>
                    </a:p>
                  </a:txBody>
                  <a:tcPr marL="109728" marR="109728" marT="36576" marB="36576" anchor="ctr">
                    <a:lnL w="0">
                      <a:noFill/>
                    </a:lnL>
                    <a:lnR w="0">
                      <a:noFill/>
                    </a:lnR>
                    <a:lnT w="0">
                      <a:noFill/>
                    </a:lnT>
                    <a:lnB w="0">
                      <a:noFill/>
                    </a:lnB>
                    <a:solidFill>
                      <a:srgbClr val="0F1419"/>
                    </a:solidFill>
                  </a:tcPr>
                </a:tc>
              </a:tr>
              <a:tr h="393192">
                <a:tc>
                  <a:txBody>
                    <a:bodyPr wrap="square"/>
                    <a:lstStyle/>
                    <a:p>
                      <a:pPr algn="l"/>
                      <a:r>
                        <a:rPr sz="1400" b="1">
                          <a:solidFill>
                            <a:srgbClr val="20242B"/>
                          </a:solidFill>
                          <a:latin typeface="Inter"/>
                        </a:rPr>
                        <a:t>Small</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Free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1 · 1</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Free forever, no card</a:t>
                      </a:r>
                    </a:p>
                  </a:txBody>
                  <a:tcPr marL="109728" marR="109728" marT="36576" marB="36576" anchor="ctr">
                    <a:lnL w="0">
                      <a:noFill/>
                    </a:lnL>
                    <a:lnR w="0">
                      <a:noFill/>
                    </a:lnR>
                    <a:lnT w="0">
                      <a:noFill/>
                    </a:lnT>
                    <a:lnB w="12700">
                      <a:solidFill>
                        <a:srgbClr val="E3E6EA"/>
                      </a:solidFill>
                    </a:lnB>
                    <a:solidFill>
                      <a:srgbClr val="FFFFFF"/>
                    </a:solidFill>
                  </a:tcPr>
                </a:tc>
              </a:tr>
              <a:tr h="393192">
                <a:tc>
                  <a:txBody>
                    <a:bodyPr wrap="square"/>
                    <a:lstStyle/>
                    <a:p>
                      <a:pPr algn="l"/>
                      <a:r>
                        <a:rPr sz="1400" b="1">
                          <a:solidFill>
                            <a:srgbClr val="20242B"/>
                          </a:solidFill>
                          <a:latin typeface="Inter"/>
                        </a:rPr>
                        <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Nano</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R149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R1,490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1 · 3</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R104</a:t>
                      </a:r>
                    </a:p>
                  </a:txBody>
                  <a:tcPr marL="109728" marR="109728" marT="36576" marB="36576" anchor="ctr">
                    <a:lnL w="0">
                      <a:noFill/>
                    </a:lnL>
                    <a:lnR w="0">
                      <a:noFill/>
                    </a:lnR>
                    <a:lnT w="0">
                      <a:noFill/>
                    </a:lnT>
                    <a:lnB w="12700">
                      <a:solidFill>
                        <a:srgbClr val="E3E6EA"/>
                      </a:solidFill>
                    </a:lnB>
                    <a:solidFill>
                      <a:srgbClr val="FFFFFF"/>
                    </a:solidFill>
                  </a:tcPr>
                </a:tc>
              </a:tr>
              <a:tr h="393192">
                <a:tc>
                  <a:txBody>
                    <a:bodyPr wrap="square"/>
                    <a:lstStyle/>
                    <a:p>
                      <a:pPr algn="l"/>
                      <a:r>
                        <a:rPr sz="1400" b="1">
                          <a:solidFill>
                            <a:srgbClr val="20242B"/>
                          </a:solidFill>
                          <a:latin typeface="Inter"/>
                        </a:rPr>
                        <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Micro</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R289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R2,890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1 · 4</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R202</a:t>
                      </a:r>
                    </a:p>
                  </a:txBody>
                  <a:tcPr marL="109728" marR="109728" marT="36576" marB="36576" anchor="ctr">
                    <a:lnL w="0">
                      <a:noFill/>
                    </a:lnL>
                    <a:lnR w="0">
                      <a:noFill/>
                    </a:lnR>
                    <a:lnT w="0">
                      <a:noFill/>
                    </a:lnT>
                    <a:lnB w="12700">
                      <a:solidFill>
                        <a:srgbClr val="E3E6EA"/>
                      </a:solidFill>
                    </a:lnB>
                    <a:solidFill>
                      <a:srgbClr val="FFFFFF"/>
                    </a:solidFill>
                  </a:tcPr>
                </a:tc>
              </a:tr>
              <a:tr h="393192">
                <a:tc>
                  <a:txBody>
                    <a:bodyPr wrap="square"/>
                    <a:lstStyle/>
                    <a:p>
                      <a:pPr algn="l"/>
                      <a:r>
                        <a:rPr sz="1400" b="1">
                          <a:solidFill>
                            <a:srgbClr val="20242B"/>
                          </a:solidFill>
                          <a:latin typeface="Inter"/>
                        </a:rPr>
                        <a:t>Medium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Starter</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R499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R4,990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1 · 3</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R349</a:t>
                      </a:r>
                    </a:p>
                  </a:txBody>
                  <a:tcPr marL="109728" marR="109728" marT="36576" marB="36576" anchor="ctr">
                    <a:lnL w="0">
                      <a:noFill/>
                    </a:lnL>
                    <a:lnR w="0">
                      <a:noFill/>
                    </a:lnR>
                    <a:lnT w="0">
                      <a:noFill/>
                    </a:lnT>
                    <a:lnB w="12700">
                      <a:solidFill>
                        <a:srgbClr val="E3E6EA"/>
                      </a:solidFill>
                    </a:lnB>
                    <a:solidFill>
                      <a:srgbClr val="FFFFFF"/>
                    </a:solidFill>
                  </a:tcPr>
                </a:tc>
              </a:tr>
              <a:tr h="393192">
                <a:tc>
                  <a:txBody>
                    <a:bodyPr wrap="square"/>
                    <a:lstStyle/>
                    <a:p>
                      <a:pPr algn="l"/>
                      <a:r>
                        <a:rPr sz="1400" b="1">
                          <a:solidFill>
                            <a:srgbClr val="20242B"/>
                          </a:solidFill>
                          <a:latin typeface="Inter"/>
                        </a:rPr>
                        <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l"/>
                      <a:r>
                        <a:rPr sz="1400" b="1">
                          <a:solidFill>
                            <a:srgbClr val="20242B"/>
                          </a:solidFill>
                          <a:latin typeface="Inter"/>
                        </a:rPr>
                        <a:t>Growth</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400" b="1">
                          <a:solidFill>
                            <a:srgbClr val="20242B"/>
                          </a:solidFill>
                          <a:latin typeface="Inter"/>
                        </a:rPr>
                        <a:t>R1,999</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400" b="0">
                          <a:solidFill>
                            <a:srgbClr val="20242B"/>
                          </a:solidFill>
                          <a:latin typeface="Inter"/>
                        </a:rPr>
                        <a:t>R19,990</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400" b="0">
                          <a:solidFill>
                            <a:srgbClr val="20242B"/>
                          </a:solidFill>
                          <a:latin typeface="Inter"/>
                        </a:rPr>
                        <a:t>3 · 15</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400" b="0">
                          <a:solidFill>
                            <a:srgbClr val="20242B"/>
                          </a:solidFill>
                          <a:latin typeface="Inter"/>
                        </a:rPr>
                        <a:t>R1,399</a:t>
                      </a:r>
                    </a:p>
                  </a:txBody>
                  <a:tcPr marL="109728" marR="109728" marT="36576" marB="36576" anchor="ctr">
                    <a:lnL w="0">
                      <a:noFill/>
                    </a:lnL>
                    <a:lnR w="0">
                      <a:noFill/>
                    </a:lnR>
                    <a:lnT w="0">
                      <a:noFill/>
                    </a:lnT>
                    <a:lnB w="12700">
                      <a:solidFill>
                        <a:srgbClr val="E3E6EA"/>
                      </a:solidFill>
                    </a:lnB>
                    <a:solidFill>
                      <a:srgbClr val="FFF4EB"/>
                    </a:solidFill>
                  </a:tcPr>
                </a:tc>
              </a:tr>
              <a:tr h="393192">
                <a:tc>
                  <a:txBody>
                    <a:bodyPr wrap="square"/>
                    <a:lstStyle/>
                    <a:p>
                      <a:pPr algn="l"/>
                      <a:r>
                        <a:rPr sz="1400" b="1">
                          <a:solidFill>
                            <a:srgbClr val="20242B"/>
                          </a:solidFill>
                          <a:latin typeface="Inter"/>
                        </a:rPr>
                        <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Scale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R4,999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R49,990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10 · 40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R3,499</a:t>
                      </a:r>
                    </a:p>
                  </a:txBody>
                  <a:tcPr marL="109728" marR="109728" marT="36576" marB="36576" anchor="ctr">
                    <a:lnL w="0">
                      <a:noFill/>
                    </a:lnL>
                    <a:lnR w="0">
                      <a:noFill/>
                    </a:lnR>
                    <a:lnT w="0">
                      <a:noFill/>
                    </a:lnT>
                    <a:lnB w="12700">
                      <a:solidFill>
                        <a:srgbClr val="E3E6EA"/>
                      </a:solidFill>
                    </a:lnB>
                    <a:solidFill>
                      <a:srgbClr val="FFFFFF"/>
                    </a:solidFill>
                  </a:tcPr>
                </a:tc>
              </a:tr>
              <a:tr h="393192">
                <a:tc>
                  <a:txBody>
                    <a:bodyPr wrap="square"/>
                    <a:lstStyle/>
                    <a:p>
                      <a:pPr algn="l"/>
                      <a:r>
                        <a:rPr sz="1400" b="1">
                          <a:solidFill>
                            <a:srgbClr val="20242B"/>
                          </a:solidFill>
                          <a:latin typeface="Inter"/>
                        </a:rPr>
                        <a:t>Enterprise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Corporate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R6,999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R69,990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25 · 60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R4,899</a:t>
                      </a:r>
                    </a:p>
                  </a:txBody>
                  <a:tcPr marL="109728" marR="109728" marT="36576" marB="36576" anchor="ctr">
                    <a:lnL w="0">
                      <a:noFill/>
                    </a:lnL>
                    <a:lnR w="0">
                      <a:noFill/>
                    </a:lnR>
                    <a:lnT w="0">
                      <a:noFill/>
                    </a:lnT>
                    <a:lnB w="12700">
                      <a:solidFill>
                        <a:srgbClr val="E3E6EA"/>
                      </a:solidFill>
                    </a:lnB>
                    <a:solidFill>
                      <a:srgbClr val="FFFFFF"/>
                    </a:solidFill>
                  </a:tcPr>
                </a:tc>
              </a:tr>
              <a:tr h="393192">
                <a:tc>
                  <a:txBody>
                    <a:bodyPr wrap="square"/>
                    <a:lstStyle/>
                    <a:p>
                      <a:pPr algn="l"/>
                      <a:r>
                        <a:rPr sz="1400" b="1">
                          <a:solidFill>
                            <a:srgbClr val="20242B"/>
                          </a:solidFill>
                          <a:latin typeface="Inter"/>
                        </a:rPr>
                        <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Agency</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R9,999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R99,990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Unlimited · 80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R6,999</a:t>
                      </a:r>
                    </a:p>
                  </a:txBody>
                  <a:tcPr marL="109728" marR="109728" marT="36576" marB="36576" anchor="ctr">
                    <a:lnL w="0">
                      <a:noFill/>
                    </a:lnL>
                    <a:lnR w="0">
                      <a:noFill/>
                    </a:lnR>
                    <a:lnT w="0">
                      <a:noFill/>
                    </a:lnT>
                    <a:lnB w="12700">
                      <a:solidFill>
                        <a:srgbClr val="E3E6EA"/>
                      </a:solidFill>
                    </a:lnB>
                    <a:solidFill>
                      <a:srgbClr val="FFFFFF"/>
                    </a:solidFill>
                  </a:tcPr>
                </a:tc>
              </a:tr>
              <a:tr h="393192">
                <a:tc>
                  <a:txBody>
                    <a:bodyPr wrap="square"/>
                    <a:lstStyle/>
                    <a:p>
                      <a:pPr algn="l"/>
                      <a:r>
                        <a:rPr sz="1400" b="1">
                          <a:solidFill>
                            <a:srgbClr val="20242B"/>
                          </a:solidFill>
                          <a:latin typeface="Inter"/>
                        </a:rPr>
                        <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Custom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On request</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By consultation</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
                      </a:r>
                    </a:p>
                  </a:txBody>
                  <a:tcPr marL="109728" marR="109728" marT="36576" marB="36576" anchor="ctr">
                    <a:lnL w="0">
                      <a:noFill/>
                    </a:lnL>
                    <a:lnR w="0">
                      <a:noFill/>
                    </a:lnR>
                    <a:lnT w="0">
                      <a:noFill/>
                    </a:lnT>
                    <a:lnB w="12700">
                      <a:solidFill>
                        <a:srgbClr val="E3E6EA"/>
                      </a:solidFill>
                    </a:lnB>
                    <a:solidFill>
                      <a:srgbClr val="FFFFFF"/>
                    </a:solidFill>
                  </a:tcPr>
                </a:tc>
              </a:tr>
            </a:tbl>
          </a:graphicData>
        </a:graphic>
      </p:graphicFrame>
      <p:sp>
        <p:nvSpPr>
          <p:cNvPr id="5" name="g225|caption|"/>
          <p:cNvSpPr txBox="1"/>
          <p:nvPr/>
        </p:nvSpPr>
        <p:spPr>
          <a:xfrm>
            <a:off x="548640" y="5870448"/>
            <a:ext cx="11094415" cy="457200"/>
          </a:xfrm>
          <a:prstGeom prst="rect">
            <a:avLst/>
          </a:prstGeom>
          <a:noFill/>
        </p:spPr>
        <p:txBody>
          <a:bodyPr wrap="square" lIns="0" rIns="0" tIns="0" bIns="0" anchor="t">
            <a:noAutofit/>
          </a:bodyPr>
          <a:lstStyle/>
          <a:p>
            <a:pPr algn="l"/>
            <a:r>
              <a:rPr sz="1200" b="0">
                <a:solidFill>
                  <a:srgbClr val="5B6670"/>
                </a:solidFill>
                <a:latin typeface="Inter"/>
              </a:rPr>
              <a:t>Prices are what you pay. No trials: every paid plan starts with payment; Free is a permanent plan. Founding Member: every plan from Nano to Agency, until 31 Dec 2026. Paid sign-up: South Africa.</a:t>
            </a:r>
          </a:p>
        </p:txBody>
      </p:sp>
      <p:sp>
        <p:nvSpPr>
          <p:cNvPr id="6"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7"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26|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LAUNCH OFFER · LIVE UNTIL 31 DEC 2026</a:t>
            </a:r>
          </a:p>
        </p:txBody>
      </p:sp>
      <p:sp>
        <p:nvSpPr>
          <p:cNvPr id="3" name="hdr226|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Become a Founding Member</a:t>
            </a:r>
          </a:p>
        </p:txBody>
      </p:sp>
      <p:pic>
        <p:nvPicPr>
          <p:cNvPr id="4" name="g227|img|infographics/founding-member-offer.png" descr="Founding Member: 30% off your first two monthly bills on every plan until 31 December 2026: Nano R104, Micro R202, Starter R349, Growth R1,399, Scale R3,499, Corporate R4,899, Agency R6,999; a discount, not a free period"/>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28|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TRUST &amp; COMPLIANCE</a:t>
            </a:r>
          </a:p>
        </p:txBody>
      </p:sp>
      <p:sp>
        <p:nvSpPr>
          <p:cNvPr id="3" name="hdr228|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Built to protect your customers' data</a:t>
            </a:r>
          </a:p>
        </p:txBody>
      </p:sp>
      <p:sp>
        <p:nvSpPr>
          <p:cNvPr id="4" name="trust229|card|"/>
          <p:cNvSpPr/>
          <p:nvPr/>
        </p:nvSpPr>
        <p:spPr>
          <a:xfrm>
            <a:off x="548640" y="1536192"/>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rust229|deco|"/>
          <p:cNvSpPr/>
          <p:nvPr/>
        </p:nvSpPr>
        <p:spPr>
          <a:xfrm>
            <a:off x="813816" y="1801367"/>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trust229|icon|checkCircle_deep.png" descr="checkCircle_deep"/>
          <p:cNvPicPr>
            <a:picLocks noChangeAspect="1"/>
          </p:cNvPicPr>
          <p:nvPr/>
        </p:nvPicPr>
        <p:blipFill>
          <a:blip r:embed="rId2"/>
          <a:srcRect/>
          <a:stretch>
            <a:fillRect/>
          </a:stretch>
        </p:blipFill>
        <p:spPr>
          <a:xfrm>
            <a:off x="970727" y="1958279"/>
            <a:ext cx="399409" cy="399409"/>
          </a:xfrm>
          <a:prstGeom prst="rect">
            <a:avLst/>
          </a:prstGeom>
        </p:spPr>
      </p:pic>
      <p:sp>
        <p:nvSpPr>
          <p:cNvPr id="7" name="trust229|card|"/>
          <p:cNvSpPr txBox="1"/>
          <p:nvPr/>
        </p:nvSpPr>
        <p:spPr>
          <a:xfrm>
            <a:off x="841247" y="2633472"/>
            <a:ext cx="2962656" cy="457200"/>
          </a:xfrm>
          <a:prstGeom prst="rect">
            <a:avLst/>
          </a:prstGeom>
          <a:noFill/>
        </p:spPr>
        <p:txBody>
          <a:bodyPr wrap="square" lIns="0" rIns="0" tIns="0" bIns="0" anchor="t">
            <a:noAutofit/>
          </a:bodyPr>
          <a:lstStyle/>
          <a:p>
            <a:pPr algn="l"/>
            <a:r>
              <a:rPr sz="1800" b="1">
                <a:solidFill>
                  <a:srgbClr val="20242B"/>
                </a:solidFill>
                <a:latin typeface="Poppins"/>
              </a:rPr>
              <a:t>Meta Tech Provider</a:t>
            </a:r>
          </a:p>
        </p:txBody>
      </p:sp>
      <p:sp>
        <p:nvSpPr>
          <p:cNvPr id="8" name="trust229|card|"/>
          <p:cNvSpPr txBox="1"/>
          <p:nvPr/>
        </p:nvSpPr>
        <p:spPr>
          <a:xfrm>
            <a:off x="841247" y="3090672"/>
            <a:ext cx="2962656" cy="411480"/>
          </a:xfrm>
          <a:prstGeom prst="rect">
            <a:avLst/>
          </a:prstGeom>
          <a:noFill/>
        </p:spPr>
        <p:txBody>
          <a:bodyPr wrap="square" lIns="0" rIns="0" tIns="0" bIns="0" anchor="t">
            <a:noAutofit/>
          </a:bodyPr>
          <a:lstStyle/>
          <a:p>
            <a:pPr algn="l"/>
            <a:r>
              <a:rPr sz="1400" b="0">
                <a:solidFill>
                  <a:srgbClr val="5B6670"/>
                </a:solidFill>
                <a:latin typeface="Inter"/>
              </a:rPr>
              <a:t>Verified by Meta</a:t>
            </a:r>
          </a:p>
        </p:txBody>
      </p:sp>
      <p:sp>
        <p:nvSpPr>
          <p:cNvPr id="9" name="trust230|card|"/>
          <p:cNvSpPr/>
          <p:nvPr/>
        </p:nvSpPr>
        <p:spPr>
          <a:xfrm>
            <a:off x="4340199" y="1536192"/>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rust230|deco|"/>
          <p:cNvSpPr/>
          <p:nvPr/>
        </p:nvSpPr>
        <p:spPr>
          <a:xfrm>
            <a:off x="4605375" y="1801367"/>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trust230|icon|chat_deep.png" descr="chat_deep"/>
          <p:cNvPicPr>
            <a:picLocks noChangeAspect="1"/>
          </p:cNvPicPr>
          <p:nvPr/>
        </p:nvPicPr>
        <p:blipFill>
          <a:blip r:embed="rId3"/>
          <a:srcRect/>
          <a:stretch>
            <a:fillRect/>
          </a:stretch>
        </p:blipFill>
        <p:spPr>
          <a:xfrm>
            <a:off x="4762286" y="1958279"/>
            <a:ext cx="399409" cy="399409"/>
          </a:xfrm>
          <a:prstGeom prst="rect">
            <a:avLst/>
          </a:prstGeom>
        </p:spPr>
      </p:pic>
      <p:sp>
        <p:nvSpPr>
          <p:cNvPr id="12" name="trust230|card|"/>
          <p:cNvSpPr txBox="1"/>
          <p:nvPr/>
        </p:nvSpPr>
        <p:spPr>
          <a:xfrm>
            <a:off x="4632807" y="2633472"/>
            <a:ext cx="2962656" cy="457200"/>
          </a:xfrm>
          <a:prstGeom prst="rect">
            <a:avLst/>
          </a:prstGeom>
          <a:noFill/>
        </p:spPr>
        <p:txBody>
          <a:bodyPr wrap="square" lIns="0" rIns="0" tIns="0" bIns="0" anchor="t">
            <a:noAutofit/>
          </a:bodyPr>
          <a:lstStyle/>
          <a:p>
            <a:pPr algn="l"/>
            <a:r>
              <a:rPr sz="1800" b="1">
                <a:solidFill>
                  <a:srgbClr val="20242B"/>
                </a:solidFill>
                <a:latin typeface="Poppins"/>
              </a:rPr>
              <a:t>Official WhatsApp API</a:t>
            </a:r>
          </a:p>
        </p:txBody>
      </p:sp>
      <p:sp>
        <p:nvSpPr>
          <p:cNvPr id="13" name="trust230|card|"/>
          <p:cNvSpPr txBox="1"/>
          <p:nvPr/>
        </p:nvSpPr>
        <p:spPr>
          <a:xfrm>
            <a:off x="4632807" y="3090672"/>
            <a:ext cx="2962656" cy="411480"/>
          </a:xfrm>
          <a:prstGeom prst="rect">
            <a:avLst/>
          </a:prstGeom>
          <a:noFill/>
        </p:spPr>
        <p:txBody>
          <a:bodyPr wrap="square" lIns="0" rIns="0" tIns="0" bIns="0" anchor="t">
            <a:noAutofit/>
          </a:bodyPr>
          <a:lstStyle/>
          <a:p>
            <a:pPr algn="l"/>
            <a:r>
              <a:rPr sz="1400" b="0">
                <a:solidFill>
                  <a:srgbClr val="5B6670"/>
                </a:solidFill>
                <a:latin typeface="Inter"/>
              </a:rPr>
              <a:t>Meta Cloud API</a:t>
            </a:r>
          </a:p>
        </p:txBody>
      </p:sp>
      <p:sp>
        <p:nvSpPr>
          <p:cNvPr id="14" name="trust231|card|"/>
          <p:cNvSpPr/>
          <p:nvPr/>
        </p:nvSpPr>
        <p:spPr>
          <a:xfrm>
            <a:off x="8131759" y="1536192"/>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ust231|deco|"/>
          <p:cNvSpPr/>
          <p:nvPr/>
        </p:nvSpPr>
        <p:spPr>
          <a:xfrm>
            <a:off x="8396935" y="1801367"/>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trust231|icon|shield_deep.png" descr="shield_deep"/>
          <p:cNvPicPr>
            <a:picLocks noChangeAspect="1"/>
          </p:cNvPicPr>
          <p:nvPr/>
        </p:nvPicPr>
        <p:blipFill>
          <a:blip r:embed="rId4"/>
          <a:srcRect/>
          <a:stretch>
            <a:fillRect/>
          </a:stretch>
        </p:blipFill>
        <p:spPr>
          <a:xfrm>
            <a:off x="8553846" y="1958279"/>
            <a:ext cx="399409" cy="399409"/>
          </a:xfrm>
          <a:prstGeom prst="rect">
            <a:avLst/>
          </a:prstGeom>
        </p:spPr>
      </p:pic>
      <p:sp>
        <p:nvSpPr>
          <p:cNvPr id="17" name="trust231|card|"/>
          <p:cNvSpPr txBox="1"/>
          <p:nvPr/>
        </p:nvSpPr>
        <p:spPr>
          <a:xfrm>
            <a:off x="8424367" y="2633472"/>
            <a:ext cx="2962656" cy="457200"/>
          </a:xfrm>
          <a:prstGeom prst="rect">
            <a:avLst/>
          </a:prstGeom>
          <a:noFill/>
        </p:spPr>
        <p:txBody>
          <a:bodyPr wrap="square" lIns="0" rIns="0" tIns="0" bIns="0" anchor="t">
            <a:noAutofit/>
          </a:bodyPr>
          <a:lstStyle/>
          <a:p>
            <a:pPr algn="l"/>
            <a:r>
              <a:rPr sz="1800" b="1">
                <a:solidFill>
                  <a:srgbClr val="20242B"/>
                </a:solidFill>
                <a:latin typeface="Poppins"/>
              </a:rPr>
              <a:t>POPIA-aligned</a:t>
            </a:r>
          </a:p>
        </p:txBody>
      </p:sp>
      <p:sp>
        <p:nvSpPr>
          <p:cNvPr id="18" name="trust231|card|"/>
          <p:cNvSpPr txBox="1"/>
          <p:nvPr/>
        </p:nvSpPr>
        <p:spPr>
          <a:xfrm>
            <a:off x="8424367" y="3090672"/>
            <a:ext cx="2962656" cy="411480"/>
          </a:xfrm>
          <a:prstGeom prst="rect">
            <a:avLst/>
          </a:prstGeom>
          <a:noFill/>
        </p:spPr>
        <p:txBody>
          <a:bodyPr wrap="square" lIns="0" rIns="0" tIns="0" bIns="0" anchor="t">
            <a:noAutofit/>
          </a:bodyPr>
          <a:lstStyle/>
          <a:p>
            <a:pPr algn="l"/>
            <a:r>
              <a:rPr sz="1400" b="0">
                <a:solidFill>
                  <a:srgbClr val="5B6670"/>
                </a:solidFill>
                <a:latin typeface="Inter"/>
              </a:rPr>
              <a:t>Consented broadcasts only</a:t>
            </a:r>
          </a:p>
        </p:txBody>
      </p:sp>
      <p:sp>
        <p:nvSpPr>
          <p:cNvPr id="19" name="trust232|card|"/>
          <p:cNvSpPr/>
          <p:nvPr/>
        </p:nvSpPr>
        <p:spPr>
          <a:xfrm>
            <a:off x="548640" y="3950208"/>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ust232|deco|"/>
          <p:cNvSpPr/>
          <p:nvPr/>
        </p:nvSpPr>
        <p:spPr>
          <a:xfrm>
            <a:off x="813816" y="4215384"/>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trust232|icon|layers_deep.png" descr="layers_deep"/>
          <p:cNvPicPr>
            <a:picLocks noChangeAspect="1"/>
          </p:cNvPicPr>
          <p:nvPr/>
        </p:nvPicPr>
        <p:blipFill>
          <a:blip r:embed="rId5"/>
          <a:srcRect/>
          <a:stretch>
            <a:fillRect/>
          </a:stretch>
        </p:blipFill>
        <p:spPr>
          <a:xfrm>
            <a:off x="970727" y="4372295"/>
            <a:ext cx="399409" cy="399409"/>
          </a:xfrm>
          <a:prstGeom prst="rect">
            <a:avLst/>
          </a:prstGeom>
        </p:spPr>
      </p:pic>
      <p:sp>
        <p:nvSpPr>
          <p:cNvPr id="22" name="trust232|card|"/>
          <p:cNvSpPr txBox="1"/>
          <p:nvPr/>
        </p:nvSpPr>
        <p:spPr>
          <a:xfrm>
            <a:off x="841247" y="5047488"/>
            <a:ext cx="2962656" cy="457200"/>
          </a:xfrm>
          <a:prstGeom prst="rect">
            <a:avLst/>
          </a:prstGeom>
          <a:noFill/>
        </p:spPr>
        <p:txBody>
          <a:bodyPr wrap="square" lIns="0" rIns="0" tIns="0" bIns="0" anchor="t">
            <a:noAutofit/>
          </a:bodyPr>
          <a:lstStyle/>
          <a:p>
            <a:pPr algn="l"/>
            <a:r>
              <a:rPr sz="1800" b="1">
                <a:solidFill>
                  <a:srgbClr val="20242B"/>
                </a:solidFill>
                <a:latin typeface="Poppins"/>
              </a:rPr>
              <a:t>Row-level security</a:t>
            </a:r>
          </a:p>
        </p:txBody>
      </p:sp>
      <p:sp>
        <p:nvSpPr>
          <p:cNvPr id="23" name="trust232|card|"/>
          <p:cNvSpPr txBox="1"/>
          <p:nvPr/>
        </p:nvSpPr>
        <p:spPr>
          <a:xfrm>
            <a:off x="841247" y="5504688"/>
            <a:ext cx="2962656" cy="411480"/>
          </a:xfrm>
          <a:prstGeom prst="rect">
            <a:avLst/>
          </a:prstGeom>
          <a:noFill/>
        </p:spPr>
        <p:txBody>
          <a:bodyPr wrap="square" lIns="0" rIns="0" tIns="0" bIns="0" anchor="t">
            <a:noAutofit/>
          </a:bodyPr>
          <a:lstStyle/>
          <a:p>
            <a:pPr algn="l"/>
            <a:r>
              <a:rPr sz="1400" b="0">
                <a:solidFill>
                  <a:srgbClr val="5B6670"/>
                </a:solidFill>
                <a:latin typeface="Inter"/>
              </a:rPr>
              <a:t>Your data kept separate</a:t>
            </a:r>
          </a:p>
        </p:txBody>
      </p:sp>
      <p:sp>
        <p:nvSpPr>
          <p:cNvPr id="24" name="trust233|card|"/>
          <p:cNvSpPr/>
          <p:nvPr/>
        </p:nvSpPr>
        <p:spPr>
          <a:xfrm>
            <a:off x="4340199" y="3950208"/>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ust233|deco|"/>
          <p:cNvSpPr/>
          <p:nvPr/>
        </p:nvSpPr>
        <p:spPr>
          <a:xfrm>
            <a:off x="4605375" y="4215384"/>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trust233|icon|plug_deep.png" descr="plug_deep"/>
          <p:cNvPicPr>
            <a:picLocks noChangeAspect="1"/>
          </p:cNvPicPr>
          <p:nvPr/>
        </p:nvPicPr>
        <p:blipFill>
          <a:blip r:embed="rId6"/>
          <a:srcRect/>
          <a:stretch>
            <a:fillRect/>
          </a:stretch>
        </p:blipFill>
        <p:spPr>
          <a:xfrm>
            <a:off x="4762286" y="4372295"/>
            <a:ext cx="399409" cy="399409"/>
          </a:xfrm>
          <a:prstGeom prst="rect">
            <a:avLst/>
          </a:prstGeom>
        </p:spPr>
      </p:pic>
      <p:sp>
        <p:nvSpPr>
          <p:cNvPr id="27" name="trust233|card|"/>
          <p:cNvSpPr txBox="1"/>
          <p:nvPr/>
        </p:nvSpPr>
        <p:spPr>
          <a:xfrm>
            <a:off x="4632807" y="5047488"/>
            <a:ext cx="2962656" cy="457200"/>
          </a:xfrm>
          <a:prstGeom prst="rect">
            <a:avLst/>
          </a:prstGeom>
          <a:noFill/>
        </p:spPr>
        <p:txBody>
          <a:bodyPr wrap="square" lIns="0" rIns="0" tIns="0" bIns="0" anchor="t">
            <a:noAutofit/>
          </a:bodyPr>
          <a:lstStyle/>
          <a:p>
            <a:pPr algn="l"/>
            <a:r>
              <a:rPr sz="1800" b="1">
                <a:solidFill>
                  <a:srgbClr val="20242B"/>
                </a:solidFill>
                <a:latin typeface="Poppins"/>
              </a:rPr>
              <a:t>Encrypted tokens</a:t>
            </a:r>
          </a:p>
        </p:txBody>
      </p:sp>
      <p:sp>
        <p:nvSpPr>
          <p:cNvPr id="28" name="trust233|card|"/>
          <p:cNvSpPr txBox="1"/>
          <p:nvPr/>
        </p:nvSpPr>
        <p:spPr>
          <a:xfrm>
            <a:off x="4632807" y="5504688"/>
            <a:ext cx="2962656" cy="411480"/>
          </a:xfrm>
          <a:prstGeom prst="rect">
            <a:avLst/>
          </a:prstGeom>
          <a:noFill/>
        </p:spPr>
        <p:txBody>
          <a:bodyPr wrap="square" lIns="0" rIns="0" tIns="0" bIns="0" anchor="t">
            <a:noAutofit/>
          </a:bodyPr>
          <a:lstStyle/>
          <a:p>
            <a:pPr algn="l"/>
            <a:r>
              <a:rPr sz="1400" b="0">
                <a:solidFill>
                  <a:srgbClr val="5B6670"/>
                </a:solidFill>
                <a:latin typeface="Inter"/>
              </a:rPr>
              <a:t>Connected accounts</a:t>
            </a:r>
          </a:p>
        </p:txBody>
      </p:sp>
      <p:sp>
        <p:nvSpPr>
          <p:cNvPr id="29" name="trust234|card|"/>
          <p:cNvSpPr/>
          <p:nvPr/>
        </p:nvSpPr>
        <p:spPr>
          <a:xfrm>
            <a:off x="8131759" y="3950208"/>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rust234|deco|"/>
          <p:cNvSpPr/>
          <p:nvPr/>
        </p:nvSpPr>
        <p:spPr>
          <a:xfrm>
            <a:off x="8396935" y="4215384"/>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trust234|icon|refresh_deep.png" descr="refresh_deep"/>
          <p:cNvPicPr>
            <a:picLocks noChangeAspect="1"/>
          </p:cNvPicPr>
          <p:nvPr/>
        </p:nvPicPr>
        <p:blipFill>
          <a:blip r:embed="rId7"/>
          <a:srcRect/>
          <a:stretch>
            <a:fillRect/>
          </a:stretch>
        </p:blipFill>
        <p:spPr>
          <a:xfrm>
            <a:off x="8553846" y="4372295"/>
            <a:ext cx="399409" cy="399409"/>
          </a:xfrm>
          <a:prstGeom prst="rect">
            <a:avLst/>
          </a:prstGeom>
        </p:spPr>
      </p:pic>
      <p:sp>
        <p:nvSpPr>
          <p:cNvPr id="32" name="trust234|card|"/>
          <p:cNvSpPr txBox="1"/>
          <p:nvPr/>
        </p:nvSpPr>
        <p:spPr>
          <a:xfrm>
            <a:off x="8424367" y="5047488"/>
            <a:ext cx="2962656" cy="457200"/>
          </a:xfrm>
          <a:prstGeom prst="rect">
            <a:avLst/>
          </a:prstGeom>
          <a:noFill/>
        </p:spPr>
        <p:txBody>
          <a:bodyPr wrap="square" lIns="0" rIns="0" tIns="0" bIns="0" anchor="t">
            <a:noAutofit/>
          </a:bodyPr>
          <a:lstStyle/>
          <a:p>
            <a:pPr algn="l"/>
            <a:r>
              <a:rPr sz="1800" b="1">
                <a:solidFill>
                  <a:srgbClr val="20242B"/>
                </a:solidFill>
                <a:latin typeface="Poppins"/>
              </a:rPr>
              <a:t>Data export &amp; deletion</a:t>
            </a:r>
          </a:p>
        </p:txBody>
      </p:sp>
      <p:sp>
        <p:nvSpPr>
          <p:cNvPr id="33" name="trust234|card|"/>
          <p:cNvSpPr txBox="1"/>
          <p:nvPr/>
        </p:nvSpPr>
        <p:spPr>
          <a:xfrm>
            <a:off x="8424367" y="5504688"/>
            <a:ext cx="2962656" cy="411480"/>
          </a:xfrm>
          <a:prstGeom prst="rect">
            <a:avLst/>
          </a:prstGeom>
          <a:noFill/>
        </p:spPr>
        <p:txBody>
          <a:bodyPr wrap="square" lIns="0" rIns="0" tIns="0" bIns="0" anchor="t">
            <a:noAutofit/>
          </a:bodyPr>
          <a:lstStyle/>
          <a:p>
            <a:pPr algn="l"/>
            <a:r>
              <a:rPr sz="1400" b="0">
                <a:solidFill>
                  <a:srgbClr val="5B6670"/>
                </a:solidFill>
                <a:latin typeface="Inter"/>
              </a:rPr>
              <a:t>Export data, delete account</a:t>
            </a:r>
          </a:p>
        </p:txBody>
      </p:sp>
      <p:sp>
        <p:nvSpPr>
          <p:cNvPr id="34"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35"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35|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ROADMAP · INDICATIVE, NO DATES</a:t>
            </a:r>
          </a:p>
        </p:txBody>
      </p:sp>
      <p:sp>
        <p:nvSpPr>
          <p:cNvPr id="3" name="hdr235|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What comes next, in order</a:t>
            </a:r>
          </a:p>
        </p:txBody>
      </p:sp>
      <p:pic>
        <p:nvPicPr>
          <p:cNvPr id="4" name="g236|img|infographics/roadmap-2026-2027.png" descr="Indicative order, no dates. Markets: South Africa open now, then checkout through FluxMuse, then Nigeria, Kenya and Ghana, then other markets in USD. Product: live today including the partner programme, then Meta permissions, social adapters, business apps"/>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hdr237|eyebrow|"/>
          <p:cNvSpPr txBox="1"/>
          <p:nvPr/>
        </p:nvSpPr>
        <p:spPr>
          <a:xfrm>
            <a:off x="548640" y="731520"/>
            <a:ext cx="11094415" cy="274320"/>
          </a:xfrm>
          <a:prstGeom prst="rect">
            <a:avLst/>
          </a:prstGeom>
          <a:noFill/>
        </p:spPr>
        <p:txBody>
          <a:bodyPr wrap="square" lIns="0" rIns="0" tIns="0" bIns="0" anchor="t">
            <a:noAutofit/>
          </a:bodyPr>
          <a:lstStyle/>
          <a:p>
            <a:pPr algn="l"/>
            <a:r>
              <a:rPr sz="1200" b="1" spc="150">
                <a:solidFill>
                  <a:srgbClr val="FF6A00"/>
                </a:solidFill>
                <a:latin typeface="Inter"/>
              </a:rPr>
              <a:t>NEXT STEPS</a:t>
            </a:r>
          </a:p>
        </p:txBody>
      </p:sp>
      <p:sp>
        <p:nvSpPr>
          <p:cNvPr id="3" name="hdr237|title|"/>
          <p:cNvSpPr txBox="1"/>
          <p:nvPr/>
        </p:nvSpPr>
        <p:spPr>
          <a:xfrm>
            <a:off x="548640" y="1005840"/>
            <a:ext cx="11094415" cy="731520"/>
          </a:xfrm>
          <a:prstGeom prst="rect">
            <a:avLst/>
          </a:prstGeom>
          <a:noFill/>
        </p:spPr>
        <p:txBody>
          <a:bodyPr wrap="square" lIns="0" rIns="0" tIns="0" bIns="0" anchor="t">
            <a:noAutofit/>
          </a:bodyPr>
          <a:lstStyle/>
          <a:p>
            <a:pPr algn="l"/>
            <a:r>
              <a:rPr sz="3600" b="1">
                <a:solidFill>
                  <a:srgbClr val="FFFFFF"/>
                </a:solidFill>
                <a:latin typeface="Poppins"/>
              </a:rPr>
              <a:t>Let's get you selling on WhatsApp</a:t>
            </a:r>
          </a:p>
        </p:txBody>
      </p:sp>
      <p:sp>
        <p:nvSpPr>
          <p:cNvPr id="4" name="cta238|card|"/>
          <p:cNvSpPr/>
          <p:nvPr/>
        </p:nvSpPr>
        <p:spPr>
          <a:xfrm>
            <a:off x="548640" y="2057400"/>
            <a:ext cx="6903720" cy="1115568"/>
          </a:xfrm>
          <a:prstGeom prst="roundRect">
            <a:avLst>
              <a:gd name="adj" fmla="val 14754"/>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ta238|deco|"/>
          <p:cNvSpPr/>
          <p:nvPr/>
        </p:nvSpPr>
        <p:spPr>
          <a:xfrm>
            <a:off x="841247" y="2331720"/>
            <a:ext cx="566928" cy="566928"/>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ta238|card|"/>
          <p:cNvSpPr txBox="1"/>
          <p:nvPr/>
        </p:nvSpPr>
        <p:spPr>
          <a:xfrm>
            <a:off x="841247" y="2331720"/>
            <a:ext cx="566928" cy="566928"/>
          </a:xfrm>
          <a:prstGeom prst="rect">
            <a:avLst/>
          </a:prstGeom>
          <a:noFill/>
        </p:spPr>
        <p:txBody>
          <a:bodyPr wrap="square" lIns="0" rIns="0" tIns="0" bIns="0" anchor="ctr">
            <a:noAutofit/>
          </a:bodyPr>
          <a:lstStyle/>
          <a:p>
            <a:pPr algn="ctr"/>
            <a:r>
              <a:rPr sz="2000" b="1">
                <a:solidFill>
                  <a:srgbClr val="0F1419"/>
                </a:solidFill>
                <a:latin typeface="Poppins"/>
              </a:rPr>
              <a:t>1</a:t>
            </a:r>
          </a:p>
        </p:txBody>
      </p:sp>
      <p:sp>
        <p:nvSpPr>
          <p:cNvPr id="7" name="cta238|card|"/>
          <p:cNvSpPr txBox="1"/>
          <p:nvPr/>
        </p:nvSpPr>
        <p:spPr>
          <a:xfrm>
            <a:off x="1645919" y="2240280"/>
            <a:ext cx="5623560" cy="411480"/>
          </a:xfrm>
          <a:prstGeom prst="rect">
            <a:avLst/>
          </a:prstGeom>
          <a:noFill/>
        </p:spPr>
        <p:txBody>
          <a:bodyPr wrap="square" lIns="0" rIns="0" tIns="0" bIns="0" anchor="t">
            <a:noAutofit/>
          </a:bodyPr>
          <a:lstStyle/>
          <a:p>
            <a:pPr algn="l"/>
            <a:r>
              <a:rPr sz="2000" b="1">
                <a:solidFill>
                  <a:srgbClr val="FFFFFF"/>
                </a:solidFill>
                <a:latin typeface="Poppins"/>
              </a:rPr>
              <a:t>Book a 20-minute call</a:t>
            </a:r>
          </a:p>
        </p:txBody>
      </p:sp>
      <p:sp>
        <p:nvSpPr>
          <p:cNvPr id="8" name="cta238|card|"/>
          <p:cNvSpPr txBox="1"/>
          <p:nvPr/>
        </p:nvSpPr>
        <p:spPr>
          <a:xfrm>
            <a:off x="1645919" y="2697480"/>
            <a:ext cx="5623560" cy="347472"/>
          </a:xfrm>
          <a:prstGeom prst="rect">
            <a:avLst/>
          </a:prstGeom>
          <a:noFill/>
        </p:spPr>
        <p:txBody>
          <a:bodyPr wrap="square" lIns="0" rIns="0" tIns="0" bIns="0" anchor="t">
            <a:noAutofit/>
          </a:bodyPr>
          <a:lstStyle/>
          <a:p>
            <a:pPr algn="l"/>
            <a:r>
              <a:rPr sz="1500" b="0">
                <a:solidFill>
                  <a:srgbClr val="A7B0B8"/>
                </a:solidFill>
                <a:latin typeface="Inter"/>
              </a:rPr>
              <a:t>Goals, channels, tools and team.</a:t>
            </a:r>
          </a:p>
        </p:txBody>
      </p:sp>
      <p:sp>
        <p:nvSpPr>
          <p:cNvPr id="9" name="cta239|card|"/>
          <p:cNvSpPr/>
          <p:nvPr/>
        </p:nvSpPr>
        <p:spPr>
          <a:xfrm>
            <a:off x="548640" y="3355848"/>
            <a:ext cx="6903720" cy="1115568"/>
          </a:xfrm>
          <a:prstGeom prst="roundRect">
            <a:avLst>
              <a:gd name="adj" fmla="val 14754"/>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ta239|deco|"/>
          <p:cNvSpPr/>
          <p:nvPr/>
        </p:nvSpPr>
        <p:spPr>
          <a:xfrm>
            <a:off x="841247" y="3630168"/>
            <a:ext cx="566928" cy="566928"/>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ta239|card|"/>
          <p:cNvSpPr txBox="1"/>
          <p:nvPr/>
        </p:nvSpPr>
        <p:spPr>
          <a:xfrm>
            <a:off x="841247" y="3630168"/>
            <a:ext cx="566928" cy="566928"/>
          </a:xfrm>
          <a:prstGeom prst="rect">
            <a:avLst/>
          </a:prstGeom>
          <a:noFill/>
        </p:spPr>
        <p:txBody>
          <a:bodyPr wrap="square" lIns="0" rIns="0" tIns="0" bIns="0" anchor="ctr">
            <a:noAutofit/>
          </a:bodyPr>
          <a:lstStyle/>
          <a:p>
            <a:pPr algn="ctr"/>
            <a:r>
              <a:rPr sz="2000" b="1">
                <a:solidFill>
                  <a:srgbClr val="0F1419"/>
                </a:solidFill>
                <a:latin typeface="Poppins"/>
              </a:rPr>
              <a:t>2</a:t>
            </a:r>
          </a:p>
        </p:txBody>
      </p:sp>
      <p:sp>
        <p:nvSpPr>
          <p:cNvPr id="12" name="cta239|card|"/>
          <p:cNvSpPr txBox="1"/>
          <p:nvPr/>
        </p:nvSpPr>
        <p:spPr>
          <a:xfrm>
            <a:off x="1645919" y="3538728"/>
            <a:ext cx="5623560" cy="411480"/>
          </a:xfrm>
          <a:prstGeom prst="rect">
            <a:avLst/>
          </a:prstGeom>
          <a:noFill/>
        </p:spPr>
        <p:txBody>
          <a:bodyPr wrap="square" lIns="0" rIns="0" tIns="0" bIns="0" anchor="t">
            <a:noAutofit/>
          </a:bodyPr>
          <a:lstStyle/>
          <a:p>
            <a:pPr algn="l"/>
            <a:r>
              <a:rPr sz="2000" b="1">
                <a:solidFill>
                  <a:srgbClr val="FFFFFF"/>
                </a:solidFill>
                <a:latin typeface="Poppins"/>
              </a:rPr>
              <a:t>See a demo on your products</a:t>
            </a:r>
          </a:p>
        </p:txBody>
      </p:sp>
      <p:sp>
        <p:nvSpPr>
          <p:cNvPr id="13" name="cta239|card|"/>
          <p:cNvSpPr txBox="1"/>
          <p:nvPr/>
        </p:nvSpPr>
        <p:spPr>
          <a:xfrm>
            <a:off x="1645919" y="3995928"/>
            <a:ext cx="5623560" cy="347472"/>
          </a:xfrm>
          <a:prstGeom prst="rect">
            <a:avLst/>
          </a:prstGeom>
          <a:noFill/>
        </p:spPr>
        <p:txBody>
          <a:bodyPr wrap="square" lIns="0" rIns="0" tIns="0" bIns="0" anchor="t">
            <a:noAutofit/>
          </a:bodyPr>
          <a:lstStyle/>
          <a:p>
            <a:pPr algn="l"/>
            <a:r>
              <a:rPr sz="1500" b="0">
                <a:solidFill>
                  <a:srgbClr val="A7B0B8"/>
                </a:solidFill>
                <a:latin typeface="Inter"/>
              </a:rPr>
              <a:t>Built from your own photos.</a:t>
            </a:r>
          </a:p>
        </p:txBody>
      </p:sp>
      <p:sp>
        <p:nvSpPr>
          <p:cNvPr id="14" name="cta240|card|"/>
          <p:cNvSpPr/>
          <p:nvPr/>
        </p:nvSpPr>
        <p:spPr>
          <a:xfrm>
            <a:off x="548640" y="4654296"/>
            <a:ext cx="6903720" cy="1115568"/>
          </a:xfrm>
          <a:prstGeom prst="roundRect">
            <a:avLst>
              <a:gd name="adj" fmla="val 14754"/>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ta240|deco|"/>
          <p:cNvSpPr/>
          <p:nvPr/>
        </p:nvSpPr>
        <p:spPr>
          <a:xfrm>
            <a:off x="841247" y="4928616"/>
            <a:ext cx="566928" cy="566928"/>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ta240|card|"/>
          <p:cNvSpPr txBox="1"/>
          <p:nvPr/>
        </p:nvSpPr>
        <p:spPr>
          <a:xfrm>
            <a:off x="841247" y="4928616"/>
            <a:ext cx="566928" cy="566928"/>
          </a:xfrm>
          <a:prstGeom prst="rect">
            <a:avLst/>
          </a:prstGeom>
          <a:noFill/>
        </p:spPr>
        <p:txBody>
          <a:bodyPr wrap="square" lIns="0" rIns="0" tIns="0" bIns="0" anchor="ctr">
            <a:noAutofit/>
          </a:bodyPr>
          <a:lstStyle/>
          <a:p>
            <a:pPr algn="ctr"/>
            <a:r>
              <a:rPr sz="2000" b="1">
                <a:solidFill>
                  <a:srgbClr val="0F1419"/>
                </a:solidFill>
                <a:latin typeface="Poppins"/>
              </a:rPr>
              <a:t>3</a:t>
            </a:r>
          </a:p>
        </p:txBody>
      </p:sp>
      <p:sp>
        <p:nvSpPr>
          <p:cNvPr id="17" name="cta240|card|"/>
          <p:cNvSpPr txBox="1"/>
          <p:nvPr/>
        </p:nvSpPr>
        <p:spPr>
          <a:xfrm>
            <a:off x="1645919" y="4837176"/>
            <a:ext cx="5623560" cy="411480"/>
          </a:xfrm>
          <a:prstGeom prst="rect">
            <a:avLst/>
          </a:prstGeom>
          <a:noFill/>
        </p:spPr>
        <p:txBody>
          <a:bodyPr wrap="square" lIns="0" rIns="0" tIns="0" bIns="0" anchor="t">
            <a:noAutofit/>
          </a:bodyPr>
          <a:lstStyle/>
          <a:p>
            <a:pPr algn="l"/>
            <a:r>
              <a:rPr sz="2000" b="1">
                <a:solidFill>
                  <a:srgbClr val="FFFFFF"/>
                </a:solidFill>
                <a:latin typeface="Poppins"/>
              </a:rPr>
              <a:t>Get a tailored proposal</a:t>
            </a:r>
          </a:p>
        </p:txBody>
      </p:sp>
      <p:sp>
        <p:nvSpPr>
          <p:cNvPr id="18" name="cta240|card|"/>
          <p:cNvSpPr txBox="1"/>
          <p:nvPr/>
        </p:nvSpPr>
        <p:spPr>
          <a:xfrm>
            <a:off x="1645919" y="5294376"/>
            <a:ext cx="5623560" cy="347472"/>
          </a:xfrm>
          <a:prstGeom prst="rect">
            <a:avLst/>
          </a:prstGeom>
          <a:noFill/>
        </p:spPr>
        <p:txBody>
          <a:bodyPr wrap="square" lIns="0" rIns="0" tIns="0" bIns="0" anchor="t">
            <a:noAutofit/>
          </a:bodyPr>
          <a:lstStyle/>
          <a:p>
            <a:pPr algn="l"/>
            <a:r>
              <a:rPr sz="1500" b="0">
                <a:solidFill>
                  <a:srgbClr val="A7B0B8"/>
                </a:solidFill>
                <a:latin typeface="Inter"/>
              </a:rPr>
              <a:t>Starter, Growth, Scale or Corporate.</a:t>
            </a:r>
          </a:p>
        </p:txBody>
      </p:sp>
      <p:sp>
        <p:nvSpPr>
          <p:cNvPr id="19" name="contact241|card|"/>
          <p:cNvSpPr/>
          <p:nvPr/>
        </p:nvSpPr>
        <p:spPr>
          <a:xfrm>
            <a:off x="7772400" y="2057400"/>
            <a:ext cx="3867912" cy="3712463"/>
          </a:xfrm>
          <a:prstGeom prst="roundRect">
            <a:avLst>
              <a:gd name="adj" fmla="val 4433"/>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ontact241|eyebrow|"/>
          <p:cNvSpPr txBox="1"/>
          <p:nvPr/>
        </p:nvSpPr>
        <p:spPr>
          <a:xfrm>
            <a:off x="8092440" y="2286000"/>
            <a:ext cx="3291840" cy="274320"/>
          </a:xfrm>
          <a:prstGeom prst="rect">
            <a:avLst/>
          </a:prstGeom>
          <a:noFill/>
        </p:spPr>
        <p:txBody>
          <a:bodyPr wrap="square" lIns="0" rIns="0" tIns="0" bIns="0" anchor="t">
            <a:noAutofit/>
          </a:bodyPr>
          <a:lstStyle/>
          <a:p>
            <a:pPr algn="l"/>
            <a:r>
              <a:rPr sz="1200" b="1" spc="150">
                <a:solidFill>
                  <a:srgbClr val="FF6A00"/>
                </a:solidFill>
                <a:latin typeface="Inter"/>
              </a:rPr>
              <a:t>TALK TO US</a:t>
            </a:r>
          </a:p>
        </p:txBody>
      </p:sp>
      <p:sp>
        <p:nvSpPr>
          <p:cNvPr id="21" name="contact241|body|"/>
          <p:cNvSpPr txBox="1"/>
          <p:nvPr/>
        </p:nvSpPr>
        <p:spPr>
          <a:xfrm>
            <a:off x="8092440" y="2606040"/>
            <a:ext cx="3291840" cy="1280160"/>
          </a:xfrm>
          <a:prstGeom prst="rect">
            <a:avLst/>
          </a:prstGeom>
          <a:noFill/>
        </p:spPr>
        <p:txBody>
          <a:bodyPr wrap="square" lIns="0" rIns="0" tIns="0" bIns="0" anchor="t">
            <a:noAutofit/>
          </a:bodyPr>
          <a:lstStyle/>
          <a:p>
            <a:pPr algn="l">
              <a:spcAft>
                <a:spcPts val="200"/>
              </a:spcAft>
            </a:pPr>
            <a:r>
              <a:rPr sz="1500" b="1">
                <a:solidFill>
                  <a:srgbClr val="FFFFFF"/>
                </a:solidFill>
                <a:latin typeface="Inter"/>
              </a:rPr>
              <a:t>Thabo Malebadi</a:t>
            </a:r>
          </a:p>
          <a:p>
            <a:pPr algn="l">
              <a:spcAft>
                <a:spcPts val="400"/>
              </a:spcAft>
            </a:pPr>
            <a:r>
              <a:rPr sz="1500" b="0">
                <a:solidFill>
                  <a:srgbClr val="D5DADF"/>
                </a:solidFill>
                <a:latin typeface="Inter"/>
              </a:rPr>
              <a:t>Founder</a:t>
            </a:r>
          </a:p>
          <a:p>
            <a:pPr algn="l">
              <a:spcAft>
                <a:spcPts val="400"/>
              </a:spcAft>
            </a:pPr>
            <a:r>
              <a:rPr sz="1500" b="0">
                <a:solidFill>
                  <a:srgbClr val="D5DADF"/>
                </a:solidFill>
                <a:latin typeface="Inter"/>
              </a:rPr>
              <a:t>thabo@fluxmuse.com</a:t>
            </a:r>
          </a:p>
          <a:p>
            <a:pPr algn="l"/>
            <a:r>
              <a:rPr sz="1500" b="0">
                <a:solidFill>
                  <a:srgbClr val="D5DADF"/>
                </a:solidFill>
                <a:latin typeface="Inter"/>
              </a:rPr>
              <a:t>fluxmuse.ai</a:t>
            </a:r>
          </a:p>
        </p:txBody>
      </p:sp>
      <p:sp>
        <p:nvSpPr>
          <p:cNvPr id="22" name="contact241|deco|"/>
          <p:cNvSpPr/>
          <p:nvPr/>
        </p:nvSpPr>
        <p:spPr>
          <a:xfrm>
            <a:off x="8092440" y="4023360"/>
            <a:ext cx="1371600" cy="1371600"/>
          </a:xfrm>
          <a:prstGeom prst="roundRect">
            <a:avLst>
              <a:gd name="adj" fmla="val 6666"/>
            </a:avLst>
          </a:prstGeom>
          <a:noFill/>
          <a:ln w="15875">
            <a:solidFill>
              <a:srgbClr val="A7B0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ntact241|caption|"/>
          <p:cNvSpPr txBox="1"/>
          <p:nvPr/>
        </p:nvSpPr>
        <p:spPr>
          <a:xfrm>
            <a:off x="8092440" y="4023360"/>
            <a:ext cx="1371600" cy="1371600"/>
          </a:xfrm>
          <a:prstGeom prst="rect">
            <a:avLst/>
          </a:prstGeom>
          <a:noFill/>
        </p:spPr>
        <p:txBody>
          <a:bodyPr wrap="square" lIns="0" rIns="0" tIns="0" bIns="0" anchor="ctr">
            <a:noAutofit/>
          </a:bodyPr>
          <a:lstStyle/>
          <a:p>
            <a:pPr algn="ctr"/>
            <a:r>
              <a:rPr sz="1100" b="0">
                <a:solidFill>
                  <a:srgbClr val="A7B0B8"/>
                </a:solidFill>
                <a:latin typeface="Inter"/>
              </a:rPr>
              <a:t>[[wa.me QR CODE]]</a:t>
            </a:r>
          </a:p>
        </p:txBody>
      </p:sp>
      <p:sp>
        <p:nvSpPr>
          <p:cNvPr id="24" name="contact241|placeholder|"/>
          <p:cNvSpPr txBox="1"/>
          <p:nvPr/>
        </p:nvSpPr>
        <p:spPr>
          <a:xfrm>
            <a:off x="9646920" y="4114800"/>
            <a:ext cx="1828800" cy="1280160"/>
          </a:xfrm>
          <a:prstGeom prst="rect">
            <a:avLst/>
          </a:prstGeom>
          <a:noFill/>
        </p:spPr>
        <p:txBody>
          <a:bodyPr wrap="square" lIns="0" rIns="0" tIns="0" bIns="0" anchor="t">
            <a:noAutofit/>
          </a:bodyPr>
          <a:lstStyle/>
          <a:p>
            <a:pPr algn="l">
              <a:spcAft>
                <a:spcPts val="600"/>
              </a:spcAft>
            </a:pPr>
            <a:r>
              <a:rPr sz="1400" b="0">
                <a:solidFill>
                  <a:srgbClr val="A7B0B8"/>
                </a:solidFill>
                <a:latin typeface="Inter"/>
              </a:rPr>
              <a:t>Scan to chat on WhatsApp</a:t>
            </a:r>
          </a:p>
          <a:p>
            <a:pPr algn="l"/>
            <a:r>
              <a:rPr sz="1400" b="1">
                <a:solidFill>
                  <a:srgbClr val="FFFFFF"/>
                </a:solidFill>
                <a:latin typeface="Inter"/>
              </a:rPr>
              <a:t>wa.me/</a:t>
            </a:r>
          </a:p>
          <a:p>
            <a:pPr algn="l"/>
            <a:r>
              <a:rPr sz="1400" b="1">
                <a:solidFill>
                  <a:srgbClr val="FFFFFF"/>
                </a:solidFill>
                <a:latin typeface="Inter"/>
              </a:rPr>
              <a:t>[[NUMBER]]</a:t>
            </a:r>
          </a:p>
        </p:txBody>
      </p:sp>
      <p:sp>
        <p:nvSpPr>
          <p:cNvPr id="2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A7B0B8"/>
                </a:solidFill>
                <a:latin typeface="Inter"/>
              </a:rPr>
              <a:t>FluxMuse · fluxmuse.ai</a:t>
            </a:r>
          </a:p>
        </p:txBody>
      </p:sp>
      <p:sp>
        <p:nvSpPr>
          <p:cNvPr id="2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A7B0B8"/>
                </a:solidFill>
                <a:latin typeface="Inter"/>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g242|eyebrow|"/>
          <p:cNvSpPr txBox="1"/>
          <p:nvPr/>
        </p:nvSpPr>
        <p:spPr>
          <a:xfrm>
            <a:off x="548640" y="1371600"/>
            <a:ext cx="11094415" cy="274320"/>
          </a:xfrm>
          <a:prstGeom prst="rect">
            <a:avLst/>
          </a:prstGeom>
          <a:noFill/>
        </p:spPr>
        <p:txBody>
          <a:bodyPr wrap="square" lIns="0" rIns="0" tIns="0" bIns="0" anchor="t">
            <a:noAutofit/>
          </a:bodyPr>
          <a:lstStyle/>
          <a:p>
            <a:pPr algn="l"/>
            <a:r>
              <a:rPr sz="1200" b="1" spc="150">
                <a:solidFill>
                  <a:srgbClr val="FF6A00"/>
                </a:solidFill>
                <a:latin typeface="Inter"/>
              </a:rPr>
              <a:t>APPENDIX</a:t>
            </a:r>
          </a:p>
        </p:txBody>
      </p:sp>
      <p:sp>
        <p:nvSpPr>
          <p:cNvPr id="3" name="g243|title|"/>
          <p:cNvSpPr txBox="1"/>
          <p:nvPr/>
        </p:nvSpPr>
        <p:spPr>
          <a:xfrm>
            <a:off x="548640" y="1664208"/>
            <a:ext cx="11094415" cy="822960"/>
          </a:xfrm>
          <a:prstGeom prst="rect">
            <a:avLst/>
          </a:prstGeom>
          <a:noFill/>
        </p:spPr>
        <p:txBody>
          <a:bodyPr wrap="square" lIns="0" rIns="0" tIns="0" bIns="0" anchor="t">
            <a:noAutofit/>
          </a:bodyPr>
          <a:lstStyle/>
          <a:p>
            <a:pPr algn="l"/>
            <a:r>
              <a:rPr sz="4000" b="1">
                <a:solidFill>
                  <a:srgbClr val="FFFFFF"/>
                </a:solidFill>
                <a:latin typeface="Poppins"/>
              </a:rPr>
              <a:t>Reference slides</a:t>
            </a:r>
          </a:p>
        </p:txBody>
      </p:sp>
      <p:sp>
        <p:nvSpPr>
          <p:cNvPr id="4" name="ax244|chip|"/>
          <p:cNvSpPr/>
          <p:nvPr/>
        </p:nvSpPr>
        <p:spPr>
          <a:xfrm>
            <a:off x="548640" y="2788920"/>
            <a:ext cx="868680" cy="512064"/>
          </a:xfrm>
          <a:prstGeom prst="roundRect">
            <a:avLst>
              <a:gd name="adj" fmla="val 50000"/>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x244|chip|"/>
          <p:cNvSpPr txBox="1"/>
          <p:nvPr/>
        </p:nvSpPr>
        <p:spPr>
          <a:xfrm>
            <a:off x="548640" y="2788920"/>
            <a:ext cx="868680" cy="512064"/>
          </a:xfrm>
          <a:prstGeom prst="rect">
            <a:avLst/>
          </a:prstGeom>
          <a:noFill/>
        </p:spPr>
        <p:txBody>
          <a:bodyPr wrap="square" lIns="0" rIns="0" tIns="0" bIns="0" anchor="ctr">
            <a:noAutofit/>
          </a:bodyPr>
          <a:lstStyle/>
          <a:p>
            <a:pPr algn="ctr"/>
            <a:r>
              <a:rPr sz="1600" b="1">
                <a:solidFill>
                  <a:srgbClr val="0F1419"/>
                </a:solidFill>
                <a:latin typeface="Poppins"/>
              </a:rPr>
              <a:t>A1</a:t>
            </a:r>
          </a:p>
        </p:txBody>
      </p:sp>
      <p:sp>
        <p:nvSpPr>
          <p:cNvPr id="6" name="ax244|body|"/>
          <p:cNvSpPr txBox="1"/>
          <p:nvPr/>
        </p:nvSpPr>
        <p:spPr>
          <a:xfrm>
            <a:off x="1645919" y="2788920"/>
            <a:ext cx="7315200" cy="512064"/>
          </a:xfrm>
          <a:prstGeom prst="rect">
            <a:avLst/>
          </a:prstGeom>
          <a:noFill/>
        </p:spPr>
        <p:txBody>
          <a:bodyPr wrap="square" lIns="0" rIns="0" tIns="0" bIns="0" anchor="ctr">
            <a:noAutofit/>
          </a:bodyPr>
          <a:lstStyle/>
          <a:p>
            <a:pPr algn="l"/>
            <a:r>
              <a:rPr sz="2000" b="0">
                <a:solidFill>
                  <a:srgbClr val="FFFFFF"/>
                </a:solidFill>
                <a:latin typeface="Inter"/>
              </a:rPr>
              <a:t>Payment status by country</a:t>
            </a:r>
          </a:p>
        </p:txBody>
      </p:sp>
      <p:sp>
        <p:nvSpPr>
          <p:cNvPr id="7" name="ax245|chip|"/>
          <p:cNvSpPr/>
          <p:nvPr/>
        </p:nvSpPr>
        <p:spPr>
          <a:xfrm>
            <a:off x="548640" y="3502152"/>
            <a:ext cx="868680" cy="512064"/>
          </a:xfrm>
          <a:prstGeom prst="roundRect">
            <a:avLst>
              <a:gd name="adj" fmla="val 50000"/>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x245|chip|"/>
          <p:cNvSpPr txBox="1"/>
          <p:nvPr/>
        </p:nvSpPr>
        <p:spPr>
          <a:xfrm>
            <a:off x="548640" y="3502152"/>
            <a:ext cx="868680" cy="512064"/>
          </a:xfrm>
          <a:prstGeom prst="rect">
            <a:avLst/>
          </a:prstGeom>
          <a:noFill/>
        </p:spPr>
        <p:txBody>
          <a:bodyPr wrap="square" lIns="0" rIns="0" tIns="0" bIns="0" anchor="ctr">
            <a:noAutofit/>
          </a:bodyPr>
          <a:lstStyle/>
          <a:p>
            <a:pPr algn="ctr"/>
            <a:r>
              <a:rPr sz="1600" b="1">
                <a:solidFill>
                  <a:srgbClr val="0F1419"/>
                </a:solidFill>
                <a:latin typeface="Poppins"/>
              </a:rPr>
              <a:t>A2</a:t>
            </a:r>
          </a:p>
        </p:txBody>
      </p:sp>
      <p:sp>
        <p:nvSpPr>
          <p:cNvPr id="9" name="ax245|body|"/>
          <p:cNvSpPr txBox="1"/>
          <p:nvPr/>
        </p:nvSpPr>
        <p:spPr>
          <a:xfrm>
            <a:off x="1645919" y="3502152"/>
            <a:ext cx="7315200" cy="512064"/>
          </a:xfrm>
          <a:prstGeom prst="rect">
            <a:avLst/>
          </a:prstGeom>
          <a:noFill/>
        </p:spPr>
        <p:txBody>
          <a:bodyPr wrap="square" lIns="0" rIns="0" tIns="0" bIns="0" anchor="ctr">
            <a:noAutofit/>
          </a:bodyPr>
          <a:lstStyle/>
          <a:p>
            <a:pPr algn="l"/>
            <a:r>
              <a:rPr sz="2000" b="0">
                <a:solidFill>
                  <a:srgbClr val="FFFFFF"/>
                </a:solidFill>
                <a:latin typeface="Inter"/>
              </a:rPr>
              <a:t>Frequently asked questions</a:t>
            </a:r>
          </a:p>
        </p:txBody>
      </p:sp>
      <p:sp>
        <p:nvSpPr>
          <p:cNvPr id="10"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A7B0B8"/>
                </a:solidFill>
                <a:latin typeface="Inter"/>
              </a:rPr>
              <a:t>FluxMuse · fluxmuse.ai</a:t>
            </a:r>
          </a:p>
        </p:txBody>
      </p:sp>
      <p:sp>
        <p:nvSpPr>
          <p:cNvPr id="11"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A7B0B8"/>
                </a:solidFill>
                <a:latin typeface="Inter"/>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46|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A1 · PAYMENT STATUS</a:t>
            </a:r>
          </a:p>
        </p:txBody>
      </p:sp>
      <p:sp>
        <p:nvSpPr>
          <p:cNvPr id="3" name="hdr246|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What is live, and what is still pending</a:t>
            </a:r>
          </a:p>
        </p:txBody>
      </p:sp>
      <p:pic>
        <p:nvPicPr>
          <p:cNvPr id="4" name="g247|img|infographics/payment-rails-matrix.png" descr="Table of countries by status: South Africa live, card and EFT; Nigeria, Kenya and Ghana priced, not on sale; other covered countries not open yet; Botswana and Namibia coming soon"/>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19</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48|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A2 · FAQ (1 OF 2)</a:t>
            </a:r>
          </a:p>
        </p:txBody>
      </p:sp>
      <p:sp>
        <p:nvSpPr>
          <p:cNvPr id="3" name="hdr248|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Questions prospects ask</a:t>
            </a:r>
          </a:p>
        </p:txBody>
      </p:sp>
      <p:sp>
        <p:nvSpPr>
          <p:cNvPr id="4" name="faq249|card|"/>
          <p:cNvSpPr/>
          <p:nvPr/>
        </p:nvSpPr>
        <p:spPr>
          <a:xfrm>
            <a:off x="548640" y="153619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aq249|deco|"/>
          <p:cNvSpPr/>
          <p:nvPr/>
        </p:nvSpPr>
        <p:spPr>
          <a:xfrm>
            <a:off x="777239" y="1792223"/>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faq249|icon|chat_deep.png" descr="chat_deep"/>
          <p:cNvPicPr>
            <a:picLocks noChangeAspect="1"/>
          </p:cNvPicPr>
          <p:nvPr/>
        </p:nvPicPr>
        <p:blipFill>
          <a:blip r:embed="rId2"/>
          <a:srcRect/>
          <a:stretch>
            <a:fillRect/>
          </a:stretch>
        </p:blipFill>
        <p:spPr>
          <a:xfrm>
            <a:off x="897940" y="1912924"/>
            <a:ext cx="307238" cy="307238"/>
          </a:xfrm>
          <a:prstGeom prst="rect">
            <a:avLst/>
          </a:prstGeom>
        </p:spPr>
      </p:pic>
      <p:sp>
        <p:nvSpPr>
          <p:cNvPr id="7" name="faq249|card|"/>
          <p:cNvSpPr txBox="1"/>
          <p:nvPr/>
        </p:nvSpPr>
        <p:spPr>
          <a:xfrm>
            <a:off x="1463040" y="1719072"/>
            <a:ext cx="4251960" cy="713232"/>
          </a:xfrm>
          <a:prstGeom prst="rect">
            <a:avLst/>
          </a:prstGeom>
          <a:noFill/>
        </p:spPr>
        <p:txBody>
          <a:bodyPr wrap="square" lIns="0" rIns="0" tIns="0" bIns="0" anchor="ctr">
            <a:noAutofit/>
          </a:bodyPr>
          <a:lstStyle/>
          <a:p>
            <a:pPr algn="l"/>
            <a:r>
              <a:rPr sz="1700" b="1">
                <a:solidFill>
                  <a:srgbClr val="20242B"/>
                </a:solidFill>
                <a:latin typeface="Poppins"/>
              </a:rPr>
              <a:t>Is my customers' data safe?</a:t>
            </a:r>
          </a:p>
        </p:txBody>
      </p:sp>
      <p:sp>
        <p:nvSpPr>
          <p:cNvPr id="8" name="faq249|card|"/>
          <p:cNvSpPr txBox="1"/>
          <p:nvPr/>
        </p:nvSpPr>
        <p:spPr>
          <a:xfrm>
            <a:off x="868680" y="2523744"/>
            <a:ext cx="4800600" cy="1133856"/>
          </a:xfrm>
          <a:prstGeom prst="rect">
            <a:avLst/>
          </a:prstGeom>
          <a:noFill/>
        </p:spPr>
        <p:txBody>
          <a:bodyPr wrap="square" lIns="0" rIns="0" tIns="0" bIns="0" anchor="t">
            <a:noAutofit/>
          </a:bodyPr>
          <a:lstStyle/>
          <a:p>
            <a:pPr algn="l"/>
            <a:r>
              <a:rPr sz="1500" b="0">
                <a:solidFill>
                  <a:srgbClr val="20242B"/>
                </a:solidFill>
                <a:latin typeface="Inter"/>
              </a:rPr>
              <a:t>Row-level security, encrypted tokens, broadcasts only to consented contacts, and data export and account deletion. Fluxmuse is a verified Meta Tech Provider.</a:t>
            </a:r>
          </a:p>
        </p:txBody>
      </p:sp>
      <p:sp>
        <p:nvSpPr>
          <p:cNvPr id="9" name="faq250|card|"/>
          <p:cNvSpPr/>
          <p:nvPr/>
        </p:nvSpPr>
        <p:spPr>
          <a:xfrm>
            <a:off x="6202375" y="153619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q250|deco|"/>
          <p:cNvSpPr/>
          <p:nvPr/>
        </p:nvSpPr>
        <p:spPr>
          <a:xfrm>
            <a:off x="6430975" y="1792223"/>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faq250|icon|chat_deep.png" descr="chat_deep"/>
          <p:cNvPicPr>
            <a:picLocks noChangeAspect="1"/>
          </p:cNvPicPr>
          <p:nvPr/>
        </p:nvPicPr>
        <p:blipFill>
          <a:blip r:embed="rId2"/>
          <a:srcRect/>
          <a:stretch>
            <a:fillRect/>
          </a:stretch>
        </p:blipFill>
        <p:spPr>
          <a:xfrm>
            <a:off x="6551675" y="1912924"/>
            <a:ext cx="307238" cy="307238"/>
          </a:xfrm>
          <a:prstGeom prst="rect">
            <a:avLst/>
          </a:prstGeom>
        </p:spPr>
      </p:pic>
      <p:sp>
        <p:nvSpPr>
          <p:cNvPr id="12" name="faq250|card|"/>
          <p:cNvSpPr txBox="1"/>
          <p:nvPr/>
        </p:nvSpPr>
        <p:spPr>
          <a:xfrm>
            <a:off x="7116775" y="1719072"/>
            <a:ext cx="4251960" cy="713232"/>
          </a:xfrm>
          <a:prstGeom prst="rect">
            <a:avLst/>
          </a:prstGeom>
          <a:noFill/>
        </p:spPr>
        <p:txBody>
          <a:bodyPr wrap="square" lIns="0" rIns="0" tIns="0" bIns="0" anchor="ctr">
            <a:noAutofit/>
          </a:bodyPr>
          <a:lstStyle/>
          <a:p>
            <a:pPr algn="l"/>
            <a:r>
              <a:rPr sz="1700" b="1">
                <a:solidFill>
                  <a:srgbClr val="20242B"/>
                </a:solidFill>
                <a:latin typeface="Poppins"/>
              </a:rPr>
              <a:t>Can I use my own WhatsApp number?</a:t>
            </a:r>
          </a:p>
        </p:txBody>
      </p:sp>
      <p:sp>
        <p:nvSpPr>
          <p:cNvPr id="13" name="faq250|card|"/>
          <p:cNvSpPr txBox="1"/>
          <p:nvPr/>
        </p:nvSpPr>
        <p:spPr>
          <a:xfrm>
            <a:off x="6522415" y="2523744"/>
            <a:ext cx="4800600" cy="1133856"/>
          </a:xfrm>
          <a:prstGeom prst="rect">
            <a:avLst/>
          </a:prstGeom>
          <a:noFill/>
        </p:spPr>
        <p:txBody>
          <a:bodyPr wrap="square" lIns="0" rIns="0" tIns="0" bIns="0" anchor="t">
            <a:noAutofit/>
          </a:bodyPr>
          <a:lstStyle/>
          <a:p>
            <a:pPr algn="l"/>
            <a:r>
              <a:rPr sz="1500" b="0">
                <a:solidFill>
                  <a:srgbClr val="20242B"/>
                </a:solidFill>
                <a:latin typeface="Inter"/>
              </a:rPr>
              <a:t>Yes. We connect your WhatsApp Business number through Meta's official Cloud API setup, with you, by hand.</a:t>
            </a:r>
          </a:p>
        </p:txBody>
      </p:sp>
      <p:sp>
        <p:nvSpPr>
          <p:cNvPr id="14" name="faq251|card|"/>
          <p:cNvSpPr/>
          <p:nvPr/>
        </p:nvSpPr>
        <p:spPr>
          <a:xfrm>
            <a:off x="548640" y="395935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q251|deco|"/>
          <p:cNvSpPr/>
          <p:nvPr/>
        </p:nvSpPr>
        <p:spPr>
          <a:xfrm>
            <a:off x="777239" y="4215384"/>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faq251|icon|chat_deep.png" descr="chat_deep"/>
          <p:cNvPicPr>
            <a:picLocks noChangeAspect="1"/>
          </p:cNvPicPr>
          <p:nvPr/>
        </p:nvPicPr>
        <p:blipFill>
          <a:blip r:embed="rId2"/>
          <a:srcRect/>
          <a:stretch>
            <a:fillRect/>
          </a:stretch>
        </p:blipFill>
        <p:spPr>
          <a:xfrm>
            <a:off x="897940" y="4336084"/>
            <a:ext cx="307238" cy="307238"/>
          </a:xfrm>
          <a:prstGeom prst="rect">
            <a:avLst/>
          </a:prstGeom>
        </p:spPr>
      </p:pic>
      <p:sp>
        <p:nvSpPr>
          <p:cNvPr id="17" name="faq251|card|"/>
          <p:cNvSpPr txBox="1"/>
          <p:nvPr/>
        </p:nvSpPr>
        <p:spPr>
          <a:xfrm>
            <a:off x="1463040" y="4142232"/>
            <a:ext cx="4251960" cy="713232"/>
          </a:xfrm>
          <a:prstGeom prst="rect">
            <a:avLst/>
          </a:prstGeom>
          <a:noFill/>
        </p:spPr>
        <p:txBody>
          <a:bodyPr wrap="square" lIns="0" rIns="0" tIns="0" bIns="0" anchor="ctr">
            <a:noAutofit/>
          </a:bodyPr>
          <a:lstStyle/>
          <a:p>
            <a:pPr algn="l"/>
            <a:r>
              <a:rPr sz="1700" b="1">
                <a:solidFill>
                  <a:srgbClr val="20242B"/>
                </a:solidFill>
                <a:latin typeface="Poppins"/>
              </a:rPr>
              <a:t>How do my customers pay?</a:t>
            </a:r>
          </a:p>
        </p:txBody>
      </p:sp>
      <p:sp>
        <p:nvSpPr>
          <p:cNvPr id="18" name="faq251|card|"/>
          <p:cNvSpPr txBox="1"/>
          <p:nvPr/>
        </p:nvSpPr>
        <p:spPr>
          <a:xfrm>
            <a:off x="868680" y="4946904"/>
            <a:ext cx="4800600" cy="1133856"/>
          </a:xfrm>
          <a:prstGeom prst="rect">
            <a:avLst/>
          </a:prstGeom>
          <a:noFill/>
        </p:spPr>
        <p:txBody>
          <a:bodyPr wrap="square" lIns="0" rIns="0" tIns="0" bIns="0" anchor="t">
            <a:noAutofit/>
          </a:bodyPr>
          <a:lstStyle/>
          <a:p>
            <a:pPr algn="l"/>
            <a:r>
              <a:rPr sz="1500" b="0">
                <a:solidFill>
                  <a:srgbClr val="20242B"/>
                </a:solidFill>
                <a:latin typeface="Inter"/>
              </a:rPr>
              <a:t>Today, orders arrive as a WhatsApp message and you take payment your usual way. Checkout through FluxMuse, via our payment partners, is being switched on in South Africa.</a:t>
            </a:r>
          </a:p>
        </p:txBody>
      </p:sp>
      <p:sp>
        <p:nvSpPr>
          <p:cNvPr id="19" name="faq252|card|"/>
          <p:cNvSpPr/>
          <p:nvPr/>
        </p:nvSpPr>
        <p:spPr>
          <a:xfrm>
            <a:off x="6202375" y="395935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aq252|deco|"/>
          <p:cNvSpPr/>
          <p:nvPr/>
        </p:nvSpPr>
        <p:spPr>
          <a:xfrm>
            <a:off x="6430975" y="4215384"/>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faq252|icon|chat_deep.png" descr="chat_deep"/>
          <p:cNvPicPr>
            <a:picLocks noChangeAspect="1"/>
          </p:cNvPicPr>
          <p:nvPr/>
        </p:nvPicPr>
        <p:blipFill>
          <a:blip r:embed="rId2"/>
          <a:srcRect/>
          <a:stretch>
            <a:fillRect/>
          </a:stretch>
        </p:blipFill>
        <p:spPr>
          <a:xfrm>
            <a:off x="6551675" y="4336084"/>
            <a:ext cx="307238" cy="307238"/>
          </a:xfrm>
          <a:prstGeom prst="rect">
            <a:avLst/>
          </a:prstGeom>
        </p:spPr>
      </p:pic>
      <p:sp>
        <p:nvSpPr>
          <p:cNvPr id="22" name="faq252|card|"/>
          <p:cNvSpPr txBox="1"/>
          <p:nvPr/>
        </p:nvSpPr>
        <p:spPr>
          <a:xfrm>
            <a:off x="7116775" y="4142232"/>
            <a:ext cx="4251960" cy="713232"/>
          </a:xfrm>
          <a:prstGeom prst="rect">
            <a:avLst/>
          </a:prstGeom>
          <a:noFill/>
        </p:spPr>
        <p:txBody>
          <a:bodyPr wrap="square" lIns="0" rIns="0" tIns="0" bIns="0" anchor="ctr">
            <a:noAutofit/>
          </a:bodyPr>
          <a:lstStyle/>
          <a:p>
            <a:pPr algn="l"/>
            <a:r>
              <a:rPr sz="1700" b="1">
                <a:solidFill>
                  <a:srgbClr val="20242B"/>
                </a:solidFill>
                <a:latin typeface="Poppins"/>
              </a:rPr>
              <a:t>Is there a trial? Can I cancel?</a:t>
            </a:r>
          </a:p>
        </p:txBody>
      </p:sp>
      <p:sp>
        <p:nvSpPr>
          <p:cNvPr id="23" name="faq252|placeholder|"/>
          <p:cNvSpPr txBox="1"/>
          <p:nvPr/>
        </p:nvSpPr>
        <p:spPr>
          <a:xfrm>
            <a:off x="6522415" y="4946904"/>
            <a:ext cx="4800600" cy="1133856"/>
          </a:xfrm>
          <a:prstGeom prst="rect">
            <a:avLst/>
          </a:prstGeom>
          <a:noFill/>
        </p:spPr>
        <p:txBody>
          <a:bodyPr wrap="square" lIns="0" rIns="0" tIns="0" bIns="0" anchor="t">
            <a:noAutofit/>
          </a:bodyPr>
          <a:lstStyle/>
          <a:p>
            <a:pPr algn="l"/>
            <a:r>
              <a:rPr sz="1500" b="0">
                <a:solidFill>
                  <a:srgbClr val="20242B"/>
                </a:solidFill>
                <a:latin typeface="Inter"/>
              </a:rPr>
              <a:t>No trials: every paid plan starts with payment, monthly or annual (10× monthly). Free is a permanent plan. Cancellation terms: [[CONFIRM TERMS]].</a:t>
            </a:r>
          </a:p>
        </p:txBody>
      </p:sp>
      <p:sp>
        <p:nvSpPr>
          <p:cNvPr id="24"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25"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20</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53|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A2 · FAQ (2 OF 2)</a:t>
            </a:r>
          </a:p>
        </p:txBody>
      </p:sp>
      <p:sp>
        <p:nvSpPr>
          <p:cNvPr id="3" name="hdr253|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Questions prospects ask</a:t>
            </a:r>
          </a:p>
        </p:txBody>
      </p:sp>
      <p:sp>
        <p:nvSpPr>
          <p:cNvPr id="4" name="faq254|card|"/>
          <p:cNvSpPr/>
          <p:nvPr/>
        </p:nvSpPr>
        <p:spPr>
          <a:xfrm>
            <a:off x="548640" y="153619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aq254|deco|"/>
          <p:cNvSpPr/>
          <p:nvPr/>
        </p:nvSpPr>
        <p:spPr>
          <a:xfrm>
            <a:off x="777239" y="1792223"/>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faq254|icon|chat_deep.png" descr="chat_deep"/>
          <p:cNvPicPr>
            <a:picLocks noChangeAspect="1"/>
          </p:cNvPicPr>
          <p:nvPr/>
        </p:nvPicPr>
        <p:blipFill>
          <a:blip r:embed="rId2"/>
          <a:srcRect/>
          <a:stretch>
            <a:fillRect/>
          </a:stretch>
        </p:blipFill>
        <p:spPr>
          <a:xfrm>
            <a:off x="897940" y="1912924"/>
            <a:ext cx="307238" cy="307238"/>
          </a:xfrm>
          <a:prstGeom prst="rect">
            <a:avLst/>
          </a:prstGeom>
        </p:spPr>
      </p:pic>
      <p:sp>
        <p:nvSpPr>
          <p:cNvPr id="7" name="faq254|card|"/>
          <p:cNvSpPr txBox="1"/>
          <p:nvPr/>
        </p:nvSpPr>
        <p:spPr>
          <a:xfrm>
            <a:off x="1463040" y="1719072"/>
            <a:ext cx="4251960" cy="713232"/>
          </a:xfrm>
          <a:prstGeom prst="rect">
            <a:avLst/>
          </a:prstGeom>
          <a:noFill/>
        </p:spPr>
        <p:txBody>
          <a:bodyPr wrap="square" lIns="0" rIns="0" tIns="0" bIns="0" anchor="ctr">
            <a:noAutofit/>
          </a:bodyPr>
          <a:lstStyle/>
          <a:p>
            <a:pPr algn="l"/>
            <a:r>
              <a:rPr sz="1700" b="1">
                <a:solidFill>
                  <a:srgbClr val="20242B"/>
                </a:solidFill>
                <a:latin typeface="Poppins"/>
              </a:rPr>
              <a:t>Is there a guarantee?</a:t>
            </a:r>
          </a:p>
        </p:txBody>
      </p:sp>
      <p:sp>
        <p:nvSpPr>
          <p:cNvPr id="8" name="faq254|card|"/>
          <p:cNvSpPr txBox="1"/>
          <p:nvPr/>
        </p:nvSpPr>
        <p:spPr>
          <a:xfrm>
            <a:off x="868680" y="2523744"/>
            <a:ext cx="4800600" cy="1133856"/>
          </a:xfrm>
          <a:prstGeom prst="rect">
            <a:avLst/>
          </a:prstGeom>
          <a:noFill/>
        </p:spPr>
        <p:txBody>
          <a:bodyPr wrap="square" lIns="0" rIns="0" tIns="0" bIns="0" anchor="t">
            <a:noAutofit/>
          </a:bodyPr>
          <a:lstStyle/>
          <a:p>
            <a:pPr algn="l"/>
            <a:r>
              <a:rPr sz="1500" b="0">
                <a:solidFill>
                  <a:srgbClr val="20242B"/>
                </a:solidFill>
                <a:latin typeface="Inter"/>
              </a:rPr>
              <a:t>A lead guarantee: 3 qualified leads in 30 days of go-live. If fewer, and you shared your link and posted weekly, we keep supporting you free until you reach 3.</a:t>
            </a:r>
          </a:p>
        </p:txBody>
      </p:sp>
      <p:sp>
        <p:nvSpPr>
          <p:cNvPr id="9" name="faq255|card|"/>
          <p:cNvSpPr/>
          <p:nvPr/>
        </p:nvSpPr>
        <p:spPr>
          <a:xfrm>
            <a:off x="6202375" y="153619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q255|deco|"/>
          <p:cNvSpPr/>
          <p:nvPr/>
        </p:nvSpPr>
        <p:spPr>
          <a:xfrm>
            <a:off x="6430975" y="1792223"/>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faq255|icon|chat_deep.png" descr="chat_deep"/>
          <p:cNvPicPr>
            <a:picLocks noChangeAspect="1"/>
          </p:cNvPicPr>
          <p:nvPr/>
        </p:nvPicPr>
        <p:blipFill>
          <a:blip r:embed="rId2"/>
          <a:srcRect/>
          <a:stretch>
            <a:fillRect/>
          </a:stretch>
        </p:blipFill>
        <p:spPr>
          <a:xfrm>
            <a:off x="6551675" y="1912924"/>
            <a:ext cx="307238" cy="307238"/>
          </a:xfrm>
          <a:prstGeom prst="rect">
            <a:avLst/>
          </a:prstGeom>
        </p:spPr>
      </p:pic>
      <p:sp>
        <p:nvSpPr>
          <p:cNvPr id="12" name="faq255|card|"/>
          <p:cNvSpPr txBox="1"/>
          <p:nvPr/>
        </p:nvSpPr>
        <p:spPr>
          <a:xfrm>
            <a:off x="7116775" y="1719072"/>
            <a:ext cx="4251960" cy="713232"/>
          </a:xfrm>
          <a:prstGeom prst="rect">
            <a:avLst/>
          </a:prstGeom>
          <a:noFill/>
        </p:spPr>
        <p:txBody>
          <a:bodyPr wrap="square" lIns="0" rIns="0" tIns="0" bIns="0" anchor="ctr">
            <a:noAutofit/>
          </a:bodyPr>
          <a:lstStyle/>
          <a:p>
            <a:pPr algn="l"/>
            <a:r>
              <a:rPr sz="1700" b="1">
                <a:solidFill>
                  <a:srgbClr val="20242B"/>
                </a:solidFill>
                <a:latin typeface="Poppins"/>
              </a:rPr>
              <a:t>How long does setup take?</a:t>
            </a:r>
          </a:p>
        </p:txBody>
      </p:sp>
      <p:sp>
        <p:nvSpPr>
          <p:cNvPr id="13" name="faq255|card|"/>
          <p:cNvSpPr txBox="1"/>
          <p:nvPr/>
        </p:nvSpPr>
        <p:spPr>
          <a:xfrm>
            <a:off x="6522415" y="2523744"/>
            <a:ext cx="4800600" cy="1133856"/>
          </a:xfrm>
          <a:prstGeom prst="rect">
            <a:avLst/>
          </a:prstGeom>
          <a:noFill/>
        </p:spPr>
        <p:txBody>
          <a:bodyPr wrap="square" lIns="0" rIns="0" tIns="0" bIns="0" anchor="t">
            <a:noAutofit/>
          </a:bodyPr>
          <a:lstStyle/>
          <a:p>
            <a:pPr algn="l"/>
            <a:r>
              <a:rPr sz="1500" b="0">
                <a:solidFill>
                  <a:srgbClr val="20242B"/>
                </a:solidFill>
                <a:latin typeface="Inter"/>
              </a:rPr>
              <a:t>We set you up by hand: WhatsApp number, catalogue from your photos, shop link. We aim for your first week; Meta approvals can stretch it.</a:t>
            </a:r>
          </a:p>
        </p:txBody>
      </p:sp>
      <p:sp>
        <p:nvSpPr>
          <p:cNvPr id="14" name="faq256|card|"/>
          <p:cNvSpPr/>
          <p:nvPr/>
        </p:nvSpPr>
        <p:spPr>
          <a:xfrm>
            <a:off x="548640" y="395935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q256|deco|"/>
          <p:cNvSpPr/>
          <p:nvPr/>
        </p:nvSpPr>
        <p:spPr>
          <a:xfrm>
            <a:off x="777239" y="4215384"/>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faq256|icon|chat_deep.png" descr="chat_deep"/>
          <p:cNvPicPr>
            <a:picLocks noChangeAspect="1"/>
          </p:cNvPicPr>
          <p:nvPr/>
        </p:nvPicPr>
        <p:blipFill>
          <a:blip r:embed="rId2"/>
          <a:srcRect/>
          <a:stretch>
            <a:fillRect/>
          </a:stretch>
        </p:blipFill>
        <p:spPr>
          <a:xfrm>
            <a:off x="897940" y="4336084"/>
            <a:ext cx="307238" cy="307238"/>
          </a:xfrm>
          <a:prstGeom prst="rect">
            <a:avLst/>
          </a:prstGeom>
        </p:spPr>
      </p:pic>
      <p:sp>
        <p:nvSpPr>
          <p:cNvPr id="17" name="faq256|card|"/>
          <p:cNvSpPr txBox="1"/>
          <p:nvPr/>
        </p:nvSpPr>
        <p:spPr>
          <a:xfrm>
            <a:off x="1463040" y="4142232"/>
            <a:ext cx="4251960" cy="713232"/>
          </a:xfrm>
          <a:prstGeom prst="rect">
            <a:avLst/>
          </a:prstGeom>
          <a:noFill/>
        </p:spPr>
        <p:txBody>
          <a:bodyPr wrap="square" lIns="0" rIns="0" tIns="0" bIns="0" anchor="ctr">
            <a:noAutofit/>
          </a:bodyPr>
          <a:lstStyle/>
          <a:p>
            <a:pPr algn="l"/>
            <a:r>
              <a:rPr sz="1700" b="1">
                <a:solidFill>
                  <a:srgbClr val="20242B"/>
                </a:solidFill>
                <a:latin typeface="Poppins"/>
              </a:rPr>
              <a:t>I already use Shopify or WooCommerce.</a:t>
            </a:r>
          </a:p>
        </p:txBody>
      </p:sp>
      <p:sp>
        <p:nvSpPr>
          <p:cNvPr id="18" name="faq256|card|"/>
          <p:cNvSpPr txBox="1"/>
          <p:nvPr/>
        </p:nvSpPr>
        <p:spPr>
          <a:xfrm>
            <a:off x="868680" y="4946904"/>
            <a:ext cx="4800600" cy="1133856"/>
          </a:xfrm>
          <a:prstGeom prst="rect">
            <a:avLst/>
          </a:prstGeom>
          <a:noFill/>
        </p:spPr>
        <p:txBody>
          <a:bodyPr wrap="square" lIns="0" rIns="0" tIns="0" bIns="0" anchor="t">
            <a:noAutofit/>
          </a:bodyPr>
          <a:lstStyle/>
          <a:p>
            <a:pPr algn="l"/>
            <a:r>
              <a:rPr sz="1500" b="0">
                <a:solidFill>
                  <a:srgbClr val="20242B"/>
                </a:solidFill>
                <a:latin typeface="Inter"/>
              </a:rPr>
              <a:t>Keep them. Sync from Shopify and WooCommerce is being switched on. Until then, we build your catalogue from product photos.</a:t>
            </a:r>
          </a:p>
        </p:txBody>
      </p:sp>
      <p:sp>
        <p:nvSpPr>
          <p:cNvPr id="19" name="faq257|card|"/>
          <p:cNvSpPr/>
          <p:nvPr/>
        </p:nvSpPr>
        <p:spPr>
          <a:xfrm>
            <a:off x="6202375" y="395935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aq257|deco|"/>
          <p:cNvSpPr/>
          <p:nvPr/>
        </p:nvSpPr>
        <p:spPr>
          <a:xfrm>
            <a:off x="6430975" y="4215384"/>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faq257|icon|chat_deep.png" descr="chat_deep"/>
          <p:cNvPicPr>
            <a:picLocks noChangeAspect="1"/>
          </p:cNvPicPr>
          <p:nvPr/>
        </p:nvPicPr>
        <p:blipFill>
          <a:blip r:embed="rId2"/>
          <a:srcRect/>
          <a:stretch>
            <a:fillRect/>
          </a:stretch>
        </p:blipFill>
        <p:spPr>
          <a:xfrm>
            <a:off x="6551675" y="4336084"/>
            <a:ext cx="307238" cy="307238"/>
          </a:xfrm>
          <a:prstGeom prst="rect">
            <a:avLst/>
          </a:prstGeom>
        </p:spPr>
      </p:pic>
      <p:sp>
        <p:nvSpPr>
          <p:cNvPr id="22" name="faq257|card|"/>
          <p:cNvSpPr txBox="1"/>
          <p:nvPr/>
        </p:nvSpPr>
        <p:spPr>
          <a:xfrm>
            <a:off x="7116775" y="4142232"/>
            <a:ext cx="4251960" cy="713232"/>
          </a:xfrm>
          <a:prstGeom prst="rect">
            <a:avLst/>
          </a:prstGeom>
          <a:noFill/>
        </p:spPr>
        <p:txBody>
          <a:bodyPr wrap="square" lIns="0" rIns="0" tIns="0" bIns="0" anchor="ctr">
            <a:noAutofit/>
          </a:bodyPr>
          <a:lstStyle/>
          <a:p>
            <a:pPr algn="l"/>
            <a:r>
              <a:rPr sz="1700" b="1">
                <a:solidFill>
                  <a:srgbClr val="20242B"/>
                </a:solidFill>
                <a:latin typeface="Poppins"/>
              </a:rPr>
              <a:t>Where can I buy FluxMuse?</a:t>
            </a:r>
          </a:p>
        </p:txBody>
      </p:sp>
      <p:sp>
        <p:nvSpPr>
          <p:cNvPr id="23" name="faq257|card|"/>
          <p:cNvSpPr txBox="1"/>
          <p:nvPr/>
        </p:nvSpPr>
        <p:spPr>
          <a:xfrm>
            <a:off x="6522415" y="4946904"/>
            <a:ext cx="4800600" cy="1133856"/>
          </a:xfrm>
          <a:prstGeom prst="rect">
            <a:avLst/>
          </a:prstGeom>
          <a:noFill/>
        </p:spPr>
        <p:txBody>
          <a:bodyPr wrap="square" lIns="0" rIns="0" tIns="0" bIns="0" anchor="t">
            <a:noAutofit/>
          </a:bodyPr>
          <a:lstStyle/>
          <a:p>
            <a:pPr algn="l"/>
            <a:r>
              <a:rPr sz="1500" b="0">
                <a:solidFill>
                  <a:srgbClr val="20242B"/>
                </a:solidFill>
                <a:latin typeface="Inter"/>
              </a:rPr>
              <a:t>South Africa, today. Nigeria, Kenya and Ghana are priced but not yet on sale. Other countries can join the waitlist.</a:t>
            </a:r>
          </a:p>
        </p:txBody>
      </p:sp>
      <p:sp>
        <p:nvSpPr>
          <p:cNvPr id="24"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25"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21</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FluxMuse pitch deck</dc:title>
  <dc:subject>AI marketing &amp; WhatsApp selling</dc:subject>
  <dc:creator>Fluxmuse (Pty) Ltd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