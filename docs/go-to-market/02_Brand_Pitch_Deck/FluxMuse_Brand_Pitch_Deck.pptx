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warmly and make it about them. "Thanks for your time. FluxMuse is an AI marketing team that lives in WhatsApp: send product photos, get a shop link, and get help posting and replying." Say the session takes about 20 minutes plus questions. Ask one opening question: "Where do most of your sales conversations happen today?" Their answer tells you which slides to lean on. Swap guide: owner-operators get the Solo deck, businesses with staff get the SME deck, agencies get the Partner Programme deck. Facts in this deck follow CURRENT_OFFER.md.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day-to-day reality without numbers we can't back up. Most small businesses juggle separate tools for posts, chats and payments. Agency retainers are out of reach for many. Without a shop page, orders get lost in chats, and after-hours messages go unanswered. On the right is what changes: an AI marketing team that lives in WhatsApp, paid plans from R149 a month, a catalogue and shop link built from product photos, and replies in the customer's language. All of these are newly launched (CURRENT_OFFER.md §3). Ask which problem hurts most.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FluxMuse in one line: an AI marketing team and WhatsApp shop for South African businesses. Be precise about what's live. Live and newly launched: photos to catalogue on WhatsApp, a hosted shop link, order alerts with SOLD, AI captions, images and short clips, and TikTok video posting. Being switched on: checkout through FluxMuse, Facebook and Instagram auto-posting, and AI Voice in beta. Newly launched means built and deployed, but no business has run it end to end yet, so we set you up by hand (CURRENT_OFFER.md §3). Ask whether they already use WhatsApp Business.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FluxMuse works as a loop. Plan: your goals, products and the week ahead. Create: captions, images and short video clips, in your customers' languages. Publish: forward to WhatsApp Status, send broadcasts to contacts who have opted in, and post video to TikTok. Sell: a shop link built from your photos, with every order landing on WhatsApp. Learn: what sold, and what to post next. Facebook and Instagram auto-posting is being switched on, so don't promise it yet (CURRENT_OFFER.md §3). The point is that marketing and selling stop living in separate tools.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pitch. A buyer finds you through a Status post, a QR code or your shop link. The assistant replies in their language. They browse a catalogue built from your photos, fill a cart, and the order lands on your WhatsApp; you reply SOLD to keep track. Be honest about payment: checkout through FluxMuse, via our payment partners, is built but being switched on, because it hasn't been tested with real money. Until then, orders arrive as a WhatsApp message and you take payment your usual way (CURRENT_OFFER.md §3). Broadcasts go only to consented contacts.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about channels. Live today: WhatsApp Business, WhatsApp Status, the hosted shop link, TikTok video posting and broadcasts to consented contacts. Being switched on: Facebook Pages and Instagram posting, because Meta hasn't approved those permissions yet, and click-to-WhatsApp ads, which we run on our own account first. Not available: Instagram DMs and comments, and X posting. If Instagram is their main channel, say so honestly: until Meta approves it, the value is forwarding posts to WhatsApp Status (CURRENT_OFFER.md §3).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straight about payments. FluxMuse is open for paid sign-up in South Africa only, by card and EFT. Checkout through FluxMuse for your buyers is built and being switched on; it hasn't been tested end to end with real money yet. Nigeria, Kenya and Ghana are priced but not on sale. The other tiles are countries we're expanding into via our payment partners, banks and mobile money wallets across 23 African countries; none is open yet. Botswana and Namibia are coming soon. Never name a payment provider or gateway (CURRENT_OFFER.md §3; 00_FACTS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FluxMuse is built for three kinds of business, starting in South Africa, the only market open for paid sign-up today. Solo entrepreneurs run founder-led businesses of one to five people and usually start on Nano at R149 a month, or Micro at R289 for a WhatsApp number. SMEs have five to 200 staff and typically run Growth at R1,999, or Starter at R499 for one brand. Agencies managing five to 50 clients join the partner programme at a wholesale R6,999 a month. Prices: CURRENT_OFFER.md §1. Ask which fits, then go to that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Solo entrepreneurs are braiders and beauty studios, fashion resellers, home bakers, coaches and informal retailers. Their pains are simple: no time or budget for a marketer, messages answered late, and no shop page, so orders get lost in chats. FluxMuse answers each one with newly launched features: say POST to get a caption and picture, the assistant answers in the customer's language, and product photos become a shop link. Nano is R149 a month; Founding Members pay R104 for the first two bills. Micro at R289 adds a channel and their own WhatsApp number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SMEs are retailers, restaurants, e-commerce brands, clinics, property, auto and education businesses with five to 200 staff. The usual story: disconnected tools and agency retainers, WhatsApp handled by hand by busy staff, and no clear view of what sells. FluxMuse puts an AI marketing team on WhatsApp, answers customers in their language, and sends an order alert for every sale. Growth at R1,999 a month is the usual start: three brands and 15 channels. Scale at R4,999 suits multi-brand groups. Founding Members pay R1,399 for the first two Growth bills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Agencies and freelancers managing five to 50 small-business clients feel a margin squeeze, spend hours on reporting and tools per client, and have clients asking for WhatsApp selling and AI. FluxMuse gives them one white-label, multi-client platform with unlimited brands and 80 channels. Partners buy the Agency tier at a wholesale price of R6,999 a month, 30% off the R9,999 list price, and set their own retail price. Or they refer customers through the partner programme for 15% to 25% commission. Don't quote a fixed margin: it depends on the agency's pricing and costs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the partner model works. FluxMuse invoices the agency the partner wholesale price of R6,999 a month, 30% off the R9,999 Agency list price. The agency serves its clients under its own brand and bills them a retail price it sets. The example is illustrative only, not a forecast: 20 clients at R1,500 a month bills R30,000, and after R6,999 the agency keeps a gross spread of R23,001 a month, before its own costs. Encourage them to run their own numbers. Referring instead earns 15% to 25% commission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we work together. First a discovery call about your goals and products. Then a demo shop built from your own public photos, shown live; that's a demo, not a trial. Once you choose a paid plan, we set you up by hand: WhatsApp Business number, catalogue and shop link. On go-live day the lead guarantee starts: three qualified leads in 30 days, as long as you share your link and post weekly; if not, we keep supporting you at no extra charge. Then weekly check-ins. Goals are agreed together, not promised results (CURRENT_OFFER.md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where we are. FluxMuse is newly launched and has no paying customers or case studies yet. We're opening with a small first group of South African businesses, and we set each one up by hand, with weekly check-ins. That's the offer: close attention, not social proof. It's backed by the lead guarantee: three qualified leads in 30 days of go-live. If fewer arrive, and the business shared its link and posted at least weekly, we keep supporting them at no extra charge until three arrive. It is extra support, never cash back (CURRENT_OFFER.md §2 and §4).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template, not a case study. No case study exists yet, and we never show projected results. When a business in our first group agrees, we record what we set up in week one, using live features only, and track three measures: qualified leads, with the lead guarantee's three in 30 days as the goal (if the business shares its link and posts weekly), orders through the shop link, and posts made. Each is a goal agreed at kickoff, not a result. We fill it only with measured data and the business's signed consent (07_Case_Studies/First_Group_Case_Studies.md; 00_FACTS §6). Hide this slide if time is short.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 plans in three bands, priced in rands, and the price shown is what you pay. Small: Nano at R149 and Micro at R289 for side-hustles and solo sellers. Medium: Starter R499, Growth R1,999 with inbound AI Voice in beta, and Scale R4,999 with inbound and outbound AI Voice in beta. Enterprise: Corporate R6,999, Agency R9,999, and Custom by consultation. Annual billing is ten times monthly. There are no trials: every paid plan starts with payment. Free is a permanent plan, so don't lead with it. Don't quote AI credit allowances; point to the pricing page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same pricing as an editable table, useful when you tailor the deck. It shows all nine plans with monthly and annual prices, where annual is ten times monthly, plus brands and channels. The Founding Member column is 30% off the first two monthly bills, rounded down to whole rands, on every self-serve plan from Nano to Agency until 31 December 2026; Custom is excluded. It doesn't stack with partner pricing: the Agency wholesale price is also R6,999, but it runs every month. If you edit a price, check CURRENT_OFFER.md §1 first, and never add per-plan AI credit numbers.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launch offer is Founding Member, live now on every self-serve plan until 31 December 2026. Sign-ups get 30% off their first two monthly bills: R104 on Nano, R202 on Micro, R349 on Starter, R1,399 on Growth, R3,499 on Scale, R4,899 on Corporate or R6,999 on Agency, then the normal monthly price. It's a discount, not a free period, and Custom is excluded. It doesn't stack with partner pricing. Don't offer annual bonus months or other perks; they aren't confirmed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matters when you're handling customer chats. Fluxmuse (Pty) Ltd is a verified Meta Tech Provider, with business and access verification, and WhatsApp runs on Meta's official Cloud API. Broadcasts go only to contacts who have opted in, in line with POPIA. Under the hood there's row-level security, encrypted tokens for connected accounts, and data export and account deletion. If they ask for a data processing agreement, a security questionnaire or certifications, don't improvise: note the request and follow up in writing (CURRENT_OFFER.md §4; 00_FACTS §1).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comes next, in order, with no dates. On markets: South Africa is open now, by card and EFT. Next, checkout through FluxMuse, switched on once it's tested end to end with real money. Then Nigeria, Kenya and Ghana, once our payment partners' accounts are live. Later, other markets in US dollars; Botswana and Namibia are coming soon. On product: the partner programme is already live; next come Meta permissions for Facebook and Instagram posting, then social adapters and business app integrations. Timing depends on approvals, so don't give dates (00_FACTS §1 "Roadmap").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one clear next step, and agree it before the call ends. Option one: book a 20-minute call to map goals, channels and products. Option two: see a demo shop built from their own public product photos; it's a demo, not a trial, with nothing to sign up for. Option three: choose a paid plan, and we set them up by hand. Contact is Thabo Malebadi, thabo@fluxmuse.com. Follow up within 24 hours with this deck and a short summary (CURRENT_OFFER.md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appendix is for questions and follow-up, not the main talk track. It covers payment status by country, partner wholesale pricing where relevant, and the questions prospects ask most. Paid sign-up is open in South Africa only. Nigeria, Kenya and Ghana are priced but not on sale, so don't show local prices or offer checkout there; anyone outside South Africa, including Botswana and Namibia, gets the waitlist link instead: [[WAITLIST LINK]]. Regional price sheets are internal only and are not in customer decks (00_FACTS §2 "Market gating").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shows payment status by country, with no provider names. Only South Africa is open for paid sign-up, by card and EFT. Checkout through FluxMuse for a business's buyers is still being switched on. Nigeria, Kenya and Ghana are priced in local currency but not on sale. The countries marked not open yet are where we're expanding via our payment partners, banks and mobile money wallets across 23 African countries. Botswana and Namibia are coming soon. If asked which provider runs payments, say "our payment partners" (CURRENT_OFFER.md §3; 00_FACTS §3).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wholesale pricing is the Agency tier at 30% off list: R6,999 a month instead of R9,999, or R69,990 a year, in rands. Paid sign-up is open in South Africa only for now, so there are no local-currency partner prices yet. Launch offers don't stack with partner pricing. The example is illustrative only, not a forecast: 20 clients at R1,500 bills R30,000; minus R6,999 leaves a R23,001 gross spread before the partner's own costs. Don't quote a fixed margin. A Gold Partner's own Agency plan also comes to R6,999, the same as wholesale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partner programme is live. Every partner starts as a Registered Partner, which our team switches on: 15% commission and 10% off their own plan. Five paying customers, or R5,000 a month billed to them, makes them Silver: 20% and 20%. Fifteen customers, or R15,000 a month, makes them Gold: 25% and 30%. Commission is on subscription fees customers actually pay in their first 12 months, not on credit top-ups or Custom. It's held 30 days, then paid monthly by EFT from R500. Partners can't discount for customers, and Founding Member doesn't stack with their level discount (CURRENT_OFFER.md §1).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answers as written; they follow CURRENT_OFFER.md. On data, stick to the controls listed and don't claim certifications we haven't confirmed. On WhatsApp numbers, a number already used in the WhatsApp Business app may need extra steps, so check it together during setup. On payments, be clear that checkout through FluxMuse is being switched on and hasn't been tested with real money yet. There are no trials, and cancellation terms are still to be confirmed, so promise a written answer rather than improvising.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lead guarantee always comes with its conditions: three qualified leads in 30 days of go-live; if fewer, and the business shared its link and posted at least weekly, we extend support at no extra charge until three arrive. It is never cash back. Setup is by hand, but Meta approvals and catalogue size can stretch it, so set expectations honestly. Store sync is being switched on, so don't promise it. Outside South Africa, share the waitlist link, never prices (CURRENT_OFFER.md §2 and §3).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pic>
        <p:nvPicPr>
          <p:cNvPr id="2" name="g1|img|brand/fluxmuse-logo-dark.png" descr="FluxMuse logo"/>
          <p:cNvPicPr>
            <a:picLocks noChangeAspect="1"/>
          </p:cNvPicPr>
          <p:nvPr/>
        </p:nvPicPr>
        <p:blipFill>
          <a:blip r:embed="rId2"/>
          <a:srcRect/>
          <a:stretch>
            <a:fillRect/>
          </a:stretch>
        </p:blipFill>
        <p:spPr>
          <a:xfrm>
            <a:off x="548640" y="502920"/>
            <a:ext cx="2377440" cy="789290"/>
          </a:xfrm>
          <a:prstGeom prst="rect">
            <a:avLst/>
          </a:prstGeom>
        </p:spPr>
      </p:pic>
      <p:sp>
        <p:nvSpPr>
          <p:cNvPr id="3" name="g2|deco|"/>
          <p:cNvSpPr/>
          <p:nvPr/>
        </p:nvSpPr>
        <p:spPr>
          <a:xfrm>
            <a:off x="7818120" y="1143000"/>
            <a:ext cx="3931920" cy="3931920"/>
          </a:xfrm>
          <a:prstGeom prst="ellipse">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g2|img|brand/fluxmuse-icon-512.png" descr="FluxMuse Muse icon"/>
          <p:cNvPicPr>
            <a:picLocks noChangeAspect="1"/>
          </p:cNvPicPr>
          <p:nvPr/>
        </p:nvPicPr>
        <p:blipFill>
          <a:blip r:embed="rId3"/>
          <a:srcRect/>
          <a:stretch>
            <a:fillRect/>
          </a:stretch>
        </p:blipFill>
        <p:spPr>
          <a:xfrm>
            <a:off x="8183879" y="1508760"/>
            <a:ext cx="3200400" cy="3200400"/>
          </a:xfrm>
          <a:prstGeom prst="rect">
            <a:avLst/>
          </a:prstGeom>
        </p:spPr>
      </p:pic>
      <p:sp>
        <p:nvSpPr>
          <p:cNvPr id="5" name="g3|eyebrow|"/>
          <p:cNvSpPr txBox="1"/>
          <p:nvPr/>
        </p:nvSpPr>
        <p:spPr>
          <a:xfrm>
            <a:off x="548640" y="1874519"/>
            <a:ext cx="6949440" cy="274320"/>
          </a:xfrm>
          <a:prstGeom prst="rect">
            <a:avLst/>
          </a:prstGeom>
          <a:noFill/>
        </p:spPr>
        <p:txBody>
          <a:bodyPr wrap="square" lIns="0" rIns="0" tIns="0" bIns="0" anchor="t">
            <a:noAutofit/>
          </a:bodyPr>
          <a:lstStyle/>
          <a:p>
            <a:pPr algn="l"/>
            <a:r>
              <a:rPr sz="1300" b="1" spc="150">
                <a:solidFill>
                  <a:srgbClr val="FF6A00"/>
                </a:solidFill>
                <a:latin typeface="Inter"/>
              </a:rPr>
              <a:t>AI MARKETING &amp; WHATSAPP SELLING</a:t>
            </a:r>
          </a:p>
        </p:txBody>
      </p:sp>
      <p:sp>
        <p:nvSpPr>
          <p:cNvPr id="6" name="g4|title|"/>
          <p:cNvSpPr txBox="1"/>
          <p:nvPr/>
        </p:nvSpPr>
        <p:spPr>
          <a:xfrm>
            <a:off x="548640" y="2212848"/>
            <a:ext cx="7040880" cy="1737360"/>
          </a:xfrm>
          <a:prstGeom prst="rect">
            <a:avLst/>
          </a:prstGeom>
          <a:noFill/>
        </p:spPr>
        <p:txBody>
          <a:bodyPr wrap="square" lIns="0" rIns="0" tIns="0" bIns="0" anchor="t">
            <a:noAutofit/>
          </a:bodyPr>
          <a:lstStyle/>
          <a:p>
            <a:pPr algn="l">
              <a:lnSpc>
                <a:spcPct val="95000"/>
              </a:lnSpc>
            </a:pPr>
            <a:r>
              <a:rPr sz="3800" b="1">
                <a:solidFill>
                  <a:srgbClr val="FFFFFF"/>
                </a:solidFill>
                <a:latin typeface="Poppins"/>
              </a:rPr>
              <a:t>Your AI marketing team.</a:t>
            </a:r>
          </a:p>
          <a:p>
            <a:pPr algn="l">
              <a:lnSpc>
                <a:spcPct val="95000"/>
              </a:lnSpc>
            </a:pPr>
            <a:r>
              <a:rPr sz="3800" b="1">
                <a:solidFill>
                  <a:srgbClr val="FF6A00"/>
                </a:solidFill>
                <a:latin typeface="Poppins"/>
              </a:rPr>
              <a:t>Selling on WhatsApp.</a:t>
            </a:r>
          </a:p>
        </p:txBody>
      </p:sp>
      <p:sp>
        <p:nvSpPr>
          <p:cNvPr id="7" name="g5|body|"/>
          <p:cNvSpPr txBox="1"/>
          <p:nvPr/>
        </p:nvSpPr>
        <p:spPr>
          <a:xfrm>
            <a:off x="548640" y="4023360"/>
            <a:ext cx="6583680" cy="731520"/>
          </a:xfrm>
          <a:prstGeom prst="rect">
            <a:avLst/>
          </a:prstGeom>
          <a:noFill/>
        </p:spPr>
        <p:txBody>
          <a:bodyPr wrap="square" lIns="0" rIns="0" tIns="0" bIns="0" anchor="t">
            <a:noAutofit/>
          </a:bodyPr>
          <a:lstStyle/>
          <a:p>
            <a:pPr algn="l"/>
            <a:r>
              <a:rPr sz="1800" b="0">
                <a:solidFill>
                  <a:srgbClr val="D5DADF"/>
                </a:solidFill>
                <a:latin typeface="Inter"/>
              </a:rPr>
              <a:t>Send photos, get a shop link, and let your AI team help you post and reply. Built for South Africa.</a:t>
            </a:r>
          </a:p>
        </p:txBody>
      </p:sp>
      <p:sp>
        <p:nvSpPr>
          <p:cNvPr id="8" name="g6|placeholder|"/>
          <p:cNvSpPr txBox="1"/>
          <p:nvPr/>
        </p:nvSpPr>
        <p:spPr>
          <a:xfrm>
            <a:off x="548640" y="4983480"/>
            <a:ext cx="6766560" cy="384048"/>
          </a:xfrm>
          <a:prstGeom prst="rect">
            <a:avLst/>
          </a:prstGeom>
          <a:noFill/>
        </p:spPr>
        <p:txBody>
          <a:bodyPr wrap="square" lIns="0" rIns="0" tIns="0" bIns="0" anchor="t">
            <a:noAutofit/>
          </a:bodyPr>
          <a:lstStyle/>
          <a:p>
            <a:pPr algn="l"/>
            <a:r>
              <a:rPr sz="1800" b="0">
                <a:solidFill>
                  <a:srgbClr val="A7B0B8"/>
                </a:solidFill>
                <a:latin typeface="Inter"/>
              </a:rPr>
              <a:t>Prepared for </a:t>
            </a:r>
            <a:r>
              <a:rPr sz="1800" b="1">
                <a:solidFill>
                  <a:srgbClr val="FFFFFF"/>
                </a:solidFill>
                <a:latin typeface="Inter"/>
              </a:rPr>
              <a:t>[[PROSPECT NAME]]</a:t>
            </a:r>
          </a:p>
        </p:txBody>
      </p:sp>
      <p:sp>
        <p:nvSpPr>
          <p:cNvPr id="9" name="g6|placeholder|"/>
          <p:cNvSpPr txBox="1"/>
          <p:nvPr/>
        </p:nvSpPr>
        <p:spPr>
          <a:xfrm>
            <a:off x="548640" y="5413248"/>
            <a:ext cx="6766560" cy="329184"/>
          </a:xfrm>
          <a:prstGeom prst="rect">
            <a:avLst/>
          </a:prstGeom>
          <a:noFill/>
        </p:spPr>
        <p:txBody>
          <a:bodyPr wrap="square" lIns="0" rIns="0" tIns="0" bIns="0" anchor="t">
            <a:noAutofit/>
          </a:bodyPr>
          <a:lstStyle/>
          <a:p>
            <a:pPr algn="l"/>
            <a:r>
              <a:rPr sz="1500" b="0">
                <a:solidFill>
                  <a:srgbClr val="A7B0B8"/>
                </a:solidFill>
                <a:latin typeface="Inter"/>
              </a:rPr>
              <a:t>[[DATE]]  ·  Thabo Malebadi, founder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7|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THE PROBLEM WE SOLVE</a:t>
            </a:r>
          </a:p>
        </p:txBody>
      </p:sp>
      <p:sp>
        <p:nvSpPr>
          <p:cNvPr id="3" name="hdr7|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Marketing and selling, without the patchwork</a:t>
            </a:r>
          </a:p>
        </p:txBody>
      </p:sp>
      <p:pic>
        <p:nvPicPr>
          <p:cNvPr id="4" name="g8|img|infographics/problem-solution.png" descr="Today: disconnected tools, retainers beyond small budgets, orders lost in chats, after-hours messages unanswered. With FluxMuse: an AI marketing team in WhatsApp, paid plans from R149, photos to a catalogue and shop link, answers in the customer's language."/>
          <p:cNvPicPr>
            <a:picLocks noChangeAspect="1"/>
          </p:cNvPicPr>
          <p:nvPr/>
        </p:nvPicPr>
        <p:blipFill>
          <a:blip r:embed="rId2"/>
          <a:srcRect l="2000" t="21000" r="2000" b="15000"/>
          <a:stretch>
            <a:fillRect/>
          </a:stretch>
        </p:blipFill>
        <p:spPr>
          <a:xfrm>
            <a:off x="548640" y="1778565"/>
            <a:ext cx="11094415" cy="4160405"/>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a:t>
            </a:fld>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hdr9|eyebrow|"/>
          <p:cNvSpPr txBox="1"/>
          <p:nvPr/>
        </p:nvSpPr>
        <p:spPr>
          <a:xfrm>
            <a:off x="548640" y="1234440"/>
            <a:ext cx="3931920" cy="274320"/>
          </a:xfrm>
          <a:prstGeom prst="rect">
            <a:avLst/>
          </a:prstGeom>
          <a:noFill/>
        </p:spPr>
        <p:txBody>
          <a:bodyPr wrap="square" lIns="0" rIns="0" tIns="0" bIns="0" anchor="t">
            <a:noAutofit/>
          </a:bodyPr>
          <a:lstStyle/>
          <a:p>
            <a:pPr algn="l"/>
            <a:r>
              <a:rPr sz="1200" b="1" spc="150">
                <a:solidFill>
                  <a:srgbClr val="FF6A00"/>
                </a:solidFill>
                <a:latin typeface="Inter"/>
              </a:rPr>
              <a:t>MEET FLUXMUSE</a:t>
            </a:r>
          </a:p>
        </p:txBody>
      </p:sp>
      <p:sp>
        <p:nvSpPr>
          <p:cNvPr id="3" name="hdr9|title|"/>
          <p:cNvSpPr txBox="1"/>
          <p:nvPr/>
        </p:nvSpPr>
        <p:spPr>
          <a:xfrm>
            <a:off x="548640" y="1572768"/>
            <a:ext cx="3931920" cy="2103120"/>
          </a:xfrm>
          <a:prstGeom prst="rect">
            <a:avLst/>
          </a:prstGeom>
          <a:noFill/>
        </p:spPr>
        <p:txBody>
          <a:bodyPr wrap="square" lIns="0" rIns="0" tIns="0" bIns="0" anchor="t">
            <a:noAutofit/>
          </a:bodyPr>
          <a:lstStyle/>
          <a:p>
            <a:pPr algn="l">
              <a:lnSpc>
                <a:spcPct val="95000"/>
              </a:lnSpc>
            </a:pPr>
            <a:r>
              <a:rPr sz="3400" b="1">
                <a:solidFill>
                  <a:srgbClr val="FFFFFF"/>
                </a:solidFill>
                <a:latin typeface="Poppins"/>
              </a:rPr>
              <a:t>One AI team for marketing and sales</a:t>
            </a:r>
          </a:p>
        </p:txBody>
      </p:sp>
      <p:sp>
        <p:nvSpPr>
          <p:cNvPr id="4" name="g10|body|"/>
          <p:cNvSpPr txBox="1"/>
          <p:nvPr/>
        </p:nvSpPr>
        <p:spPr>
          <a:xfrm>
            <a:off x="548640" y="3749039"/>
            <a:ext cx="3749039" cy="914400"/>
          </a:xfrm>
          <a:prstGeom prst="rect">
            <a:avLst/>
          </a:prstGeom>
          <a:noFill/>
        </p:spPr>
        <p:txBody>
          <a:bodyPr wrap="square" lIns="0" rIns="0" tIns="0" bIns="0" anchor="t">
            <a:noAutofit/>
          </a:bodyPr>
          <a:lstStyle/>
          <a:p>
            <a:pPr algn="l"/>
            <a:r>
              <a:rPr sz="1700" b="0">
                <a:solidFill>
                  <a:srgbClr val="D5DADF"/>
                </a:solidFill>
                <a:latin typeface="Inter"/>
              </a:rPr>
              <a:t>AI marketing and a WhatsApp shop, for South African businesses.</a:t>
            </a:r>
          </a:p>
        </p:txBody>
      </p:sp>
      <p:sp>
        <p:nvSpPr>
          <p:cNvPr id="5" name="g11|chip|"/>
          <p:cNvSpPr/>
          <p:nvPr/>
        </p:nvSpPr>
        <p:spPr>
          <a:xfrm>
            <a:off x="548640" y="4892040"/>
            <a:ext cx="3611880" cy="475488"/>
          </a:xfrm>
          <a:prstGeom prst="roundRect">
            <a:avLst>
              <a:gd name="adj" fmla="val 50000"/>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11|chip|"/>
          <p:cNvSpPr txBox="1"/>
          <p:nvPr/>
        </p:nvSpPr>
        <p:spPr>
          <a:xfrm>
            <a:off x="548640" y="4892040"/>
            <a:ext cx="3611880" cy="475488"/>
          </a:xfrm>
          <a:prstGeom prst="rect">
            <a:avLst/>
          </a:prstGeom>
          <a:noFill/>
        </p:spPr>
        <p:txBody>
          <a:bodyPr wrap="square" lIns="0" rIns="0" tIns="0" bIns="0" anchor="ctr">
            <a:noAutofit/>
          </a:bodyPr>
          <a:lstStyle/>
          <a:p>
            <a:pPr algn="ctr"/>
            <a:r>
              <a:rPr sz="1400" b="1">
                <a:solidFill>
                  <a:srgbClr val="0F1419"/>
                </a:solidFill>
                <a:latin typeface="Inter"/>
              </a:rPr>
              <a:t>Set up by hand</a:t>
            </a:r>
          </a:p>
        </p:txBody>
      </p:sp>
      <p:sp>
        <p:nvSpPr>
          <p:cNvPr id="7" name="meet12|card|"/>
          <p:cNvSpPr/>
          <p:nvPr/>
        </p:nvSpPr>
        <p:spPr>
          <a:xfrm>
            <a:off x="4846320" y="1234440"/>
            <a:ext cx="3291840" cy="4572000"/>
          </a:xfrm>
          <a:prstGeom prst="roundRect">
            <a:avLst>
              <a:gd name="adj" fmla="val 5555"/>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eet12|eyebrow|"/>
          <p:cNvSpPr txBox="1"/>
          <p:nvPr/>
        </p:nvSpPr>
        <p:spPr>
          <a:xfrm>
            <a:off x="5120640" y="1463040"/>
            <a:ext cx="2743200" cy="274320"/>
          </a:xfrm>
          <a:prstGeom prst="rect">
            <a:avLst/>
          </a:prstGeom>
          <a:noFill/>
        </p:spPr>
        <p:txBody>
          <a:bodyPr wrap="square" lIns="0" rIns="0" tIns="0" bIns="0" anchor="t">
            <a:noAutofit/>
          </a:bodyPr>
          <a:lstStyle/>
          <a:p>
            <a:pPr algn="l"/>
            <a:r>
              <a:rPr sz="1200" b="1" spc="120">
                <a:solidFill>
                  <a:srgbClr val="FF6A00"/>
                </a:solidFill>
                <a:latin typeface="Inter"/>
              </a:rPr>
              <a:t>LIVE, NEWLY LAUNCHED</a:t>
            </a:r>
          </a:p>
        </p:txBody>
      </p:sp>
      <p:pic>
        <p:nvPicPr>
          <p:cNvPr id="9" name="g13|icon|checkCircle_orange.png" descr="checkCircle_orange"/>
          <p:cNvPicPr>
            <a:picLocks noChangeAspect="1"/>
          </p:cNvPicPr>
          <p:nvPr/>
        </p:nvPicPr>
        <p:blipFill>
          <a:blip r:embed="rId2"/>
          <a:srcRect/>
          <a:stretch>
            <a:fillRect/>
          </a:stretch>
        </p:blipFill>
        <p:spPr>
          <a:xfrm>
            <a:off x="5221224" y="2093975"/>
            <a:ext cx="256032" cy="256032"/>
          </a:xfrm>
          <a:prstGeom prst="rect">
            <a:avLst/>
          </a:prstGeom>
        </p:spPr>
      </p:pic>
      <p:sp>
        <p:nvSpPr>
          <p:cNvPr id="10" name="g13|card|"/>
          <p:cNvSpPr txBox="1"/>
          <p:nvPr/>
        </p:nvSpPr>
        <p:spPr>
          <a:xfrm>
            <a:off x="5715000" y="1965960"/>
            <a:ext cx="2286000" cy="512064"/>
          </a:xfrm>
          <a:prstGeom prst="rect">
            <a:avLst/>
          </a:prstGeom>
          <a:noFill/>
        </p:spPr>
        <p:txBody>
          <a:bodyPr wrap="square" lIns="0" rIns="0" tIns="0" bIns="0" anchor="ctr">
            <a:noAutofit/>
          </a:bodyPr>
          <a:lstStyle/>
          <a:p>
            <a:pPr algn="l"/>
            <a:r>
              <a:rPr sz="1500" b="0">
                <a:solidFill>
                  <a:srgbClr val="FFFFFF"/>
                </a:solidFill>
                <a:latin typeface="Inter"/>
              </a:rPr>
              <a:t>Photos to catalogue</a:t>
            </a:r>
          </a:p>
        </p:txBody>
      </p:sp>
      <p:pic>
        <p:nvPicPr>
          <p:cNvPr id="11" name="g14|icon|checkCircle_orange.png" descr="checkCircle_orange"/>
          <p:cNvPicPr>
            <a:picLocks noChangeAspect="1"/>
          </p:cNvPicPr>
          <p:nvPr/>
        </p:nvPicPr>
        <p:blipFill>
          <a:blip r:embed="rId2"/>
          <a:srcRect/>
          <a:stretch>
            <a:fillRect/>
          </a:stretch>
        </p:blipFill>
        <p:spPr>
          <a:xfrm>
            <a:off x="5221224" y="2807208"/>
            <a:ext cx="256032" cy="256032"/>
          </a:xfrm>
          <a:prstGeom prst="rect">
            <a:avLst/>
          </a:prstGeom>
        </p:spPr>
      </p:pic>
      <p:sp>
        <p:nvSpPr>
          <p:cNvPr id="12" name="g14|card|"/>
          <p:cNvSpPr txBox="1"/>
          <p:nvPr/>
        </p:nvSpPr>
        <p:spPr>
          <a:xfrm>
            <a:off x="5715000" y="2679191"/>
            <a:ext cx="2286000" cy="512064"/>
          </a:xfrm>
          <a:prstGeom prst="rect">
            <a:avLst/>
          </a:prstGeom>
          <a:noFill/>
        </p:spPr>
        <p:txBody>
          <a:bodyPr wrap="square" lIns="0" rIns="0" tIns="0" bIns="0" anchor="ctr">
            <a:noAutofit/>
          </a:bodyPr>
          <a:lstStyle/>
          <a:p>
            <a:pPr algn="l"/>
            <a:r>
              <a:rPr sz="1500" b="0">
                <a:solidFill>
                  <a:srgbClr val="FFFFFF"/>
                </a:solidFill>
                <a:latin typeface="Inter"/>
              </a:rPr>
              <a:t>Shop link</a:t>
            </a:r>
          </a:p>
        </p:txBody>
      </p:sp>
      <p:pic>
        <p:nvPicPr>
          <p:cNvPr id="13" name="g15|icon|checkCircle_orange.png" descr="checkCircle_orange"/>
          <p:cNvPicPr>
            <a:picLocks noChangeAspect="1"/>
          </p:cNvPicPr>
          <p:nvPr/>
        </p:nvPicPr>
        <p:blipFill>
          <a:blip r:embed="rId2"/>
          <a:srcRect/>
          <a:stretch>
            <a:fillRect/>
          </a:stretch>
        </p:blipFill>
        <p:spPr>
          <a:xfrm>
            <a:off x="5221224" y="3520440"/>
            <a:ext cx="256032" cy="256032"/>
          </a:xfrm>
          <a:prstGeom prst="rect">
            <a:avLst/>
          </a:prstGeom>
        </p:spPr>
      </p:pic>
      <p:sp>
        <p:nvSpPr>
          <p:cNvPr id="14" name="g15|card|"/>
          <p:cNvSpPr txBox="1"/>
          <p:nvPr/>
        </p:nvSpPr>
        <p:spPr>
          <a:xfrm>
            <a:off x="5715000" y="3392424"/>
            <a:ext cx="2286000" cy="512064"/>
          </a:xfrm>
          <a:prstGeom prst="rect">
            <a:avLst/>
          </a:prstGeom>
          <a:noFill/>
        </p:spPr>
        <p:txBody>
          <a:bodyPr wrap="square" lIns="0" rIns="0" tIns="0" bIns="0" anchor="ctr">
            <a:noAutofit/>
          </a:bodyPr>
          <a:lstStyle/>
          <a:p>
            <a:pPr algn="l"/>
            <a:r>
              <a:rPr sz="1500" b="0">
                <a:solidFill>
                  <a:srgbClr val="FFFFFF"/>
                </a:solidFill>
                <a:latin typeface="Inter"/>
              </a:rPr>
              <a:t>Order alerts</a:t>
            </a:r>
          </a:p>
        </p:txBody>
      </p:sp>
      <p:pic>
        <p:nvPicPr>
          <p:cNvPr id="15" name="g16|icon|checkCircle_orange.png" descr="checkCircle_orange"/>
          <p:cNvPicPr>
            <a:picLocks noChangeAspect="1"/>
          </p:cNvPicPr>
          <p:nvPr/>
        </p:nvPicPr>
        <p:blipFill>
          <a:blip r:embed="rId2"/>
          <a:srcRect/>
          <a:stretch>
            <a:fillRect/>
          </a:stretch>
        </p:blipFill>
        <p:spPr>
          <a:xfrm>
            <a:off x="5221224" y="4233672"/>
            <a:ext cx="256032" cy="256032"/>
          </a:xfrm>
          <a:prstGeom prst="rect">
            <a:avLst/>
          </a:prstGeom>
        </p:spPr>
      </p:pic>
      <p:sp>
        <p:nvSpPr>
          <p:cNvPr id="16" name="g16|card|"/>
          <p:cNvSpPr txBox="1"/>
          <p:nvPr/>
        </p:nvSpPr>
        <p:spPr>
          <a:xfrm>
            <a:off x="5715000" y="4105656"/>
            <a:ext cx="2286000" cy="512064"/>
          </a:xfrm>
          <a:prstGeom prst="rect">
            <a:avLst/>
          </a:prstGeom>
          <a:noFill/>
        </p:spPr>
        <p:txBody>
          <a:bodyPr wrap="square" lIns="0" rIns="0" tIns="0" bIns="0" anchor="ctr">
            <a:noAutofit/>
          </a:bodyPr>
          <a:lstStyle/>
          <a:p>
            <a:pPr algn="l"/>
            <a:r>
              <a:rPr sz="1500" b="0">
                <a:solidFill>
                  <a:srgbClr val="FFFFFF"/>
                </a:solidFill>
                <a:latin typeface="Inter"/>
              </a:rPr>
              <a:t>AI posts &amp; clips</a:t>
            </a:r>
          </a:p>
        </p:txBody>
      </p:sp>
      <p:pic>
        <p:nvPicPr>
          <p:cNvPr id="17" name="g17|icon|checkCircle_orange.png" descr="checkCircle_orange"/>
          <p:cNvPicPr>
            <a:picLocks noChangeAspect="1"/>
          </p:cNvPicPr>
          <p:nvPr/>
        </p:nvPicPr>
        <p:blipFill>
          <a:blip r:embed="rId2"/>
          <a:srcRect/>
          <a:stretch>
            <a:fillRect/>
          </a:stretch>
        </p:blipFill>
        <p:spPr>
          <a:xfrm>
            <a:off x="5221224" y="4946904"/>
            <a:ext cx="256032" cy="256032"/>
          </a:xfrm>
          <a:prstGeom prst="rect">
            <a:avLst/>
          </a:prstGeom>
        </p:spPr>
      </p:pic>
      <p:sp>
        <p:nvSpPr>
          <p:cNvPr id="18" name="g17|card|"/>
          <p:cNvSpPr txBox="1"/>
          <p:nvPr/>
        </p:nvSpPr>
        <p:spPr>
          <a:xfrm>
            <a:off x="5715000" y="4818888"/>
            <a:ext cx="2286000" cy="512064"/>
          </a:xfrm>
          <a:prstGeom prst="rect">
            <a:avLst/>
          </a:prstGeom>
          <a:noFill/>
        </p:spPr>
        <p:txBody>
          <a:bodyPr wrap="square" lIns="0" rIns="0" tIns="0" bIns="0" anchor="ctr">
            <a:noAutofit/>
          </a:bodyPr>
          <a:lstStyle/>
          <a:p>
            <a:pPr algn="l"/>
            <a:r>
              <a:rPr sz="1500" b="0">
                <a:solidFill>
                  <a:srgbClr val="FFFFFF"/>
                </a:solidFill>
                <a:latin typeface="Inter"/>
              </a:rPr>
              <a:t>TikTok video</a:t>
            </a:r>
          </a:p>
        </p:txBody>
      </p:sp>
      <p:sp>
        <p:nvSpPr>
          <p:cNvPr id="19" name="meet18|card|"/>
          <p:cNvSpPr/>
          <p:nvPr/>
        </p:nvSpPr>
        <p:spPr>
          <a:xfrm>
            <a:off x="8348471" y="1234440"/>
            <a:ext cx="3291840" cy="4572000"/>
          </a:xfrm>
          <a:prstGeom prst="roundRect">
            <a:avLst>
              <a:gd name="adj" fmla="val 5555"/>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eet18|eyebrow|"/>
          <p:cNvSpPr txBox="1"/>
          <p:nvPr/>
        </p:nvSpPr>
        <p:spPr>
          <a:xfrm>
            <a:off x="8622792" y="1463040"/>
            <a:ext cx="2743200" cy="274320"/>
          </a:xfrm>
          <a:prstGeom prst="rect">
            <a:avLst/>
          </a:prstGeom>
          <a:noFill/>
        </p:spPr>
        <p:txBody>
          <a:bodyPr wrap="square" lIns="0" rIns="0" tIns="0" bIns="0" anchor="t">
            <a:noAutofit/>
          </a:bodyPr>
          <a:lstStyle/>
          <a:p>
            <a:pPr algn="l"/>
            <a:r>
              <a:rPr sz="1200" b="1" spc="120">
                <a:solidFill>
                  <a:srgbClr val="A7B0B8"/>
                </a:solidFill>
                <a:latin typeface="Inter"/>
              </a:rPr>
              <a:t>BEING SWITCHED ON</a:t>
            </a:r>
          </a:p>
        </p:txBody>
      </p:sp>
      <p:pic>
        <p:nvPicPr>
          <p:cNvPr id="21" name="g19|icon|clock_white.png" descr="clock_white"/>
          <p:cNvPicPr>
            <a:picLocks noChangeAspect="1"/>
          </p:cNvPicPr>
          <p:nvPr/>
        </p:nvPicPr>
        <p:blipFill>
          <a:blip r:embed="rId3"/>
          <a:srcRect/>
          <a:stretch>
            <a:fillRect/>
          </a:stretch>
        </p:blipFill>
        <p:spPr>
          <a:xfrm>
            <a:off x="8723376" y="2093975"/>
            <a:ext cx="256032" cy="256032"/>
          </a:xfrm>
          <a:prstGeom prst="rect">
            <a:avLst/>
          </a:prstGeom>
        </p:spPr>
      </p:pic>
      <p:sp>
        <p:nvSpPr>
          <p:cNvPr id="22" name="g19|card|"/>
          <p:cNvSpPr txBox="1"/>
          <p:nvPr/>
        </p:nvSpPr>
        <p:spPr>
          <a:xfrm>
            <a:off x="9217151" y="1965960"/>
            <a:ext cx="2286000" cy="512064"/>
          </a:xfrm>
          <a:prstGeom prst="rect">
            <a:avLst/>
          </a:prstGeom>
          <a:noFill/>
        </p:spPr>
        <p:txBody>
          <a:bodyPr wrap="square" lIns="0" rIns="0" tIns="0" bIns="0" anchor="ctr">
            <a:noAutofit/>
          </a:bodyPr>
          <a:lstStyle/>
          <a:p>
            <a:pPr algn="l"/>
            <a:r>
              <a:rPr sz="1500" b="0">
                <a:solidFill>
                  <a:srgbClr val="FFFFFF"/>
                </a:solidFill>
                <a:latin typeface="Inter"/>
              </a:rPr>
              <a:t>Checkout</a:t>
            </a:r>
          </a:p>
        </p:txBody>
      </p:sp>
      <p:pic>
        <p:nvPicPr>
          <p:cNvPr id="23" name="g20|icon|clock_white.png" descr="clock_white"/>
          <p:cNvPicPr>
            <a:picLocks noChangeAspect="1"/>
          </p:cNvPicPr>
          <p:nvPr/>
        </p:nvPicPr>
        <p:blipFill>
          <a:blip r:embed="rId3"/>
          <a:srcRect/>
          <a:stretch>
            <a:fillRect/>
          </a:stretch>
        </p:blipFill>
        <p:spPr>
          <a:xfrm>
            <a:off x="8723376" y="2807208"/>
            <a:ext cx="256032" cy="256032"/>
          </a:xfrm>
          <a:prstGeom prst="rect">
            <a:avLst/>
          </a:prstGeom>
        </p:spPr>
      </p:pic>
      <p:sp>
        <p:nvSpPr>
          <p:cNvPr id="24" name="g20|card|"/>
          <p:cNvSpPr txBox="1"/>
          <p:nvPr/>
        </p:nvSpPr>
        <p:spPr>
          <a:xfrm>
            <a:off x="9217151" y="2679191"/>
            <a:ext cx="2286000" cy="512064"/>
          </a:xfrm>
          <a:prstGeom prst="rect">
            <a:avLst/>
          </a:prstGeom>
          <a:noFill/>
        </p:spPr>
        <p:txBody>
          <a:bodyPr wrap="square" lIns="0" rIns="0" tIns="0" bIns="0" anchor="ctr">
            <a:noAutofit/>
          </a:bodyPr>
          <a:lstStyle/>
          <a:p>
            <a:pPr algn="l"/>
            <a:r>
              <a:rPr sz="1500" b="0">
                <a:solidFill>
                  <a:srgbClr val="FFFFFF"/>
                </a:solidFill>
                <a:latin typeface="Inter"/>
              </a:rPr>
              <a:t>Facebook &amp; Instagram</a:t>
            </a:r>
          </a:p>
        </p:txBody>
      </p:sp>
      <p:pic>
        <p:nvPicPr>
          <p:cNvPr id="25" name="g21|icon|clock_white.png" descr="clock_white"/>
          <p:cNvPicPr>
            <a:picLocks noChangeAspect="1"/>
          </p:cNvPicPr>
          <p:nvPr/>
        </p:nvPicPr>
        <p:blipFill>
          <a:blip r:embed="rId3"/>
          <a:srcRect/>
          <a:stretch>
            <a:fillRect/>
          </a:stretch>
        </p:blipFill>
        <p:spPr>
          <a:xfrm>
            <a:off x="8723376" y="3520440"/>
            <a:ext cx="256032" cy="256032"/>
          </a:xfrm>
          <a:prstGeom prst="rect">
            <a:avLst/>
          </a:prstGeom>
        </p:spPr>
      </p:pic>
      <p:sp>
        <p:nvSpPr>
          <p:cNvPr id="26" name="g21|card|"/>
          <p:cNvSpPr txBox="1"/>
          <p:nvPr/>
        </p:nvSpPr>
        <p:spPr>
          <a:xfrm>
            <a:off x="9217151" y="3392424"/>
            <a:ext cx="2286000" cy="512064"/>
          </a:xfrm>
          <a:prstGeom prst="rect">
            <a:avLst/>
          </a:prstGeom>
          <a:noFill/>
        </p:spPr>
        <p:txBody>
          <a:bodyPr wrap="square" lIns="0" rIns="0" tIns="0" bIns="0" anchor="ctr">
            <a:noAutofit/>
          </a:bodyPr>
          <a:lstStyle/>
          <a:p>
            <a:pPr algn="l"/>
            <a:r>
              <a:rPr sz="1500" b="0">
                <a:solidFill>
                  <a:srgbClr val="FFFFFF"/>
                </a:solidFill>
                <a:latin typeface="Inter"/>
              </a:rPr>
              <a:t>AI Voice (beta)</a:t>
            </a:r>
          </a:p>
        </p:txBody>
      </p:sp>
      <p:sp>
        <p:nvSpPr>
          <p:cNvPr id="27"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A7B0B8"/>
                </a:solidFill>
                <a:latin typeface="Inter"/>
              </a:rPr>
              <a:t>FluxMuse · fluxmuse.ai</a:t>
            </a:r>
          </a:p>
        </p:txBody>
      </p:sp>
      <p:sp>
        <p:nvSpPr>
          <p:cNvPr id="28"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A7B0B8"/>
                </a:solidFill>
                <a:latin typeface="Inter"/>
              </a:rPr>
              <a:t>3</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2|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HOW FLUXMUSE WORKS</a:t>
            </a:r>
          </a:p>
        </p:txBody>
      </p:sp>
      <p:sp>
        <p:nvSpPr>
          <p:cNvPr id="3" name="hdr22|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One loop, run by your AI marketing team</a:t>
            </a:r>
          </a:p>
        </p:txBody>
      </p:sp>
      <p:pic>
        <p:nvPicPr>
          <p:cNvPr id="4" name="g23|img|infographics/how-fluxmuse-works.png" descr="Loop: Plan, Create (captions, images, short clips), Publish (WhatsApp Status, consented broadcasts, TikTok), Sell (shop link from photos, every order on WhatsApp), Learn"/>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4</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4|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WHATSAPP SELLING</a:t>
            </a:r>
          </a:p>
        </p:txBody>
      </p:sp>
      <p:sp>
        <p:nvSpPr>
          <p:cNvPr id="3" name="hdr24|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From first tap to repeat order, on WhatsApp</a:t>
            </a:r>
          </a:p>
        </p:txBody>
      </p:sp>
      <p:pic>
        <p:nvPicPr>
          <p:cNvPr id="4" name="g25|img|infographics/whatsapp-commerce-flow.png" descr="Discover, Chat, Catalog, Cart, Pay (card and EFT in South Africa, being switched on), Order alert, Come back; checkout through FluxMuse not yet tested with real money"/>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5</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6|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CHANNELS</a:t>
            </a:r>
          </a:p>
        </p:txBody>
      </p:sp>
      <p:sp>
        <p:nvSpPr>
          <p:cNvPr id="3" name="hdr26|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Where FluxMuse works today</a:t>
            </a:r>
          </a:p>
        </p:txBody>
      </p:sp>
      <p:pic>
        <p:nvPicPr>
          <p:cNvPr id="4" name="g27|img|infographics/omnichannel-hub.png" descr="FluxMuse AI team: live on WhatsApp Business, WhatsApp Status, hosted shop link, TikTok video and consented broadcasts; Facebook Pages, Instagram posts and WhatsApp ads being switched on; Instagram DMs and X posting not available"/>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6</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28|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PAYMENTS COVERAGE</a:t>
            </a:r>
          </a:p>
        </p:txBody>
      </p:sp>
      <p:sp>
        <p:nvSpPr>
          <p:cNvPr id="3" name="hdr28|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Live in South Africa. The rest is pending.</a:t>
            </a:r>
          </a:p>
        </p:txBody>
      </p:sp>
      <p:pic>
        <p:nvPicPr>
          <p:cNvPr id="4" name="g29|img|infographics/payment-coverage-map.png" descr="Tile map by country status: South Africa live, paid sign-up by card and EFT; Nigeria, Kenya and Ghana priced, not on sale; 19 more countries in our payment partners' reach, not open yet; Botswana and Namibia coming soon"/>
          <p:cNvPicPr>
            <a:picLocks noChangeAspect="1"/>
          </p:cNvPicPr>
          <p:nvPr/>
        </p:nvPicPr>
        <p:blipFill>
          <a:blip r:embed="rId2"/>
          <a:srcRect t="20500"/>
          <a:stretch>
            <a:fillRect/>
          </a:stretch>
        </p:blipFill>
        <p:spPr>
          <a:xfrm>
            <a:off x="574941" y="1389888"/>
            <a:ext cx="11041811"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7</a:t>
            </a:fld>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hdr30|eyebrow|"/>
          <p:cNvSpPr txBox="1"/>
          <p:nvPr/>
        </p:nvSpPr>
        <p:spPr>
          <a:xfrm>
            <a:off x="548640" y="777240"/>
            <a:ext cx="11094415" cy="274320"/>
          </a:xfrm>
          <a:prstGeom prst="rect">
            <a:avLst/>
          </a:prstGeom>
          <a:noFill/>
        </p:spPr>
        <p:txBody>
          <a:bodyPr wrap="square" lIns="0" rIns="0" tIns="0" bIns="0" anchor="t">
            <a:noAutofit/>
          </a:bodyPr>
          <a:lstStyle/>
          <a:p>
            <a:pPr algn="l"/>
            <a:r>
              <a:rPr sz="1200" b="1" spc="150">
                <a:solidFill>
                  <a:srgbClr val="FF6A00"/>
                </a:solidFill>
                <a:latin typeface="Inter"/>
              </a:rPr>
              <a:t>BUILT FOR YOU</a:t>
            </a:r>
          </a:p>
        </p:txBody>
      </p:sp>
      <p:sp>
        <p:nvSpPr>
          <p:cNvPr id="3" name="hdr30|title|"/>
          <p:cNvSpPr txBox="1"/>
          <p:nvPr/>
        </p:nvSpPr>
        <p:spPr>
          <a:xfrm>
            <a:off x="548640" y="1051560"/>
            <a:ext cx="11094415" cy="731520"/>
          </a:xfrm>
          <a:prstGeom prst="rect">
            <a:avLst/>
          </a:prstGeom>
          <a:noFill/>
        </p:spPr>
        <p:txBody>
          <a:bodyPr wrap="square" lIns="0" rIns="0" tIns="0" bIns="0" anchor="t">
            <a:noAutofit/>
          </a:bodyPr>
          <a:lstStyle/>
          <a:p>
            <a:pPr algn="l"/>
            <a:r>
              <a:rPr sz="3600" b="1">
                <a:solidFill>
                  <a:srgbClr val="FFFFFF"/>
                </a:solidFill>
                <a:latin typeface="Poppins"/>
              </a:rPr>
              <a:t>Built for businesses like yours</a:t>
            </a:r>
          </a:p>
        </p:txBody>
      </p:sp>
      <p:sp>
        <p:nvSpPr>
          <p:cNvPr id="4" name="g31|body|"/>
          <p:cNvSpPr txBox="1"/>
          <p:nvPr/>
        </p:nvSpPr>
        <p:spPr>
          <a:xfrm>
            <a:off x="548640" y="1810512"/>
            <a:ext cx="11094415" cy="365760"/>
          </a:xfrm>
          <a:prstGeom prst="rect">
            <a:avLst/>
          </a:prstGeom>
          <a:noFill/>
        </p:spPr>
        <p:txBody>
          <a:bodyPr wrap="square" lIns="0" rIns="0" tIns="0" bIns="0" anchor="t">
            <a:noAutofit/>
          </a:bodyPr>
          <a:lstStyle/>
          <a:p>
            <a:pPr algn="l"/>
            <a:r>
              <a:rPr sz="1800" b="0">
                <a:solidFill>
                  <a:srgbClr val="A7B0B8"/>
                </a:solidFill>
                <a:latin typeface="Inter"/>
              </a:rPr>
              <a:t>South Africa first.</a:t>
            </a:r>
          </a:p>
        </p:txBody>
      </p:sp>
      <p:sp>
        <p:nvSpPr>
          <p:cNvPr id="5" name="seg32|card|"/>
          <p:cNvSpPr/>
          <p:nvPr/>
        </p:nvSpPr>
        <p:spPr>
          <a:xfrm>
            <a:off x="548640" y="2606040"/>
            <a:ext cx="3511296" cy="3383280"/>
          </a:xfrm>
          <a:prstGeom prst="roundRect">
            <a:avLst>
              <a:gd name="adj" fmla="val 5405"/>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eg32|deco|"/>
          <p:cNvSpPr/>
          <p:nvPr/>
        </p:nvSpPr>
        <p:spPr>
          <a:xfrm>
            <a:off x="868680" y="2926079"/>
            <a:ext cx="822960" cy="822960"/>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seg32|icon|users_ink.png" descr="users_ink"/>
          <p:cNvPicPr>
            <a:picLocks noChangeAspect="1"/>
          </p:cNvPicPr>
          <p:nvPr/>
        </p:nvPicPr>
        <p:blipFill>
          <a:blip r:embed="rId2"/>
          <a:srcRect/>
          <a:stretch>
            <a:fillRect/>
          </a:stretch>
        </p:blipFill>
        <p:spPr>
          <a:xfrm>
            <a:off x="1049731" y="3107131"/>
            <a:ext cx="460857" cy="460857"/>
          </a:xfrm>
          <a:prstGeom prst="rect">
            <a:avLst/>
          </a:prstGeom>
        </p:spPr>
      </p:pic>
      <p:sp>
        <p:nvSpPr>
          <p:cNvPr id="8" name="seg32|card|"/>
          <p:cNvSpPr txBox="1"/>
          <p:nvPr/>
        </p:nvSpPr>
        <p:spPr>
          <a:xfrm>
            <a:off x="868680" y="3886200"/>
            <a:ext cx="2871215" cy="822960"/>
          </a:xfrm>
          <a:prstGeom prst="rect">
            <a:avLst/>
          </a:prstGeom>
          <a:noFill/>
        </p:spPr>
        <p:txBody>
          <a:bodyPr wrap="square" lIns="0" rIns="0" tIns="0" bIns="0" anchor="b">
            <a:noAutofit/>
          </a:bodyPr>
          <a:lstStyle/>
          <a:p>
            <a:pPr algn="l">
              <a:lnSpc>
                <a:spcPct val="95000"/>
              </a:lnSpc>
            </a:pPr>
            <a:r>
              <a:rPr sz="2200" b="1">
                <a:solidFill>
                  <a:srgbClr val="FFFFFF"/>
                </a:solidFill>
                <a:latin typeface="Poppins"/>
              </a:rPr>
              <a:t>Solo entrepreneurs</a:t>
            </a:r>
          </a:p>
        </p:txBody>
      </p:sp>
      <p:sp>
        <p:nvSpPr>
          <p:cNvPr id="9" name="seg32|card|"/>
          <p:cNvSpPr txBox="1"/>
          <p:nvPr/>
        </p:nvSpPr>
        <p:spPr>
          <a:xfrm>
            <a:off x="868680" y="4800600"/>
            <a:ext cx="2871215" cy="365760"/>
          </a:xfrm>
          <a:prstGeom prst="rect">
            <a:avLst/>
          </a:prstGeom>
          <a:noFill/>
        </p:spPr>
        <p:txBody>
          <a:bodyPr wrap="square" lIns="0" rIns="0" tIns="0" bIns="0" anchor="t">
            <a:noAutofit/>
          </a:bodyPr>
          <a:lstStyle/>
          <a:p>
            <a:pPr algn="l"/>
            <a:r>
              <a:rPr sz="1600" b="0">
                <a:solidFill>
                  <a:srgbClr val="A7B0B8"/>
                </a:solidFill>
                <a:latin typeface="Inter"/>
              </a:rPr>
              <a:t>Founder-run, 1–5 people</a:t>
            </a:r>
          </a:p>
        </p:txBody>
      </p:sp>
      <p:sp>
        <p:nvSpPr>
          <p:cNvPr id="10" name="seg32|card|"/>
          <p:cNvSpPr txBox="1"/>
          <p:nvPr/>
        </p:nvSpPr>
        <p:spPr>
          <a:xfrm>
            <a:off x="868680" y="5303520"/>
            <a:ext cx="2871215" cy="411480"/>
          </a:xfrm>
          <a:prstGeom prst="rect">
            <a:avLst/>
          </a:prstGeom>
          <a:noFill/>
        </p:spPr>
        <p:txBody>
          <a:bodyPr wrap="square" lIns="0" rIns="0" tIns="0" bIns="0" anchor="t">
            <a:noAutofit/>
          </a:bodyPr>
          <a:lstStyle/>
          <a:p>
            <a:pPr algn="l"/>
            <a:r>
              <a:rPr sz="1800" b="1">
                <a:solidFill>
                  <a:srgbClr val="FF6A00"/>
                </a:solidFill>
                <a:latin typeface="Inter"/>
              </a:rPr>
              <a:t>Nano · R149/mo</a:t>
            </a:r>
          </a:p>
        </p:txBody>
      </p:sp>
      <p:sp>
        <p:nvSpPr>
          <p:cNvPr id="11" name="seg33|card|"/>
          <p:cNvSpPr/>
          <p:nvPr/>
        </p:nvSpPr>
        <p:spPr>
          <a:xfrm>
            <a:off x="4340199" y="2606040"/>
            <a:ext cx="3511296" cy="3383280"/>
          </a:xfrm>
          <a:prstGeom prst="roundRect">
            <a:avLst>
              <a:gd name="adj" fmla="val 5405"/>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eg33|deco|"/>
          <p:cNvSpPr/>
          <p:nvPr/>
        </p:nvSpPr>
        <p:spPr>
          <a:xfrm>
            <a:off x="4660239" y="2926079"/>
            <a:ext cx="822960" cy="822960"/>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seg33|icon|briefcase_ink.png" descr="briefcase_ink"/>
          <p:cNvPicPr>
            <a:picLocks noChangeAspect="1"/>
          </p:cNvPicPr>
          <p:nvPr/>
        </p:nvPicPr>
        <p:blipFill>
          <a:blip r:embed="rId3"/>
          <a:srcRect/>
          <a:stretch>
            <a:fillRect/>
          </a:stretch>
        </p:blipFill>
        <p:spPr>
          <a:xfrm>
            <a:off x="4841290" y="3107131"/>
            <a:ext cx="460857" cy="460857"/>
          </a:xfrm>
          <a:prstGeom prst="rect">
            <a:avLst/>
          </a:prstGeom>
        </p:spPr>
      </p:pic>
      <p:sp>
        <p:nvSpPr>
          <p:cNvPr id="14" name="seg33|card|"/>
          <p:cNvSpPr txBox="1"/>
          <p:nvPr/>
        </p:nvSpPr>
        <p:spPr>
          <a:xfrm>
            <a:off x="4660239" y="3886200"/>
            <a:ext cx="2871215" cy="822960"/>
          </a:xfrm>
          <a:prstGeom prst="rect">
            <a:avLst/>
          </a:prstGeom>
          <a:noFill/>
        </p:spPr>
        <p:txBody>
          <a:bodyPr wrap="square" lIns="0" rIns="0" tIns="0" bIns="0" anchor="b">
            <a:noAutofit/>
          </a:bodyPr>
          <a:lstStyle/>
          <a:p>
            <a:pPr algn="l">
              <a:lnSpc>
                <a:spcPct val="95000"/>
              </a:lnSpc>
            </a:pPr>
            <a:r>
              <a:rPr sz="2200" b="1">
                <a:solidFill>
                  <a:srgbClr val="FFFFFF"/>
                </a:solidFill>
                <a:latin typeface="Poppins"/>
              </a:rPr>
              <a:t>SMEs</a:t>
            </a:r>
          </a:p>
        </p:txBody>
      </p:sp>
      <p:sp>
        <p:nvSpPr>
          <p:cNvPr id="15" name="seg33|card|"/>
          <p:cNvSpPr txBox="1"/>
          <p:nvPr/>
        </p:nvSpPr>
        <p:spPr>
          <a:xfrm>
            <a:off x="4660239" y="4800600"/>
            <a:ext cx="2871215" cy="365760"/>
          </a:xfrm>
          <a:prstGeom prst="rect">
            <a:avLst/>
          </a:prstGeom>
          <a:noFill/>
        </p:spPr>
        <p:txBody>
          <a:bodyPr wrap="square" lIns="0" rIns="0" tIns="0" bIns="0" anchor="t">
            <a:noAutofit/>
          </a:bodyPr>
          <a:lstStyle/>
          <a:p>
            <a:pPr algn="l"/>
            <a:r>
              <a:rPr sz="1600" b="0">
                <a:solidFill>
                  <a:srgbClr val="A7B0B8"/>
                </a:solidFill>
                <a:latin typeface="Inter"/>
              </a:rPr>
              <a:t>5–200 staff</a:t>
            </a:r>
          </a:p>
        </p:txBody>
      </p:sp>
      <p:sp>
        <p:nvSpPr>
          <p:cNvPr id="16" name="seg33|card|"/>
          <p:cNvSpPr txBox="1"/>
          <p:nvPr/>
        </p:nvSpPr>
        <p:spPr>
          <a:xfrm>
            <a:off x="4660239" y="5303520"/>
            <a:ext cx="2871215" cy="411480"/>
          </a:xfrm>
          <a:prstGeom prst="rect">
            <a:avLst/>
          </a:prstGeom>
          <a:noFill/>
        </p:spPr>
        <p:txBody>
          <a:bodyPr wrap="square" lIns="0" rIns="0" tIns="0" bIns="0" anchor="t">
            <a:noAutofit/>
          </a:bodyPr>
          <a:lstStyle/>
          <a:p>
            <a:pPr algn="l"/>
            <a:r>
              <a:rPr sz="1800" b="1">
                <a:solidFill>
                  <a:srgbClr val="FF6A00"/>
                </a:solidFill>
                <a:latin typeface="Inter"/>
              </a:rPr>
              <a:t>Growth · R1,999/mo</a:t>
            </a:r>
          </a:p>
        </p:txBody>
      </p:sp>
      <p:sp>
        <p:nvSpPr>
          <p:cNvPr id="17" name="seg34|card|"/>
          <p:cNvSpPr/>
          <p:nvPr/>
        </p:nvSpPr>
        <p:spPr>
          <a:xfrm>
            <a:off x="8131759" y="2606040"/>
            <a:ext cx="3511296" cy="3383280"/>
          </a:xfrm>
          <a:prstGeom prst="roundRect">
            <a:avLst>
              <a:gd name="adj" fmla="val 5405"/>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eg34|deco|"/>
          <p:cNvSpPr/>
          <p:nvPr/>
        </p:nvSpPr>
        <p:spPr>
          <a:xfrm>
            <a:off x="8451799" y="2926079"/>
            <a:ext cx="822960" cy="822960"/>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eg34|icon|layers_ink.png" descr="layers_ink"/>
          <p:cNvPicPr>
            <a:picLocks noChangeAspect="1"/>
          </p:cNvPicPr>
          <p:nvPr/>
        </p:nvPicPr>
        <p:blipFill>
          <a:blip r:embed="rId4"/>
          <a:srcRect/>
          <a:stretch>
            <a:fillRect/>
          </a:stretch>
        </p:blipFill>
        <p:spPr>
          <a:xfrm>
            <a:off x="8632850" y="3107131"/>
            <a:ext cx="460857" cy="460857"/>
          </a:xfrm>
          <a:prstGeom prst="rect">
            <a:avLst/>
          </a:prstGeom>
        </p:spPr>
      </p:pic>
      <p:sp>
        <p:nvSpPr>
          <p:cNvPr id="20" name="seg34|card|"/>
          <p:cNvSpPr txBox="1"/>
          <p:nvPr/>
        </p:nvSpPr>
        <p:spPr>
          <a:xfrm>
            <a:off x="8451799" y="3886200"/>
            <a:ext cx="2871215" cy="822960"/>
          </a:xfrm>
          <a:prstGeom prst="rect">
            <a:avLst/>
          </a:prstGeom>
          <a:noFill/>
        </p:spPr>
        <p:txBody>
          <a:bodyPr wrap="square" lIns="0" rIns="0" tIns="0" bIns="0" anchor="b">
            <a:noAutofit/>
          </a:bodyPr>
          <a:lstStyle/>
          <a:p>
            <a:pPr algn="l">
              <a:lnSpc>
                <a:spcPct val="95000"/>
              </a:lnSpc>
            </a:pPr>
            <a:r>
              <a:rPr sz="2200" b="1">
                <a:solidFill>
                  <a:srgbClr val="FFFFFF"/>
                </a:solidFill>
                <a:latin typeface="Poppins"/>
              </a:rPr>
              <a:t>Agencies &amp; partners</a:t>
            </a:r>
          </a:p>
        </p:txBody>
      </p:sp>
      <p:sp>
        <p:nvSpPr>
          <p:cNvPr id="21" name="seg34|card|"/>
          <p:cNvSpPr txBox="1"/>
          <p:nvPr/>
        </p:nvSpPr>
        <p:spPr>
          <a:xfrm>
            <a:off x="8451799" y="4800600"/>
            <a:ext cx="2871215" cy="365760"/>
          </a:xfrm>
          <a:prstGeom prst="rect">
            <a:avLst/>
          </a:prstGeom>
          <a:noFill/>
        </p:spPr>
        <p:txBody>
          <a:bodyPr wrap="square" lIns="0" rIns="0" tIns="0" bIns="0" anchor="t">
            <a:noAutofit/>
          </a:bodyPr>
          <a:lstStyle/>
          <a:p>
            <a:pPr algn="l"/>
            <a:r>
              <a:rPr sz="1600" b="0">
                <a:solidFill>
                  <a:srgbClr val="A7B0B8"/>
                </a:solidFill>
                <a:latin typeface="Inter"/>
              </a:rPr>
              <a:t>Managing 5–50 clients</a:t>
            </a:r>
          </a:p>
        </p:txBody>
      </p:sp>
      <p:sp>
        <p:nvSpPr>
          <p:cNvPr id="22" name="seg34|card|"/>
          <p:cNvSpPr txBox="1"/>
          <p:nvPr/>
        </p:nvSpPr>
        <p:spPr>
          <a:xfrm>
            <a:off x="8451799" y="5303520"/>
            <a:ext cx="2871215" cy="411480"/>
          </a:xfrm>
          <a:prstGeom prst="rect">
            <a:avLst/>
          </a:prstGeom>
          <a:noFill/>
        </p:spPr>
        <p:txBody>
          <a:bodyPr wrap="square" lIns="0" rIns="0" tIns="0" bIns="0" anchor="t">
            <a:noAutofit/>
          </a:bodyPr>
          <a:lstStyle/>
          <a:p>
            <a:pPr algn="l"/>
            <a:r>
              <a:rPr sz="1800" b="1">
                <a:solidFill>
                  <a:srgbClr val="FF6A00"/>
                </a:solidFill>
                <a:latin typeface="Inter"/>
              </a:rPr>
              <a:t>Partner · R6,999/mo</a:t>
            </a:r>
          </a:p>
        </p:txBody>
      </p:sp>
      <p:sp>
        <p:nvSpPr>
          <p:cNvPr id="23"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A7B0B8"/>
                </a:solidFill>
                <a:latin typeface="Inter"/>
              </a:rPr>
              <a:t>FluxMuse · fluxmuse.ai</a:t>
            </a:r>
          </a:p>
        </p:txBody>
      </p:sp>
      <p:sp>
        <p:nvSpPr>
          <p:cNvPr id="24"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A7B0B8"/>
                </a:solidFill>
                <a:latin typeface="Inter"/>
              </a:rPr>
              <a:t>8</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35|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LAUNCH SEGMENT · SOLO ENTREPRENEURS</a:t>
            </a:r>
          </a:p>
        </p:txBody>
      </p:sp>
      <p:sp>
        <p:nvSpPr>
          <p:cNvPr id="3" name="hdr35|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Solo entrepreneurs: 1–5 people</a:t>
            </a:r>
          </a:p>
        </p:txBody>
      </p:sp>
      <p:pic>
        <p:nvPicPr>
          <p:cNvPr id="4" name="g36|img|infographics/segment-solo.png" descr="Solo entrepreneurs: three pains, three newly launched answers, Nano R149 a month, Founding Member R104 for the first two bills"/>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9</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37|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LAUNCH SEGMENT · SMES</a:t>
            </a:r>
          </a:p>
        </p:txBody>
      </p:sp>
      <p:sp>
        <p:nvSpPr>
          <p:cNvPr id="3" name="hdr37|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SMEs: 5–200 staff</a:t>
            </a:r>
          </a:p>
        </p:txBody>
      </p:sp>
      <p:pic>
        <p:nvPicPr>
          <p:cNvPr id="4" name="g38|img|infographics/segment-sme.png" descr="SMEs: three pains, three newly launched answers, Growth R1,999 a month, Founding Member R1,399 for the first two bills"/>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10</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39|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LAUNCH SEGMENT · AGENCIES &amp; PARTNERS</a:t>
            </a:r>
          </a:p>
        </p:txBody>
      </p:sp>
      <p:sp>
        <p:nvSpPr>
          <p:cNvPr id="3" name="hdr39|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Agencies: serve more clients, your brand</a:t>
            </a:r>
          </a:p>
        </p:txBody>
      </p:sp>
      <p:pic>
        <p:nvPicPr>
          <p:cNvPr id="4" name="g40|img|infographics/segment-agency.png" descr="Agencies: three pains, three answers, Agency tier R9,999 list, partner price R6,999 a month"/>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41|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AGENCY PARTNER MODEL · ILLUSTRATIVE ECONOMICS</a:t>
            </a:r>
          </a:p>
        </p:txBody>
      </p:sp>
      <p:sp>
        <p:nvSpPr>
          <p:cNvPr id="3" name="hdr41|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Resell FluxMuse under your own brand</a:t>
            </a:r>
          </a:p>
        </p:txBody>
      </p:sp>
      <p:pic>
        <p:nvPicPr>
          <p:cNvPr id="4" name="g42|img|infographics/agency-partner-model.png" descr="FluxMuse to agency at the partner price R6,999 a month to clients at a retail price the agency sets; illustrative example of 20 clients at R1,500 giving a R23,001 gross spread"/>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12</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43|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WORKING WITH FLUXMUSE</a:t>
            </a:r>
          </a:p>
        </p:txBody>
      </p:sp>
      <p:sp>
        <p:nvSpPr>
          <p:cNvPr id="3" name="hdr43|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From first call to your first orders</a:t>
            </a:r>
          </a:p>
        </p:txBody>
      </p:sp>
      <p:pic>
        <p:nvPicPr>
          <p:cNvPr id="4" name="g44|img|infographics/brand-engagement-journey.png" descr="Discovery call, demo on your products, set up by hand, go live (lead guarantee starts), weekly check-ins, keep growing; measures agreed together"/>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13</a:t>
            </a:fld>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45|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OUR FIRST GROUP OF BUSINESSES</a:t>
            </a:r>
          </a:p>
        </p:txBody>
      </p:sp>
      <p:sp>
        <p:nvSpPr>
          <p:cNvPr id="3" name="hdr45|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Starting small, set up by hand</a:t>
            </a:r>
          </a:p>
        </p:txBody>
      </p:sp>
      <p:sp>
        <p:nvSpPr>
          <p:cNvPr id="4" name="fg46|card|"/>
          <p:cNvSpPr/>
          <p:nvPr/>
        </p:nvSpPr>
        <p:spPr>
          <a:xfrm>
            <a:off x="548640" y="1536192"/>
            <a:ext cx="5440680" cy="4617720"/>
          </a:xfrm>
          <a:prstGeom prst="roundRect">
            <a:avLst>
              <a:gd name="adj" fmla="val 396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g46|card|"/>
          <p:cNvSpPr txBox="1"/>
          <p:nvPr/>
        </p:nvSpPr>
        <p:spPr>
          <a:xfrm>
            <a:off x="914400" y="1810512"/>
            <a:ext cx="4663440" cy="457200"/>
          </a:xfrm>
          <a:prstGeom prst="rect">
            <a:avLst/>
          </a:prstGeom>
          <a:noFill/>
        </p:spPr>
        <p:txBody>
          <a:bodyPr wrap="square" lIns="0" rIns="0" tIns="0" bIns="0" anchor="t">
            <a:noAutofit/>
          </a:bodyPr>
          <a:lstStyle/>
          <a:p>
            <a:pPr algn="l"/>
            <a:r>
              <a:rPr sz="2200" b="1">
                <a:solidFill>
                  <a:srgbClr val="20242B"/>
                </a:solidFill>
                <a:latin typeface="Poppins"/>
              </a:rPr>
              <a:t>A small first group</a:t>
            </a:r>
          </a:p>
        </p:txBody>
      </p:sp>
      <p:sp>
        <p:nvSpPr>
          <p:cNvPr id="6" name="g47|deco|"/>
          <p:cNvSpPr/>
          <p:nvPr/>
        </p:nvSpPr>
        <p:spPr>
          <a:xfrm>
            <a:off x="914400" y="2587752"/>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g47|icon|users_deep.png" descr="users_deep"/>
          <p:cNvPicPr>
            <a:picLocks noChangeAspect="1"/>
          </p:cNvPicPr>
          <p:nvPr/>
        </p:nvPicPr>
        <p:blipFill>
          <a:blip r:embed="rId2"/>
          <a:srcRect/>
          <a:stretch>
            <a:fillRect/>
          </a:stretch>
        </p:blipFill>
        <p:spPr>
          <a:xfrm>
            <a:off x="1027054" y="2700406"/>
            <a:ext cx="286755" cy="286755"/>
          </a:xfrm>
          <a:prstGeom prst="rect">
            <a:avLst/>
          </a:prstGeom>
        </p:spPr>
      </p:pic>
      <p:sp>
        <p:nvSpPr>
          <p:cNvPr id="8" name="g47|body|"/>
          <p:cNvSpPr txBox="1"/>
          <p:nvPr/>
        </p:nvSpPr>
        <p:spPr>
          <a:xfrm>
            <a:off x="1600200" y="2514600"/>
            <a:ext cx="4114800" cy="676656"/>
          </a:xfrm>
          <a:prstGeom prst="rect">
            <a:avLst/>
          </a:prstGeom>
          <a:noFill/>
        </p:spPr>
        <p:txBody>
          <a:bodyPr wrap="square" lIns="0" rIns="0" tIns="0" bIns="0" anchor="ctr">
            <a:noAutofit/>
          </a:bodyPr>
          <a:lstStyle/>
          <a:p>
            <a:pPr algn="l"/>
            <a:r>
              <a:rPr sz="1600" b="0">
                <a:solidFill>
                  <a:srgbClr val="20242B"/>
                </a:solidFill>
                <a:latin typeface="Inter"/>
              </a:rPr>
              <a:t>We set you up by hand</a:t>
            </a:r>
          </a:p>
        </p:txBody>
      </p:sp>
      <p:sp>
        <p:nvSpPr>
          <p:cNvPr id="9" name="g48|deco|"/>
          <p:cNvSpPr/>
          <p:nvPr/>
        </p:nvSpPr>
        <p:spPr>
          <a:xfrm>
            <a:off x="914400" y="3456432"/>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g48|icon|calendar_deep.png" descr="calendar_deep"/>
          <p:cNvPicPr>
            <a:picLocks noChangeAspect="1"/>
          </p:cNvPicPr>
          <p:nvPr/>
        </p:nvPicPr>
        <p:blipFill>
          <a:blip r:embed="rId3"/>
          <a:srcRect/>
          <a:stretch>
            <a:fillRect/>
          </a:stretch>
        </p:blipFill>
        <p:spPr>
          <a:xfrm>
            <a:off x="1027054" y="3569086"/>
            <a:ext cx="286755" cy="286755"/>
          </a:xfrm>
          <a:prstGeom prst="rect">
            <a:avLst/>
          </a:prstGeom>
        </p:spPr>
      </p:pic>
      <p:sp>
        <p:nvSpPr>
          <p:cNvPr id="11" name="g48|body|"/>
          <p:cNvSpPr txBox="1"/>
          <p:nvPr/>
        </p:nvSpPr>
        <p:spPr>
          <a:xfrm>
            <a:off x="1600200" y="3383280"/>
            <a:ext cx="4114800" cy="676656"/>
          </a:xfrm>
          <a:prstGeom prst="rect">
            <a:avLst/>
          </a:prstGeom>
          <a:noFill/>
        </p:spPr>
        <p:txBody>
          <a:bodyPr wrap="square" lIns="0" rIns="0" tIns="0" bIns="0" anchor="ctr">
            <a:noAutofit/>
          </a:bodyPr>
          <a:lstStyle/>
          <a:p>
            <a:pPr algn="l"/>
            <a:r>
              <a:rPr sz="1600" b="0">
                <a:solidFill>
                  <a:srgbClr val="20242B"/>
                </a:solidFill>
                <a:latin typeface="Inter"/>
              </a:rPr>
              <a:t>Weekly founder check-ins</a:t>
            </a:r>
          </a:p>
        </p:txBody>
      </p:sp>
      <p:sp>
        <p:nvSpPr>
          <p:cNvPr id="12" name="g49|deco|"/>
          <p:cNvSpPr/>
          <p:nvPr/>
        </p:nvSpPr>
        <p:spPr>
          <a:xfrm>
            <a:off x="914400" y="4325112"/>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g49|icon|chat_deep.png" descr="chat_deep"/>
          <p:cNvPicPr>
            <a:picLocks noChangeAspect="1"/>
          </p:cNvPicPr>
          <p:nvPr/>
        </p:nvPicPr>
        <p:blipFill>
          <a:blip r:embed="rId4"/>
          <a:srcRect/>
          <a:stretch>
            <a:fillRect/>
          </a:stretch>
        </p:blipFill>
        <p:spPr>
          <a:xfrm>
            <a:off x="1027054" y="4437766"/>
            <a:ext cx="286755" cy="286755"/>
          </a:xfrm>
          <a:prstGeom prst="rect">
            <a:avLst/>
          </a:prstGeom>
        </p:spPr>
      </p:pic>
      <p:sp>
        <p:nvSpPr>
          <p:cNvPr id="14" name="g49|body|"/>
          <p:cNvSpPr txBox="1"/>
          <p:nvPr/>
        </p:nvSpPr>
        <p:spPr>
          <a:xfrm>
            <a:off x="1600200" y="4251960"/>
            <a:ext cx="4114800" cy="676656"/>
          </a:xfrm>
          <a:prstGeom prst="rect">
            <a:avLst/>
          </a:prstGeom>
          <a:noFill/>
        </p:spPr>
        <p:txBody>
          <a:bodyPr wrap="square" lIns="0" rIns="0" tIns="0" bIns="0" anchor="ctr">
            <a:noAutofit/>
          </a:bodyPr>
          <a:lstStyle/>
          <a:p>
            <a:pPr algn="l"/>
            <a:r>
              <a:rPr sz="1600" b="0">
                <a:solidFill>
                  <a:srgbClr val="20242B"/>
                </a:solidFill>
                <a:latin typeface="Inter"/>
              </a:rPr>
              <a:t>You tell us what to fix first</a:t>
            </a:r>
          </a:p>
        </p:txBody>
      </p:sp>
      <p:sp>
        <p:nvSpPr>
          <p:cNvPr id="15" name="g50|deco|"/>
          <p:cNvSpPr/>
          <p:nvPr/>
        </p:nvSpPr>
        <p:spPr>
          <a:xfrm>
            <a:off x="914400" y="5193792"/>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g50|icon|shield_deep.png" descr="shield_deep"/>
          <p:cNvPicPr>
            <a:picLocks noChangeAspect="1"/>
          </p:cNvPicPr>
          <p:nvPr/>
        </p:nvPicPr>
        <p:blipFill>
          <a:blip r:embed="rId5"/>
          <a:srcRect/>
          <a:stretch>
            <a:fillRect/>
          </a:stretch>
        </p:blipFill>
        <p:spPr>
          <a:xfrm>
            <a:off x="1027054" y="5306446"/>
            <a:ext cx="286755" cy="286755"/>
          </a:xfrm>
          <a:prstGeom prst="rect">
            <a:avLst/>
          </a:prstGeom>
        </p:spPr>
      </p:pic>
      <p:sp>
        <p:nvSpPr>
          <p:cNvPr id="17" name="g50|body|"/>
          <p:cNvSpPr txBox="1"/>
          <p:nvPr/>
        </p:nvSpPr>
        <p:spPr>
          <a:xfrm>
            <a:off x="1600200" y="5120640"/>
            <a:ext cx="4114800" cy="676656"/>
          </a:xfrm>
          <a:prstGeom prst="rect">
            <a:avLst/>
          </a:prstGeom>
          <a:noFill/>
        </p:spPr>
        <p:txBody>
          <a:bodyPr wrap="square" lIns="0" rIns="0" tIns="0" bIns="0" anchor="ctr">
            <a:noAutofit/>
          </a:bodyPr>
          <a:lstStyle/>
          <a:p>
            <a:pPr algn="l"/>
            <a:r>
              <a:rPr sz="1600" b="0">
                <a:solidFill>
                  <a:srgbClr val="20242B"/>
                </a:solidFill>
                <a:latin typeface="Inter"/>
              </a:rPr>
              <a:t>Your story shared only with consent</a:t>
            </a:r>
          </a:p>
        </p:txBody>
      </p:sp>
      <p:sp>
        <p:nvSpPr>
          <p:cNvPr id="18" name="lg51|card|"/>
          <p:cNvSpPr/>
          <p:nvPr/>
        </p:nvSpPr>
        <p:spPr>
          <a:xfrm>
            <a:off x="6202375" y="1536192"/>
            <a:ext cx="5440680" cy="4617720"/>
          </a:xfrm>
          <a:prstGeom prst="roundRect">
            <a:avLst>
              <a:gd name="adj" fmla="val 3960"/>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g51|deco|"/>
          <p:cNvSpPr/>
          <p:nvPr/>
        </p:nvSpPr>
        <p:spPr>
          <a:xfrm>
            <a:off x="6494983" y="1801368"/>
            <a:ext cx="786384" cy="78638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lg51|icon|target_deep.png" descr="target_deep"/>
          <p:cNvPicPr>
            <a:picLocks noChangeAspect="1"/>
          </p:cNvPicPr>
          <p:nvPr/>
        </p:nvPicPr>
        <p:blipFill>
          <a:blip r:embed="rId6"/>
          <a:srcRect/>
          <a:stretch>
            <a:fillRect/>
          </a:stretch>
        </p:blipFill>
        <p:spPr>
          <a:xfrm>
            <a:off x="6667987" y="1974372"/>
            <a:ext cx="440375" cy="440375"/>
          </a:xfrm>
          <a:prstGeom prst="rect">
            <a:avLst/>
          </a:prstGeom>
        </p:spPr>
      </p:pic>
      <p:sp>
        <p:nvSpPr>
          <p:cNvPr id="21" name="lg51|eyebrow|"/>
          <p:cNvSpPr txBox="1"/>
          <p:nvPr/>
        </p:nvSpPr>
        <p:spPr>
          <a:xfrm>
            <a:off x="7482535" y="1938528"/>
            <a:ext cx="3840480" cy="274320"/>
          </a:xfrm>
          <a:prstGeom prst="rect">
            <a:avLst/>
          </a:prstGeom>
          <a:noFill/>
        </p:spPr>
        <p:txBody>
          <a:bodyPr wrap="square" lIns="0" rIns="0" tIns="0" bIns="0" anchor="t">
            <a:noAutofit/>
          </a:bodyPr>
          <a:lstStyle/>
          <a:p>
            <a:pPr algn="l"/>
            <a:r>
              <a:rPr sz="1300" b="1" spc="120">
                <a:solidFill>
                  <a:srgbClr val="C24E00"/>
                </a:solidFill>
                <a:latin typeface="Inter"/>
              </a:rPr>
              <a:t>LEAD GUARANTEE</a:t>
            </a:r>
          </a:p>
        </p:txBody>
      </p:sp>
      <p:sp>
        <p:nvSpPr>
          <p:cNvPr id="22" name="lg51|card|"/>
          <p:cNvSpPr txBox="1"/>
          <p:nvPr/>
        </p:nvSpPr>
        <p:spPr>
          <a:xfrm>
            <a:off x="7482535" y="2212848"/>
            <a:ext cx="3931920" cy="868680"/>
          </a:xfrm>
          <a:prstGeom prst="rect">
            <a:avLst/>
          </a:prstGeom>
          <a:noFill/>
        </p:spPr>
        <p:txBody>
          <a:bodyPr wrap="square" lIns="0" rIns="0" tIns="0" bIns="0" anchor="t">
            <a:noAutofit/>
          </a:bodyPr>
          <a:lstStyle/>
          <a:p>
            <a:pPr algn="l">
              <a:lnSpc>
                <a:spcPct val="95000"/>
              </a:lnSpc>
            </a:pPr>
            <a:r>
              <a:rPr sz="2200" b="1">
                <a:solidFill>
                  <a:srgbClr val="20242B"/>
                </a:solidFill>
                <a:latin typeface="Poppins"/>
              </a:rPr>
              <a:t>3 qualified leads in 30 days of go-live</a:t>
            </a:r>
          </a:p>
        </p:txBody>
      </p:sp>
      <p:sp>
        <p:nvSpPr>
          <p:cNvPr id="23" name="lg51|caption|"/>
          <p:cNvSpPr txBox="1"/>
          <p:nvPr/>
        </p:nvSpPr>
        <p:spPr>
          <a:xfrm>
            <a:off x="6568135" y="3429000"/>
            <a:ext cx="4709160" cy="2468880"/>
          </a:xfrm>
          <a:prstGeom prst="rect">
            <a:avLst/>
          </a:prstGeom>
          <a:noFill/>
        </p:spPr>
        <p:txBody>
          <a:bodyPr wrap="square" lIns="0" rIns="0" tIns="0" bIns="0" anchor="t">
            <a:noAutofit/>
          </a:bodyPr>
          <a:lstStyle/>
          <a:p>
            <a:pPr algn="l">
              <a:lnSpc>
                <a:spcPct val="110000"/>
              </a:lnSpc>
            </a:pPr>
            <a:r>
              <a:rPr sz="1500" b="0">
                <a:solidFill>
                  <a:srgbClr val="20242B"/>
                </a:solidFill>
                <a:latin typeface="Inter"/>
              </a:rPr>
              <a:t>A qualified lead is a new WhatsApp number that messages you through your FluxMuse link. If fewer than 3 arrive in 30 days, and you shared your link and posted at least weekly, we keep supporting you at no extra charge until you reach 3. Extra support, not a payout.</a:t>
            </a:r>
          </a:p>
        </p:txBody>
      </p:sp>
      <p:sp>
        <p:nvSpPr>
          <p:cNvPr id="24"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25"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14</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52|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CASE STUDY TEMPLATE · NO DATA YET</a:t>
            </a:r>
          </a:p>
        </p:txBody>
      </p:sp>
      <p:sp>
        <p:nvSpPr>
          <p:cNvPr id="3" name="hdr52|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What we'll measure, with your consent</a:t>
            </a:r>
          </a:p>
        </p:txBody>
      </p:sp>
      <p:pic>
        <p:nvPicPr>
          <p:cNvPr id="4" name="g53|img|infographics/case-study-template.png" descr="Empty case-study template stamped Template, no data yet, consent first; goals are not results"/>
          <p:cNvPicPr>
            <a:picLocks noChangeAspect="1"/>
          </p:cNvPicPr>
          <p:nvPr/>
        </p:nvPicPr>
        <p:blipFill>
          <a:blip r:embed="rId2"/>
          <a:srcRect t="3000"/>
          <a:stretch>
            <a:fillRect/>
          </a:stretch>
        </p:blipFill>
        <p:spPr>
          <a:xfrm>
            <a:off x="1570981" y="1389888"/>
            <a:ext cx="9049731"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15</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54|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PRICING (ZAR) · EVERY PAID PLAN STARTS WITH PAYMENT</a:t>
            </a:r>
          </a:p>
        </p:txBody>
      </p:sp>
      <p:sp>
        <p:nvSpPr>
          <p:cNvPr id="3" name="hdr54|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Nine plans in three bands, priced in rands</a:t>
            </a:r>
          </a:p>
        </p:txBody>
      </p:sp>
      <p:pic>
        <p:nvPicPr>
          <p:cNvPr id="4" name="g55|img|infographics/pricing-tiers.png" descr="Nine plans: Small (Free, Nano R149, Micro R289), Medium (Starter R499, Growth R1,999, Scale R4,999), Enterprise (Corporate R6,999, Agency R9,999, Custom); annual 10 times monthly"/>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56|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PRICING (ZAR) · EDITABLE</a:t>
            </a:r>
          </a:p>
        </p:txBody>
      </p:sp>
      <p:sp>
        <p:nvSpPr>
          <p:cNvPr id="3" name="hdr56|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Plans at a glance</a:t>
            </a:r>
          </a:p>
        </p:txBody>
      </p:sp>
      <p:graphicFrame>
        <p:nvGraphicFramePr>
          <p:cNvPr id="4" name="g57|table|pricing-zar"/>
          <p:cNvGraphicFramePr>
            <a:graphicFrameLocks noGrp="1"/>
          </p:cNvGraphicFramePr>
          <p:nvPr/>
        </p:nvGraphicFramePr>
        <p:xfrm>
          <a:off x="548640" y="1417320"/>
          <a:ext cx="11091672" cy="3959352"/>
        </p:xfrm>
        <a:graphic>
          <a:graphicData uri="http://schemas.openxmlformats.org/drawingml/2006/table">
            <a:tbl>
              <a:tblPr firstRow="0" bandRow="0"/>
              <a:tblGrid>
                <a:gridCol w="1463040"/>
                <a:gridCol w="1463040"/>
                <a:gridCol w="1463040"/>
                <a:gridCol w="1554480"/>
                <a:gridCol w="2103120"/>
                <a:gridCol w="3044952"/>
              </a:tblGrid>
              <a:tr h="420624">
                <a:tc>
                  <a:txBody>
                    <a:bodyPr wrap="square"/>
                    <a:lstStyle/>
                    <a:p>
                      <a:pPr algn="l"/>
                      <a:r>
                        <a:rPr sz="1400" b="1">
                          <a:solidFill>
                            <a:srgbClr val="FFFFFF"/>
                          </a:solidFill>
                          <a:latin typeface="Poppins"/>
                        </a:rPr>
                        <a:t>Band</a:t>
                      </a:r>
                    </a:p>
                  </a:txBody>
                  <a:tcPr marL="109728" marR="109728" marT="36576" marB="36576" anchor="ctr">
                    <a:lnL w="0">
                      <a:noFill/>
                    </a:lnL>
                    <a:lnR w="0">
                      <a:noFill/>
                    </a:lnR>
                    <a:lnT w="0">
                      <a:noFill/>
                    </a:lnT>
                    <a:lnB w="0">
                      <a:noFill/>
                    </a:lnB>
                    <a:solidFill>
                      <a:srgbClr val="0F1419"/>
                    </a:solidFill>
                  </a:tcPr>
                </a:tc>
                <a:tc>
                  <a:txBody>
                    <a:bodyPr wrap="square"/>
                    <a:lstStyle/>
                    <a:p>
                      <a:pPr algn="l"/>
                      <a:r>
                        <a:rPr sz="1400" b="1">
                          <a:solidFill>
                            <a:srgbClr val="FFFFFF"/>
                          </a:solidFill>
                          <a:latin typeface="Poppins"/>
                        </a:rPr>
                        <a:t>Plan</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Monthly</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Annual</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Brands · channels</a:t>
                      </a:r>
                    </a:p>
                  </a:txBody>
                  <a:tcPr marL="109728" marR="109728" marT="36576" marB="36576" anchor="ctr">
                    <a:lnL w="0">
                      <a:noFill/>
                    </a:lnL>
                    <a:lnR w="0">
                      <a:noFill/>
                    </a:lnR>
                    <a:lnT w="0">
                      <a:noFill/>
                    </a:lnT>
                    <a:lnB w="0">
                      <a:noFill/>
                    </a:lnB>
                    <a:solidFill>
                      <a:srgbClr val="0F1419"/>
                    </a:solidFill>
                  </a:tcPr>
                </a:tc>
                <a:tc>
                  <a:txBody>
                    <a:bodyPr wrap="square"/>
                    <a:lstStyle/>
                    <a:p>
                      <a:pPr algn="ctr"/>
                      <a:r>
                        <a:rPr sz="1400" b="1">
                          <a:solidFill>
                            <a:srgbClr val="FFFFFF"/>
                          </a:solidFill>
                          <a:latin typeface="Poppins"/>
                        </a:rPr>
                        <a:t>Founding Member, first 2 bills</a:t>
                      </a:r>
                    </a:p>
                  </a:txBody>
                  <a:tcPr marL="109728" marR="109728" marT="36576" marB="36576" anchor="ctr">
                    <a:lnL w="0">
                      <a:noFill/>
                    </a:lnL>
                    <a:lnR w="0">
                      <a:noFill/>
                    </a:lnR>
                    <a:lnT w="0">
                      <a:noFill/>
                    </a:lnT>
                    <a:lnB w="0">
                      <a:noFill/>
                    </a:lnB>
                    <a:solidFill>
                      <a:srgbClr val="0F1419"/>
                    </a:solidFill>
                  </a:tcPr>
                </a:tc>
              </a:tr>
              <a:tr h="393192">
                <a:tc>
                  <a:txBody>
                    <a:bodyPr wrap="square"/>
                    <a:lstStyle/>
                    <a:p>
                      <a:pPr algn="l"/>
                      <a:r>
                        <a:rPr sz="1400" b="1">
                          <a:solidFill>
                            <a:srgbClr val="20242B"/>
                          </a:solidFill>
                          <a:latin typeface="Inter"/>
                        </a:rPr>
                        <a:t>Small</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Free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1 · 1</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Free forever, no card</a:t>
                      </a:r>
                    </a:p>
                  </a:txBody>
                  <a:tcPr marL="109728" marR="109728" marT="36576" marB="36576" anchor="ctr">
                    <a:lnL w="0">
                      <a:noFill/>
                    </a:lnL>
                    <a:lnR w="0">
                      <a:noFill/>
                    </a:lnR>
                    <a:lnT w="0">
                      <a:noFill/>
                    </a:lnT>
                    <a:lnB w="12700">
                      <a:solidFill>
                        <a:srgbClr val="E3E6EA"/>
                      </a:solidFill>
                    </a:lnB>
                    <a:solidFill>
                      <a:srgbClr val="FFFFFF"/>
                    </a:solidFill>
                  </a:tcPr>
                </a:tc>
              </a:tr>
              <a:tr h="393192">
                <a:tc>
                  <a:txBody>
                    <a:bodyPr wrap="square"/>
                    <a:lstStyle/>
                    <a:p>
                      <a:pPr algn="l"/>
                      <a:r>
                        <a:rPr sz="1400" b="1">
                          <a:solidFill>
                            <a:srgbClr val="20242B"/>
                          </a:solidFill>
                          <a:latin typeface="Inter"/>
                        </a:rPr>
                        <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Nano</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R149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R1,490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1 · 3</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R104</a:t>
                      </a:r>
                    </a:p>
                  </a:txBody>
                  <a:tcPr marL="109728" marR="109728" marT="36576" marB="36576" anchor="ctr">
                    <a:lnL w="0">
                      <a:noFill/>
                    </a:lnL>
                    <a:lnR w="0">
                      <a:noFill/>
                    </a:lnR>
                    <a:lnT w="0">
                      <a:noFill/>
                    </a:lnT>
                    <a:lnB w="12700">
                      <a:solidFill>
                        <a:srgbClr val="E3E6EA"/>
                      </a:solidFill>
                    </a:lnB>
                    <a:solidFill>
                      <a:srgbClr val="FFFFFF"/>
                    </a:solidFill>
                  </a:tcPr>
                </a:tc>
              </a:tr>
              <a:tr h="393192">
                <a:tc>
                  <a:txBody>
                    <a:bodyPr wrap="square"/>
                    <a:lstStyle/>
                    <a:p>
                      <a:pPr algn="l"/>
                      <a:r>
                        <a:rPr sz="1400" b="1">
                          <a:solidFill>
                            <a:srgbClr val="20242B"/>
                          </a:solidFill>
                          <a:latin typeface="Inter"/>
                        </a:rPr>
                        <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Micro</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R289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R2,890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1 · 4</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R202</a:t>
                      </a:r>
                    </a:p>
                  </a:txBody>
                  <a:tcPr marL="109728" marR="109728" marT="36576" marB="36576" anchor="ctr">
                    <a:lnL w="0">
                      <a:noFill/>
                    </a:lnL>
                    <a:lnR w="0">
                      <a:noFill/>
                    </a:lnR>
                    <a:lnT w="0">
                      <a:noFill/>
                    </a:lnT>
                    <a:lnB w="12700">
                      <a:solidFill>
                        <a:srgbClr val="E3E6EA"/>
                      </a:solidFill>
                    </a:lnB>
                    <a:solidFill>
                      <a:srgbClr val="FFFFFF"/>
                    </a:solidFill>
                  </a:tcPr>
                </a:tc>
              </a:tr>
              <a:tr h="393192">
                <a:tc>
                  <a:txBody>
                    <a:bodyPr wrap="square"/>
                    <a:lstStyle/>
                    <a:p>
                      <a:pPr algn="l"/>
                      <a:r>
                        <a:rPr sz="1400" b="1">
                          <a:solidFill>
                            <a:srgbClr val="20242B"/>
                          </a:solidFill>
                          <a:latin typeface="Inter"/>
                        </a:rPr>
                        <a:t>Medium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Starter</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R499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R4,990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1 · 3</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R349</a:t>
                      </a:r>
                    </a:p>
                  </a:txBody>
                  <a:tcPr marL="109728" marR="109728" marT="36576" marB="36576" anchor="ctr">
                    <a:lnL w="0">
                      <a:noFill/>
                    </a:lnL>
                    <a:lnR w="0">
                      <a:noFill/>
                    </a:lnR>
                    <a:lnT w="0">
                      <a:noFill/>
                    </a:lnT>
                    <a:lnB w="12700">
                      <a:solidFill>
                        <a:srgbClr val="E3E6EA"/>
                      </a:solidFill>
                    </a:lnB>
                    <a:solidFill>
                      <a:srgbClr val="FFFFFF"/>
                    </a:solidFill>
                  </a:tcPr>
                </a:tc>
              </a:tr>
              <a:tr h="393192">
                <a:tc>
                  <a:txBody>
                    <a:bodyPr wrap="square"/>
                    <a:lstStyle/>
                    <a:p>
                      <a:pPr algn="l"/>
                      <a:r>
                        <a:rPr sz="1400" b="1">
                          <a:solidFill>
                            <a:srgbClr val="20242B"/>
                          </a:solidFill>
                          <a:latin typeface="Inter"/>
                        </a:rPr>
                        <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l"/>
                      <a:r>
                        <a:rPr sz="1400" b="1">
                          <a:solidFill>
                            <a:srgbClr val="20242B"/>
                          </a:solidFill>
                          <a:latin typeface="Inter"/>
                        </a:rPr>
                        <a:t>Growth</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400" b="1">
                          <a:solidFill>
                            <a:srgbClr val="20242B"/>
                          </a:solidFill>
                          <a:latin typeface="Inter"/>
                        </a:rPr>
                        <a:t>R1,999</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400" b="0">
                          <a:solidFill>
                            <a:srgbClr val="20242B"/>
                          </a:solidFill>
                          <a:latin typeface="Inter"/>
                        </a:rPr>
                        <a:t>R19,990</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400" b="0">
                          <a:solidFill>
                            <a:srgbClr val="20242B"/>
                          </a:solidFill>
                          <a:latin typeface="Inter"/>
                        </a:rPr>
                        <a:t>3 · 15</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400" b="0">
                          <a:solidFill>
                            <a:srgbClr val="20242B"/>
                          </a:solidFill>
                          <a:latin typeface="Inter"/>
                        </a:rPr>
                        <a:t>R1,399</a:t>
                      </a:r>
                    </a:p>
                  </a:txBody>
                  <a:tcPr marL="109728" marR="109728" marT="36576" marB="36576" anchor="ctr">
                    <a:lnL w="0">
                      <a:noFill/>
                    </a:lnL>
                    <a:lnR w="0">
                      <a:noFill/>
                    </a:lnR>
                    <a:lnT w="0">
                      <a:noFill/>
                    </a:lnT>
                    <a:lnB w="12700">
                      <a:solidFill>
                        <a:srgbClr val="E3E6EA"/>
                      </a:solidFill>
                    </a:lnB>
                    <a:solidFill>
                      <a:srgbClr val="FFF4EB"/>
                    </a:solidFill>
                  </a:tcPr>
                </a:tc>
              </a:tr>
              <a:tr h="393192">
                <a:tc>
                  <a:txBody>
                    <a:bodyPr wrap="square"/>
                    <a:lstStyle/>
                    <a:p>
                      <a:pPr algn="l"/>
                      <a:r>
                        <a:rPr sz="1400" b="1">
                          <a:solidFill>
                            <a:srgbClr val="20242B"/>
                          </a:solidFill>
                          <a:latin typeface="Inter"/>
                        </a:rPr>
                        <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Scale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R4,999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R49,990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10 · 40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R3,499</a:t>
                      </a:r>
                    </a:p>
                  </a:txBody>
                  <a:tcPr marL="109728" marR="109728" marT="36576" marB="36576" anchor="ctr">
                    <a:lnL w="0">
                      <a:noFill/>
                    </a:lnL>
                    <a:lnR w="0">
                      <a:noFill/>
                    </a:lnR>
                    <a:lnT w="0">
                      <a:noFill/>
                    </a:lnT>
                    <a:lnB w="12700">
                      <a:solidFill>
                        <a:srgbClr val="E3E6EA"/>
                      </a:solidFill>
                    </a:lnB>
                    <a:solidFill>
                      <a:srgbClr val="FFFFFF"/>
                    </a:solidFill>
                  </a:tcPr>
                </a:tc>
              </a:tr>
              <a:tr h="393192">
                <a:tc>
                  <a:txBody>
                    <a:bodyPr wrap="square"/>
                    <a:lstStyle/>
                    <a:p>
                      <a:pPr algn="l"/>
                      <a:r>
                        <a:rPr sz="1400" b="1">
                          <a:solidFill>
                            <a:srgbClr val="20242B"/>
                          </a:solidFill>
                          <a:latin typeface="Inter"/>
                        </a:rPr>
                        <a:t>Enterprise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Corporate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R6,999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R69,990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25 · 60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R4,899</a:t>
                      </a:r>
                    </a:p>
                  </a:txBody>
                  <a:tcPr marL="109728" marR="109728" marT="36576" marB="36576" anchor="ctr">
                    <a:lnL w="0">
                      <a:noFill/>
                    </a:lnL>
                    <a:lnR w="0">
                      <a:noFill/>
                    </a:lnR>
                    <a:lnT w="0">
                      <a:noFill/>
                    </a:lnT>
                    <a:lnB w="12700">
                      <a:solidFill>
                        <a:srgbClr val="E3E6EA"/>
                      </a:solidFill>
                    </a:lnB>
                    <a:solidFill>
                      <a:srgbClr val="FFFFFF"/>
                    </a:solidFill>
                  </a:tcPr>
                </a:tc>
              </a:tr>
              <a:tr h="393192">
                <a:tc>
                  <a:txBody>
                    <a:bodyPr wrap="square"/>
                    <a:lstStyle/>
                    <a:p>
                      <a:pPr algn="l"/>
                      <a:r>
                        <a:rPr sz="1400" b="1">
                          <a:solidFill>
                            <a:srgbClr val="20242B"/>
                          </a:solidFill>
                          <a:latin typeface="Inter"/>
                        </a:rPr>
                        <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Agency</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R9,999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R99,990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Unlimited · 80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R6,999</a:t>
                      </a:r>
                    </a:p>
                  </a:txBody>
                  <a:tcPr marL="109728" marR="109728" marT="36576" marB="36576" anchor="ctr">
                    <a:lnL w="0">
                      <a:noFill/>
                    </a:lnL>
                    <a:lnR w="0">
                      <a:noFill/>
                    </a:lnR>
                    <a:lnT w="0">
                      <a:noFill/>
                    </a:lnT>
                    <a:lnB w="12700">
                      <a:solidFill>
                        <a:srgbClr val="E3E6EA"/>
                      </a:solidFill>
                    </a:lnB>
                    <a:solidFill>
                      <a:srgbClr val="FFFFFF"/>
                    </a:solidFill>
                  </a:tcPr>
                </a:tc>
              </a:tr>
              <a:tr h="393192">
                <a:tc>
                  <a:txBody>
                    <a:bodyPr wrap="square"/>
                    <a:lstStyle/>
                    <a:p>
                      <a:pPr algn="l"/>
                      <a:r>
                        <a:rPr sz="1400" b="1">
                          <a:solidFill>
                            <a:srgbClr val="20242B"/>
                          </a:solidFill>
                          <a:latin typeface="Inter"/>
                        </a:rPr>
                        <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400" b="1">
                          <a:solidFill>
                            <a:srgbClr val="20242B"/>
                          </a:solidFill>
                          <a:latin typeface="Inter"/>
                        </a:rPr>
                        <a:t>Custom</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1">
                          <a:solidFill>
                            <a:srgbClr val="20242B"/>
                          </a:solidFill>
                          <a:latin typeface="Inter"/>
                        </a:rPr>
                        <a:t>On request</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By consultation</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400" b="0">
                          <a:solidFill>
                            <a:srgbClr val="20242B"/>
                          </a:solidFill>
                          <a:latin typeface="Inter"/>
                        </a:rPr>
                        <a:t/>
                      </a:r>
                    </a:p>
                  </a:txBody>
                  <a:tcPr marL="109728" marR="109728" marT="36576" marB="36576" anchor="ctr">
                    <a:lnL w="0">
                      <a:noFill/>
                    </a:lnL>
                    <a:lnR w="0">
                      <a:noFill/>
                    </a:lnR>
                    <a:lnT w="0">
                      <a:noFill/>
                    </a:lnT>
                    <a:lnB w="12700">
                      <a:solidFill>
                        <a:srgbClr val="E3E6EA"/>
                      </a:solidFill>
                    </a:lnB>
                    <a:solidFill>
                      <a:srgbClr val="FFFFFF"/>
                    </a:solidFill>
                  </a:tcPr>
                </a:tc>
              </a:tr>
            </a:tbl>
          </a:graphicData>
        </a:graphic>
      </p:graphicFrame>
      <p:sp>
        <p:nvSpPr>
          <p:cNvPr id="5" name="g58|caption|"/>
          <p:cNvSpPr txBox="1"/>
          <p:nvPr/>
        </p:nvSpPr>
        <p:spPr>
          <a:xfrm>
            <a:off x="548640" y="5870448"/>
            <a:ext cx="11094415" cy="457200"/>
          </a:xfrm>
          <a:prstGeom prst="rect">
            <a:avLst/>
          </a:prstGeom>
          <a:noFill/>
        </p:spPr>
        <p:txBody>
          <a:bodyPr wrap="square" lIns="0" rIns="0" tIns="0" bIns="0" anchor="t">
            <a:noAutofit/>
          </a:bodyPr>
          <a:lstStyle/>
          <a:p>
            <a:pPr algn="l"/>
            <a:r>
              <a:rPr sz="1200" b="0">
                <a:solidFill>
                  <a:srgbClr val="5B6670"/>
                </a:solidFill>
                <a:latin typeface="Inter"/>
              </a:rPr>
              <a:t>Prices are what you pay. No trials: every paid plan starts with payment; Free is a permanent plan. Founding Member: every plan from Nano to Agency, until 31 Dec 2026. Paid sign-up: South Africa.</a:t>
            </a:r>
          </a:p>
        </p:txBody>
      </p:sp>
      <p:sp>
        <p:nvSpPr>
          <p:cNvPr id="6"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7"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59|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LAUNCH OFFER · LIVE UNTIL 31 DEC 2026</a:t>
            </a:r>
          </a:p>
        </p:txBody>
      </p:sp>
      <p:sp>
        <p:nvSpPr>
          <p:cNvPr id="3" name="hdr59|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Become a Founding Member</a:t>
            </a:r>
          </a:p>
        </p:txBody>
      </p:sp>
      <p:pic>
        <p:nvPicPr>
          <p:cNvPr id="4" name="g60|img|infographics/founding-member-offer.png" descr="Founding Member: 30% off your first two monthly bills on every plan until 31 December 2026: Nano R104, Micro R202, Starter R349, Growth R1,399, Scale R3,499, Corporate R4,899, Agency R6,999; a discount, not a free period"/>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18</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61|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TRUST &amp; COMPLIANCE</a:t>
            </a:r>
          </a:p>
        </p:txBody>
      </p:sp>
      <p:sp>
        <p:nvSpPr>
          <p:cNvPr id="3" name="hdr61|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Built to protect your customers' data</a:t>
            </a:r>
          </a:p>
        </p:txBody>
      </p:sp>
      <p:sp>
        <p:nvSpPr>
          <p:cNvPr id="4" name="trust62|card|"/>
          <p:cNvSpPr/>
          <p:nvPr/>
        </p:nvSpPr>
        <p:spPr>
          <a:xfrm>
            <a:off x="548640" y="1536192"/>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rust62|deco|"/>
          <p:cNvSpPr/>
          <p:nvPr/>
        </p:nvSpPr>
        <p:spPr>
          <a:xfrm>
            <a:off x="813816" y="1801367"/>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trust62|icon|checkCircle_deep.png" descr="checkCircle_deep"/>
          <p:cNvPicPr>
            <a:picLocks noChangeAspect="1"/>
          </p:cNvPicPr>
          <p:nvPr/>
        </p:nvPicPr>
        <p:blipFill>
          <a:blip r:embed="rId2"/>
          <a:srcRect/>
          <a:stretch>
            <a:fillRect/>
          </a:stretch>
        </p:blipFill>
        <p:spPr>
          <a:xfrm>
            <a:off x="970727" y="1958279"/>
            <a:ext cx="399409" cy="399409"/>
          </a:xfrm>
          <a:prstGeom prst="rect">
            <a:avLst/>
          </a:prstGeom>
        </p:spPr>
      </p:pic>
      <p:sp>
        <p:nvSpPr>
          <p:cNvPr id="7" name="trust62|card|"/>
          <p:cNvSpPr txBox="1"/>
          <p:nvPr/>
        </p:nvSpPr>
        <p:spPr>
          <a:xfrm>
            <a:off x="841247" y="2633472"/>
            <a:ext cx="2962656" cy="457200"/>
          </a:xfrm>
          <a:prstGeom prst="rect">
            <a:avLst/>
          </a:prstGeom>
          <a:noFill/>
        </p:spPr>
        <p:txBody>
          <a:bodyPr wrap="square" lIns="0" rIns="0" tIns="0" bIns="0" anchor="t">
            <a:noAutofit/>
          </a:bodyPr>
          <a:lstStyle/>
          <a:p>
            <a:pPr algn="l"/>
            <a:r>
              <a:rPr sz="1800" b="1">
                <a:solidFill>
                  <a:srgbClr val="20242B"/>
                </a:solidFill>
                <a:latin typeface="Poppins"/>
              </a:rPr>
              <a:t>Meta Tech Provider</a:t>
            </a:r>
          </a:p>
        </p:txBody>
      </p:sp>
      <p:sp>
        <p:nvSpPr>
          <p:cNvPr id="8" name="trust62|card|"/>
          <p:cNvSpPr txBox="1"/>
          <p:nvPr/>
        </p:nvSpPr>
        <p:spPr>
          <a:xfrm>
            <a:off x="841247" y="3090672"/>
            <a:ext cx="2962656" cy="411480"/>
          </a:xfrm>
          <a:prstGeom prst="rect">
            <a:avLst/>
          </a:prstGeom>
          <a:noFill/>
        </p:spPr>
        <p:txBody>
          <a:bodyPr wrap="square" lIns="0" rIns="0" tIns="0" bIns="0" anchor="t">
            <a:noAutofit/>
          </a:bodyPr>
          <a:lstStyle/>
          <a:p>
            <a:pPr algn="l"/>
            <a:r>
              <a:rPr sz="1400" b="0">
                <a:solidFill>
                  <a:srgbClr val="5B6670"/>
                </a:solidFill>
                <a:latin typeface="Inter"/>
              </a:rPr>
              <a:t>Verified by Meta</a:t>
            </a:r>
          </a:p>
        </p:txBody>
      </p:sp>
      <p:sp>
        <p:nvSpPr>
          <p:cNvPr id="9" name="trust63|card|"/>
          <p:cNvSpPr/>
          <p:nvPr/>
        </p:nvSpPr>
        <p:spPr>
          <a:xfrm>
            <a:off x="4340199" y="1536192"/>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ust63|deco|"/>
          <p:cNvSpPr/>
          <p:nvPr/>
        </p:nvSpPr>
        <p:spPr>
          <a:xfrm>
            <a:off x="4605375" y="1801367"/>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trust63|icon|chat_deep.png" descr="chat_deep"/>
          <p:cNvPicPr>
            <a:picLocks noChangeAspect="1"/>
          </p:cNvPicPr>
          <p:nvPr/>
        </p:nvPicPr>
        <p:blipFill>
          <a:blip r:embed="rId3"/>
          <a:srcRect/>
          <a:stretch>
            <a:fillRect/>
          </a:stretch>
        </p:blipFill>
        <p:spPr>
          <a:xfrm>
            <a:off x="4762286" y="1958279"/>
            <a:ext cx="399409" cy="399409"/>
          </a:xfrm>
          <a:prstGeom prst="rect">
            <a:avLst/>
          </a:prstGeom>
        </p:spPr>
      </p:pic>
      <p:sp>
        <p:nvSpPr>
          <p:cNvPr id="12" name="trust63|card|"/>
          <p:cNvSpPr txBox="1"/>
          <p:nvPr/>
        </p:nvSpPr>
        <p:spPr>
          <a:xfrm>
            <a:off x="4632807" y="2633472"/>
            <a:ext cx="2962656" cy="457200"/>
          </a:xfrm>
          <a:prstGeom prst="rect">
            <a:avLst/>
          </a:prstGeom>
          <a:noFill/>
        </p:spPr>
        <p:txBody>
          <a:bodyPr wrap="square" lIns="0" rIns="0" tIns="0" bIns="0" anchor="t">
            <a:noAutofit/>
          </a:bodyPr>
          <a:lstStyle/>
          <a:p>
            <a:pPr algn="l"/>
            <a:r>
              <a:rPr sz="1800" b="1">
                <a:solidFill>
                  <a:srgbClr val="20242B"/>
                </a:solidFill>
                <a:latin typeface="Poppins"/>
              </a:rPr>
              <a:t>Official WhatsApp API</a:t>
            </a:r>
          </a:p>
        </p:txBody>
      </p:sp>
      <p:sp>
        <p:nvSpPr>
          <p:cNvPr id="13" name="trust63|card|"/>
          <p:cNvSpPr txBox="1"/>
          <p:nvPr/>
        </p:nvSpPr>
        <p:spPr>
          <a:xfrm>
            <a:off x="4632807" y="3090672"/>
            <a:ext cx="2962656" cy="411480"/>
          </a:xfrm>
          <a:prstGeom prst="rect">
            <a:avLst/>
          </a:prstGeom>
          <a:noFill/>
        </p:spPr>
        <p:txBody>
          <a:bodyPr wrap="square" lIns="0" rIns="0" tIns="0" bIns="0" anchor="t">
            <a:noAutofit/>
          </a:bodyPr>
          <a:lstStyle/>
          <a:p>
            <a:pPr algn="l"/>
            <a:r>
              <a:rPr sz="1400" b="0">
                <a:solidFill>
                  <a:srgbClr val="5B6670"/>
                </a:solidFill>
                <a:latin typeface="Inter"/>
              </a:rPr>
              <a:t>Meta Cloud API</a:t>
            </a:r>
          </a:p>
        </p:txBody>
      </p:sp>
      <p:sp>
        <p:nvSpPr>
          <p:cNvPr id="14" name="trust64|card|"/>
          <p:cNvSpPr/>
          <p:nvPr/>
        </p:nvSpPr>
        <p:spPr>
          <a:xfrm>
            <a:off x="8131759" y="1536192"/>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ust64|deco|"/>
          <p:cNvSpPr/>
          <p:nvPr/>
        </p:nvSpPr>
        <p:spPr>
          <a:xfrm>
            <a:off x="8396935" y="1801367"/>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trust64|icon|shield_deep.png" descr="shield_deep"/>
          <p:cNvPicPr>
            <a:picLocks noChangeAspect="1"/>
          </p:cNvPicPr>
          <p:nvPr/>
        </p:nvPicPr>
        <p:blipFill>
          <a:blip r:embed="rId4"/>
          <a:srcRect/>
          <a:stretch>
            <a:fillRect/>
          </a:stretch>
        </p:blipFill>
        <p:spPr>
          <a:xfrm>
            <a:off x="8553846" y="1958279"/>
            <a:ext cx="399409" cy="399409"/>
          </a:xfrm>
          <a:prstGeom prst="rect">
            <a:avLst/>
          </a:prstGeom>
        </p:spPr>
      </p:pic>
      <p:sp>
        <p:nvSpPr>
          <p:cNvPr id="17" name="trust64|card|"/>
          <p:cNvSpPr txBox="1"/>
          <p:nvPr/>
        </p:nvSpPr>
        <p:spPr>
          <a:xfrm>
            <a:off x="8424367" y="2633472"/>
            <a:ext cx="2962656" cy="457200"/>
          </a:xfrm>
          <a:prstGeom prst="rect">
            <a:avLst/>
          </a:prstGeom>
          <a:noFill/>
        </p:spPr>
        <p:txBody>
          <a:bodyPr wrap="square" lIns="0" rIns="0" tIns="0" bIns="0" anchor="t">
            <a:noAutofit/>
          </a:bodyPr>
          <a:lstStyle/>
          <a:p>
            <a:pPr algn="l"/>
            <a:r>
              <a:rPr sz="1800" b="1">
                <a:solidFill>
                  <a:srgbClr val="20242B"/>
                </a:solidFill>
                <a:latin typeface="Poppins"/>
              </a:rPr>
              <a:t>POPIA-aligned</a:t>
            </a:r>
          </a:p>
        </p:txBody>
      </p:sp>
      <p:sp>
        <p:nvSpPr>
          <p:cNvPr id="18" name="trust64|card|"/>
          <p:cNvSpPr txBox="1"/>
          <p:nvPr/>
        </p:nvSpPr>
        <p:spPr>
          <a:xfrm>
            <a:off x="8424367" y="3090672"/>
            <a:ext cx="2962656" cy="411480"/>
          </a:xfrm>
          <a:prstGeom prst="rect">
            <a:avLst/>
          </a:prstGeom>
          <a:noFill/>
        </p:spPr>
        <p:txBody>
          <a:bodyPr wrap="square" lIns="0" rIns="0" tIns="0" bIns="0" anchor="t">
            <a:noAutofit/>
          </a:bodyPr>
          <a:lstStyle/>
          <a:p>
            <a:pPr algn="l"/>
            <a:r>
              <a:rPr sz="1400" b="0">
                <a:solidFill>
                  <a:srgbClr val="5B6670"/>
                </a:solidFill>
                <a:latin typeface="Inter"/>
              </a:rPr>
              <a:t>Consented broadcasts only</a:t>
            </a:r>
          </a:p>
        </p:txBody>
      </p:sp>
      <p:sp>
        <p:nvSpPr>
          <p:cNvPr id="19" name="trust65|card|"/>
          <p:cNvSpPr/>
          <p:nvPr/>
        </p:nvSpPr>
        <p:spPr>
          <a:xfrm>
            <a:off x="548640" y="3950208"/>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ust65|deco|"/>
          <p:cNvSpPr/>
          <p:nvPr/>
        </p:nvSpPr>
        <p:spPr>
          <a:xfrm>
            <a:off x="813816" y="4215384"/>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trust65|icon|layers_deep.png" descr="layers_deep"/>
          <p:cNvPicPr>
            <a:picLocks noChangeAspect="1"/>
          </p:cNvPicPr>
          <p:nvPr/>
        </p:nvPicPr>
        <p:blipFill>
          <a:blip r:embed="rId5"/>
          <a:srcRect/>
          <a:stretch>
            <a:fillRect/>
          </a:stretch>
        </p:blipFill>
        <p:spPr>
          <a:xfrm>
            <a:off x="970727" y="4372295"/>
            <a:ext cx="399409" cy="399409"/>
          </a:xfrm>
          <a:prstGeom prst="rect">
            <a:avLst/>
          </a:prstGeom>
        </p:spPr>
      </p:pic>
      <p:sp>
        <p:nvSpPr>
          <p:cNvPr id="22" name="trust65|card|"/>
          <p:cNvSpPr txBox="1"/>
          <p:nvPr/>
        </p:nvSpPr>
        <p:spPr>
          <a:xfrm>
            <a:off x="841247" y="5047488"/>
            <a:ext cx="2962656" cy="457200"/>
          </a:xfrm>
          <a:prstGeom prst="rect">
            <a:avLst/>
          </a:prstGeom>
          <a:noFill/>
        </p:spPr>
        <p:txBody>
          <a:bodyPr wrap="square" lIns="0" rIns="0" tIns="0" bIns="0" anchor="t">
            <a:noAutofit/>
          </a:bodyPr>
          <a:lstStyle/>
          <a:p>
            <a:pPr algn="l"/>
            <a:r>
              <a:rPr sz="1800" b="1">
                <a:solidFill>
                  <a:srgbClr val="20242B"/>
                </a:solidFill>
                <a:latin typeface="Poppins"/>
              </a:rPr>
              <a:t>Row-level security</a:t>
            </a:r>
          </a:p>
        </p:txBody>
      </p:sp>
      <p:sp>
        <p:nvSpPr>
          <p:cNvPr id="23" name="trust65|card|"/>
          <p:cNvSpPr txBox="1"/>
          <p:nvPr/>
        </p:nvSpPr>
        <p:spPr>
          <a:xfrm>
            <a:off x="841247" y="5504688"/>
            <a:ext cx="2962656" cy="411480"/>
          </a:xfrm>
          <a:prstGeom prst="rect">
            <a:avLst/>
          </a:prstGeom>
          <a:noFill/>
        </p:spPr>
        <p:txBody>
          <a:bodyPr wrap="square" lIns="0" rIns="0" tIns="0" bIns="0" anchor="t">
            <a:noAutofit/>
          </a:bodyPr>
          <a:lstStyle/>
          <a:p>
            <a:pPr algn="l"/>
            <a:r>
              <a:rPr sz="1400" b="0">
                <a:solidFill>
                  <a:srgbClr val="5B6670"/>
                </a:solidFill>
                <a:latin typeface="Inter"/>
              </a:rPr>
              <a:t>Your data kept separate</a:t>
            </a:r>
          </a:p>
        </p:txBody>
      </p:sp>
      <p:sp>
        <p:nvSpPr>
          <p:cNvPr id="24" name="trust66|card|"/>
          <p:cNvSpPr/>
          <p:nvPr/>
        </p:nvSpPr>
        <p:spPr>
          <a:xfrm>
            <a:off x="4340199" y="3950208"/>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ust66|deco|"/>
          <p:cNvSpPr/>
          <p:nvPr/>
        </p:nvSpPr>
        <p:spPr>
          <a:xfrm>
            <a:off x="4605375" y="4215384"/>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trust66|icon|plug_deep.png" descr="plug_deep"/>
          <p:cNvPicPr>
            <a:picLocks noChangeAspect="1"/>
          </p:cNvPicPr>
          <p:nvPr/>
        </p:nvPicPr>
        <p:blipFill>
          <a:blip r:embed="rId6"/>
          <a:srcRect/>
          <a:stretch>
            <a:fillRect/>
          </a:stretch>
        </p:blipFill>
        <p:spPr>
          <a:xfrm>
            <a:off x="4762286" y="4372295"/>
            <a:ext cx="399409" cy="399409"/>
          </a:xfrm>
          <a:prstGeom prst="rect">
            <a:avLst/>
          </a:prstGeom>
        </p:spPr>
      </p:pic>
      <p:sp>
        <p:nvSpPr>
          <p:cNvPr id="27" name="trust66|card|"/>
          <p:cNvSpPr txBox="1"/>
          <p:nvPr/>
        </p:nvSpPr>
        <p:spPr>
          <a:xfrm>
            <a:off x="4632807" y="5047488"/>
            <a:ext cx="2962656" cy="457200"/>
          </a:xfrm>
          <a:prstGeom prst="rect">
            <a:avLst/>
          </a:prstGeom>
          <a:noFill/>
        </p:spPr>
        <p:txBody>
          <a:bodyPr wrap="square" lIns="0" rIns="0" tIns="0" bIns="0" anchor="t">
            <a:noAutofit/>
          </a:bodyPr>
          <a:lstStyle/>
          <a:p>
            <a:pPr algn="l"/>
            <a:r>
              <a:rPr sz="1800" b="1">
                <a:solidFill>
                  <a:srgbClr val="20242B"/>
                </a:solidFill>
                <a:latin typeface="Poppins"/>
              </a:rPr>
              <a:t>Encrypted tokens</a:t>
            </a:r>
          </a:p>
        </p:txBody>
      </p:sp>
      <p:sp>
        <p:nvSpPr>
          <p:cNvPr id="28" name="trust66|card|"/>
          <p:cNvSpPr txBox="1"/>
          <p:nvPr/>
        </p:nvSpPr>
        <p:spPr>
          <a:xfrm>
            <a:off x="4632807" y="5504688"/>
            <a:ext cx="2962656" cy="411480"/>
          </a:xfrm>
          <a:prstGeom prst="rect">
            <a:avLst/>
          </a:prstGeom>
          <a:noFill/>
        </p:spPr>
        <p:txBody>
          <a:bodyPr wrap="square" lIns="0" rIns="0" tIns="0" bIns="0" anchor="t">
            <a:noAutofit/>
          </a:bodyPr>
          <a:lstStyle/>
          <a:p>
            <a:pPr algn="l"/>
            <a:r>
              <a:rPr sz="1400" b="0">
                <a:solidFill>
                  <a:srgbClr val="5B6670"/>
                </a:solidFill>
                <a:latin typeface="Inter"/>
              </a:rPr>
              <a:t>Connected accounts</a:t>
            </a:r>
          </a:p>
        </p:txBody>
      </p:sp>
      <p:sp>
        <p:nvSpPr>
          <p:cNvPr id="29" name="trust67|card|"/>
          <p:cNvSpPr/>
          <p:nvPr/>
        </p:nvSpPr>
        <p:spPr>
          <a:xfrm>
            <a:off x="8131759" y="3950208"/>
            <a:ext cx="3511296" cy="2212848"/>
          </a:xfrm>
          <a:prstGeom prst="roundRect">
            <a:avLst>
              <a:gd name="adj" fmla="val 7438"/>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rust67|deco|"/>
          <p:cNvSpPr/>
          <p:nvPr/>
        </p:nvSpPr>
        <p:spPr>
          <a:xfrm>
            <a:off x="8396935" y="4215384"/>
            <a:ext cx="713232" cy="7132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trust67|icon|refresh_deep.png" descr="refresh_deep"/>
          <p:cNvPicPr>
            <a:picLocks noChangeAspect="1"/>
          </p:cNvPicPr>
          <p:nvPr/>
        </p:nvPicPr>
        <p:blipFill>
          <a:blip r:embed="rId7"/>
          <a:srcRect/>
          <a:stretch>
            <a:fillRect/>
          </a:stretch>
        </p:blipFill>
        <p:spPr>
          <a:xfrm>
            <a:off x="8553846" y="4372295"/>
            <a:ext cx="399409" cy="399409"/>
          </a:xfrm>
          <a:prstGeom prst="rect">
            <a:avLst/>
          </a:prstGeom>
        </p:spPr>
      </p:pic>
      <p:sp>
        <p:nvSpPr>
          <p:cNvPr id="32" name="trust67|card|"/>
          <p:cNvSpPr txBox="1"/>
          <p:nvPr/>
        </p:nvSpPr>
        <p:spPr>
          <a:xfrm>
            <a:off x="8424367" y="5047488"/>
            <a:ext cx="2962656" cy="457200"/>
          </a:xfrm>
          <a:prstGeom prst="rect">
            <a:avLst/>
          </a:prstGeom>
          <a:noFill/>
        </p:spPr>
        <p:txBody>
          <a:bodyPr wrap="square" lIns="0" rIns="0" tIns="0" bIns="0" anchor="t">
            <a:noAutofit/>
          </a:bodyPr>
          <a:lstStyle/>
          <a:p>
            <a:pPr algn="l"/>
            <a:r>
              <a:rPr sz="1800" b="1">
                <a:solidFill>
                  <a:srgbClr val="20242B"/>
                </a:solidFill>
                <a:latin typeface="Poppins"/>
              </a:rPr>
              <a:t>Data export &amp; deletion</a:t>
            </a:r>
          </a:p>
        </p:txBody>
      </p:sp>
      <p:sp>
        <p:nvSpPr>
          <p:cNvPr id="33" name="trust67|card|"/>
          <p:cNvSpPr txBox="1"/>
          <p:nvPr/>
        </p:nvSpPr>
        <p:spPr>
          <a:xfrm>
            <a:off x="8424367" y="5504688"/>
            <a:ext cx="2962656" cy="411480"/>
          </a:xfrm>
          <a:prstGeom prst="rect">
            <a:avLst/>
          </a:prstGeom>
          <a:noFill/>
        </p:spPr>
        <p:txBody>
          <a:bodyPr wrap="square" lIns="0" rIns="0" tIns="0" bIns="0" anchor="t">
            <a:noAutofit/>
          </a:bodyPr>
          <a:lstStyle/>
          <a:p>
            <a:pPr algn="l"/>
            <a:r>
              <a:rPr sz="1400" b="0">
                <a:solidFill>
                  <a:srgbClr val="5B6670"/>
                </a:solidFill>
                <a:latin typeface="Inter"/>
              </a:rPr>
              <a:t>Export data, delete account</a:t>
            </a:r>
          </a:p>
        </p:txBody>
      </p:sp>
      <p:sp>
        <p:nvSpPr>
          <p:cNvPr id="34"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35"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19</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68|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ROADMAP · INDICATIVE, NO DATES</a:t>
            </a:r>
          </a:p>
        </p:txBody>
      </p:sp>
      <p:sp>
        <p:nvSpPr>
          <p:cNvPr id="3" name="hdr68|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What comes next, in order</a:t>
            </a:r>
          </a:p>
        </p:txBody>
      </p:sp>
      <p:pic>
        <p:nvPicPr>
          <p:cNvPr id="4" name="g69|img|infographics/roadmap-2026-2027.png" descr="Indicative order, no dates. Markets: South Africa open now, then checkout through FluxMuse, then Nigeria, Kenya and Ghana, then other markets in USD. Product: live today including the partner programme, then Meta permissions, social adapters, business apps"/>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20</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hdr70|eyebrow|"/>
          <p:cNvSpPr txBox="1"/>
          <p:nvPr/>
        </p:nvSpPr>
        <p:spPr>
          <a:xfrm>
            <a:off x="548640" y="731520"/>
            <a:ext cx="11094415" cy="274320"/>
          </a:xfrm>
          <a:prstGeom prst="rect">
            <a:avLst/>
          </a:prstGeom>
          <a:noFill/>
        </p:spPr>
        <p:txBody>
          <a:bodyPr wrap="square" lIns="0" rIns="0" tIns="0" bIns="0" anchor="t">
            <a:noAutofit/>
          </a:bodyPr>
          <a:lstStyle/>
          <a:p>
            <a:pPr algn="l"/>
            <a:r>
              <a:rPr sz="1200" b="1" spc="150">
                <a:solidFill>
                  <a:srgbClr val="FF6A00"/>
                </a:solidFill>
                <a:latin typeface="Inter"/>
              </a:rPr>
              <a:t>NEXT STEPS</a:t>
            </a:r>
          </a:p>
        </p:txBody>
      </p:sp>
      <p:sp>
        <p:nvSpPr>
          <p:cNvPr id="3" name="hdr70|title|"/>
          <p:cNvSpPr txBox="1"/>
          <p:nvPr/>
        </p:nvSpPr>
        <p:spPr>
          <a:xfrm>
            <a:off x="548640" y="1005840"/>
            <a:ext cx="11094415" cy="731520"/>
          </a:xfrm>
          <a:prstGeom prst="rect">
            <a:avLst/>
          </a:prstGeom>
          <a:noFill/>
        </p:spPr>
        <p:txBody>
          <a:bodyPr wrap="square" lIns="0" rIns="0" tIns="0" bIns="0" anchor="t">
            <a:noAutofit/>
          </a:bodyPr>
          <a:lstStyle/>
          <a:p>
            <a:pPr algn="l"/>
            <a:r>
              <a:rPr sz="3600" b="1">
                <a:solidFill>
                  <a:srgbClr val="FFFFFF"/>
                </a:solidFill>
                <a:latin typeface="Poppins"/>
              </a:rPr>
              <a:t>Let's get you selling on WhatsApp</a:t>
            </a:r>
          </a:p>
        </p:txBody>
      </p:sp>
      <p:sp>
        <p:nvSpPr>
          <p:cNvPr id="4" name="cta71|card|"/>
          <p:cNvSpPr/>
          <p:nvPr/>
        </p:nvSpPr>
        <p:spPr>
          <a:xfrm>
            <a:off x="548640" y="2057400"/>
            <a:ext cx="6903720" cy="1115568"/>
          </a:xfrm>
          <a:prstGeom prst="roundRect">
            <a:avLst>
              <a:gd name="adj" fmla="val 14754"/>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ta71|deco|"/>
          <p:cNvSpPr/>
          <p:nvPr/>
        </p:nvSpPr>
        <p:spPr>
          <a:xfrm>
            <a:off x="841247" y="2331720"/>
            <a:ext cx="566928" cy="566928"/>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ta71|card|"/>
          <p:cNvSpPr txBox="1"/>
          <p:nvPr/>
        </p:nvSpPr>
        <p:spPr>
          <a:xfrm>
            <a:off x="841247" y="2331720"/>
            <a:ext cx="566928" cy="566928"/>
          </a:xfrm>
          <a:prstGeom prst="rect">
            <a:avLst/>
          </a:prstGeom>
          <a:noFill/>
        </p:spPr>
        <p:txBody>
          <a:bodyPr wrap="square" lIns="0" rIns="0" tIns="0" bIns="0" anchor="ctr">
            <a:noAutofit/>
          </a:bodyPr>
          <a:lstStyle/>
          <a:p>
            <a:pPr algn="ctr"/>
            <a:r>
              <a:rPr sz="2000" b="1">
                <a:solidFill>
                  <a:srgbClr val="0F1419"/>
                </a:solidFill>
                <a:latin typeface="Poppins"/>
              </a:rPr>
              <a:t>1</a:t>
            </a:r>
          </a:p>
        </p:txBody>
      </p:sp>
      <p:sp>
        <p:nvSpPr>
          <p:cNvPr id="7" name="cta71|card|"/>
          <p:cNvSpPr txBox="1"/>
          <p:nvPr/>
        </p:nvSpPr>
        <p:spPr>
          <a:xfrm>
            <a:off x="1645919" y="2240280"/>
            <a:ext cx="5623560" cy="411480"/>
          </a:xfrm>
          <a:prstGeom prst="rect">
            <a:avLst/>
          </a:prstGeom>
          <a:noFill/>
        </p:spPr>
        <p:txBody>
          <a:bodyPr wrap="square" lIns="0" rIns="0" tIns="0" bIns="0" anchor="t">
            <a:noAutofit/>
          </a:bodyPr>
          <a:lstStyle/>
          <a:p>
            <a:pPr algn="l"/>
            <a:r>
              <a:rPr sz="2000" b="1">
                <a:solidFill>
                  <a:srgbClr val="FFFFFF"/>
                </a:solidFill>
                <a:latin typeface="Poppins"/>
              </a:rPr>
              <a:t>Book a 20-minute call</a:t>
            </a:r>
          </a:p>
        </p:txBody>
      </p:sp>
      <p:sp>
        <p:nvSpPr>
          <p:cNvPr id="8" name="cta71|card|"/>
          <p:cNvSpPr txBox="1"/>
          <p:nvPr/>
        </p:nvSpPr>
        <p:spPr>
          <a:xfrm>
            <a:off x="1645919" y="2697480"/>
            <a:ext cx="5623560" cy="347472"/>
          </a:xfrm>
          <a:prstGeom prst="rect">
            <a:avLst/>
          </a:prstGeom>
          <a:noFill/>
        </p:spPr>
        <p:txBody>
          <a:bodyPr wrap="square" lIns="0" rIns="0" tIns="0" bIns="0" anchor="t">
            <a:noAutofit/>
          </a:bodyPr>
          <a:lstStyle/>
          <a:p>
            <a:pPr algn="l"/>
            <a:r>
              <a:rPr sz="1500" b="0">
                <a:solidFill>
                  <a:srgbClr val="A7B0B8"/>
                </a:solidFill>
                <a:latin typeface="Inter"/>
              </a:rPr>
              <a:t>Goals, channels, products.</a:t>
            </a:r>
          </a:p>
        </p:txBody>
      </p:sp>
      <p:sp>
        <p:nvSpPr>
          <p:cNvPr id="9" name="cta72|card|"/>
          <p:cNvSpPr/>
          <p:nvPr/>
        </p:nvSpPr>
        <p:spPr>
          <a:xfrm>
            <a:off x="548640" y="3355848"/>
            <a:ext cx="6903720" cy="1115568"/>
          </a:xfrm>
          <a:prstGeom prst="roundRect">
            <a:avLst>
              <a:gd name="adj" fmla="val 14754"/>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ta72|deco|"/>
          <p:cNvSpPr/>
          <p:nvPr/>
        </p:nvSpPr>
        <p:spPr>
          <a:xfrm>
            <a:off x="841247" y="3630168"/>
            <a:ext cx="566928" cy="566928"/>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ta72|card|"/>
          <p:cNvSpPr txBox="1"/>
          <p:nvPr/>
        </p:nvSpPr>
        <p:spPr>
          <a:xfrm>
            <a:off x="841247" y="3630168"/>
            <a:ext cx="566928" cy="566928"/>
          </a:xfrm>
          <a:prstGeom prst="rect">
            <a:avLst/>
          </a:prstGeom>
          <a:noFill/>
        </p:spPr>
        <p:txBody>
          <a:bodyPr wrap="square" lIns="0" rIns="0" tIns="0" bIns="0" anchor="ctr">
            <a:noAutofit/>
          </a:bodyPr>
          <a:lstStyle/>
          <a:p>
            <a:pPr algn="ctr"/>
            <a:r>
              <a:rPr sz="2000" b="1">
                <a:solidFill>
                  <a:srgbClr val="0F1419"/>
                </a:solidFill>
                <a:latin typeface="Poppins"/>
              </a:rPr>
              <a:t>2</a:t>
            </a:r>
          </a:p>
        </p:txBody>
      </p:sp>
      <p:sp>
        <p:nvSpPr>
          <p:cNvPr id="12" name="cta72|card|"/>
          <p:cNvSpPr txBox="1"/>
          <p:nvPr/>
        </p:nvSpPr>
        <p:spPr>
          <a:xfrm>
            <a:off x="1645919" y="3538728"/>
            <a:ext cx="5623560" cy="411480"/>
          </a:xfrm>
          <a:prstGeom prst="rect">
            <a:avLst/>
          </a:prstGeom>
          <a:noFill/>
        </p:spPr>
        <p:txBody>
          <a:bodyPr wrap="square" lIns="0" rIns="0" tIns="0" bIns="0" anchor="t">
            <a:noAutofit/>
          </a:bodyPr>
          <a:lstStyle/>
          <a:p>
            <a:pPr algn="l"/>
            <a:r>
              <a:rPr sz="2000" b="1">
                <a:solidFill>
                  <a:srgbClr val="FFFFFF"/>
                </a:solidFill>
                <a:latin typeface="Poppins"/>
              </a:rPr>
              <a:t>See a demo on your products</a:t>
            </a:r>
          </a:p>
        </p:txBody>
      </p:sp>
      <p:sp>
        <p:nvSpPr>
          <p:cNvPr id="13" name="cta72|card|"/>
          <p:cNvSpPr txBox="1"/>
          <p:nvPr/>
        </p:nvSpPr>
        <p:spPr>
          <a:xfrm>
            <a:off x="1645919" y="3995928"/>
            <a:ext cx="5623560" cy="347472"/>
          </a:xfrm>
          <a:prstGeom prst="rect">
            <a:avLst/>
          </a:prstGeom>
          <a:noFill/>
        </p:spPr>
        <p:txBody>
          <a:bodyPr wrap="square" lIns="0" rIns="0" tIns="0" bIns="0" anchor="t">
            <a:noAutofit/>
          </a:bodyPr>
          <a:lstStyle/>
          <a:p>
            <a:pPr algn="l"/>
            <a:r>
              <a:rPr sz="1500" b="0">
                <a:solidFill>
                  <a:srgbClr val="A7B0B8"/>
                </a:solidFill>
                <a:latin typeface="Inter"/>
              </a:rPr>
              <a:t>Built from your own photos.</a:t>
            </a:r>
          </a:p>
        </p:txBody>
      </p:sp>
      <p:sp>
        <p:nvSpPr>
          <p:cNvPr id="14" name="cta73|card|"/>
          <p:cNvSpPr/>
          <p:nvPr/>
        </p:nvSpPr>
        <p:spPr>
          <a:xfrm>
            <a:off x="548640" y="4654296"/>
            <a:ext cx="6903720" cy="1115568"/>
          </a:xfrm>
          <a:prstGeom prst="roundRect">
            <a:avLst>
              <a:gd name="adj" fmla="val 14754"/>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ta73|deco|"/>
          <p:cNvSpPr/>
          <p:nvPr/>
        </p:nvSpPr>
        <p:spPr>
          <a:xfrm>
            <a:off x="841247" y="4928616"/>
            <a:ext cx="566928" cy="566928"/>
          </a:xfrm>
          <a:prstGeom prst="ellipse">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ta73|card|"/>
          <p:cNvSpPr txBox="1"/>
          <p:nvPr/>
        </p:nvSpPr>
        <p:spPr>
          <a:xfrm>
            <a:off x="841247" y="4928616"/>
            <a:ext cx="566928" cy="566928"/>
          </a:xfrm>
          <a:prstGeom prst="rect">
            <a:avLst/>
          </a:prstGeom>
          <a:noFill/>
        </p:spPr>
        <p:txBody>
          <a:bodyPr wrap="square" lIns="0" rIns="0" tIns="0" bIns="0" anchor="ctr">
            <a:noAutofit/>
          </a:bodyPr>
          <a:lstStyle/>
          <a:p>
            <a:pPr algn="ctr"/>
            <a:r>
              <a:rPr sz="2000" b="1">
                <a:solidFill>
                  <a:srgbClr val="0F1419"/>
                </a:solidFill>
                <a:latin typeface="Poppins"/>
              </a:rPr>
              <a:t>3</a:t>
            </a:r>
          </a:p>
        </p:txBody>
      </p:sp>
      <p:sp>
        <p:nvSpPr>
          <p:cNvPr id="17" name="cta73|card|"/>
          <p:cNvSpPr txBox="1"/>
          <p:nvPr/>
        </p:nvSpPr>
        <p:spPr>
          <a:xfrm>
            <a:off x="1645919" y="4837176"/>
            <a:ext cx="5623560" cy="411480"/>
          </a:xfrm>
          <a:prstGeom prst="rect">
            <a:avLst/>
          </a:prstGeom>
          <a:noFill/>
        </p:spPr>
        <p:txBody>
          <a:bodyPr wrap="square" lIns="0" rIns="0" tIns="0" bIns="0" anchor="t">
            <a:noAutofit/>
          </a:bodyPr>
          <a:lstStyle/>
          <a:p>
            <a:pPr algn="l"/>
            <a:r>
              <a:rPr sz="2000" b="1">
                <a:solidFill>
                  <a:srgbClr val="FFFFFF"/>
                </a:solidFill>
                <a:latin typeface="Poppins"/>
              </a:rPr>
              <a:t>Choose a plan, we set you up</a:t>
            </a:r>
          </a:p>
        </p:txBody>
      </p:sp>
      <p:sp>
        <p:nvSpPr>
          <p:cNvPr id="18" name="cta73|card|"/>
          <p:cNvSpPr txBox="1"/>
          <p:nvPr/>
        </p:nvSpPr>
        <p:spPr>
          <a:xfrm>
            <a:off x="1645919" y="5294376"/>
            <a:ext cx="5623560" cy="347472"/>
          </a:xfrm>
          <a:prstGeom prst="rect">
            <a:avLst/>
          </a:prstGeom>
          <a:noFill/>
        </p:spPr>
        <p:txBody>
          <a:bodyPr wrap="square" lIns="0" rIns="0" tIns="0" bIns="0" anchor="t">
            <a:noAutofit/>
          </a:bodyPr>
          <a:lstStyle/>
          <a:p>
            <a:pPr algn="l"/>
            <a:r>
              <a:rPr sz="1500" b="0">
                <a:solidFill>
                  <a:srgbClr val="A7B0B8"/>
                </a:solidFill>
                <a:latin typeface="Inter"/>
              </a:rPr>
              <a:t>Paid plans from R149/mo.</a:t>
            </a:r>
          </a:p>
        </p:txBody>
      </p:sp>
      <p:sp>
        <p:nvSpPr>
          <p:cNvPr id="19" name="contact74|card|"/>
          <p:cNvSpPr/>
          <p:nvPr/>
        </p:nvSpPr>
        <p:spPr>
          <a:xfrm>
            <a:off x="7772400" y="2057400"/>
            <a:ext cx="3867912" cy="3712463"/>
          </a:xfrm>
          <a:prstGeom prst="roundRect">
            <a:avLst>
              <a:gd name="adj" fmla="val 4433"/>
            </a:avLst>
          </a:prstGeom>
          <a:solidFill>
            <a:srgbClr val="1B2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ontact74|eyebrow|"/>
          <p:cNvSpPr txBox="1"/>
          <p:nvPr/>
        </p:nvSpPr>
        <p:spPr>
          <a:xfrm>
            <a:off x="8092440" y="2286000"/>
            <a:ext cx="3291840" cy="274320"/>
          </a:xfrm>
          <a:prstGeom prst="rect">
            <a:avLst/>
          </a:prstGeom>
          <a:noFill/>
        </p:spPr>
        <p:txBody>
          <a:bodyPr wrap="square" lIns="0" rIns="0" tIns="0" bIns="0" anchor="t">
            <a:noAutofit/>
          </a:bodyPr>
          <a:lstStyle/>
          <a:p>
            <a:pPr algn="l"/>
            <a:r>
              <a:rPr sz="1200" b="1" spc="150">
                <a:solidFill>
                  <a:srgbClr val="FF6A00"/>
                </a:solidFill>
                <a:latin typeface="Inter"/>
              </a:rPr>
              <a:t>TALK TO US</a:t>
            </a:r>
          </a:p>
        </p:txBody>
      </p:sp>
      <p:sp>
        <p:nvSpPr>
          <p:cNvPr id="21" name="contact74|body|"/>
          <p:cNvSpPr txBox="1"/>
          <p:nvPr/>
        </p:nvSpPr>
        <p:spPr>
          <a:xfrm>
            <a:off x="8092440" y="2606040"/>
            <a:ext cx="3291840" cy="1280160"/>
          </a:xfrm>
          <a:prstGeom prst="rect">
            <a:avLst/>
          </a:prstGeom>
          <a:noFill/>
        </p:spPr>
        <p:txBody>
          <a:bodyPr wrap="square" lIns="0" rIns="0" tIns="0" bIns="0" anchor="t">
            <a:noAutofit/>
          </a:bodyPr>
          <a:lstStyle/>
          <a:p>
            <a:pPr algn="l">
              <a:spcAft>
                <a:spcPts val="200"/>
              </a:spcAft>
            </a:pPr>
            <a:r>
              <a:rPr sz="1500" b="1">
                <a:solidFill>
                  <a:srgbClr val="FFFFFF"/>
                </a:solidFill>
                <a:latin typeface="Inter"/>
              </a:rPr>
              <a:t>Thabo Malebadi</a:t>
            </a:r>
          </a:p>
          <a:p>
            <a:pPr algn="l">
              <a:spcAft>
                <a:spcPts val="400"/>
              </a:spcAft>
            </a:pPr>
            <a:r>
              <a:rPr sz="1500" b="0">
                <a:solidFill>
                  <a:srgbClr val="D5DADF"/>
                </a:solidFill>
                <a:latin typeface="Inter"/>
              </a:rPr>
              <a:t>Founder</a:t>
            </a:r>
          </a:p>
          <a:p>
            <a:pPr algn="l">
              <a:spcAft>
                <a:spcPts val="400"/>
              </a:spcAft>
            </a:pPr>
            <a:r>
              <a:rPr sz="1500" b="0">
                <a:solidFill>
                  <a:srgbClr val="D5DADF"/>
                </a:solidFill>
                <a:latin typeface="Inter"/>
              </a:rPr>
              <a:t>thabo@fluxmuse.com</a:t>
            </a:r>
          </a:p>
          <a:p>
            <a:pPr algn="l"/>
            <a:r>
              <a:rPr sz="1500" b="0">
                <a:solidFill>
                  <a:srgbClr val="D5DADF"/>
                </a:solidFill>
                <a:latin typeface="Inter"/>
              </a:rPr>
              <a:t>fluxmuse.ai</a:t>
            </a:r>
          </a:p>
        </p:txBody>
      </p:sp>
      <p:sp>
        <p:nvSpPr>
          <p:cNvPr id="22" name="contact74|deco|"/>
          <p:cNvSpPr/>
          <p:nvPr/>
        </p:nvSpPr>
        <p:spPr>
          <a:xfrm>
            <a:off x="8092440" y="4023360"/>
            <a:ext cx="1371600" cy="1371600"/>
          </a:xfrm>
          <a:prstGeom prst="roundRect">
            <a:avLst>
              <a:gd name="adj" fmla="val 6666"/>
            </a:avLst>
          </a:prstGeom>
          <a:noFill/>
          <a:ln w="15875">
            <a:solidFill>
              <a:srgbClr val="A7B0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ntact74|caption|"/>
          <p:cNvSpPr txBox="1"/>
          <p:nvPr/>
        </p:nvSpPr>
        <p:spPr>
          <a:xfrm>
            <a:off x="8092440" y="4023360"/>
            <a:ext cx="1371600" cy="1371600"/>
          </a:xfrm>
          <a:prstGeom prst="rect">
            <a:avLst/>
          </a:prstGeom>
          <a:noFill/>
        </p:spPr>
        <p:txBody>
          <a:bodyPr wrap="square" lIns="0" rIns="0" tIns="0" bIns="0" anchor="ctr">
            <a:noAutofit/>
          </a:bodyPr>
          <a:lstStyle/>
          <a:p>
            <a:pPr algn="ctr"/>
            <a:r>
              <a:rPr sz="1100" b="0">
                <a:solidFill>
                  <a:srgbClr val="A7B0B8"/>
                </a:solidFill>
                <a:latin typeface="Inter"/>
              </a:rPr>
              <a:t>[[wa.me QR CODE]]</a:t>
            </a:r>
          </a:p>
        </p:txBody>
      </p:sp>
      <p:sp>
        <p:nvSpPr>
          <p:cNvPr id="24" name="contact74|placeholder|"/>
          <p:cNvSpPr txBox="1"/>
          <p:nvPr/>
        </p:nvSpPr>
        <p:spPr>
          <a:xfrm>
            <a:off x="9646920" y="4114800"/>
            <a:ext cx="1828800" cy="1280160"/>
          </a:xfrm>
          <a:prstGeom prst="rect">
            <a:avLst/>
          </a:prstGeom>
          <a:noFill/>
        </p:spPr>
        <p:txBody>
          <a:bodyPr wrap="square" lIns="0" rIns="0" tIns="0" bIns="0" anchor="t">
            <a:noAutofit/>
          </a:bodyPr>
          <a:lstStyle/>
          <a:p>
            <a:pPr algn="l">
              <a:spcAft>
                <a:spcPts val="600"/>
              </a:spcAft>
            </a:pPr>
            <a:r>
              <a:rPr sz="1400" b="0">
                <a:solidFill>
                  <a:srgbClr val="A7B0B8"/>
                </a:solidFill>
                <a:latin typeface="Inter"/>
              </a:rPr>
              <a:t>Scan to chat on WhatsApp</a:t>
            </a:r>
          </a:p>
          <a:p>
            <a:pPr algn="l"/>
            <a:r>
              <a:rPr sz="1400" b="1">
                <a:solidFill>
                  <a:srgbClr val="FFFFFF"/>
                </a:solidFill>
                <a:latin typeface="Inter"/>
              </a:rPr>
              <a:t>wa.me/</a:t>
            </a:r>
          </a:p>
          <a:p>
            <a:pPr algn="l"/>
            <a:r>
              <a:rPr sz="1400" b="1">
                <a:solidFill>
                  <a:srgbClr val="FFFFFF"/>
                </a:solidFill>
                <a:latin typeface="Inter"/>
              </a:rPr>
              <a:t>[[NUMBER]]</a:t>
            </a:r>
          </a:p>
        </p:txBody>
      </p:sp>
      <p:sp>
        <p:nvSpPr>
          <p:cNvPr id="2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A7B0B8"/>
                </a:solidFill>
                <a:latin typeface="Inter"/>
              </a:rPr>
              <a:t>FluxMuse · fluxmuse.ai</a:t>
            </a:r>
          </a:p>
        </p:txBody>
      </p:sp>
      <p:sp>
        <p:nvSpPr>
          <p:cNvPr id="2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A7B0B8"/>
                </a:solidFill>
                <a:latin typeface="Inter"/>
              </a:rPr>
              <a:t>21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F1419"/>
        </a:solidFill>
        <a:effectLst/>
      </p:bgPr>
    </p:bg>
    <p:spTree>
      <p:nvGrpSpPr>
        <p:cNvPr id="1" name=""/>
        <p:cNvGrpSpPr/>
        <p:nvPr/>
      </p:nvGrpSpPr>
      <p:grpSpPr/>
      <p:sp>
        <p:nvSpPr>
          <p:cNvPr id="2" name="g75|eyebrow|"/>
          <p:cNvSpPr txBox="1"/>
          <p:nvPr/>
        </p:nvSpPr>
        <p:spPr>
          <a:xfrm>
            <a:off x="548640" y="1371600"/>
            <a:ext cx="11094415" cy="274320"/>
          </a:xfrm>
          <a:prstGeom prst="rect">
            <a:avLst/>
          </a:prstGeom>
          <a:noFill/>
        </p:spPr>
        <p:txBody>
          <a:bodyPr wrap="square" lIns="0" rIns="0" tIns="0" bIns="0" anchor="t">
            <a:noAutofit/>
          </a:bodyPr>
          <a:lstStyle/>
          <a:p>
            <a:pPr algn="l"/>
            <a:r>
              <a:rPr sz="1200" b="1" spc="150">
                <a:solidFill>
                  <a:srgbClr val="FF6A00"/>
                </a:solidFill>
                <a:latin typeface="Inter"/>
              </a:rPr>
              <a:t>APPENDIX</a:t>
            </a:r>
          </a:p>
        </p:txBody>
      </p:sp>
      <p:sp>
        <p:nvSpPr>
          <p:cNvPr id="3" name="g76|title|"/>
          <p:cNvSpPr txBox="1"/>
          <p:nvPr/>
        </p:nvSpPr>
        <p:spPr>
          <a:xfrm>
            <a:off x="548640" y="1664208"/>
            <a:ext cx="11094415" cy="822960"/>
          </a:xfrm>
          <a:prstGeom prst="rect">
            <a:avLst/>
          </a:prstGeom>
          <a:noFill/>
        </p:spPr>
        <p:txBody>
          <a:bodyPr wrap="square" lIns="0" rIns="0" tIns="0" bIns="0" anchor="t">
            <a:noAutofit/>
          </a:bodyPr>
          <a:lstStyle/>
          <a:p>
            <a:pPr algn="l"/>
            <a:r>
              <a:rPr sz="4000" b="1">
                <a:solidFill>
                  <a:srgbClr val="FFFFFF"/>
                </a:solidFill>
                <a:latin typeface="Poppins"/>
              </a:rPr>
              <a:t>Reference slides</a:t>
            </a:r>
          </a:p>
        </p:txBody>
      </p:sp>
      <p:sp>
        <p:nvSpPr>
          <p:cNvPr id="4" name="ax77|chip|"/>
          <p:cNvSpPr/>
          <p:nvPr/>
        </p:nvSpPr>
        <p:spPr>
          <a:xfrm>
            <a:off x="548640" y="2788920"/>
            <a:ext cx="868680" cy="512064"/>
          </a:xfrm>
          <a:prstGeom prst="roundRect">
            <a:avLst>
              <a:gd name="adj" fmla="val 50000"/>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x77|chip|"/>
          <p:cNvSpPr txBox="1"/>
          <p:nvPr/>
        </p:nvSpPr>
        <p:spPr>
          <a:xfrm>
            <a:off x="548640" y="2788920"/>
            <a:ext cx="868680" cy="512064"/>
          </a:xfrm>
          <a:prstGeom prst="rect">
            <a:avLst/>
          </a:prstGeom>
          <a:noFill/>
        </p:spPr>
        <p:txBody>
          <a:bodyPr wrap="square" lIns="0" rIns="0" tIns="0" bIns="0" anchor="ctr">
            <a:noAutofit/>
          </a:bodyPr>
          <a:lstStyle/>
          <a:p>
            <a:pPr algn="ctr"/>
            <a:r>
              <a:rPr sz="1600" b="1">
                <a:solidFill>
                  <a:srgbClr val="0F1419"/>
                </a:solidFill>
                <a:latin typeface="Poppins"/>
              </a:rPr>
              <a:t>A1</a:t>
            </a:r>
          </a:p>
        </p:txBody>
      </p:sp>
      <p:sp>
        <p:nvSpPr>
          <p:cNvPr id="6" name="ax77|body|"/>
          <p:cNvSpPr txBox="1"/>
          <p:nvPr/>
        </p:nvSpPr>
        <p:spPr>
          <a:xfrm>
            <a:off x="1645919" y="2788920"/>
            <a:ext cx="7315200" cy="512064"/>
          </a:xfrm>
          <a:prstGeom prst="rect">
            <a:avLst/>
          </a:prstGeom>
          <a:noFill/>
        </p:spPr>
        <p:txBody>
          <a:bodyPr wrap="square" lIns="0" rIns="0" tIns="0" bIns="0" anchor="ctr">
            <a:noAutofit/>
          </a:bodyPr>
          <a:lstStyle/>
          <a:p>
            <a:pPr algn="l"/>
            <a:r>
              <a:rPr sz="2000" b="0">
                <a:solidFill>
                  <a:srgbClr val="FFFFFF"/>
                </a:solidFill>
                <a:latin typeface="Inter"/>
              </a:rPr>
              <a:t>Payment status by country</a:t>
            </a:r>
          </a:p>
        </p:txBody>
      </p:sp>
      <p:sp>
        <p:nvSpPr>
          <p:cNvPr id="7" name="ax78|chip|"/>
          <p:cNvSpPr/>
          <p:nvPr/>
        </p:nvSpPr>
        <p:spPr>
          <a:xfrm>
            <a:off x="548640" y="3502152"/>
            <a:ext cx="868680" cy="512064"/>
          </a:xfrm>
          <a:prstGeom prst="roundRect">
            <a:avLst>
              <a:gd name="adj" fmla="val 50000"/>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x78|chip|"/>
          <p:cNvSpPr txBox="1"/>
          <p:nvPr/>
        </p:nvSpPr>
        <p:spPr>
          <a:xfrm>
            <a:off x="548640" y="3502152"/>
            <a:ext cx="868680" cy="512064"/>
          </a:xfrm>
          <a:prstGeom prst="rect">
            <a:avLst/>
          </a:prstGeom>
          <a:noFill/>
        </p:spPr>
        <p:txBody>
          <a:bodyPr wrap="square" lIns="0" rIns="0" tIns="0" bIns="0" anchor="ctr">
            <a:noAutofit/>
          </a:bodyPr>
          <a:lstStyle/>
          <a:p>
            <a:pPr algn="ctr"/>
            <a:r>
              <a:rPr sz="1600" b="1">
                <a:solidFill>
                  <a:srgbClr val="0F1419"/>
                </a:solidFill>
                <a:latin typeface="Poppins"/>
              </a:rPr>
              <a:t>A2</a:t>
            </a:r>
          </a:p>
        </p:txBody>
      </p:sp>
      <p:sp>
        <p:nvSpPr>
          <p:cNvPr id="9" name="ax78|body|"/>
          <p:cNvSpPr txBox="1"/>
          <p:nvPr/>
        </p:nvSpPr>
        <p:spPr>
          <a:xfrm>
            <a:off x="1645919" y="3502152"/>
            <a:ext cx="7315200" cy="512064"/>
          </a:xfrm>
          <a:prstGeom prst="rect">
            <a:avLst/>
          </a:prstGeom>
          <a:noFill/>
        </p:spPr>
        <p:txBody>
          <a:bodyPr wrap="square" lIns="0" rIns="0" tIns="0" bIns="0" anchor="ctr">
            <a:noAutofit/>
          </a:bodyPr>
          <a:lstStyle/>
          <a:p>
            <a:pPr algn="l"/>
            <a:r>
              <a:rPr sz="2000" b="0">
                <a:solidFill>
                  <a:srgbClr val="FFFFFF"/>
                </a:solidFill>
                <a:latin typeface="Inter"/>
              </a:rPr>
              <a:t>Partner wholesale and levels</a:t>
            </a:r>
          </a:p>
        </p:txBody>
      </p:sp>
      <p:sp>
        <p:nvSpPr>
          <p:cNvPr id="10" name="ax79|chip|"/>
          <p:cNvSpPr/>
          <p:nvPr/>
        </p:nvSpPr>
        <p:spPr>
          <a:xfrm>
            <a:off x="548640" y="4215383"/>
            <a:ext cx="868680" cy="512064"/>
          </a:xfrm>
          <a:prstGeom prst="roundRect">
            <a:avLst>
              <a:gd name="adj" fmla="val 50000"/>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x79|chip|"/>
          <p:cNvSpPr txBox="1"/>
          <p:nvPr/>
        </p:nvSpPr>
        <p:spPr>
          <a:xfrm>
            <a:off x="548640" y="4215383"/>
            <a:ext cx="868680" cy="512064"/>
          </a:xfrm>
          <a:prstGeom prst="rect">
            <a:avLst/>
          </a:prstGeom>
          <a:noFill/>
        </p:spPr>
        <p:txBody>
          <a:bodyPr wrap="square" lIns="0" rIns="0" tIns="0" bIns="0" anchor="ctr">
            <a:noAutofit/>
          </a:bodyPr>
          <a:lstStyle/>
          <a:p>
            <a:pPr algn="ctr"/>
            <a:r>
              <a:rPr sz="1600" b="1">
                <a:solidFill>
                  <a:srgbClr val="0F1419"/>
                </a:solidFill>
                <a:latin typeface="Poppins"/>
              </a:rPr>
              <a:t>A3</a:t>
            </a:r>
          </a:p>
        </p:txBody>
      </p:sp>
      <p:sp>
        <p:nvSpPr>
          <p:cNvPr id="12" name="ax79|body|"/>
          <p:cNvSpPr txBox="1"/>
          <p:nvPr/>
        </p:nvSpPr>
        <p:spPr>
          <a:xfrm>
            <a:off x="1645919" y="4215383"/>
            <a:ext cx="7315200" cy="512064"/>
          </a:xfrm>
          <a:prstGeom prst="rect">
            <a:avLst/>
          </a:prstGeom>
          <a:noFill/>
        </p:spPr>
        <p:txBody>
          <a:bodyPr wrap="square" lIns="0" rIns="0" tIns="0" bIns="0" anchor="ctr">
            <a:noAutofit/>
          </a:bodyPr>
          <a:lstStyle/>
          <a:p>
            <a:pPr algn="l"/>
            <a:r>
              <a:rPr sz="2000" b="0">
                <a:solidFill>
                  <a:srgbClr val="FFFFFF"/>
                </a:solidFill>
                <a:latin typeface="Inter"/>
              </a:rPr>
              <a:t>Frequently asked questions</a:t>
            </a:r>
          </a:p>
        </p:txBody>
      </p:sp>
      <p:sp>
        <p:nvSpPr>
          <p:cNvPr id="13"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A7B0B8"/>
                </a:solidFill>
                <a:latin typeface="Inter"/>
              </a:rPr>
              <a:t>FluxMuse · fluxmuse.ai</a:t>
            </a:r>
          </a:p>
        </p:txBody>
      </p:sp>
      <p:sp>
        <p:nvSpPr>
          <p:cNvPr id="14"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A7B0B8"/>
                </a:solidFill>
                <a:latin typeface="Inter"/>
              </a:rPr>
              <a:t>22</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80|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A1 · PAYMENT STATUS</a:t>
            </a:r>
          </a:p>
        </p:txBody>
      </p:sp>
      <p:sp>
        <p:nvSpPr>
          <p:cNvPr id="3" name="hdr80|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What is live, and what is still pending</a:t>
            </a:r>
          </a:p>
        </p:txBody>
      </p:sp>
      <p:pic>
        <p:nvPicPr>
          <p:cNvPr id="4" name="g81|img|infographics/payment-rails-matrix.png" descr="Table of countries by status: South Africa live, card and EFT; Nigeria, Kenya and Ghana priced, not on sale; other covered countries not open yet; Botswana and Namibia coming soon"/>
          <p:cNvPicPr>
            <a:picLocks noChangeAspect="1"/>
          </p:cNvPicPr>
          <p:nvPr/>
        </p:nvPicPr>
        <p:blipFill>
          <a:blip r:embed="rId2"/>
          <a:srcRect t="20000"/>
          <a:stretch>
            <a:fillRect/>
          </a:stretch>
        </p:blipFill>
        <p:spPr>
          <a:xfrm>
            <a:off x="609447" y="1389888"/>
            <a:ext cx="10972800" cy="4937760"/>
          </a:xfrm>
          <a:prstGeom prst="rect">
            <a:avLst/>
          </a:prstGeom>
        </p:spPr>
      </p:pic>
      <p:sp>
        <p:nvSpPr>
          <p:cNvPr id="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23</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82|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A2 · PARTNER WHOLESALE</a:t>
            </a:r>
          </a:p>
        </p:txBody>
      </p:sp>
      <p:sp>
        <p:nvSpPr>
          <p:cNvPr id="3" name="hdr82|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Partner wholesale pricing</a:t>
            </a:r>
          </a:p>
        </p:txBody>
      </p:sp>
      <p:graphicFrame>
        <p:nvGraphicFramePr>
          <p:cNvPr id="4" name="g83|table|wholesale"/>
          <p:cNvGraphicFramePr>
            <a:graphicFrameLocks noGrp="1"/>
          </p:cNvGraphicFramePr>
          <p:nvPr/>
        </p:nvGraphicFramePr>
        <p:xfrm>
          <a:off x="548640" y="1508760"/>
          <a:ext cx="9692640" cy="1773936"/>
        </p:xfrm>
        <a:graphic>
          <a:graphicData uri="http://schemas.openxmlformats.org/drawingml/2006/table">
            <a:tbl>
              <a:tblPr firstRow="0" bandRow="0"/>
              <a:tblGrid>
                <a:gridCol w="4206240"/>
                <a:gridCol w="2743200"/>
                <a:gridCol w="2743200"/>
              </a:tblGrid>
              <a:tr h="566928">
                <a:tc>
                  <a:txBody>
                    <a:bodyPr wrap="square"/>
                    <a:lstStyle/>
                    <a:p>
                      <a:pPr algn="l"/>
                      <a:r>
                        <a:rPr sz="1600" b="1">
                          <a:solidFill>
                            <a:srgbClr val="FFFFFF"/>
                          </a:solidFill>
                          <a:latin typeface="Poppins"/>
                        </a:rPr>
                        <a:t>ZAR</a:t>
                      </a:r>
                    </a:p>
                  </a:txBody>
                  <a:tcPr marL="109728" marR="109728" marT="36576" marB="36576" anchor="ctr">
                    <a:lnL w="0">
                      <a:noFill/>
                    </a:lnL>
                    <a:lnR w="0">
                      <a:noFill/>
                    </a:lnR>
                    <a:lnT w="0">
                      <a:noFill/>
                    </a:lnT>
                    <a:lnB w="0">
                      <a:noFill/>
                    </a:lnB>
                    <a:solidFill>
                      <a:srgbClr val="0F1419"/>
                    </a:solidFill>
                  </a:tcPr>
                </a:tc>
                <a:tc>
                  <a:txBody>
                    <a:bodyPr wrap="square"/>
                    <a:lstStyle/>
                    <a:p>
                      <a:pPr algn="ctr"/>
                      <a:r>
                        <a:rPr sz="1600" b="1">
                          <a:solidFill>
                            <a:srgbClr val="FFFFFF"/>
                          </a:solidFill>
                          <a:latin typeface="Poppins"/>
                        </a:rPr>
                        <a:t>Per month</a:t>
                      </a:r>
                    </a:p>
                  </a:txBody>
                  <a:tcPr marL="109728" marR="109728" marT="36576" marB="36576" anchor="ctr">
                    <a:lnL w="0">
                      <a:noFill/>
                    </a:lnL>
                    <a:lnR w="0">
                      <a:noFill/>
                    </a:lnR>
                    <a:lnT w="0">
                      <a:noFill/>
                    </a:lnT>
                    <a:lnB w="0">
                      <a:noFill/>
                    </a:lnB>
                    <a:solidFill>
                      <a:srgbClr val="0F1419"/>
                    </a:solidFill>
                  </a:tcPr>
                </a:tc>
                <a:tc>
                  <a:txBody>
                    <a:bodyPr wrap="square"/>
                    <a:lstStyle/>
                    <a:p>
                      <a:pPr algn="ctr"/>
                      <a:r>
                        <a:rPr sz="1600" b="1">
                          <a:solidFill>
                            <a:srgbClr val="FFFFFF"/>
                          </a:solidFill>
                          <a:latin typeface="Poppins"/>
                        </a:rPr>
                        <a:t>Per year (10×)</a:t>
                      </a:r>
                    </a:p>
                  </a:txBody>
                  <a:tcPr marL="109728" marR="109728" marT="36576" marB="36576" anchor="ctr">
                    <a:lnL w="0">
                      <a:noFill/>
                    </a:lnL>
                    <a:lnR w="0">
                      <a:noFill/>
                    </a:lnR>
                    <a:lnT w="0">
                      <a:noFill/>
                    </a:lnT>
                    <a:lnB w="0">
                      <a:noFill/>
                    </a:lnB>
                    <a:solidFill>
                      <a:srgbClr val="0F1419"/>
                    </a:solidFill>
                  </a:tcPr>
                </a:tc>
              </a:tr>
              <a:tr h="603504">
                <a:tc>
                  <a:txBody>
                    <a:bodyPr wrap="square"/>
                    <a:lstStyle/>
                    <a:p>
                      <a:pPr algn="l"/>
                      <a:r>
                        <a:rPr sz="1600" b="1">
                          <a:solidFill>
                            <a:srgbClr val="20242B"/>
                          </a:solidFill>
                          <a:latin typeface="Inter"/>
                        </a:rPr>
                        <a:t>Agency list price</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600" b="0">
                          <a:solidFill>
                            <a:srgbClr val="20242B"/>
                          </a:solidFill>
                          <a:latin typeface="Inter"/>
                        </a:rPr>
                        <a:t>R9,999</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600" b="0">
                          <a:solidFill>
                            <a:srgbClr val="20242B"/>
                          </a:solidFill>
                          <a:latin typeface="Inter"/>
                        </a:rPr>
                        <a:t>R99,990</a:t>
                      </a:r>
                    </a:p>
                  </a:txBody>
                  <a:tcPr marL="109728" marR="109728" marT="36576" marB="36576" anchor="ctr">
                    <a:lnL w="0">
                      <a:noFill/>
                    </a:lnL>
                    <a:lnR w="0">
                      <a:noFill/>
                    </a:lnR>
                    <a:lnT w="0">
                      <a:noFill/>
                    </a:lnT>
                    <a:lnB w="12700">
                      <a:solidFill>
                        <a:srgbClr val="E3E6EA"/>
                      </a:solidFill>
                    </a:lnB>
                    <a:solidFill>
                      <a:srgbClr val="FFFFFF"/>
                    </a:solidFill>
                  </a:tcPr>
                </a:tc>
              </a:tr>
              <a:tr h="603504">
                <a:tc>
                  <a:txBody>
                    <a:bodyPr wrap="square"/>
                    <a:lstStyle/>
                    <a:p>
                      <a:pPr algn="l"/>
                      <a:r>
                        <a:rPr sz="1600" b="1">
                          <a:solidFill>
                            <a:srgbClr val="20242B"/>
                          </a:solidFill>
                          <a:latin typeface="Inter"/>
                        </a:rPr>
                        <a:t>Partner wholesale (−30%)</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600" b="1">
                          <a:solidFill>
                            <a:srgbClr val="20242B"/>
                          </a:solidFill>
                          <a:latin typeface="Inter"/>
                        </a:rPr>
                        <a:t>R6,999</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600" b="1">
                          <a:solidFill>
                            <a:srgbClr val="20242B"/>
                          </a:solidFill>
                          <a:latin typeface="Inter"/>
                        </a:rPr>
                        <a:t>R69,990</a:t>
                      </a:r>
                    </a:p>
                  </a:txBody>
                  <a:tcPr marL="109728" marR="109728" marT="36576" marB="36576" anchor="ctr">
                    <a:lnL w="0">
                      <a:noFill/>
                    </a:lnL>
                    <a:lnR w="0">
                      <a:noFill/>
                    </a:lnR>
                    <a:lnT w="0">
                      <a:noFill/>
                    </a:lnT>
                    <a:lnB w="12700">
                      <a:solidFill>
                        <a:srgbClr val="E3E6EA"/>
                      </a:solidFill>
                    </a:lnB>
                    <a:solidFill>
                      <a:srgbClr val="FFF4EB"/>
                    </a:solidFill>
                  </a:tcPr>
                </a:tc>
              </a:tr>
            </a:tbl>
          </a:graphicData>
        </a:graphic>
      </p:graphicFrame>
      <p:sp>
        <p:nvSpPr>
          <p:cNvPr id="5" name="illus84|card|"/>
          <p:cNvSpPr/>
          <p:nvPr/>
        </p:nvSpPr>
        <p:spPr>
          <a:xfrm>
            <a:off x="548640" y="3886200"/>
            <a:ext cx="6720840" cy="2194560"/>
          </a:xfrm>
          <a:prstGeom prst="roundRect">
            <a:avLst>
              <a:gd name="adj" fmla="val 75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illus84|eyebrow|"/>
          <p:cNvSpPr txBox="1"/>
          <p:nvPr/>
        </p:nvSpPr>
        <p:spPr>
          <a:xfrm>
            <a:off x="868680" y="4069080"/>
            <a:ext cx="6035040" cy="274320"/>
          </a:xfrm>
          <a:prstGeom prst="rect">
            <a:avLst/>
          </a:prstGeom>
          <a:noFill/>
        </p:spPr>
        <p:txBody>
          <a:bodyPr wrap="square" lIns="0" rIns="0" tIns="0" bIns="0" anchor="t">
            <a:noAutofit/>
          </a:bodyPr>
          <a:lstStyle/>
          <a:p>
            <a:pPr algn="l"/>
            <a:r>
              <a:rPr sz="1200" b="1" spc="120">
                <a:solidFill>
                  <a:srgbClr val="C24E00"/>
                </a:solidFill>
                <a:latin typeface="Inter"/>
              </a:rPr>
              <a:t>ILLUSTRATIVE ONLY · NOT A FORECAST</a:t>
            </a:r>
          </a:p>
        </p:txBody>
      </p:sp>
      <p:sp>
        <p:nvSpPr>
          <p:cNvPr id="7" name="illus84|card|"/>
          <p:cNvSpPr txBox="1"/>
          <p:nvPr/>
        </p:nvSpPr>
        <p:spPr>
          <a:xfrm>
            <a:off x="868680" y="4434840"/>
            <a:ext cx="6126480" cy="1463040"/>
          </a:xfrm>
          <a:prstGeom prst="rect">
            <a:avLst/>
          </a:prstGeom>
          <a:noFill/>
        </p:spPr>
        <p:txBody>
          <a:bodyPr wrap="square" lIns="0" rIns="0" tIns="0" bIns="0" anchor="t">
            <a:noAutofit/>
          </a:bodyPr>
          <a:lstStyle/>
          <a:p>
            <a:pPr algn="l">
              <a:spcAft>
                <a:spcPts val="600"/>
              </a:spcAft>
            </a:pPr>
            <a:r>
              <a:rPr sz="1900" b="1">
                <a:solidFill>
                  <a:srgbClr val="20242B"/>
                </a:solidFill>
                <a:latin typeface="Poppins"/>
              </a:rPr>
              <a:t>20 clients × R1,500/mo = R30,000 billed</a:t>
            </a:r>
          </a:p>
          <a:p>
            <a:pPr algn="l"/>
            <a:r>
              <a:rPr sz="1600" b="0">
                <a:solidFill>
                  <a:srgbClr val="20242B"/>
                </a:solidFill>
                <a:latin typeface="Poppins"/>
              </a:rPr>
              <a:t>− R6,999 wholesale = R23,001/mo gross spread, before your own costs</a:t>
            </a:r>
          </a:p>
        </p:txBody>
      </p:sp>
      <p:sp>
        <p:nvSpPr>
          <p:cNvPr id="8" name="g85|body|"/>
          <p:cNvSpPr txBox="1"/>
          <p:nvPr/>
        </p:nvSpPr>
        <p:spPr>
          <a:xfrm>
            <a:off x="7589520" y="3977639"/>
            <a:ext cx="4050791" cy="2011680"/>
          </a:xfrm>
          <a:prstGeom prst="rect">
            <a:avLst/>
          </a:prstGeom>
          <a:noFill/>
        </p:spPr>
        <p:txBody>
          <a:bodyPr wrap="square" lIns="0" rIns="0" tIns="0" bIns="0" anchor="t">
            <a:noAutofit/>
          </a:bodyPr>
          <a:lstStyle/>
          <a:p>
            <a:pPr algn="l">
              <a:spcAft>
                <a:spcPts val="800"/>
              </a:spcAft>
            </a:pPr>
            <a:r>
              <a:rPr sz="1400" b="0">
                <a:solidFill>
                  <a:srgbClr val="5B6670"/>
                </a:solidFill>
                <a:latin typeface="Inter"/>
              </a:rPr>
              <a:t>You set your retail price.</a:t>
            </a:r>
          </a:p>
          <a:p>
            <a:pPr algn="l">
              <a:spcAft>
                <a:spcPts val="800"/>
              </a:spcAft>
            </a:pPr>
            <a:r>
              <a:rPr sz="1400" b="0">
                <a:solidFill>
                  <a:srgbClr val="5B6670"/>
                </a:solidFill>
                <a:latin typeface="Inter"/>
              </a:rPr>
              <a:t>Paid sign-up is South Africa only for now.</a:t>
            </a:r>
          </a:p>
          <a:p>
            <a:pPr algn="l"/>
            <a:r>
              <a:rPr sz="1400" b="0">
                <a:solidFill>
                  <a:srgbClr val="5B6670"/>
                </a:solidFill>
                <a:latin typeface="Inter"/>
              </a:rPr>
              <a:t>Local-currency partner prices: not set yet.</a:t>
            </a:r>
          </a:p>
        </p:txBody>
      </p:sp>
      <p:sp>
        <p:nvSpPr>
          <p:cNvPr id="9"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10"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24</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86|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A2 · PARTNER PROGRAMME</a:t>
            </a:r>
          </a:p>
        </p:txBody>
      </p:sp>
      <p:sp>
        <p:nvSpPr>
          <p:cNvPr id="3" name="hdr86|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Three partner levels</a:t>
            </a:r>
          </a:p>
        </p:txBody>
      </p:sp>
      <p:graphicFrame>
        <p:nvGraphicFramePr>
          <p:cNvPr id="4" name="g87|table|partner-levels"/>
          <p:cNvGraphicFramePr>
            <a:graphicFrameLocks noGrp="1"/>
          </p:cNvGraphicFramePr>
          <p:nvPr/>
        </p:nvGraphicFramePr>
        <p:xfrm>
          <a:off x="548640" y="1417320"/>
          <a:ext cx="11091672" cy="2048256"/>
        </p:xfrm>
        <a:graphic>
          <a:graphicData uri="http://schemas.openxmlformats.org/drawingml/2006/table">
            <a:tbl>
              <a:tblPr firstRow="0" bandRow="0"/>
              <a:tblGrid>
                <a:gridCol w="2377440"/>
                <a:gridCol w="4690872"/>
                <a:gridCol w="1828800"/>
                <a:gridCol w="2194560"/>
              </a:tblGrid>
              <a:tr h="457200">
                <a:tc>
                  <a:txBody>
                    <a:bodyPr wrap="square"/>
                    <a:lstStyle/>
                    <a:p>
                      <a:pPr algn="l"/>
                      <a:r>
                        <a:rPr sz="1500" b="1">
                          <a:solidFill>
                            <a:srgbClr val="FFFFFF"/>
                          </a:solidFill>
                          <a:latin typeface="Poppins"/>
                        </a:rPr>
                        <a:t>Level</a:t>
                      </a:r>
                    </a:p>
                  </a:txBody>
                  <a:tcPr marL="109728" marR="109728" marT="36576" marB="36576" anchor="ctr">
                    <a:lnL w="0">
                      <a:noFill/>
                    </a:lnL>
                    <a:lnR w="0">
                      <a:noFill/>
                    </a:lnR>
                    <a:lnT w="0">
                      <a:noFill/>
                    </a:lnT>
                    <a:lnB w="0">
                      <a:noFill/>
                    </a:lnB>
                    <a:solidFill>
                      <a:srgbClr val="0F1419"/>
                    </a:solidFill>
                  </a:tcPr>
                </a:tc>
                <a:tc>
                  <a:txBody>
                    <a:bodyPr wrap="square"/>
                    <a:lstStyle/>
                    <a:p>
                      <a:pPr algn="l"/>
                      <a:r>
                        <a:rPr sz="1500" b="1">
                          <a:solidFill>
                            <a:srgbClr val="FFFFFF"/>
                          </a:solidFill>
                          <a:latin typeface="Poppins"/>
                        </a:rPr>
                        <a:t>Reached by</a:t>
                      </a:r>
                    </a:p>
                  </a:txBody>
                  <a:tcPr marL="109728" marR="109728" marT="36576" marB="36576" anchor="ctr">
                    <a:lnL w="0">
                      <a:noFill/>
                    </a:lnL>
                    <a:lnR w="0">
                      <a:noFill/>
                    </a:lnR>
                    <a:lnT w="0">
                      <a:noFill/>
                    </a:lnT>
                    <a:lnB w="0">
                      <a:noFill/>
                    </a:lnB>
                    <a:solidFill>
                      <a:srgbClr val="0F1419"/>
                    </a:solidFill>
                  </a:tcPr>
                </a:tc>
                <a:tc>
                  <a:txBody>
                    <a:bodyPr wrap="square"/>
                    <a:lstStyle/>
                    <a:p>
                      <a:pPr algn="ctr"/>
                      <a:r>
                        <a:rPr sz="1500" b="1">
                          <a:solidFill>
                            <a:srgbClr val="FFFFFF"/>
                          </a:solidFill>
                          <a:latin typeface="Poppins"/>
                        </a:rPr>
                        <a:t>Commission</a:t>
                      </a:r>
                    </a:p>
                  </a:txBody>
                  <a:tcPr marL="109728" marR="109728" marT="36576" marB="36576" anchor="ctr">
                    <a:lnL w="0">
                      <a:noFill/>
                    </a:lnL>
                    <a:lnR w="0">
                      <a:noFill/>
                    </a:lnR>
                    <a:lnT w="0">
                      <a:noFill/>
                    </a:lnT>
                    <a:lnB w="0">
                      <a:noFill/>
                    </a:lnB>
                    <a:solidFill>
                      <a:srgbClr val="0F1419"/>
                    </a:solidFill>
                  </a:tcPr>
                </a:tc>
                <a:tc>
                  <a:txBody>
                    <a:bodyPr wrap="square"/>
                    <a:lstStyle/>
                    <a:p>
                      <a:pPr algn="ctr"/>
                      <a:r>
                        <a:rPr sz="1500" b="1">
                          <a:solidFill>
                            <a:srgbClr val="FFFFFF"/>
                          </a:solidFill>
                          <a:latin typeface="Poppins"/>
                        </a:rPr>
                        <a:t>Off your own plan</a:t>
                      </a:r>
                    </a:p>
                  </a:txBody>
                  <a:tcPr marL="109728" marR="109728" marT="36576" marB="36576" anchor="ctr">
                    <a:lnL w="0">
                      <a:noFill/>
                    </a:lnL>
                    <a:lnR w="0">
                      <a:noFill/>
                    </a:lnR>
                    <a:lnT w="0">
                      <a:noFill/>
                    </a:lnT>
                    <a:lnB w="0">
                      <a:noFill/>
                    </a:lnB>
                    <a:solidFill>
                      <a:srgbClr val="0F1419"/>
                    </a:solidFill>
                  </a:tcPr>
                </a:tc>
              </a:tr>
              <a:tr h="530352">
                <a:tc>
                  <a:txBody>
                    <a:bodyPr wrap="square"/>
                    <a:lstStyle/>
                    <a:p>
                      <a:pPr algn="l"/>
                      <a:r>
                        <a:rPr sz="1500" b="1">
                          <a:solidFill>
                            <a:srgbClr val="20242B"/>
                          </a:solidFill>
                          <a:latin typeface="Inter"/>
                        </a:rPr>
                        <a:t>Registered Partner</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500" b="0">
                          <a:solidFill>
                            <a:srgbClr val="20242B"/>
                          </a:solidFill>
                          <a:latin typeface="Inter"/>
                        </a:rPr>
                        <a:t>Our team enables you</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800" b="1">
                          <a:solidFill>
                            <a:srgbClr val="20242B"/>
                          </a:solidFill>
                          <a:latin typeface="Poppins"/>
                        </a:rPr>
                        <a:t>15%</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800" b="1">
                          <a:solidFill>
                            <a:srgbClr val="20242B"/>
                          </a:solidFill>
                          <a:latin typeface="Poppins"/>
                        </a:rPr>
                        <a:t>10%</a:t>
                      </a:r>
                    </a:p>
                  </a:txBody>
                  <a:tcPr marL="109728" marR="109728" marT="36576" marB="36576" anchor="ctr">
                    <a:lnL w="0">
                      <a:noFill/>
                    </a:lnL>
                    <a:lnR w="0">
                      <a:noFill/>
                    </a:lnR>
                    <a:lnT w="0">
                      <a:noFill/>
                    </a:lnT>
                    <a:lnB w="12700">
                      <a:solidFill>
                        <a:srgbClr val="E3E6EA"/>
                      </a:solidFill>
                    </a:lnB>
                    <a:solidFill>
                      <a:srgbClr val="FFFFFF"/>
                    </a:solidFill>
                  </a:tcPr>
                </a:tc>
              </a:tr>
              <a:tr h="530352">
                <a:tc>
                  <a:txBody>
                    <a:bodyPr wrap="square"/>
                    <a:lstStyle/>
                    <a:p>
                      <a:pPr algn="l"/>
                      <a:r>
                        <a:rPr sz="1500" b="1">
                          <a:solidFill>
                            <a:srgbClr val="20242B"/>
                          </a:solidFill>
                          <a:latin typeface="Inter"/>
                        </a:rPr>
                        <a:t>Silver Partner</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l"/>
                      <a:r>
                        <a:rPr sz="1500" b="0">
                          <a:solidFill>
                            <a:srgbClr val="20242B"/>
                          </a:solidFill>
                          <a:latin typeface="Inter"/>
                        </a:rPr>
                        <a:t>5 paying customers or R5,000/month billed</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800" b="1">
                          <a:solidFill>
                            <a:srgbClr val="20242B"/>
                          </a:solidFill>
                          <a:latin typeface="Poppins"/>
                        </a:rPr>
                        <a:t>20%</a:t>
                      </a:r>
                    </a:p>
                  </a:txBody>
                  <a:tcPr marL="109728" marR="109728" marT="36576" marB="36576" anchor="ctr">
                    <a:lnL w="0">
                      <a:noFill/>
                    </a:lnL>
                    <a:lnR w="0">
                      <a:noFill/>
                    </a:lnR>
                    <a:lnT w="0">
                      <a:noFill/>
                    </a:lnT>
                    <a:lnB w="12700">
                      <a:solidFill>
                        <a:srgbClr val="E3E6EA"/>
                      </a:solidFill>
                    </a:lnB>
                    <a:solidFill>
                      <a:srgbClr val="FFFFFF"/>
                    </a:solidFill>
                  </a:tcPr>
                </a:tc>
                <a:tc>
                  <a:txBody>
                    <a:bodyPr wrap="square"/>
                    <a:lstStyle/>
                    <a:p>
                      <a:pPr algn="ctr"/>
                      <a:r>
                        <a:rPr sz="1800" b="1">
                          <a:solidFill>
                            <a:srgbClr val="20242B"/>
                          </a:solidFill>
                          <a:latin typeface="Poppins"/>
                        </a:rPr>
                        <a:t>20%</a:t>
                      </a:r>
                    </a:p>
                  </a:txBody>
                  <a:tcPr marL="109728" marR="109728" marT="36576" marB="36576" anchor="ctr">
                    <a:lnL w="0">
                      <a:noFill/>
                    </a:lnL>
                    <a:lnR w="0">
                      <a:noFill/>
                    </a:lnR>
                    <a:lnT w="0">
                      <a:noFill/>
                    </a:lnT>
                    <a:lnB w="12700">
                      <a:solidFill>
                        <a:srgbClr val="E3E6EA"/>
                      </a:solidFill>
                    </a:lnB>
                    <a:solidFill>
                      <a:srgbClr val="FFFFFF"/>
                    </a:solidFill>
                  </a:tcPr>
                </a:tc>
              </a:tr>
              <a:tr h="530352">
                <a:tc>
                  <a:txBody>
                    <a:bodyPr wrap="square"/>
                    <a:lstStyle/>
                    <a:p>
                      <a:pPr algn="l"/>
                      <a:r>
                        <a:rPr sz="1500" b="1">
                          <a:solidFill>
                            <a:srgbClr val="20242B"/>
                          </a:solidFill>
                          <a:latin typeface="Inter"/>
                        </a:rPr>
                        <a:t>Gold Partner</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l"/>
                      <a:r>
                        <a:rPr sz="1500" b="0">
                          <a:solidFill>
                            <a:srgbClr val="20242B"/>
                          </a:solidFill>
                          <a:latin typeface="Inter"/>
                        </a:rPr>
                        <a:t>15 paying customers or R15,000/month billed</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800" b="1">
                          <a:solidFill>
                            <a:srgbClr val="20242B"/>
                          </a:solidFill>
                          <a:latin typeface="Poppins"/>
                        </a:rPr>
                        <a:t>25%</a:t>
                      </a:r>
                    </a:p>
                  </a:txBody>
                  <a:tcPr marL="109728" marR="109728" marT="36576" marB="36576" anchor="ctr">
                    <a:lnL w="0">
                      <a:noFill/>
                    </a:lnL>
                    <a:lnR w="0">
                      <a:noFill/>
                    </a:lnR>
                    <a:lnT w="0">
                      <a:noFill/>
                    </a:lnT>
                    <a:lnB w="12700">
                      <a:solidFill>
                        <a:srgbClr val="E3E6EA"/>
                      </a:solidFill>
                    </a:lnB>
                    <a:solidFill>
                      <a:srgbClr val="FFF4EB"/>
                    </a:solidFill>
                  </a:tcPr>
                </a:tc>
                <a:tc>
                  <a:txBody>
                    <a:bodyPr wrap="square"/>
                    <a:lstStyle/>
                    <a:p>
                      <a:pPr algn="ctr"/>
                      <a:r>
                        <a:rPr sz="1800" b="1">
                          <a:solidFill>
                            <a:srgbClr val="20242B"/>
                          </a:solidFill>
                          <a:latin typeface="Poppins"/>
                        </a:rPr>
                        <a:t>30%</a:t>
                      </a:r>
                    </a:p>
                  </a:txBody>
                  <a:tcPr marL="109728" marR="109728" marT="36576" marB="36576" anchor="ctr">
                    <a:lnL w="0">
                      <a:noFill/>
                    </a:lnL>
                    <a:lnR w="0">
                      <a:noFill/>
                    </a:lnR>
                    <a:lnT w="0">
                      <a:noFill/>
                    </a:lnT>
                    <a:lnB w="12700">
                      <a:solidFill>
                        <a:srgbClr val="E3E6EA"/>
                      </a:solidFill>
                    </a:lnB>
                    <a:solidFill>
                      <a:srgbClr val="FFF4EB"/>
                    </a:solidFill>
                  </a:tcPr>
                </a:tc>
              </a:tr>
            </a:tbl>
          </a:graphicData>
        </a:graphic>
      </p:graphicFrame>
      <p:sp>
        <p:nvSpPr>
          <p:cNvPr id="5" name="lvl88|card|"/>
          <p:cNvSpPr/>
          <p:nvPr/>
        </p:nvSpPr>
        <p:spPr>
          <a:xfrm>
            <a:off x="548640" y="3675887"/>
            <a:ext cx="5440680" cy="2542032"/>
          </a:xfrm>
          <a:prstGeom prst="roundRect">
            <a:avLst>
              <a:gd name="adj" fmla="val 6474"/>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vl88|deco|"/>
          <p:cNvSpPr/>
          <p:nvPr/>
        </p:nvSpPr>
        <p:spPr>
          <a:xfrm>
            <a:off x="795527" y="3813048"/>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lvl88|icon|wallet_deep.png" descr="wallet_deep"/>
          <p:cNvPicPr>
            <a:picLocks noChangeAspect="1"/>
          </p:cNvPicPr>
          <p:nvPr/>
        </p:nvPicPr>
        <p:blipFill>
          <a:blip r:embed="rId2"/>
          <a:srcRect/>
          <a:stretch>
            <a:fillRect/>
          </a:stretch>
        </p:blipFill>
        <p:spPr>
          <a:xfrm>
            <a:off x="908182" y="3925702"/>
            <a:ext cx="286755" cy="286755"/>
          </a:xfrm>
          <a:prstGeom prst="rect">
            <a:avLst/>
          </a:prstGeom>
        </p:spPr>
      </p:pic>
      <p:sp>
        <p:nvSpPr>
          <p:cNvPr id="8" name="lvl88|card|"/>
          <p:cNvSpPr txBox="1"/>
          <p:nvPr/>
        </p:nvSpPr>
        <p:spPr>
          <a:xfrm>
            <a:off x="1463040" y="3877056"/>
            <a:ext cx="4297680" cy="384048"/>
          </a:xfrm>
          <a:prstGeom prst="rect">
            <a:avLst/>
          </a:prstGeom>
          <a:noFill/>
        </p:spPr>
        <p:txBody>
          <a:bodyPr wrap="square" lIns="0" rIns="0" tIns="0" bIns="0" anchor="ctr">
            <a:noAutofit/>
          </a:bodyPr>
          <a:lstStyle/>
          <a:p>
            <a:pPr algn="l"/>
            <a:r>
              <a:rPr sz="1800" b="1">
                <a:solidFill>
                  <a:srgbClr val="20242B"/>
                </a:solidFill>
                <a:latin typeface="Poppins"/>
              </a:rPr>
              <a:t>How commission works</a:t>
            </a:r>
          </a:p>
        </p:txBody>
      </p:sp>
      <p:sp>
        <p:nvSpPr>
          <p:cNvPr id="9" name="lvl88|caption|"/>
          <p:cNvSpPr txBox="1"/>
          <p:nvPr/>
        </p:nvSpPr>
        <p:spPr>
          <a:xfrm>
            <a:off x="868680" y="4434840"/>
            <a:ext cx="4846320" cy="1691640"/>
          </a:xfrm>
          <a:prstGeom prst="rect">
            <a:avLst/>
          </a:prstGeom>
          <a:noFill/>
        </p:spPr>
        <p:txBody>
          <a:bodyPr wrap="square" lIns="0" rIns="0" tIns="0" bIns="0" anchor="t">
            <a:noAutofit/>
          </a:bodyPr>
          <a:lstStyle/>
          <a:p>
            <a:pPr algn="l">
              <a:lnSpc>
                <a:spcPct val="105000"/>
              </a:lnSpc>
              <a:spcAft>
                <a:spcPts val="500"/>
              </a:spcAft>
            </a:pPr>
            <a:r>
              <a:rPr sz="1300" b="0">
                <a:solidFill>
                  <a:srgbClr val="20242B"/>
                </a:solidFill>
                <a:latin typeface="Inter"/>
              </a:rPr>
              <a:t>•  On subscription fees your customers actually pay, after discounts, in their first 12 months.</a:t>
            </a:r>
          </a:p>
          <a:p>
            <a:pPr algn="l">
              <a:lnSpc>
                <a:spcPct val="105000"/>
              </a:lnSpc>
              <a:spcAft>
                <a:spcPts val="500"/>
              </a:spcAft>
            </a:pPr>
            <a:r>
              <a:rPr sz="1300" b="0">
                <a:solidFill>
                  <a:srgbClr val="20242B"/>
                </a:solidFill>
                <a:latin typeface="Inter"/>
              </a:rPr>
              <a:t>•  Not on SMS, WhatsApp or AI credit top-ups, and not on Custom plans.</a:t>
            </a:r>
          </a:p>
          <a:p>
            <a:pPr algn="l">
              <a:lnSpc>
                <a:spcPct val="105000"/>
              </a:lnSpc>
              <a:spcAft>
                <a:spcPts val="500"/>
              </a:spcAft>
            </a:pPr>
            <a:r>
              <a:rPr sz="1300" b="0">
                <a:solidFill>
                  <a:srgbClr val="20242B"/>
                </a:solidFill>
                <a:latin typeface="Inter"/>
              </a:rPr>
              <a:t>•  Held for 30 days, then paid monthly by EFT once it reaches R500.</a:t>
            </a:r>
          </a:p>
        </p:txBody>
      </p:sp>
      <p:sp>
        <p:nvSpPr>
          <p:cNvPr id="10" name="lvl89|card|"/>
          <p:cNvSpPr/>
          <p:nvPr/>
        </p:nvSpPr>
        <p:spPr>
          <a:xfrm>
            <a:off x="6202375" y="3675887"/>
            <a:ext cx="5440680" cy="2542032"/>
          </a:xfrm>
          <a:prstGeom prst="roundRect">
            <a:avLst>
              <a:gd name="adj" fmla="val 6474"/>
            </a:avLst>
          </a:prstGeom>
          <a:solidFill>
            <a:srgbClr val="FF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vl89|deco|"/>
          <p:cNvSpPr/>
          <p:nvPr/>
        </p:nvSpPr>
        <p:spPr>
          <a:xfrm>
            <a:off x="6449263" y="3813048"/>
            <a:ext cx="512064" cy="5120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lvl89|icon|qr_deep.png" descr="qr_deep"/>
          <p:cNvPicPr>
            <a:picLocks noChangeAspect="1"/>
          </p:cNvPicPr>
          <p:nvPr/>
        </p:nvPicPr>
        <p:blipFill>
          <a:blip r:embed="rId3"/>
          <a:srcRect/>
          <a:stretch>
            <a:fillRect/>
          </a:stretch>
        </p:blipFill>
        <p:spPr>
          <a:xfrm>
            <a:off x="6561917" y="3925702"/>
            <a:ext cx="286755" cy="286755"/>
          </a:xfrm>
          <a:prstGeom prst="rect">
            <a:avLst/>
          </a:prstGeom>
        </p:spPr>
      </p:pic>
      <p:sp>
        <p:nvSpPr>
          <p:cNvPr id="13" name="lvl89|card|"/>
          <p:cNvSpPr txBox="1"/>
          <p:nvPr/>
        </p:nvSpPr>
        <p:spPr>
          <a:xfrm>
            <a:off x="7116775" y="3877056"/>
            <a:ext cx="4297680" cy="384048"/>
          </a:xfrm>
          <a:prstGeom prst="rect">
            <a:avLst/>
          </a:prstGeom>
          <a:noFill/>
        </p:spPr>
        <p:txBody>
          <a:bodyPr wrap="square" lIns="0" rIns="0" tIns="0" bIns="0" anchor="ctr">
            <a:noAutofit/>
          </a:bodyPr>
          <a:lstStyle/>
          <a:p>
            <a:pPr algn="l"/>
            <a:r>
              <a:rPr sz="1800" b="1">
                <a:solidFill>
                  <a:srgbClr val="20242B"/>
                </a:solidFill>
                <a:latin typeface="Poppins"/>
              </a:rPr>
              <a:t>Your link and your own plan</a:t>
            </a:r>
          </a:p>
        </p:txBody>
      </p:sp>
      <p:sp>
        <p:nvSpPr>
          <p:cNvPr id="14" name="lvl89|caption|"/>
          <p:cNvSpPr txBox="1"/>
          <p:nvPr/>
        </p:nvSpPr>
        <p:spPr>
          <a:xfrm>
            <a:off x="6522415" y="4434840"/>
            <a:ext cx="4846320" cy="1691640"/>
          </a:xfrm>
          <a:prstGeom prst="rect">
            <a:avLst/>
          </a:prstGeom>
          <a:noFill/>
        </p:spPr>
        <p:txBody>
          <a:bodyPr wrap="square" lIns="0" rIns="0" tIns="0" bIns="0" anchor="t">
            <a:noAutofit/>
          </a:bodyPr>
          <a:lstStyle/>
          <a:p>
            <a:pPr algn="l">
              <a:lnSpc>
                <a:spcPct val="105000"/>
              </a:lnSpc>
              <a:spcAft>
                <a:spcPts val="500"/>
              </a:spcAft>
            </a:pPr>
            <a:r>
              <a:rPr sz="1300" b="0">
                <a:solidFill>
                  <a:srgbClr val="20242B"/>
                </a:solidFill>
                <a:latin typeface="Inter"/>
              </a:rPr>
              <a:t>•  Share your ?ref= link and QR; follow customers, revenue, commission and payouts in your partner portal.</a:t>
            </a:r>
          </a:p>
          <a:p>
            <a:pPr algn="l">
              <a:lnSpc>
                <a:spcPct val="105000"/>
              </a:lnSpc>
              <a:spcAft>
                <a:spcPts val="500"/>
              </a:spcAft>
            </a:pPr>
            <a:r>
              <a:rPr sz="1300" b="0">
                <a:solidFill>
                  <a:srgbClr val="20242B"/>
                </a:solidFill>
                <a:latin typeface="Inter"/>
              </a:rPr>
              <a:t>•  You can't add discounts for customers. Your own plan gets the better of a running offer or your level discount.</a:t>
            </a:r>
          </a:p>
          <a:p>
            <a:pPr algn="l">
              <a:lnSpc>
                <a:spcPct val="105000"/>
              </a:lnSpc>
              <a:spcAft>
                <a:spcPts val="500"/>
              </a:spcAft>
            </a:pPr>
            <a:r>
              <a:rPr sz="1300" b="0">
                <a:solidFill>
                  <a:srgbClr val="20242B"/>
                </a:solidFill>
                <a:latin typeface="Inter"/>
              </a:rPr>
              <a:t>•  Gold on Agency comes to R6,999, the same as partner wholesale.</a:t>
            </a:r>
          </a:p>
        </p:txBody>
      </p:sp>
      <p:sp>
        <p:nvSpPr>
          <p:cNvPr id="15"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16"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25</a:t>
            </a:fld>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90|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A3 · FAQ (1 OF 2)</a:t>
            </a:r>
          </a:p>
        </p:txBody>
      </p:sp>
      <p:sp>
        <p:nvSpPr>
          <p:cNvPr id="3" name="hdr90|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Questions prospects ask</a:t>
            </a:r>
          </a:p>
        </p:txBody>
      </p:sp>
      <p:sp>
        <p:nvSpPr>
          <p:cNvPr id="4" name="faq91|card|"/>
          <p:cNvSpPr/>
          <p:nvPr/>
        </p:nvSpPr>
        <p:spPr>
          <a:xfrm>
            <a:off x="548640" y="153619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aq91|deco|"/>
          <p:cNvSpPr/>
          <p:nvPr/>
        </p:nvSpPr>
        <p:spPr>
          <a:xfrm>
            <a:off x="777239" y="1792223"/>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faq91|icon|chat_deep.png" descr="chat_deep"/>
          <p:cNvPicPr>
            <a:picLocks noChangeAspect="1"/>
          </p:cNvPicPr>
          <p:nvPr/>
        </p:nvPicPr>
        <p:blipFill>
          <a:blip r:embed="rId2"/>
          <a:srcRect/>
          <a:stretch>
            <a:fillRect/>
          </a:stretch>
        </p:blipFill>
        <p:spPr>
          <a:xfrm>
            <a:off x="897940" y="1912924"/>
            <a:ext cx="307238" cy="307238"/>
          </a:xfrm>
          <a:prstGeom prst="rect">
            <a:avLst/>
          </a:prstGeom>
        </p:spPr>
      </p:pic>
      <p:sp>
        <p:nvSpPr>
          <p:cNvPr id="7" name="faq91|card|"/>
          <p:cNvSpPr txBox="1"/>
          <p:nvPr/>
        </p:nvSpPr>
        <p:spPr>
          <a:xfrm>
            <a:off x="1463040" y="1719072"/>
            <a:ext cx="4251960" cy="713232"/>
          </a:xfrm>
          <a:prstGeom prst="rect">
            <a:avLst/>
          </a:prstGeom>
          <a:noFill/>
        </p:spPr>
        <p:txBody>
          <a:bodyPr wrap="square" lIns="0" rIns="0" tIns="0" bIns="0" anchor="ctr">
            <a:noAutofit/>
          </a:bodyPr>
          <a:lstStyle/>
          <a:p>
            <a:pPr algn="l"/>
            <a:r>
              <a:rPr sz="1700" b="1">
                <a:solidFill>
                  <a:srgbClr val="20242B"/>
                </a:solidFill>
                <a:latin typeface="Poppins"/>
              </a:rPr>
              <a:t>Is my customers' data safe?</a:t>
            </a:r>
          </a:p>
        </p:txBody>
      </p:sp>
      <p:sp>
        <p:nvSpPr>
          <p:cNvPr id="8" name="faq91|card|"/>
          <p:cNvSpPr txBox="1"/>
          <p:nvPr/>
        </p:nvSpPr>
        <p:spPr>
          <a:xfrm>
            <a:off x="868680" y="2523744"/>
            <a:ext cx="4800600" cy="1133856"/>
          </a:xfrm>
          <a:prstGeom prst="rect">
            <a:avLst/>
          </a:prstGeom>
          <a:noFill/>
        </p:spPr>
        <p:txBody>
          <a:bodyPr wrap="square" lIns="0" rIns="0" tIns="0" bIns="0" anchor="t">
            <a:noAutofit/>
          </a:bodyPr>
          <a:lstStyle/>
          <a:p>
            <a:pPr algn="l"/>
            <a:r>
              <a:rPr sz="1500" b="0">
                <a:solidFill>
                  <a:srgbClr val="20242B"/>
                </a:solidFill>
                <a:latin typeface="Inter"/>
              </a:rPr>
              <a:t>Row-level security, encrypted tokens, broadcasts only to consented contacts, and data export and account deletion. Fluxmuse is a verified Meta Tech Provider.</a:t>
            </a:r>
          </a:p>
        </p:txBody>
      </p:sp>
      <p:sp>
        <p:nvSpPr>
          <p:cNvPr id="9" name="faq92|card|"/>
          <p:cNvSpPr/>
          <p:nvPr/>
        </p:nvSpPr>
        <p:spPr>
          <a:xfrm>
            <a:off x="6202375" y="153619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q92|deco|"/>
          <p:cNvSpPr/>
          <p:nvPr/>
        </p:nvSpPr>
        <p:spPr>
          <a:xfrm>
            <a:off x="6430975" y="1792223"/>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faq92|icon|chat_deep.png" descr="chat_deep"/>
          <p:cNvPicPr>
            <a:picLocks noChangeAspect="1"/>
          </p:cNvPicPr>
          <p:nvPr/>
        </p:nvPicPr>
        <p:blipFill>
          <a:blip r:embed="rId2"/>
          <a:srcRect/>
          <a:stretch>
            <a:fillRect/>
          </a:stretch>
        </p:blipFill>
        <p:spPr>
          <a:xfrm>
            <a:off x="6551675" y="1912924"/>
            <a:ext cx="307238" cy="307238"/>
          </a:xfrm>
          <a:prstGeom prst="rect">
            <a:avLst/>
          </a:prstGeom>
        </p:spPr>
      </p:pic>
      <p:sp>
        <p:nvSpPr>
          <p:cNvPr id="12" name="faq92|card|"/>
          <p:cNvSpPr txBox="1"/>
          <p:nvPr/>
        </p:nvSpPr>
        <p:spPr>
          <a:xfrm>
            <a:off x="7116775" y="1719072"/>
            <a:ext cx="4251960" cy="713232"/>
          </a:xfrm>
          <a:prstGeom prst="rect">
            <a:avLst/>
          </a:prstGeom>
          <a:noFill/>
        </p:spPr>
        <p:txBody>
          <a:bodyPr wrap="square" lIns="0" rIns="0" tIns="0" bIns="0" anchor="ctr">
            <a:noAutofit/>
          </a:bodyPr>
          <a:lstStyle/>
          <a:p>
            <a:pPr algn="l"/>
            <a:r>
              <a:rPr sz="1700" b="1">
                <a:solidFill>
                  <a:srgbClr val="20242B"/>
                </a:solidFill>
                <a:latin typeface="Poppins"/>
              </a:rPr>
              <a:t>Can I use my own WhatsApp number?</a:t>
            </a:r>
          </a:p>
        </p:txBody>
      </p:sp>
      <p:sp>
        <p:nvSpPr>
          <p:cNvPr id="13" name="faq92|card|"/>
          <p:cNvSpPr txBox="1"/>
          <p:nvPr/>
        </p:nvSpPr>
        <p:spPr>
          <a:xfrm>
            <a:off x="6522415" y="2523744"/>
            <a:ext cx="4800600" cy="1133856"/>
          </a:xfrm>
          <a:prstGeom prst="rect">
            <a:avLst/>
          </a:prstGeom>
          <a:noFill/>
        </p:spPr>
        <p:txBody>
          <a:bodyPr wrap="square" lIns="0" rIns="0" tIns="0" bIns="0" anchor="t">
            <a:noAutofit/>
          </a:bodyPr>
          <a:lstStyle/>
          <a:p>
            <a:pPr algn="l"/>
            <a:r>
              <a:rPr sz="1500" b="0">
                <a:solidFill>
                  <a:srgbClr val="20242B"/>
                </a:solidFill>
                <a:latin typeface="Inter"/>
              </a:rPr>
              <a:t>Yes. We connect your WhatsApp Business number through Meta's official Cloud API setup, with you, by hand.</a:t>
            </a:r>
          </a:p>
        </p:txBody>
      </p:sp>
      <p:sp>
        <p:nvSpPr>
          <p:cNvPr id="14" name="faq93|card|"/>
          <p:cNvSpPr/>
          <p:nvPr/>
        </p:nvSpPr>
        <p:spPr>
          <a:xfrm>
            <a:off x="548640" y="395935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q93|deco|"/>
          <p:cNvSpPr/>
          <p:nvPr/>
        </p:nvSpPr>
        <p:spPr>
          <a:xfrm>
            <a:off x="777239" y="4215384"/>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faq93|icon|chat_deep.png" descr="chat_deep"/>
          <p:cNvPicPr>
            <a:picLocks noChangeAspect="1"/>
          </p:cNvPicPr>
          <p:nvPr/>
        </p:nvPicPr>
        <p:blipFill>
          <a:blip r:embed="rId2"/>
          <a:srcRect/>
          <a:stretch>
            <a:fillRect/>
          </a:stretch>
        </p:blipFill>
        <p:spPr>
          <a:xfrm>
            <a:off x="897940" y="4336084"/>
            <a:ext cx="307238" cy="307238"/>
          </a:xfrm>
          <a:prstGeom prst="rect">
            <a:avLst/>
          </a:prstGeom>
        </p:spPr>
      </p:pic>
      <p:sp>
        <p:nvSpPr>
          <p:cNvPr id="17" name="faq93|card|"/>
          <p:cNvSpPr txBox="1"/>
          <p:nvPr/>
        </p:nvSpPr>
        <p:spPr>
          <a:xfrm>
            <a:off x="1463040" y="4142232"/>
            <a:ext cx="4251960" cy="713232"/>
          </a:xfrm>
          <a:prstGeom prst="rect">
            <a:avLst/>
          </a:prstGeom>
          <a:noFill/>
        </p:spPr>
        <p:txBody>
          <a:bodyPr wrap="square" lIns="0" rIns="0" tIns="0" bIns="0" anchor="ctr">
            <a:noAutofit/>
          </a:bodyPr>
          <a:lstStyle/>
          <a:p>
            <a:pPr algn="l"/>
            <a:r>
              <a:rPr sz="1700" b="1">
                <a:solidFill>
                  <a:srgbClr val="20242B"/>
                </a:solidFill>
                <a:latin typeface="Poppins"/>
              </a:rPr>
              <a:t>How do my customers pay?</a:t>
            </a:r>
          </a:p>
        </p:txBody>
      </p:sp>
      <p:sp>
        <p:nvSpPr>
          <p:cNvPr id="18" name="faq93|card|"/>
          <p:cNvSpPr txBox="1"/>
          <p:nvPr/>
        </p:nvSpPr>
        <p:spPr>
          <a:xfrm>
            <a:off x="868680" y="4946904"/>
            <a:ext cx="4800600" cy="1133856"/>
          </a:xfrm>
          <a:prstGeom prst="rect">
            <a:avLst/>
          </a:prstGeom>
          <a:noFill/>
        </p:spPr>
        <p:txBody>
          <a:bodyPr wrap="square" lIns="0" rIns="0" tIns="0" bIns="0" anchor="t">
            <a:noAutofit/>
          </a:bodyPr>
          <a:lstStyle/>
          <a:p>
            <a:pPr algn="l"/>
            <a:r>
              <a:rPr sz="1500" b="0">
                <a:solidFill>
                  <a:srgbClr val="20242B"/>
                </a:solidFill>
                <a:latin typeface="Inter"/>
              </a:rPr>
              <a:t>Today, orders arrive as a WhatsApp message and you take payment your usual way. Checkout through FluxMuse, via our payment partners, is being switched on in South Africa.</a:t>
            </a:r>
          </a:p>
        </p:txBody>
      </p:sp>
      <p:sp>
        <p:nvSpPr>
          <p:cNvPr id="19" name="faq94|card|"/>
          <p:cNvSpPr/>
          <p:nvPr/>
        </p:nvSpPr>
        <p:spPr>
          <a:xfrm>
            <a:off x="6202375" y="395935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aq94|deco|"/>
          <p:cNvSpPr/>
          <p:nvPr/>
        </p:nvSpPr>
        <p:spPr>
          <a:xfrm>
            <a:off x="6430975" y="4215384"/>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faq94|icon|chat_deep.png" descr="chat_deep"/>
          <p:cNvPicPr>
            <a:picLocks noChangeAspect="1"/>
          </p:cNvPicPr>
          <p:nvPr/>
        </p:nvPicPr>
        <p:blipFill>
          <a:blip r:embed="rId2"/>
          <a:srcRect/>
          <a:stretch>
            <a:fillRect/>
          </a:stretch>
        </p:blipFill>
        <p:spPr>
          <a:xfrm>
            <a:off x="6551675" y="4336084"/>
            <a:ext cx="307238" cy="307238"/>
          </a:xfrm>
          <a:prstGeom prst="rect">
            <a:avLst/>
          </a:prstGeom>
        </p:spPr>
      </p:pic>
      <p:sp>
        <p:nvSpPr>
          <p:cNvPr id="22" name="faq94|card|"/>
          <p:cNvSpPr txBox="1"/>
          <p:nvPr/>
        </p:nvSpPr>
        <p:spPr>
          <a:xfrm>
            <a:off x="7116775" y="4142232"/>
            <a:ext cx="4251960" cy="713232"/>
          </a:xfrm>
          <a:prstGeom prst="rect">
            <a:avLst/>
          </a:prstGeom>
          <a:noFill/>
        </p:spPr>
        <p:txBody>
          <a:bodyPr wrap="square" lIns="0" rIns="0" tIns="0" bIns="0" anchor="ctr">
            <a:noAutofit/>
          </a:bodyPr>
          <a:lstStyle/>
          <a:p>
            <a:pPr algn="l"/>
            <a:r>
              <a:rPr sz="1700" b="1">
                <a:solidFill>
                  <a:srgbClr val="20242B"/>
                </a:solidFill>
                <a:latin typeface="Poppins"/>
              </a:rPr>
              <a:t>Is there a trial? Can I cancel?</a:t>
            </a:r>
          </a:p>
        </p:txBody>
      </p:sp>
      <p:sp>
        <p:nvSpPr>
          <p:cNvPr id="23" name="faq94|placeholder|"/>
          <p:cNvSpPr txBox="1"/>
          <p:nvPr/>
        </p:nvSpPr>
        <p:spPr>
          <a:xfrm>
            <a:off x="6522415" y="4946904"/>
            <a:ext cx="4800600" cy="1133856"/>
          </a:xfrm>
          <a:prstGeom prst="rect">
            <a:avLst/>
          </a:prstGeom>
          <a:noFill/>
        </p:spPr>
        <p:txBody>
          <a:bodyPr wrap="square" lIns="0" rIns="0" tIns="0" bIns="0" anchor="t">
            <a:noAutofit/>
          </a:bodyPr>
          <a:lstStyle/>
          <a:p>
            <a:pPr algn="l"/>
            <a:r>
              <a:rPr sz="1500" b="0">
                <a:solidFill>
                  <a:srgbClr val="20242B"/>
                </a:solidFill>
                <a:latin typeface="Inter"/>
              </a:rPr>
              <a:t>No trials: every paid plan starts with payment, monthly or annual (10× monthly). Free is a permanent plan. Cancellation terms: [[CONFIRM TERMS]].</a:t>
            </a:r>
          </a:p>
        </p:txBody>
      </p:sp>
      <p:sp>
        <p:nvSpPr>
          <p:cNvPr id="24"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25"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26</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hdr95|eyebrow|"/>
          <p:cNvSpPr txBox="1"/>
          <p:nvPr/>
        </p:nvSpPr>
        <p:spPr>
          <a:xfrm>
            <a:off x="548640" y="384048"/>
            <a:ext cx="11094415" cy="237744"/>
          </a:xfrm>
          <a:prstGeom prst="rect">
            <a:avLst/>
          </a:prstGeom>
          <a:noFill/>
        </p:spPr>
        <p:txBody>
          <a:bodyPr wrap="square" lIns="0" rIns="0" tIns="0" bIns="0" anchor="t">
            <a:noAutofit/>
          </a:bodyPr>
          <a:lstStyle/>
          <a:p>
            <a:pPr algn="l"/>
            <a:r>
              <a:rPr sz="1200" b="1" spc="150">
                <a:solidFill>
                  <a:srgbClr val="C24E00"/>
                </a:solidFill>
                <a:latin typeface="Inter"/>
              </a:rPr>
              <a:t>APPENDIX A3 · FAQ (2 OF 2)</a:t>
            </a:r>
          </a:p>
        </p:txBody>
      </p:sp>
      <p:sp>
        <p:nvSpPr>
          <p:cNvPr id="3" name="hdr95|title|"/>
          <p:cNvSpPr txBox="1"/>
          <p:nvPr/>
        </p:nvSpPr>
        <p:spPr>
          <a:xfrm>
            <a:off x="548640" y="640080"/>
            <a:ext cx="11094415" cy="713232"/>
          </a:xfrm>
          <a:prstGeom prst="rect">
            <a:avLst/>
          </a:prstGeom>
          <a:noFill/>
        </p:spPr>
        <p:txBody>
          <a:bodyPr wrap="square" lIns="0" rIns="0" tIns="0" bIns="0" anchor="t">
            <a:noAutofit/>
          </a:bodyPr>
          <a:lstStyle/>
          <a:p>
            <a:pPr algn="l"/>
            <a:r>
              <a:rPr sz="3200" b="1">
                <a:solidFill>
                  <a:srgbClr val="20242B"/>
                </a:solidFill>
                <a:latin typeface="Poppins"/>
              </a:rPr>
              <a:t>Questions prospects ask</a:t>
            </a:r>
          </a:p>
        </p:txBody>
      </p:sp>
      <p:sp>
        <p:nvSpPr>
          <p:cNvPr id="4" name="faq96|card|"/>
          <p:cNvSpPr/>
          <p:nvPr/>
        </p:nvSpPr>
        <p:spPr>
          <a:xfrm>
            <a:off x="548640" y="153619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aq96|deco|"/>
          <p:cNvSpPr/>
          <p:nvPr/>
        </p:nvSpPr>
        <p:spPr>
          <a:xfrm>
            <a:off x="777239" y="1792223"/>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faq96|icon|chat_deep.png" descr="chat_deep"/>
          <p:cNvPicPr>
            <a:picLocks noChangeAspect="1"/>
          </p:cNvPicPr>
          <p:nvPr/>
        </p:nvPicPr>
        <p:blipFill>
          <a:blip r:embed="rId2"/>
          <a:srcRect/>
          <a:stretch>
            <a:fillRect/>
          </a:stretch>
        </p:blipFill>
        <p:spPr>
          <a:xfrm>
            <a:off x="897940" y="1912924"/>
            <a:ext cx="307238" cy="307238"/>
          </a:xfrm>
          <a:prstGeom prst="rect">
            <a:avLst/>
          </a:prstGeom>
        </p:spPr>
      </p:pic>
      <p:sp>
        <p:nvSpPr>
          <p:cNvPr id="7" name="faq96|card|"/>
          <p:cNvSpPr txBox="1"/>
          <p:nvPr/>
        </p:nvSpPr>
        <p:spPr>
          <a:xfrm>
            <a:off x="1463040" y="1719072"/>
            <a:ext cx="4251960" cy="713232"/>
          </a:xfrm>
          <a:prstGeom prst="rect">
            <a:avLst/>
          </a:prstGeom>
          <a:noFill/>
        </p:spPr>
        <p:txBody>
          <a:bodyPr wrap="square" lIns="0" rIns="0" tIns="0" bIns="0" anchor="ctr">
            <a:noAutofit/>
          </a:bodyPr>
          <a:lstStyle/>
          <a:p>
            <a:pPr algn="l"/>
            <a:r>
              <a:rPr sz="1700" b="1">
                <a:solidFill>
                  <a:srgbClr val="20242B"/>
                </a:solidFill>
                <a:latin typeface="Poppins"/>
              </a:rPr>
              <a:t>Is there a guarantee?</a:t>
            </a:r>
          </a:p>
        </p:txBody>
      </p:sp>
      <p:sp>
        <p:nvSpPr>
          <p:cNvPr id="8" name="faq96|card|"/>
          <p:cNvSpPr txBox="1"/>
          <p:nvPr/>
        </p:nvSpPr>
        <p:spPr>
          <a:xfrm>
            <a:off x="868680" y="2523744"/>
            <a:ext cx="4800600" cy="1133856"/>
          </a:xfrm>
          <a:prstGeom prst="rect">
            <a:avLst/>
          </a:prstGeom>
          <a:noFill/>
        </p:spPr>
        <p:txBody>
          <a:bodyPr wrap="square" lIns="0" rIns="0" tIns="0" bIns="0" anchor="t">
            <a:noAutofit/>
          </a:bodyPr>
          <a:lstStyle/>
          <a:p>
            <a:pPr algn="l"/>
            <a:r>
              <a:rPr sz="1500" b="0">
                <a:solidFill>
                  <a:srgbClr val="20242B"/>
                </a:solidFill>
                <a:latin typeface="Inter"/>
              </a:rPr>
              <a:t>A lead guarantee: 3 qualified leads in 30 days of go-live. If fewer, and you shared your link and posted weekly, we keep supporting you free until you reach 3.</a:t>
            </a:r>
          </a:p>
        </p:txBody>
      </p:sp>
      <p:sp>
        <p:nvSpPr>
          <p:cNvPr id="9" name="faq97|card|"/>
          <p:cNvSpPr/>
          <p:nvPr/>
        </p:nvSpPr>
        <p:spPr>
          <a:xfrm>
            <a:off x="6202375" y="153619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aq97|deco|"/>
          <p:cNvSpPr/>
          <p:nvPr/>
        </p:nvSpPr>
        <p:spPr>
          <a:xfrm>
            <a:off x="6430975" y="1792223"/>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faq97|icon|chat_deep.png" descr="chat_deep"/>
          <p:cNvPicPr>
            <a:picLocks noChangeAspect="1"/>
          </p:cNvPicPr>
          <p:nvPr/>
        </p:nvPicPr>
        <p:blipFill>
          <a:blip r:embed="rId2"/>
          <a:srcRect/>
          <a:stretch>
            <a:fillRect/>
          </a:stretch>
        </p:blipFill>
        <p:spPr>
          <a:xfrm>
            <a:off x="6551675" y="1912924"/>
            <a:ext cx="307238" cy="307238"/>
          </a:xfrm>
          <a:prstGeom prst="rect">
            <a:avLst/>
          </a:prstGeom>
        </p:spPr>
      </p:pic>
      <p:sp>
        <p:nvSpPr>
          <p:cNvPr id="12" name="faq97|card|"/>
          <p:cNvSpPr txBox="1"/>
          <p:nvPr/>
        </p:nvSpPr>
        <p:spPr>
          <a:xfrm>
            <a:off x="7116775" y="1719072"/>
            <a:ext cx="4251960" cy="713232"/>
          </a:xfrm>
          <a:prstGeom prst="rect">
            <a:avLst/>
          </a:prstGeom>
          <a:noFill/>
        </p:spPr>
        <p:txBody>
          <a:bodyPr wrap="square" lIns="0" rIns="0" tIns="0" bIns="0" anchor="ctr">
            <a:noAutofit/>
          </a:bodyPr>
          <a:lstStyle/>
          <a:p>
            <a:pPr algn="l"/>
            <a:r>
              <a:rPr sz="1700" b="1">
                <a:solidFill>
                  <a:srgbClr val="20242B"/>
                </a:solidFill>
                <a:latin typeface="Poppins"/>
              </a:rPr>
              <a:t>How long does setup take?</a:t>
            </a:r>
          </a:p>
        </p:txBody>
      </p:sp>
      <p:sp>
        <p:nvSpPr>
          <p:cNvPr id="13" name="faq97|card|"/>
          <p:cNvSpPr txBox="1"/>
          <p:nvPr/>
        </p:nvSpPr>
        <p:spPr>
          <a:xfrm>
            <a:off x="6522415" y="2523744"/>
            <a:ext cx="4800600" cy="1133856"/>
          </a:xfrm>
          <a:prstGeom prst="rect">
            <a:avLst/>
          </a:prstGeom>
          <a:noFill/>
        </p:spPr>
        <p:txBody>
          <a:bodyPr wrap="square" lIns="0" rIns="0" tIns="0" bIns="0" anchor="t">
            <a:noAutofit/>
          </a:bodyPr>
          <a:lstStyle/>
          <a:p>
            <a:pPr algn="l"/>
            <a:r>
              <a:rPr sz="1500" b="0">
                <a:solidFill>
                  <a:srgbClr val="20242B"/>
                </a:solidFill>
                <a:latin typeface="Inter"/>
              </a:rPr>
              <a:t>We set you up by hand: WhatsApp number, catalogue from your photos, shop link. We aim for your first week; Meta approvals can stretch it.</a:t>
            </a:r>
          </a:p>
        </p:txBody>
      </p:sp>
      <p:sp>
        <p:nvSpPr>
          <p:cNvPr id="14" name="faq98|card|"/>
          <p:cNvSpPr/>
          <p:nvPr/>
        </p:nvSpPr>
        <p:spPr>
          <a:xfrm>
            <a:off x="548640" y="395935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q98|deco|"/>
          <p:cNvSpPr/>
          <p:nvPr/>
        </p:nvSpPr>
        <p:spPr>
          <a:xfrm>
            <a:off x="777239" y="4215384"/>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faq98|icon|chat_deep.png" descr="chat_deep"/>
          <p:cNvPicPr>
            <a:picLocks noChangeAspect="1"/>
          </p:cNvPicPr>
          <p:nvPr/>
        </p:nvPicPr>
        <p:blipFill>
          <a:blip r:embed="rId2"/>
          <a:srcRect/>
          <a:stretch>
            <a:fillRect/>
          </a:stretch>
        </p:blipFill>
        <p:spPr>
          <a:xfrm>
            <a:off x="897940" y="4336084"/>
            <a:ext cx="307238" cy="307238"/>
          </a:xfrm>
          <a:prstGeom prst="rect">
            <a:avLst/>
          </a:prstGeom>
        </p:spPr>
      </p:pic>
      <p:sp>
        <p:nvSpPr>
          <p:cNvPr id="17" name="faq98|card|"/>
          <p:cNvSpPr txBox="1"/>
          <p:nvPr/>
        </p:nvSpPr>
        <p:spPr>
          <a:xfrm>
            <a:off x="1463040" y="4142232"/>
            <a:ext cx="4251960" cy="713232"/>
          </a:xfrm>
          <a:prstGeom prst="rect">
            <a:avLst/>
          </a:prstGeom>
          <a:noFill/>
        </p:spPr>
        <p:txBody>
          <a:bodyPr wrap="square" lIns="0" rIns="0" tIns="0" bIns="0" anchor="ctr">
            <a:noAutofit/>
          </a:bodyPr>
          <a:lstStyle/>
          <a:p>
            <a:pPr algn="l"/>
            <a:r>
              <a:rPr sz="1700" b="1">
                <a:solidFill>
                  <a:srgbClr val="20242B"/>
                </a:solidFill>
                <a:latin typeface="Poppins"/>
              </a:rPr>
              <a:t>I already use Shopify or WooCommerce.</a:t>
            </a:r>
          </a:p>
        </p:txBody>
      </p:sp>
      <p:sp>
        <p:nvSpPr>
          <p:cNvPr id="18" name="faq98|card|"/>
          <p:cNvSpPr txBox="1"/>
          <p:nvPr/>
        </p:nvSpPr>
        <p:spPr>
          <a:xfrm>
            <a:off x="868680" y="4946904"/>
            <a:ext cx="4800600" cy="1133856"/>
          </a:xfrm>
          <a:prstGeom prst="rect">
            <a:avLst/>
          </a:prstGeom>
          <a:noFill/>
        </p:spPr>
        <p:txBody>
          <a:bodyPr wrap="square" lIns="0" rIns="0" tIns="0" bIns="0" anchor="t">
            <a:noAutofit/>
          </a:bodyPr>
          <a:lstStyle/>
          <a:p>
            <a:pPr algn="l"/>
            <a:r>
              <a:rPr sz="1500" b="0">
                <a:solidFill>
                  <a:srgbClr val="20242B"/>
                </a:solidFill>
                <a:latin typeface="Inter"/>
              </a:rPr>
              <a:t>Keep them. Sync from Shopify and WooCommerce is being switched on. Until then, we build your catalogue from product photos.</a:t>
            </a:r>
          </a:p>
        </p:txBody>
      </p:sp>
      <p:sp>
        <p:nvSpPr>
          <p:cNvPr id="19" name="faq99|card|"/>
          <p:cNvSpPr/>
          <p:nvPr/>
        </p:nvSpPr>
        <p:spPr>
          <a:xfrm>
            <a:off x="6202375" y="3959352"/>
            <a:ext cx="5440680" cy="2240280"/>
          </a:xfrm>
          <a:prstGeom prst="roundRect">
            <a:avLst>
              <a:gd name="adj" fmla="val 7346"/>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aq99|deco|"/>
          <p:cNvSpPr/>
          <p:nvPr/>
        </p:nvSpPr>
        <p:spPr>
          <a:xfrm>
            <a:off x="6430975" y="4215384"/>
            <a:ext cx="548640" cy="5486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faq99|icon|chat_deep.png" descr="chat_deep"/>
          <p:cNvPicPr>
            <a:picLocks noChangeAspect="1"/>
          </p:cNvPicPr>
          <p:nvPr/>
        </p:nvPicPr>
        <p:blipFill>
          <a:blip r:embed="rId2"/>
          <a:srcRect/>
          <a:stretch>
            <a:fillRect/>
          </a:stretch>
        </p:blipFill>
        <p:spPr>
          <a:xfrm>
            <a:off x="6551675" y="4336084"/>
            <a:ext cx="307238" cy="307238"/>
          </a:xfrm>
          <a:prstGeom prst="rect">
            <a:avLst/>
          </a:prstGeom>
        </p:spPr>
      </p:pic>
      <p:sp>
        <p:nvSpPr>
          <p:cNvPr id="22" name="faq99|card|"/>
          <p:cNvSpPr txBox="1"/>
          <p:nvPr/>
        </p:nvSpPr>
        <p:spPr>
          <a:xfrm>
            <a:off x="7116775" y="4142232"/>
            <a:ext cx="4251960" cy="713232"/>
          </a:xfrm>
          <a:prstGeom prst="rect">
            <a:avLst/>
          </a:prstGeom>
          <a:noFill/>
        </p:spPr>
        <p:txBody>
          <a:bodyPr wrap="square" lIns="0" rIns="0" tIns="0" bIns="0" anchor="ctr">
            <a:noAutofit/>
          </a:bodyPr>
          <a:lstStyle/>
          <a:p>
            <a:pPr algn="l"/>
            <a:r>
              <a:rPr sz="1700" b="1">
                <a:solidFill>
                  <a:srgbClr val="20242B"/>
                </a:solidFill>
                <a:latin typeface="Poppins"/>
              </a:rPr>
              <a:t>Where can I buy FluxMuse?</a:t>
            </a:r>
          </a:p>
        </p:txBody>
      </p:sp>
      <p:sp>
        <p:nvSpPr>
          <p:cNvPr id="23" name="faq99|card|"/>
          <p:cNvSpPr txBox="1"/>
          <p:nvPr/>
        </p:nvSpPr>
        <p:spPr>
          <a:xfrm>
            <a:off x="6522415" y="4946904"/>
            <a:ext cx="4800600" cy="1133856"/>
          </a:xfrm>
          <a:prstGeom prst="rect">
            <a:avLst/>
          </a:prstGeom>
          <a:noFill/>
        </p:spPr>
        <p:txBody>
          <a:bodyPr wrap="square" lIns="0" rIns="0" tIns="0" bIns="0" anchor="t">
            <a:noAutofit/>
          </a:bodyPr>
          <a:lstStyle/>
          <a:p>
            <a:pPr algn="l"/>
            <a:r>
              <a:rPr sz="1500" b="0">
                <a:solidFill>
                  <a:srgbClr val="20242B"/>
                </a:solidFill>
                <a:latin typeface="Inter"/>
              </a:rPr>
              <a:t>South Africa, today. Nigeria, Kenya and Ghana are priced but not yet on sale. Other countries can join the waitlist.</a:t>
            </a:r>
          </a:p>
        </p:txBody>
      </p:sp>
      <p:sp>
        <p:nvSpPr>
          <p:cNvPr id="24" name="chrome|footer|"/>
          <p:cNvSpPr txBox="1"/>
          <p:nvPr/>
        </p:nvSpPr>
        <p:spPr>
          <a:xfrm>
            <a:off x="548640" y="6437376"/>
            <a:ext cx="3657600" cy="237744"/>
          </a:xfrm>
          <a:prstGeom prst="rect">
            <a:avLst/>
          </a:prstGeom>
          <a:noFill/>
        </p:spPr>
        <p:txBody>
          <a:bodyPr wrap="square" lIns="0" rIns="0" tIns="0" bIns="0" anchor="t">
            <a:noAutofit/>
          </a:bodyPr>
          <a:lstStyle/>
          <a:p>
            <a:pPr algn="l"/>
            <a:r>
              <a:rPr sz="1000" b="0">
                <a:solidFill>
                  <a:srgbClr val="5B6670"/>
                </a:solidFill>
                <a:latin typeface="Inter"/>
              </a:rPr>
              <a:t>FluxMuse · fluxmuse.ai</a:t>
            </a:r>
          </a:p>
        </p:txBody>
      </p:sp>
      <p:sp>
        <p:nvSpPr>
          <p:cNvPr id="25" name="chrome|slidenum|"/>
          <p:cNvSpPr txBox="1"/>
          <p:nvPr/>
        </p:nvSpPr>
        <p:spPr>
          <a:xfrm>
            <a:off x="10728655" y="6437376"/>
            <a:ext cx="914400" cy="237744"/>
          </a:xfrm>
          <a:prstGeom prst="rect">
            <a:avLst/>
          </a:prstGeom>
          <a:noFill/>
        </p:spPr>
        <p:txBody>
          <a:bodyPr wrap="none" lIns="0" rIns="0" tIns="0" bIns="0">
            <a:spAutoFit/>
          </a:bodyPr>
          <a:lstStyle/>
          <a:p>
            <a:pPr algn="r"/>
            <a:fld id="{B6F15528-21DE-4FAA-801E-634DDDAF4B2B}" type="slidenum">
              <a:rPr lang="en-ZA" sz="1000">
                <a:solidFill>
                  <a:srgbClr val="5B6670"/>
                </a:solidFill>
                <a:latin typeface="Inter"/>
              </a:rPr>
              <a:t>27</a:t>
            </a:fld>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FluxMuse pitch deck</dc:title>
  <dc:subject>AI marketing &amp; WhatsApp selling</dc:subject>
  <dc:creator>Fluxmuse (Pty) Ltd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