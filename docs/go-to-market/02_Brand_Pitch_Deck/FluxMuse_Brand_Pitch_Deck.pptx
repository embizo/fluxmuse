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warmly and make it about them. "Thanks for your time. FluxMuse gives a small business a full AI marketing team, and lets you sell and get paid right inside WhatsApp, where your customers already chat." Introduce yourself and say the session takes about 20 minutes plus questions. Ask one opening question: "Where do most of your sales conversations happen today?" Their answer tells you which slides to lean on. Swap guide: for owner-operators use the Solo deck, for businesses with 5 to 200 staff use the SME deck, and for agencies use the Partner Programme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day-to-day reality without numbers we can't back up. Most small businesses juggle separate tools for posts, chats, email, SMS and payments. Agency retainers are out of reach for many. Buyers drop off when they're sent to an external payment link, and checkout often doesn't offer local ways to pay like instant EFT or mobile money. On the right is what changes with FluxMuse: one AI marketing team, plans from R499 a month, checkout inside WhatsApp and five local payment rails. Ask which of the four problems hurts most, and focus the rest of the pitch there.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FluxMuse in one line: an AI marketing team and WhatsApp commerce platform built for African SMBs. On the laptop is our website; on the phone is the demo store confirming an order inside a WhatsApp chat. Everything in this deck is live in the product today unless it's labelled "in review" or "coming soon", and we'll be precise about which is which. There's a 14-day free trial with no card required, so trying it costs nothing. Pause here and ask whether they already use WhatsApp Business, and on 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works as a loop run by four AI agents. The Strategist plans goals, channel mix and budget. The Creator writes copy and makes images in isiZulu, Afrikaans, Pidgin, Swahili, English and more. The Publisher schedules content across social, WhatsApp, email, SMS and USSD. Buyers then chat, browse and pay inside WhatsApp. The Analyst learns from orders and data and feeds insights back into the next plan. The point is that each step hands off to the next, so marketing and sales stop living in separate tools, and campaigns can go through approvals before anything is published.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four core agents: Strategist, Creator, Publisher and Analyst. Walk through one example for this prospect: the Strategist sets a goal for the month, the Creator drafts posts, the Publisher schedules them and runs the WhatsApp catalog, and the Analyst reports what worked. Behind them sit 23 specialist Flux agents for jobs like ads, nurture, support, commerce, finance and compliance, plus an AI Agent Marketplace. Don't read the chips aloud. Pick the two or three that match the prospect's pain, for example Flux Support for a busy inbox or Flux Nurture for repeat customers.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heart of the pitch. A buyer taps an ad, a post, a QR code or a wa.me link and lands in a chat. A chatbot or WhatsApp Flow replies instantly, they browse the catalog, build a cart and pay without leaving WhatsApp, using Yoco, Ozow, Paystack, pawaPay or Fincra. The order is confirmed and status updates arrive in the same chat. If they abandon the cart, a recovery message goes out automatically, and loyalty and retargeting bring them back. If you demo live, stick to the catalog, cart and confirmation screens shown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AI team runs every channel your buyers use. Live today: WhatsApp, Facebook Pages, Messenger, email, SMS, USSD, a website chat widget, landing pages and link-in-bio. Be precise about Instagram: it's in Meta App Review, so publishing, comments and DMs aren't live yet. TikTok, LinkedIn, X, YouTube, Threads and Pinterest are coming soon as part of our social adapters work, with no dates promised. If Instagram is their main channel, say so honestly and start them on WhatsApp and Facebook, adding Instagram once Meta approves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Getting paid is where many chat sales die, so this matters. FluxMuse has five payment rails: Yoco for cards and tap-to-pay, Ozow for instant EFT, Paystack, pawaPay for mobile money, and Fincra for collections and payouts. Together they cover 23 African countries, all live from September 2026, with pawaPay and Fincra from 14 September. Botswana and Namibia are coming soon, once a rail covers them. For a South African business the headline is simple: card, tap-to-pay and instant EFT, inside the chat. Save the country detail for the appendix.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FluxMuse is built for three kinds of business, all starting in South Africa: the Gauteng pilot first, then national, before Nigeria, Kenya and Ghana. Solo entrepreneurs run founder-led businesses of one to five people and usually start on Starter at R499 a month. SMEs have five to 200 staff and typically run Growth at R1,999, moving up to Scale. Agencies and freelancers managing five to 50 clients join the partner programme on the Agency tier at a wholesale R5,599 a month. Ask which one fits them, then go to that segment's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entrepreneurs are side hustles, braiders and hair studios, fashion resellers, home bakers, coaches and informal retailers selling on Instagram, Facebook and WhatsApp. Their pains are simple: no time or budget for a marketer, sales lost in busy DMs, and buyers who drop off at payment links. FluxMuse answers each one: the Creator writes posts and the Publisher schedules them, chatbots reply instantly even after hours, and checkout happens in the chat. Starter is R499 a month; the full catalog and checkout sit in Growth, the natural upgrade. Founding Members pay R349 for their first two Starter bills.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SMEs are retailers, restaurants and franchises, e-commerce brands, clinics, property, auto dealers, education and professional services, with five to 200 staff. The usual story: six or more disconnected tools, costly agency retainers, no clear link from social activity to sales, and staff answering WhatsApp by hand. FluxMuse replaces the stack, lets the team sell and get paid in chat, and shows what drives revenue. Growth at R1,999 a month is the usual starting point, with Scale at R4,999 for multi-brand or multi-location businesses. Founding Members pay R1,399 for their first two Growth bills.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Agencies, digital and social media shops and freelancers managing five to 50 SMB clients feel a margin squeeze, spend hours on manual reporting, juggle too many tools per client, and have clients asking for WhatsApp commerce and AI. FluxMuse gives them one white-label platform with 50 client sub-accounts and reseller billing. Partners buy the Agency tier at a permanent wholesale price of R5,599 a month, 30% off the R7,999 list price, and set their own retail price. Don't quote a fixed margin percentage: margin depends on the agency's pricing and delivery costs.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the partner model works. FluxMuse invoices the agency at the wholesale Agency-tier price of R5,599 a month. The agency serves its clients under its own brand and bills them a retail price it sets. The example is illustrative only, not a forecast: 20 clients at R1,500 a month bills R30,000, and after R5,599 the agency keeps a gross spread of R24,401 a month, before its own service costs. Encourage them to run the numbers with their real client count and prices. Referral commission for clients on their own plans is still to be decided.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don't tell. On the left is the FluxMuse website; top right is the pricing page in rand; below it are three screens from the WhatsApp checkout demo: browse the catalog, review the cart, and pay with a confirmation in the chat. If there's time and a good connection, open the live demo and walk the same three steps, but skip the payment-method screens, which still list a provider outside our five rails. Invite them to start a free trial during the call so they can click through their own workspace while you talk.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how an engagement runs. Week 0 is a discovery call on goals, audience, products and channels. In week 1 we audit channels and content, agree a pilot plan and set KPI goals. Setup takes one to two weeks: WhatsApp Business number, catalog, payment rail and content calendar. Then a pilot campaign, typically 60 days and up to 90, with weekly check-ins. We report against the goals monthly, and when the pilot ends you move onto a plan. Stress that KPI targets are goals we agree together, not promised results.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proving this in the market right now. Twelve brands in Gauteng are running FluxMuse from September to 30 November 2026, with a suggested mix of solo entrepreneurs, SMEs and agencies. We track brands onboarded, WhatsApp conversations, orders and GMV, content published, time saved, conversion uplift and NPS. Be honest: the pilot is underway and results arrive in December 2026. We don't share projected results, and we only publish figures with each brand's written consent. Offer to send them the results pack in December.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lead case study is a Gauteng braiding and hair studio: an owner-operator on Starter who already books clients on WhatsApp, with short booking cycles, so 60 days is enough to see a difference. In week one we set up a booking chatbot, a catalog with a deposit link through Yoco or Ozow, appointment reminders, multilingual before-and-after content, and a wa.me QR code for the salon mirror. Every result on this slide is a placeholder until the pilot ends, and the targets are goals, not outcomes. Replace this slide with the consented case study from December 2026.</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plans, priced in rand, all with a 14-day free trial and no card required. Starter at R499 a month suits solo founders: one brand and three channels. Growth at R1,999 is the most popular: three brands, 15 channels, e-commerce and WhatsApp commerce, USSD and integrations. Scale at R4,999 adds API access, white-label reports and priority support for ten brands. Agency at R7,999 brings full white-label, 50 sub-accounts and reseller billing. Annual billing is ten times monthly, so two months free. Enterprise is available on request.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same pricing as an editable table, useful when you tailor the deck. It shows monthly and annual prices, with annual at ten times monthly, and what each plan includes. The Founding Member row is the launch price for the first two monthly bills in the South African launch window: R349, R1,399 and R3,499. Agencies aren't offered Founding Member pricing; point them to partner wholesale pricing instead. If you edit any price, check it against the facts file first. Enterprise starts from R19,999 a month, and those conversations are inbound only.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launch offer is Founding Member. Sign up in the South African launch window, 1 December 2026 to 31 January 2027, and get 30% off your first two monthly bills: R349 on Starter, R1,399 on Growth or R3,499 on Scale, then list price. On an annual plan you get two extra months free. Founding Members also get a Founding Member badge and priority support. It comes on top of the 14-day free trial. Agencies aren't part of this offer; they get partner wholesale pricing instead. Don't promise how long the perks last.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matters when you're handling customer chats and payments. FluxMuse is POPIA, NDPR and GDPR ready. Fluxmuse Pty Ltd has passed Meta Business Verification and is a verified Meta Tech Provider, and WhatsApp runs on Meta's official Cloud API. Under the hood there's row-level security on every database table, encrypted tokens for connected accounts, audit export, and account deletion and data export. If they ask for a data processing agreement, a security questionnaire or certifications, don't improvise: note the request and follow up in writing.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what's coming — indicative, not a commitment. On markets: pawaPay and Fincra go live in September 2026, the Gauteng pilot runs to 30 November, and South Africa launches nationally with the Founding Member offer from 1 December. 2027 scales South Africa, with no new launches. Nigeria follows in February 2028, Kenya in April 2028 and Ghana in June 2028, then the rest of the rail-covered countries in US dollars from November 2028. Botswana and Namibia are coming soon. Those launch months are milestone-gated in the financial model, so they move with revenue. On product, in order: Meta permissions including Instagram, targeted for Q4 2026, then social adapters, business app integrations, then the Flux_Partner programme. Don't give dates beyond these.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one clear next step, and agree it before the call ends. Option one: book a 30-minute discovery call to map goals, channels and products. Option two: start the 14-day free trial today at fluxmuse.ai, with no card needed. Option three, for agencies: apply to become a partner and get the Agency tier at wholesale pricing. Share your contact details and the WhatsApp QR code so they can message you directly. Follow up within 24 hours with this deck and a short summary of what you agreed.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appendix is for questions and follow-up, not the main talk track. It covers local-currency pricing for Nigeria, Kenya and Ghana plus USD for the other rail-covered countries, the full matrix of payment rails by country, partner wholesale pricing where relevant, and the questions prospects ask most. Only show prices to prospects in countries we sell to. If someone is in a country without a payment rail, including Botswana and Namibia for now, share the waitlist link instead of prices: [[WAITLIST LINK]].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only for prospects in Nigeria, Kenya, Ghana or a USD market. It's one set of plans at fixed local price points, set at FX parity with the rand in early September 2026 and reviewed quarterly. Nigeria, Kenya and Ghana are billed in naira, shillings and cedis; the other 19 rail-covered countries are billed in US dollars. Annual plans are ten times monthly. The live website may still show FX-converted amounts, so quote this slide and say "billed in local currency". Everyone else joins the waitlist.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prices as the previous slide, as an editable table with annual prices added. Starter is ₦41,000, KSh 3,999, GH₵ 339 or $27 a month. Growth is ₦165,000, KSh 15,999, GH₵ 1,359 or $109. Scale is ₦413,000, KSh 39,999, GH₵ 3,399 or $269. Agency is ₦662,000, KSh 64,499, GH₵ 5,439 or $429. Enterprise starts from ₦1,650,000, KSh 161,000, GH₵ 13,600 or $1,099. If a prospect asks about another currency, the answer is USD, and never show these prices to a country we don't sell 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matrix shows which of the five rails covers each of the 23 countries, grouped by region, with the billing currency. South Africa has four rails: Yoco, Ozow, Paystack and Fincra. Nigeria, Ghana and Kenya each have Paystack, pawaPay and Fincra. Most other countries are covered by pawaPay mobile money and Fincra. South Sudan and Zimbabwe are Fincra payouts only, so sales there open once subscription collection is confirmed. Botswana and Namibia are coming soon with no rail yet, so they're waitlist only.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Partner wholesale pricing is the Agency tier at 30% off list, in every currency we bill: R5,599, ₦463,000, KSh 44,999, GH₵ 3,799 or $299 a month, and ten times that for a year. It includes everything in Agency: full white-label, 50 client sub-accounts, reseller billing, 80 channels, 500,000 AI credits and dedicated support. Launch offers don't stack with wholesale. The example is illustrative only: a partner sets their own retail price and carries their own delivery costs. Referral commission on clients' own plans is still a founder decision.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answers as written; they're checked against what the product does today. On data, stick to the controls listed and don't claim certifications we haven't confirmed. On WhatsApp numbers, explain that the number is connected through Meta's Embedded Signup and that we check it together during setup, because a number already used in the WhatsApp Business app may need extra steps. On payments, name only the five rails. On contracts, cancellation terms are still to be confirmed, so don't improvise; promise a written answer.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Languages: the Creator agent writes in isiZulu, Afrikaans, English, Pidgin, Swahili and more, so offer to generate a sample post in their language during the trial. Onboarding: typical setup takes one to two weeks, but Meta template approvals and catalog size can stretch that, so set expectations honestly. Shopify and WooCommerce users keep their store, and FluxMuse connects to it from the Growth plan. Availability: we sell in 23 countries with payment rails; anyone in Botswana, Namibia or another gated country gets the waitlist link, never prices.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image" Target="../media/image25.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9.png"/><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pic>
        <p:nvPicPr>
          <p:cNvPr id="2" name="g1|img|brand/fluxmuse-logo-dark.png" descr="FluxMuse logo"/>
          <p:cNvPicPr>
            <a:picLocks noChangeAspect="1"/>
          </p:cNvPicPr>
          <p:nvPr/>
        </p:nvPicPr>
        <p:blipFill>
          <a:blip r:embed="rId2"/>
          <a:srcRect/>
          <a:stretch>
            <a:fillRect/>
          </a:stretch>
        </p:blipFill>
        <p:spPr>
          <a:xfrm>
            <a:off x="548640" y="502920"/>
            <a:ext cx="2377440" cy="789290"/>
          </a:xfrm>
          <a:prstGeom prst="rect">
            <a:avLst/>
          </a:prstGeom>
        </p:spPr>
      </p:pic>
      <p:sp>
        <p:nvSpPr>
          <p:cNvPr id="3" name="g2|deco|"/>
          <p:cNvSpPr/>
          <p:nvPr/>
        </p:nvSpPr>
        <p:spPr>
          <a:xfrm>
            <a:off x="7818120" y="1143000"/>
            <a:ext cx="3931920" cy="3931920"/>
          </a:xfrm>
          <a:prstGeom prst="ellipse">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g2|img|brand/fluxmuse-icon-512.png" descr="FluxMuse Muse icon"/>
          <p:cNvPicPr>
            <a:picLocks noChangeAspect="1"/>
          </p:cNvPicPr>
          <p:nvPr/>
        </p:nvPicPr>
        <p:blipFill>
          <a:blip r:embed="rId3"/>
          <a:srcRect/>
          <a:stretch>
            <a:fillRect/>
          </a:stretch>
        </p:blipFill>
        <p:spPr>
          <a:xfrm>
            <a:off x="8183879" y="1508760"/>
            <a:ext cx="3200400" cy="3200400"/>
          </a:xfrm>
          <a:prstGeom prst="rect">
            <a:avLst/>
          </a:prstGeom>
        </p:spPr>
      </p:pic>
      <p:sp>
        <p:nvSpPr>
          <p:cNvPr id="5" name="g3|eyebrow|"/>
          <p:cNvSpPr txBox="1"/>
          <p:nvPr/>
        </p:nvSpPr>
        <p:spPr>
          <a:xfrm>
            <a:off x="548640" y="1874519"/>
            <a:ext cx="6949440" cy="274320"/>
          </a:xfrm>
          <a:prstGeom prst="rect">
            <a:avLst/>
          </a:prstGeom>
          <a:noFill/>
        </p:spPr>
        <p:txBody>
          <a:bodyPr wrap="square" lIns="0" rIns="0" tIns="0" bIns="0" anchor="t">
            <a:noAutofit/>
          </a:bodyPr>
          <a:lstStyle/>
          <a:p>
            <a:pPr algn="l"/>
            <a:r>
              <a:rPr sz="1300" b="1" spc="150">
                <a:solidFill>
                  <a:srgbClr val="FF6A00"/>
                </a:solidFill>
                <a:latin typeface="Inter"/>
              </a:rPr>
              <a:t>AI MARKETING &amp; WHATSAPP COMMERCE</a:t>
            </a:r>
          </a:p>
        </p:txBody>
      </p:sp>
      <p:sp>
        <p:nvSpPr>
          <p:cNvPr id="6" name="g4|title|"/>
          <p:cNvSpPr txBox="1"/>
          <p:nvPr/>
        </p:nvSpPr>
        <p:spPr>
          <a:xfrm>
            <a:off x="548640" y="2212848"/>
            <a:ext cx="7040880" cy="1737360"/>
          </a:xfrm>
          <a:prstGeom prst="rect">
            <a:avLst/>
          </a:prstGeom>
          <a:noFill/>
        </p:spPr>
        <p:txBody>
          <a:bodyPr wrap="square" lIns="0" rIns="0" tIns="0" bIns="0" anchor="t">
            <a:noAutofit/>
          </a:bodyPr>
          <a:lstStyle/>
          <a:p>
            <a:pPr algn="l">
              <a:lnSpc>
                <a:spcPct val="95000"/>
              </a:lnSpc>
            </a:pPr>
            <a:r>
              <a:rPr sz="3800" b="1">
                <a:solidFill>
                  <a:srgbClr val="FFFFFF"/>
                </a:solidFill>
                <a:latin typeface="Poppins"/>
              </a:rPr>
              <a:t>Your AI marketing team.</a:t>
            </a:r>
          </a:p>
          <a:p>
            <a:pPr algn="l">
              <a:lnSpc>
                <a:spcPct val="95000"/>
              </a:lnSpc>
            </a:pPr>
            <a:r>
              <a:rPr sz="3800" b="1">
                <a:solidFill>
                  <a:srgbClr val="FF6A00"/>
                </a:solidFill>
                <a:latin typeface="Poppins"/>
              </a:rPr>
              <a:t>Selling inside WhatsApp.</a:t>
            </a:r>
          </a:p>
        </p:txBody>
      </p:sp>
      <p:sp>
        <p:nvSpPr>
          <p:cNvPr id="7" name="g5|body|"/>
          <p:cNvSpPr txBox="1"/>
          <p:nvPr/>
        </p:nvSpPr>
        <p:spPr>
          <a:xfrm>
            <a:off x="548640" y="4023360"/>
            <a:ext cx="6583680" cy="731520"/>
          </a:xfrm>
          <a:prstGeom prst="rect">
            <a:avLst/>
          </a:prstGeom>
          <a:noFill/>
        </p:spPr>
        <p:txBody>
          <a:bodyPr wrap="square" lIns="0" rIns="0" tIns="0" bIns="0" anchor="t">
            <a:noAutofit/>
          </a:bodyPr>
          <a:lstStyle/>
          <a:p>
            <a:pPr algn="l"/>
            <a:r>
              <a:rPr sz="1800" b="0">
                <a:solidFill>
                  <a:srgbClr val="D5DADF"/>
                </a:solidFill>
                <a:latin typeface="Inter"/>
              </a:rPr>
              <a:t>Plan, create, publish and get paid in chat. Built for South African businesses.</a:t>
            </a:r>
          </a:p>
        </p:txBody>
      </p:sp>
      <p:sp>
        <p:nvSpPr>
          <p:cNvPr id="8" name="g6|placeholder|"/>
          <p:cNvSpPr txBox="1"/>
          <p:nvPr/>
        </p:nvSpPr>
        <p:spPr>
          <a:xfrm>
            <a:off x="548640" y="4983480"/>
            <a:ext cx="6766560" cy="384048"/>
          </a:xfrm>
          <a:prstGeom prst="rect">
            <a:avLst/>
          </a:prstGeom>
          <a:noFill/>
        </p:spPr>
        <p:txBody>
          <a:bodyPr wrap="square" lIns="0" rIns="0" tIns="0" bIns="0" anchor="t">
            <a:noAutofit/>
          </a:bodyPr>
          <a:lstStyle/>
          <a:p>
            <a:pPr algn="l"/>
            <a:r>
              <a:rPr sz="1800" b="0">
                <a:solidFill>
                  <a:srgbClr val="A7B0B8"/>
                </a:solidFill>
                <a:latin typeface="Inter"/>
              </a:rPr>
              <a:t>Prepared for </a:t>
            </a:r>
            <a:r>
              <a:rPr sz="1800" b="1">
                <a:solidFill>
                  <a:srgbClr val="FFFFFF"/>
                </a:solidFill>
                <a:latin typeface="Inter"/>
              </a:rPr>
              <a:t>[[PROSPECT NAME]]</a:t>
            </a:r>
          </a:p>
        </p:txBody>
      </p:sp>
      <p:sp>
        <p:nvSpPr>
          <p:cNvPr id="9" name="g6|placeholder|"/>
          <p:cNvSpPr txBox="1"/>
          <p:nvPr/>
        </p:nvSpPr>
        <p:spPr>
          <a:xfrm>
            <a:off x="548640" y="5413248"/>
            <a:ext cx="6766560" cy="329184"/>
          </a:xfrm>
          <a:prstGeom prst="rect">
            <a:avLst/>
          </a:prstGeom>
          <a:noFill/>
        </p:spPr>
        <p:txBody>
          <a:bodyPr wrap="square" lIns="0" rIns="0" tIns="0" bIns="0" anchor="t">
            <a:noAutofit/>
          </a:bodyPr>
          <a:lstStyle/>
          <a:p>
            <a:pPr algn="l"/>
            <a:r>
              <a:rPr sz="1500" b="0">
                <a:solidFill>
                  <a:srgbClr val="A7B0B8"/>
                </a:solidFill>
                <a:latin typeface="Inter"/>
              </a:rPr>
              <a:t>[[DATE]]  ·  [[PRESENTER]]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THE PROBLEM WE SOLVE</a:t>
            </a:r>
          </a:p>
        </p:txBody>
      </p:sp>
      <p:sp>
        <p:nvSpPr>
          <p:cNvPr id="3" name="hdr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The reality for South African businesses</a:t>
            </a:r>
          </a:p>
        </p:txBody>
      </p:sp>
      <p:pic>
        <p:nvPicPr>
          <p:cNvPr id="4" name="g8|img|infographics/problem-solution.png" descr="Today: disconnected tools, unaffordable retainers, payment-link drop-off and no local payment options. With FluxMuse: one AI team, plans from R499, checkout inside WhatsApp, 5 local rails."/>
          <p:cNvPicPr>
            <a:picLocks noChangeAspect="1"/>
          </p:cNvPicPr>
          <p:nvPr/>
        </p:nvPicPr>
        <p:blipFill>
          <a:blip r:embed="rId2"/>
          <a:srcRect l="3000" t="20000" r="3000" b="15000"/>
          <a:stretch>
            <a:fillRect/>
          </a:stretch>
        </p:blipFill>
        <p:spPr>
          <a:xfrm>
            <a:off x="548640" y="1701110"/>
            <a:ext cx="11094415" cy="4315314"/>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9|eyebrow|"/>
          <p:cNvSpPr txBox="1"/>
          <p:nvPr/>
        </p:nvSpPr>
        <p:spPr>
          <a:xfrm>
            <a:off x="548640" y="1234440"/>
            <a:ext cx="3931920" cy="274320"/>
          </a:xfrm>
          <a:prstGeom prst="rect">
            <a:avLst/>
          </a:prstGeom>
          <a:noFill/>
        </p:spPr>
        <p:txBody>
          <a:bodyPr wrap="square" lIns="0" rIns="0" tIns="0" bIns="0" anchor="t">
            <a:noAutofit/>
          </a:bodyPr>
          <a:lstStyle/>
          <a:p>
            <a:pPr algn="l"/>
            <a:r>
              <a:rPr sz="1200" b="1" spc="150">
                <a:solidFill>
                  <a:srgbClr val="FF6A00"/>
                </a:solidFill>
                <a:latin typeface="Inter"/>
              </a:rPr>
              <a:t>MEET FLUXMUSE</a:t>
            </a:r>
          </a:p>
        </p:txBody>
      </p:sp>
      <p:sp>
        <p:nvSpPr>
          <p:cNvPr id="3" name="hdr9|title|"/>
          <p:cNvSpPr txBox="1"/>
          <p:nvPr/>
        </p:nvSpPr>
        <p:spPr>
          <a:xfrm>
            <a:off x="548640" y="1572768"/>
            <a:ext cx="3931920" cy="2103120"/>
          </a:xfrm>
          <a:prstGeom prst="rect">
            <a:avLst/>
          </a:prstGeom>
          <a:noFill/>
        </p:spPr>
        <p:txBody>
          <a:bodyPr wrap="square" lIns="0" rIns="0" tIns="0" bIns="0" anchor="t">
            <a:noAutofit/>
          </a:bodyPr>
          <a:lstStyle/>
          <a:p>
            <a:pPr algn="l">
              <a:lnSpc>
                <a:spcPct val="95000"/>
              </a:lnSpc>
            </a:pPr>
            <a:r>
              <a:rPr sz="3400" b="1">
                <a:solidFill>
                  <a:srgbClr val="FFFFFF"/>
                </a:solidFill>
                <a:latin typeface="Poppins"/>
              </a:rPr>
              <a:t>One AI team for marketing and sales</a:t>
            </a:r>
          </a:p>
        </p:txBody>
      </p:sp>
      <p:sp>
        <p:nvSpPr>
          <p:cNvPr id="4" name="g10|body|"/>
          <p:cNvSpPr txBox="1"/>
          <p:nvPr/>
        </p:nvSpPr>
        <p:spPr>
          <a:xfrm>
            <a:off x="548640" y="3749039"/>
            <a:ext cx="3749039" cy="914400"/>
          </a:xfrm>
          <a:prstGeom prst="rect">
            <a:avLst/>
          </a:prstGeom>
          <a:noFill/>
        </p:spPr>
        <p:txBody>
          <a:bodyPr wrap="square" lIns="0" rIns="0" tIns="0" bIns="0" anchor="t">
            <a:noAutofit/>
          </a:bodyPr>
          <a:lstStyle/>
          <a:p>
            <a:pPr algn="l"/>
            <a:r>
              <a:rPr sz="1700" b="0">
                <a:solidFill>
                  <a:srgbClr val="D5DADF"/>
                </a:solidFill>
                <a:latin typeface="Inter"/>
              </a:rPr>
              <a:t>An AI marketing team and WhatsApp commerce platform, built for African SMBs.</a:t>
            </a:r>
          </a:p>
        </p:txBody>
      </p:sp>
      <p:sp>
        <p:nvSpPr>
          <p:cNvPr id="5" name="g11|chip|"/>
          <p:cNvSpPr/>
          <p:nvPr/>
        </p:nvSpPr>
        <p:spPr>
          <a:xfrm>
            <a:off x="548640" y="4892040"/>
            <a:ext cx="3611880" cy="475488"/>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11|chip|"/>
          <p:cNvSpPr txBox="1"/>
          <p:nvPr/>
        </p:nvSpPr>
        <p:spPr>
          <a:xfrm>
            <a:off x="548640" y="4892040"/>
            <a:ext cx="3611880" cy="475488"/>
          </a:xfrm>
          <a:prstGeom prst="rect">
            <a:avLst/>
          </a:prstGeom>
          <a:noFill/>
        </p:spPr>
        <p:txBody>
          <a:bodyPr wrap="square" lIns="0" rIns="0" tIns="0" bIns="0" anchor="ctr">
            <a:noAutofit/>
          </a:bodyPr>
          <a:lstStyle/>
          <a:p>
            <a:pPr algn="ctr"/>
            <a:r>
              <a:rPr sz="1400" b="1">
                <a:solidFill>
                  <a:srgbClr val="0F1419"/>
                </a:solidFill>
                <a:latin typeface="Inter"/>
              </a:rPr>
              <a:t>14-day free trial · no card required</a:t>
            </a:r>
          </a:p>
        </p:txBody>
      </p:sp>
      <p:pic>
        <p:nvPicPr>
          <p:cNvPr id="7" name="g12|img|screenshots/composites/hero-laptop-phone_night.png" descr="FluxMuse website on a laptop and an order confirmed inside a WhatsApp chat on a phone"/>
          <p:cNvPicPr>
            <a:picLocks noChangeAspect="1"/>
          </p:cNvPicPr>
          <p:nvPr/>
        </p:nvPicPr>
        <p:blipFill>
          <a:blip r:embed="rId2"/>
          <a:srcRect l="2000" t="9000" r="6000" b="2000"/>
          <a:stretch>
            <a:fillRect/>
          </a:stretch>
        </p:blipFill>
        <p:spPr>
          <a:xfrm>
            <a:off x="4617720" y="1453147"/>
            <a:ext cx="7178039" cy="3905985"/>
          </a:xfrm>
          <a:prstGeom prst="rect">
            <a:avLst/>
          </a:prstGeom>
        </p:spPr>
      </p:pic>
      <p:sp>
        <p:nvSpPr>
          <p:cNvPr id="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HOW FLUXMUSE WORKS</a:t>
            </a:r>
          </a:p>
        </p:txBody>
      </p:sp>
      <p:sp>
        <p:nvSpPr>
          <p:cNvPr id="3" name="hdr1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How it works: one loop, run by AI</a:t>
            </a:r>
          </a:p>
        </p:txBody>
      </p:sp>
      <p:pic>
        <p:nvPicPr>
          <p:cNvPr id="4" name="g14|img|infographics/how-fluxmuse-works.png" descr="Loop: Plan (Strategist), Create (Creator), Publish (Publisher), Sell (WhatsApp commerce), Learn (Analyst), with insights feeding the next plan"/>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AI WORKFORCE</a:t>
            </a:r>
          </a:p>
        </p:txBody>
      </p:sp>
      <p:sp>
        <p:nvSpPr>
          <p:cNvPr id="3" name="hdr1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Your AI marketing team</a:t>
            </a:r>
          </a:p>
        </p:txBody>
      </p:sp>
      <p:pic>
        <p:nvPicPr>
          <p:cNvPr id="4" name="g16|img|infographics/ai-agent-roster.png" descr="Four core agents: Strategist, Creator, Publisher, Analyst; plus 23 specialist Flux agents and an AI Agent Marketplace"/>
          <p:cNvPicPr>
            <a:picLocks noChangeAspect="1"/>
          </p:cNvPicPr>
          <p:nvPr/>
        </p:nvPicPr>
        <p:blipFill>
          <a:blip r:embed="rId2"/>
          <a:srcRect t="19000" b="2000"/>
          <a:stretch>
            <a:fillRect/>
          </a:stretch>
        </p:blipFill>
        <p:spPr>
          <a:xfrm>
            <a:off x="548640" y="1393727"/>
            <a:ext cx="11094415" cy="493008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WHATSAPP COMMERCE</a:t>
            </a:r>
          </a:p>
        </p:txBody>
      </p:sp>
      <p:sp>
        <p:nvSpPr>
          <p:cNvPr id="3" name="hdr1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Sell inside the chat</a:t>
            </a:r>
          </a:p>
        </p:txBody>
      </p:sp>
      <p:pic>
        <p:nvPicPr>
          <p:cNvPr id="4" name="g18|img|infographics/whatsapp-commerce-flow.png" descr="Discover, Chat, Catalog, Cart, Pay with Yoco, Ozow, Paystack, pawaPay or Fincra, Confirmed, Loyalty"/>
          <p:cNvPicPr>
            <a:picLocks noChangeAspect="1"/>
          </p:cNvPicPr>
          <p:nvPr/>
        </p:nvPicPr>
        <p:blipFill>
          <a:blip r:embed="rId2"/>
          <a:srcRect l="3500" t="27200" r="3500" b="37000"/>
          <a:stretch>
            <a:fillRect/>
          </a:stretch>
        </p:blipFill>
        <p:spPr>
          <a:xfrm>
            <a:off x="606042" y="1371600"/>
            <a:ext cx="10979611" cy="2377440"/>
          </a:xfrm>
          <a:prstGeom prst="rect">
            <a:avLst/>
          </a:prstGeom>
        </p:spPr>
      </p:pic>
      <p:pic>
        <p:nvPicPr>
          <p:cNvPr id="5" name="g19|img|screenshots/composites/checkout-in-chat-3-phones.png" descr="Three WhatsApp screens: browse the catalog, review the cart, pay and get confirmation"/>
          <p:cNvPicPr>
            <a:picLocks noChangeAspect="1"/>
          </p:cNvPicPr>
          <p:nvPr/>
        </p:nvPicPr>
        <p:blipFill>
          <a:blip r:embed="rId3"/>
          <a:srcRect l="12000" t="20500" r="12000" b="2000"/>
          <a:stretch>
            <a:fillRect/>
          </a:stretch>
        </p:blipFill>
        <p:spPr>
          <a:xfrm>
            <a:off x="548640" y="3886200"/>
            <a:ext cx="4272286" cy="2450592"/>
          </a:xfrm>
          <a:prstGeom prst="rect">
            <a:avLst/>
          </a:prstGeom>
        </p:spPr>
      </p:pic>
      <p:sp>
        <p:nvSpPr>
          <p:cNvPr id="6" name="g20|deco|"/>
          <p:cNvSpPr/>
          <p:nvPr/>
        </p:nvSpPr>
        <p:spPr>
          <a:xfrm>
            <a:off x="5559552" y="4023360"/>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g20|icon|refresh_deep.png" descr="refresh_deep"/>
          <p:cNvPicPr>
            <a:picLocks noChangeAspect="1"/>
          </p:cNvPicPr>
          <p:nvPr/>
        </p:nvPicPr>
        <p:blipFill>
          <a:blip r:embed="rId4"/>
          <a:srcRect/>
          <a:stretch>
            <a:fillRect/>
          </a:stretch>
        </p:blipFill>
        <p:spPr>
          <a:xfrm>
            <a:off x="5668182" y="4131990"/>
            <a:ext cx="276514" cy="276514"/>
          </a:xfrm>
          <a:prstGeom prst="rect">
            <a:avLst/>
          </a:prstGeom>
        </p:spPr>
      </p:pic>
      <p:sp>
        <p:nvSpPr>
          <p:cNvPr id="8" name="g20|body|"/>
          <p:cNvSpPr txBox="1"/>
          <p:nvPr/>
        </p:nvSpPr>
        <p:spPr>
          <a:xfrm>
            <a:off x="6217920" y="4023360"/>
            <a:ext cx="5422392" cy="493776"/>
          </a:xfrm>
          <a:prstGeom prst="rect">
            <a:avLst/>
          </a:prstGeom>
          <a:noFill/>
        </p:spPr>
        <p:txBody>
          <a:bodyPr wrap="square" lIns="0" rIns="0" tIns="0" bIns="0" anchor="ctr">
            <a:noAutofit/>
          </a:bodyPr>
          <a:lstStyle/>
          <a:p>
            <a:pPr algn="l"/>
            <a:r>
              <a:rPr sz="1600" b="0">
                <a:solidFill>
                  <a:srgbClr val="20242B"/>
                </a:solidFill>
                <a:latin typeface="Inter"/>
              </a:rPr>
              <a:t>Abandoned carts get an automatic recovery message.</a:t>
            </a:r>
          </a:p>
        </p:txBody>
      </p:sp>
      <p:sp>
        <p:nvSpPr>
          <p:cNvPr id="9" name="g21|deco|"/>
          <p:cNvSpPr/>
          <p:nvPr/>
        </p:nvSpPr>
        <p:spPr>
          <a:xfrm>
            <a:off x="5559552" y="4681728"/>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g21|icon|card_deep.png" descr="card_deep"/>
          <p:cNvPicPr>
            <a:picLocks noChangeAspect="1"/>
          </p:cNvPicPr>
          <p:nvPr/>
        </p:nvPicPr>
        <p:blipFill>
          <a:blip r:embed="rId5"/>
          <a:srcRect/>
          <a:stretch>
            <a:fillRect/>
          </a:stretch>
        </p:blipFill>
        <p:spPr>
          <a:xfrm>
            <a:off x="5668182" y="4790358"/>
            <a:ext cx="276514" cy="276514"/>
          </a:xfrm>
          <a:prstGeom prst="rect">
            <a:avLst/>
          </a:prstGeom>
        </p:spPr>
      </p:pic>
      <p:sp>
        <p:nvSpPr>
          <p:cNvPr id="11" name="g21|body|"/>
          <p:cNvSpPr txBox="1"/>
          <p:nvPr/>
        </p:nvSpPr>
        <p:spPr>
          <a:xfrm>
            <a:off x="6217920" y="4681728"/>
            <a:ext cx="5422392" cy="493776"/>
          </a:xfrm>
          <a:prstGeom prst="rect">
            <a:avLst/>
          </a:prstGeom>
          <a:noFill/>
        </p:spPr>
        <p:txBody>
          <a:bodyPr wrap="square" lIns="0" rIns="0" tIns="0" bIns="0" anchor="ctr">
            <a:noAutofit/>
          </a:bodyPr>
          <a:lstStyle/>
          <a:p>
            <a:pPr algn="l"/>
            <a:r>
              <a:rPr sz="1600" b="0">
                <a:solidFill>
                  <a:srgbClr val="20242B"/>
                </a:solidFill>
                <a:latin typeface="Inter"/>
              </a:rPr>
              <a:t>Buyers pay locally, with no redirect to a payment page.</a:t>
            </a:r>
          </a:p>
        </p:txBody>
      </p:sp>
      <p:sp>
        <p:nvSpPr>
          <p:cNvPr id="12" name="g22|deco|"/>
          <p:cNvSpPr/>
          <p:nvPr/>
        </p:nvSpPr>
        <p:spPr>
          <a:xfrm>
            <a:off x="5559552" y="5340096"/>
            <a:ext cx="493776" cy="493776"/>
          </a:xfrm>
          <a:prstGeom prst="ellipse">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g22|icon|users_deep.png" descr="users_deep"/>
          <p:cNvPicPr>
            <a:picLocks noChangeAspect="1"/>
          </p:cNvPicPr>
          <p:nvPr/>
        </p:nvPicPr>
        <p:blipFill>
          <a:blip r:embed="rId6"/>
          <a:srcRect/>
          <a:stretch>
            <a:fillRect/>
          </a:stretch>
        </p:blipFill>
        <p:spPr>
          <a:xfrm>
            <a:off x="5668182" y="5448726"/>
            <a:ext cx="276514" cy="276514"/>
          </a:xfrm>
          <a:prstGeom prst="rect">
            <a:avLst/>
          </a:prstGeom>
        </p:spPr>
      </p:pic>
      <p:sp>
        <p:nvSpPr>
          <p:cNvPr id="14" name="g22|body|"/>
          <p:cNvSpPr txBox="1"/>
          <p:nvPr/>
        </p:nvSpPr>
        <p:spPr>
          <a:xfrm>
            <a:off x="6217920" y="5340096"/>
            <a:ext cx="5422392" cy="493776"/>
          </a:xfrm>
          <a:prstGeom prst="rect">
            <a:avLst/>
          </a:prstGeom>
          <a:noFill/>
        </p:spPr>
        <p:txBody>
          <a:bodyPr wrap="square" lIns="0" rIns="0" tIns="0" bIns="0" anchor="ctr">
            <a:noAutofit/>
          </a:bodyPr>
          <a:lstStyle/>
          <a:p>
            <a:pPr algn="l"/>
            <a:r>
              <a:rPr sz="1600" b="0">
                <a:solidFill>
                  <a:srgbClr val="20242B"/>
                </a:solidFill>
                <a:latin typeface="Inter"/>
              </a:rPr>
              <a:t>Segments and retargeting start the next sale.</a:t>
            </a:r>
          </a:p>
        </p:txBody>
      </p:sp>
      <p:sp>
        <p:nvSpPr>
          <p:cNvPr id="15" name="g23|caption|"/>
          <p:cNvSpPr txBox="1"/>
          <p:nvPr/>
        </p:nvSpPr>
        <p:spPr>
          <a:xfrm>
            <a:off x="5577840" y="6053328"/>
            <a:ext cx="6035040" cy="237744"/>
          </a:xfrm>
          <a:prstGeom prst="rect">
            <a:avLst/>
          </a:prstGeom>
          <a:noFill/>
        </p:spPr>
        <p:txBody>
          <a:bodyPr wrap="square" lIns="0" rIns="0" tIns="0" bIns="0" anchor="t">
            <a:noAutofit/>
          </a:bodyPr>
          <a:lstStyle/>
          <a:p>
            <a:pPr algn="l"/>
            <a:r>
              <a:rPr sz="1100" b="0">
                <a:solidFill>
                  <a:srgbClr val="5B6670"/>
                </a:solidFill>
                <a:latin typeface="Inter"/>
              </a:rPr>
              <a:t>All five rails live September 2026 (pawaPay and Fincra from 14 Sept).</a:t>
            </a:r>
          </a:p>
        </p:txBody>
      </p:sp>
      <p:sp>
        <p:nvSpPr>
          <p:cNvPr id="1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4|eyebrow|"/>
          <p:cNvSpPr txBox="1"/>
          <p:nvPr/>
        </p:nvSpPr>
        <p:spPr>
          <a:xfrm>
            <a:off x="548640" y="384048"/>
            <a:ext cx="6949440" cy="237744"/>
          </a:xfrm>
          <a:prstGeom prst="rect">
            <a:avLst/>
          </a:prstGeom>
          <a:noFill/>
        </p:spPr>
        <p:txBody>
          <a:bodyPr wrap="square" lIns="0" rIns="0" tIns="0" bIns="0" anchor="t">
            <a:noAutofit/>
          </a:bodyPr>
          <a:lstStyle/>
          <a:p>
            <a:pPr algn="l"/>
            <a:r>
              <a:rPr sz="1200" b="1" spc="150">
                <a:solidFill>
                  <a:srgbClr val="C24E00"/>
                </a:solidFill>
                <a:latin typeface="Inter"/>
              </a:rPr>
              <a:t>CHANNELS</a:t>
            </a:r>
          </a:p>
        </p:txBody>
      </p:sp>
      <p:sp>
        <p:nvSpPr>
          <p:cNvPr id="3" name="hdr24|title|"/>
          <p:cNvSpPr txBox="1"/>
          <p:nvPr/>
        </p:nvSpPr>
        <p:spPr>
          <a:xfrm>
            <a:off x="548640" y="640080"/>
            <a:ext cx="6949440" cy="713232"/>
          </a:xfrm>
          <a:prstGeom prst="rect">
            <a:avLst/>
          </a:prstGeom>
          <a:noFill/>
        </p:spPr>
        <p:txBody>
          <a:bodyPr wrap="square" lIns="0" rIns="0" tIns="0" bIns="0" anchor="t">
            <a:noAutofit/>
          </a:bodyPr>
          <a:lstStyle/>
          <a:p>
            <a:pPr algn="l"/>
            <a:r>
              <a:rPr sz="3200" b="1">
                <a:solidFill>
                  <a:srgbClr val="20242B"/>
                </a:solidFill>
                <a:latin typeface="Poppins"/>
              </a:rPr>
              <a:t>One platform, every channel</a:t>
            </a:r>
          </a:p>
        </p:txBody>
      </p:sp>
      <p:sp>
        <p:nvSpPr>
          <p:cNvPr id="4" name="g25|caption|"/>
          <p:cNvSpPr txBox="1"/>
          <p:nvPr/>
        </p:nvSpPr>
        <p:spPr>
          <a:xfrm>
            <a:off x="7635240" y="676656"/>
            <a:ext cx="4005072" cy="566928"/>
          </a:xfrm>
          <a:prstGeom prst="rect">
            <a:avLst/>
          </a:prstGeom>
          <a:noFill/>
        </p:spPr>
        <p:txBody>
          <a:bodyPr wrap="square" lIns="0" rIns="0" tIns="0" bIns="0" anchor="t">
            <a:noAutofit/>
          </a:bodyPr>
          <a:lstStyle/>
          <a:p>
            <a:pPr algn="r"/>
            <a:r>
              <a:rPr sz="1100" b="0">
                <a:solidFill>
                  <a:srgbClr val="5B6670"/>
                </a:solidFill>
                <a:latin typeface="Inter"/>
              </a:rPr>
              <a:t>Instagram: in Meta review. TikTok, LinkedIn, X, YouTube, Threads and Pinterest: coming soon.</a:t>
            </a:r>
          </a:p>
        </p:txBody>
      </p:sp>
      <p:pic>
        <p:nvPicPr>
          <p:cNvPr id="5" name="g26|img|infographics/omnichannel-hub.png" descr="FluxMuse AI team connected to WhatsApp, Facebook Pages, Messenger, email, SMS, USSD, website chat widget, landing pages and link-in-bio; Instagram in Meta review"/>
          <p:cNvPicPr>
            <a:picLocks noChangeAspect="1"/>
          </p:cNvPicPr>
          <p:nvPr/>
        </p:nvPicPr>
        <p:blipFill>
          <a:blip r:embed="rId2"/>
          <a:srcRect t="19500"/>
          <a:stretch>
            <a:fillRect/>
          </a:stretch>
        </p:blipFill>
        <p:spPr>
          <a:xfrm>
            <a:off x="643524" y="1389888"/>
            <a:ext cx="10904645" cy="4937760"/>
          </a:xfrm>
          <a:prstGeom prst="rect">
            <a:avLst/>
          </a:prstGeom>
        </p:spPr>
      </p:pic>
      <p:sp>
        <p:nvSpPr>
          <p:cNvPr id="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2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PAYMENTS COVERAGE</a:t>
            </a:r>
          </a:p>
        </p:txBody>
      </p:sp>
      <p:sp>
        <p:nvSpPr>
          <p:cNvPr id="3" name="hdr2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Get paid locally</a:t>
            </a:r>
          </a:p>
        </p:txBody>
      </p:sp>
      <p:pic>
        <p:nvPicPr>
          <p:cNvPr id="4" name="g28|img|infographics/payment-coverage-map.png" descr="Tile map of 23 African countries covered by 5 live payment rails, with Botswana and Namibia coming soon"/>
          <p:cNvPicPr>
            <a:picLocks noChangeAspect="1"/>
          </p:cNvPicPr>
          <p:nvPr/>
        </p:nvPicPr>
        <p:blipFill>
          <a:blip r:embed="rId2"/>
          <a:srcRect t="20500"/>
          <a:stretch>
            <a:fillRect/>
          </a:stretch>
        </p:blipFill>
        <p:spPr>
          <a:xfrm>
            <a:off x="574941" y="1389888"/>
            <a:ext cx="11041811"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29|eyebrow|"/>
          <p:cNvSpPr txBox="1"/>
          <p:nvPr/>
        </p:nvSpPr>
        <p:spPr>
          <a:xfrm>
            <a:off x="548640" y="777240"/>
            <a:ext cx="11094415" cy="274320"/>
          </a:xfrm>
          <a:prstGeom prst="rect">
            <a:avLst/>
          </a:prstGeom>
          <a:noFill/>
        </p:spPr>
        <p:txBody>
          <a:bodyPr wrap="square" lIns="0" rIns="0" tIns="0" bIns="0" anchor="t">
            <a:noAutofit/>
          </a:bodyPr>
          <a:lstStyle/>
          <a:p>
            <a:pPr algn="l"/>
            <a:r>
              <a:rPr sz="1200" b="1" spc="150">
                <a:solidFill>
                  <a:srgbClr val="FF6A00"/>
                </a:solidFill>
                <a:latin typeface="Inter"/>
              </a:rPr>
              <a:t>BUILT FOR YOU</a:t>
            </a:r>
          </a:p>
        </p:txBody>
      </p:sp>
      <p:sp>
        <p:nvSpPr>
          <p:cNvPr id="3" name="hdr29|title|"/>
          <p:cNvSpPr txBox="1"/>
          <p:nvPr/>
        </p:nvSpPr>
        <p:spPr>
          <a:xfrm>
            <a:off x="548640" y="1051560"/>
            <a:ext cx="11094415" cy="731520"/>
          </a:xfrm>
          <a:prstGeom prst="rect">
            <a:avLst/>
          </a:prstGeom>
          <a:noFill/>
        </p:spPr>
        <p:txBody>
          <a:bodyPr wrap="square" lIns="0" rIns="0" tIns="0" bIns="0" anchor="t">
            <a:noAutofit/>
          </a:bodyPr>
          <a:lstStyle/>
          <a:p>
            <a:pPr algn="l"/>
            <a:r>
              <a:rPr sz="3600" b="1">
                <a:solidFill>
                  <a:srgbClr val="FFFFFF"/>
                </a:solidFill>
                <a:latin typeface="Poppins"/>
              </a:rPr>
              <a:t>Built for businesses like yours</a:t>
            </a:r>
          </a:p>
        </p:txBody>
      </p:sp>
      <p:sp>
        <p:nvSpPr>
          <p:cNvPr id="4" name="g30|body|"/>
          <p:cNvSpPr txBox="1"/>
          <p:nvPr/>
        </p:nvSpPr>
        <p:spPr>
          <a:xfrm>
            <a:off x="548640" y="1810512"/>
            <a:ext cx="11094415" cy="365760"/>
          </a:xfrm>
          <a:prstGeom prst="rect">
            <a:avLst/>
          </a:prstGeom>
          <a:noFill/>
        </p:spPr>
        <p:txBody>
          <a:bodyPr wrap="square" lIns="0" rIns="0" tIns="0" bIns="0" anchor="t">
            <a:noAutofit/>
          </a:bodyPr>
          <a:lstStyle/>
          <a:p>
            <a:pPr algn="l"/>
            <a:r>
              <a:rPr sz="1800" b="0">
                <a:solidFill>
                  <a:srgbClr val="A7B0B8"/>
                </a:solidFill>
                <a:latin typeface="Inter"/>
              </a:rPr>
              <a:t>South Africa first.</a:t>
            </a:r>
          </a:p>
        </p:txBody>
      </p:sp>
      <p:sp>
        <p:nvSpPr>
          <p:cNvPr id="5" name="seg31|card|"/>
          <p:cNvSpPr/>
          <p:nvPr/>
        </p:nvSpPr>
        <p:spPr>
          <a:xfrm>
            <a:off x="548640" y="2606040"/>
            <a:ext cx="3511296" cy="3383280"/>
          </a:xfrm>
          <a:prstGeom prst="roundRect">
            <a:avLst>
              <a:gd name="adj" fmla="val 540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eg31|deco|"/>
          <p:cNvSpPr/>
          <p:nvPr/>
        </p:nvSpPr>
        <p:spPr>
          <a:xfrm>
            <a:off x="868680" y="2926079"/>
            <a:ext cx="822960" cy="822960"/>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seg31|icon|users_ink.png" descr="users_ink"/>
          <p:cNvPicPr>
            <a:picLocks noChangeAspect="1"/>
          </p:cNvPicPr>
          <p:nvPr/>
        </p:nvPicPr>
        <p:blipFill>
          <a:blip r:embed="rId2"/>
          <a:srcRect/>
          <a:stretch>
            <a:fillRect/>
          </a:stretch>
        </p:blipFill>
        <p:spPr>
          <a:xfrm>
            <a:off x="1049731" y="3107131"/>
            <a:ext cx="460857" cy="460857"/>
          </a:xfrm>
          <a:prstGeom prst="rect">
            <a:avLst/>
          </a:prstGeom>
        </p:spPr>
      </p:pic>
      <p:sp>
        <p:nvSpPr>
          <p:cNvPr id="8" name="seg31|card|"/>
          <p:cNvSpPr txBox="1"/>
          <p:nvPr/>
        </p:nvSpPr>
        <p:spPr>
          <a:xfrm>
            <a:off x="868680" y="3886200"/>
            <a:ext cx="2871215" cy="822960"/>
          </a:xfrm>
          <a:prstGeom prst="rect">
            <a:avLst/>
          </a:prstGeom>
          <a:noFill/>
        </p:spPr>
        <p:txBody>
          <a:bodyPr wrap="square" lIns="0" rIns="0" tIns="0" bIns="0" anchor="b">
            <a:noAutofit/>
          </a:bodyPr>
          <a:lstStyle/>
          <a:p>
            <a:pPr algn="l">
              <a:lnSpc>
                <a:spcPct val="95000"/>
              </a:lnSpc>
            </a:pPr>
            <a:r>
              <a:rPr sz="2200" b="1">
                <a:solidFill>
                  <a:srgbClr val="FFFFFF"/>
                </a:solidFill>
                <a:latin typeface="Poppins"/>
              </a:rPr>
              <a:t>Solo entrepreneurs</a:t>
            </a:r>
          </a:p>
        </p:txBody>
      </p:sp>
      <p:sp>
        <p:nvSpPr>
          <p:cNvPr id="9" name="seg31|card|"/>
          <p:cNvSpPr txBox="1"/>
          <p:nvPr/>
        </p:nvSpPr>
        <p:spPr>
          <a:xfrm>
            <a:off x="868680" y="4800600"/>
            <a:ext cx="2871215" cy="365760"/>
          </a:xfrm>
          <a:prstGeom prst="rect">
            <a:avLst/>
          </a:prstGeom>
          <a:noFill/>
        </p:spPr>
        <p:txBody>
          <a:bodyPr wrap="square" lIns="0" rIns="0" tIns="0" bIns="0" anchor="t">
            <a:noAutofit/>
          </a:bodyPr>
          <a:lstStyle/>
          <a:p>
            <a:pPr algn="l"/>
            <a:r>
              <a:rPr sz="1600" b="0">
                <a:solidFill>
                  <a:srgbClr val="A7B0B8"/>
                </a:solidFill>
                <a:latin typeface="Inter"/>
              </a:rPr>
              <a:t>Founder-run, 1–5 people</a:t>
            </a:r>
          </a:p>
        </p:txBody>
      </p:sp>
      <p:sp>
        <p:nvSpPr>
          <p:cNvPr id="10" name="seg31|card|"/>
          <p:cNvSpPr txBox="1"/>
          <p:nvPr/>
        </p:nvSpPr>
        <p:spPr>
          <a:xfrm>
            <a:off x="868680" y="5303520"/>
            <a:ext cx="2871215" cy="411480"/>
          </a:xfrm>
          <a:prstGeom prst="rect">
            <a:avLst/>
          </a:prstGeom>
          <a:noFill/>
        </p:spPr>
        <p:txBody>
          <a:bodyPr wrap="square" lIns="0" rIns="0" tIns="0" bIns="0" anchor="t">
            <a:noAutofit/>
          </a:bodyPr>
          <a:lstStyle/>
          <a:p>
            <a:pPr algn="l"/>
            <a:r>
              <a:rPr sz="1800" b="1">
                <a:solidFill>
                  <a:srgbClr val="FF6A00"/>
                </a:solidFill>
                <a:latin typeface="Inter"/>
              </a:rPr>
              <a:t>Starter · R499/mo</a:t>
            </a:r>
          </a:p>
        </p:txBody>
      </p:sp>
      <p:sp>
        <p:nvSpPr>
          <p:cNvPr id="11" name="seg32|card|"/>
          <p:cNvSpPr/>
          <p:nvPr/>
        </p:nvSpPr>
        <p:spPr>
          <a:xfrm>
            <a:off x="4340199" y="2606040"/>
            <a:ext cx="3511296" cy="3383280"/>
          </a:xfrm>
          <a:prstGeom prst="roundRect">
            <a:avLst>
              <a:gd name="adj" fmla="val 540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eg32|deco|"/>
          <p:cNvSpPr/>
          <p:nvPr/>
        </p:nvSpPr>
        <p:spPr>
          <a:xfrm>
            <a:off x="4660239" y="2926079"/>
            <a:ext cx="822960" cy="822960"/>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seg32|icon|briefcase_ink.png" descr="briefcase_ink"/>
          <p:cNvPicPr>
            <a:picLocks noChangeAspect="1"/>
          </p:cNvPicPr>
          <p:nvPr/>
        </p:nvPicPr>
        <p:blipFill>
          <a:blip r:embed="rId3"/>
          <a:srcRect/>
          <a:stretch>
            <a:fillRect/>
          </a:stretch>
        </p:blipFill>
        <p:spPr>
          <a:xfrm>
            <a:off x="4841290" y="3107131"/>
            <a:ext cx="460857" cy="460857"/>
          </a:xfrm>
          <a:prstGeom prst="rect">
            <a:avLst/>
          </a:prstGeom>
        </p:spPr>
      </p:pic>
      <p:sp>
        <p:nvSpPr>
          <p:cNvPr id="14" name="seg32|card|"/>
          <p:cNvSpPr txBox="1"/>
          <p:nvPr/>
        </p:nvSpPr>
        <p:spPr>
          <a:xfrm>
            <a:off x="4660239" y="3886200"/>
            <a:ext cx="2871215" cy="822960"/>
          </a:xfrm>
          <a:prstGeom prst="rect">
            <a:avLst/>
          </a:prstGeom>
          <a:noFill/>
        </p:spPr>
        <p:txBody>
          <a:bodyPr wrap="square" lIns="0" rIns="0" tIns="0" bIns="0" anchor="b">
            <a:noAutofit/>
          </a:bodyPr>
          <a:lstStyle/>
          <a:p>
            <a:pPr algn="l">
              <a:lnSpc>
                <a:spcPct val="95000"/>
              </a:lnSpc>
            </a:pPr>
            <a:r>
              <a:rPr sz="2200" b="1">
                <a:solidFill>
                  <a:srgbClr val="FFFFFF"/>
                </a:solidFill>
                <a:latin typeface="Poppins"/>
              </a:rPr>
              <a:t>SMEs</a:t>
            </a:r>
          </a:p>
        </p:txBody>
      </p:sp>
      <p:sp>
        <p:nvSpPr>
          <p:cNvPr id="15" name="seg32|card|"/>
          <p:cNvSpPr txBox="1"/>
          <p:nvPr/>
        </p:nvSpPr>
        <p:spPr>
          <a:xfrm>
            <a:off x="4660239" y="4800600"/>
            <a:ext cx="2871215" cy="365760"/>
          </a:xfrm>
          <a:prstGeom prst="rect">
            <a:avLst/>
          </a:prstGeom>
          <a:noFill/>
        </p:spPr>
        <p:txBody>
          <a:bodyPr wrap="square" lIns="0" rIns="0" tIns="0" bIns="0" anchor="t">
            <a:noAutofit/>
          </a:bodyPr>
          <a:lstStyle/>
          <a:p>
            <a:pPr algn="l"/>
            <a:r>
              <a:rPr sz="1600" b="0">
                <a:solidFill>
                  <a:srgbClr val="A7B0B8"/>
                </a:solidFill>
                <a:latin typeface="Inter"/>
              </a:rPr>
              <a:t>5–200 staff</a:t>
            </a:r>
          </a:p>
        </p:txBody>
      </p:sp>
      <p:sp>
        <p:nvSpPr>
          <p:cNvPr id="16" name="seg32|card|"/>
          <p:cNvSpPr txBox="1"/>
          <p:nvPr/>
        </p:nvSpPr>
        <p:spPr>
          <a:xfrm>
            <a:off x="4660239" y="5303520"/>
            <a:ext cx="2871215" cy="411480"/>
          </a:xfrm>
          <a:prstGeom prst="rect">
            <a:avLst/>
          </a:prstGeom>
          <a:noFill/>
        </p:spPr>
        <p:txBody>
          <a:bodyPr wrap="square" lIns="0" rIns="0" tIns="0" bIns="0" anchor="t">
            <a:noAutofit/>
          </a:bodyPr>
          <a:lstStyle/>
          <a:p>
            <a:pPr algn="l"/>
            <a:r>
              <a:rPr sz="1800" b="1">
                <a:solidFill>
                  <a:srgbClr val="FF6A00"/>
                </a:solidFill>
                <a:latin typeface="Inter"/>
              </a:rPr>
              <a:t>Growth · R1,999/mo</a:t>
            </a:r>
          </a:p>
        </p:txBody>
      </p:sp>
      <p:sp>
        <p:nvSpPr>
          <p:cNvPr id="17" name="seg33|card|"/>
          <p:cNvSpPr/>
          <p:nvPr/>
        </p:nvSpPr>
        <p:spPr>
          <a:xfrm>
            <a:off x="8131759" y="2606040"/>
            <a:ext cx="3511296" cy="3383280"/>
          </a:xfrm>
          <a:prstGeom prst="roundRect">
            <a:avLst>
              <a:gd name="adj" fmla="val 5405"/>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seg33|deco|"/>
          <p:cNvSpPr/>
          <p:nvPr/>
        </p:nvSpPr>
        <p:spPr>
          <a:xfrm>
            <a:off x="8451799" y="2926079"/>
            <a:ext cx="822960" cy="822960"/>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seg33|icon|layers_ink.png" descr="layers_ink"/>
          <p:cNvPicPr>
            <a:picLocks noChangeAspect="1"/>
          </p:cNvPicPr>
          <p:nvPr/>
        </p:nvPicPr>
        <p:blipFill>
          <a:blip r:embed="rId4"/>
          <a:srcRect/>
          <a:stretch>
            <a:fillRect/>
          </a:stretch>
        </p:blipFill>
        <p:spPr>
          <a:xfrm>
            <a:off x="8632850" y="3107131"/>
            <a:ext cx="460857" cy="460857"/>
          </a:xfrm>
          <a:prstGeom prst="rect">
            <a:avLst/>
          </a:prstGeom>
        </p:spPr>
      </p:pic>
      <p:sp>
        <p:nvSpPr>
          <p:cNvPr id="20" name="seg33|card|"/>
          <p:cNvSpPr txBox="1"/>
          <p:nvPr/>
        </p:nvSpPr>
        <p:spPr>
          <a:xfrm>
            <a:off x="8451799" y="3886200"/>
            <a:ext cx="2871215" cy="822960"/>
          </a:xfrm>
          <a:prstGeom prst="rect">
            <a:avLst/>
          </a:prstGeom>
          <a:noFill/>
        </p:spPr>
        <p:txBody>
          <a:bodyPr wrap="square" lIns="0" rIns="0" tIns="0" bIns="0" anchor="b">
            <a:noAutofit/>
          </a:bodyPr>
          <a:lstStyle/>
          <a:p>
            <a:pPr algn="l">
              <a:lnSpc>
                <a:spcPct val="95000"/>
              </a:lnSpc>
            </a:pPr>
            <a:r>
              <a:rPr sz="2200" b="1">
                <a:solidFill>
                  <a:srgbClr val="FFFFFF"/>
                </a:solidFill>
                <a:latin typeface="Poppins"/>
              </a:rPr>
              <a:t>Agencies &amp; partners</a:t>
            </a:r>
          </a:p>
        </p:txBody>
      </p:sp>
      <p:sp>
        <p:nvSpPr>
          <p:cNvPr id="21" name="seg33|card|"/>
          <p:cNvSpPr txBox="1"/>
          <p:nvPr/>
        </p:nvSpPr>
        <p:spPr>
          <a:xfrm>
            <a:off x="8451799" y="4800600"/>
            <a:ext cx="2871215" cy="365760"/>
          </a:xfrm>
          <a:prstGeom prst="rect">
            <a:avLst/>
          </a:prstGeom>
          <a:noFill/>
        </p:spPr>
        <p:txBody>
          <a:bodyPr wrap="square" lIns="0" rIns="0" tIns="0" bIns="0" anchor="t">
            <a:noAutofit/>
          </a:bodyPr>
          <a:lstStyle/>
          <a:p>
            <a:pPr algn="l"/>
            <a:r>
              <a:rPr sz="1600" b="0">
                <a:solidFill>
                  <a:srgbClr val="A7B0B8"/>
                </a:solidFill>
                <a:latin typeface="Inter"/>
              </a:rPr>
              <a:t>Managing 5–50 clients</a:t>
            </a:r>
          </a:p>
        </p:txBody>
      </p:sp>
      <p:sp>
        <p:nvSpPr>
          <p:cNvPr id="22" name="seg33|card|"/>
          <p:cNvSpPr txBox="1"/>
          <p:nvPr/>
        </p:nvSpPr>
        <p:spPr>
          <a:xfrm>
            <a:off x="8451799" y="5303520"/>
            <a:ext cx="2871215" cy="411480"/>
          </a:xfrm>
          <a:prstGeom prst="rect">
            <a:avLst/>
          </a:prstGeom>
          <a:noFill/>
        </p:spPr>
        <p:txBody>
          <a:bodyPr wrap="square" lIns="0" rIns="0" tIns="0" bIns="0" anchor="t">
            <a:noAutofit/>
          </a:bodyPr>
          <a:lstStyle/>
          <a:p>
            <a:pPr algn="l"/>
            <a:r>
              <a:rPr sz="1800" b="1">
                <a:solidFill>
                  <a:srgbClr val="FF6A00"/>
                </a:solidFill>
                <a:latin typeface="Inter"/>
              </a:rPr>
              <a:t>Wholesale · R5,599/mo</a:t>
            </a:r>
          </a:p>
        </p:txBody>
      </p:sp>
      <p:sp>
        <p:nvSpPr>
          <p:cNvPr id="23"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4"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SOLO ENTREPRENEURS</a:t>
            </a:r>
          </a:p>
        </p:txBody>
      </p:sp>
      <p:sp>
        <p:nvSpPr>
          <p:cNvPr id="3" name="hdr3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Solo entrepreneurs: 1–5 people</a:t>
            </a:r>
          </a:p>
        </p:txBody>
      </p:sp>
      <p:pic>
        <p:nvPicPr>
          <p:cNvPr id="4" name="g35|img|infographics/segment-solo.png" descr="Solo entrepreneurs: pains, FluxMuse answers, Starter plan price and Founding Member pric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6|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SMES</a:t>
            </a:r>
          </a:p>
        </p:txBody>
      </p:sp>
      <p:sp>
        <p:nvSpPr>
          <p:cNvPr id="3" name="hdr36|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SMEs: 5–200 staff</a:t>
            </a:r>
          </a:p>
        </p:txBody>
      </p:sp>
      <p:pic>
        <p:nvPicPr>
          <p:cNvPr id="4" name="g37|img|infographics/segment-sme.png" descr="SMEs: pains, FluxMuse answers, Growth plan price and Founding Member pric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3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SEGMENT · AGENCIES &amp; PARTNERS</a:t>
            </a:r>
          </a:p>
        </p:txBody>
      </p:sp>
      <p:sp>
        <p:nvSpPr>
          <p:cNvPr id="3" name="hdr3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Agencies: serve more clients, your brand</a:t>
            </a:r>
          </a:p>
        </p:txBody>
      </p:sp>
      <p:pic>
        <p:nvPicPr>
          <p:cNvPr id="4" name="g39|img|infographics/segment-agency.png" descr="Agencies: pains, FluxMuse answers, Agency tier and partner wholesale price"/>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40|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AGENCY PARTNER MODEL · ILLUSTRATIVE ECONOMICS</a:t>
            </a:r>
          </a:p>
        </p:txBody>
      </p:sp>
      <p:sp>
        <p:nvSpPr>
          <p:cNvPr id="3" name="hdr40|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Resell FluxMuse under your own brand</a:t>
            </a:r>
          </a:p>
        </p:txBody>
      </p:sp>
      <p:pic>
        <p:nvPicPr>
          <p:cNvPr id="4" name="g41|img|infographics/agency-partner-model.png" descr="FluxMuse to agency on the wholesale Agency tier to clients at a retail price the agency sets; illustrative example of 20 clients"/>
          <p:cNvPicPr>
            <a:picLocks noChangeAspect="1"/>
          </p:cNvPicPr>
          <p:nvPr/>
        </p:nvPicPr>
        <p:blipFill>
          <a:blip r:embed="rId2"/>
          <a:srcRect t="19500"/>
          <a:stretch>
            <a:fillRect/>
          </a:stretch>
        </p:blipFill>
        <p:spPr>
          <a:xfrm>
            <a:off x="643524" y="1389888"/>
            <a:ext cx="10904645"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4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PRODUCT</a:t>
            </a:r>
          </a:p>
        </p:txBody>
      </p:sp>
      <p:sp>
        <p:nvSpPr>
          <p:cNvPr id="3" name="hdr4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See it in action</a:t>
            </a:r>
          </a:p>
        </p:txBody>
      </p:sp>
      <p:pic>
        <p:nvPicPr>
          <p:cNvPr id="4" name="g43|img|screenshots/composites/laptop-home.png" descr="FluxMuse website home page on a laptop"/>
          <p:cNvPicPr>
            <a:picLocks noChangeAspect="1"/>
          </p:cNvPicPr>
          <p:nvPr/>
        </p:nvPicPr>
        <p:blipFill>
          <a:blip r:embed="rId2"/>
          <a:srcRect l="3000" t="8000" r="3000" b="8000"/>
          <a:stretch>
            <a:fillRect/>
          </a:stretch>
        </p:blipFill>
        <p:spPr>
          <a:xfrm>
            <a:off x="411480" y="1600200"/>
            <a:ext cx="6355080" cy="3722905"/>
          </a:xfrm>
          <a:prstGeom prst="rect">
            <a:avLst/>
          </a:prstGeom>
        </p:spPr>
      </p:pic>
      <p:sp>
        <p:nvSpPr>
          <p:cNvPr id="5" name="g44|caption|"/>
          <p:cNvSpPr txBox="1"/>
          <p:nvPr/>
        </p:nvSpPr>
        <p:spPr>
          <a:xfrm>
            <a:off x="548640" y="5532120"/>
            <a:ext cx="5943600" cy="256032"/>
          </a:xfrm>
          <a:prstGeom prst="rect">
            <a:avLst/>
          </a:prstGeom>
          <a:noFill/>
        </p:spPr>
        <p:txBody>
          <a:bodyPr wrap="square" lIns="0" rIns="0" tIns="0" bIns="0" anchor="t">
            <a:noAutofit/>
          </a:bodyPr>
          <a:lstStyle/>
          <a:p>
            <a:pPr algn="l"/>
            <a:r>
              <a:rPr sz="1100" b="0">
                <a:solidFill>
                  <a:srgbClr val="5B6670"/>
                </a:solidFill>
                <a:latin typeface="Inter"/>
              </a:rPr>
              <a:t>fluxmuse.ai home page</a:t>
            </a:r>
          </a:p>
        </p:txBody>
      </p:sp>
      <p:pic>
        <p:nvPicPr>
          <p:cNvPr id="6" name="g45|img|screenshots/composites/browser-pricing.png" descr="FluxMuse pricing page in rand: Starter R499, Growth R1,999, Scale R4,999, Agency R7,999"/>
          <p:cNvPicPr>
            <a:picLocks noChangeAspect="1"/>
          </p:cNvPicPr>
          <p:nvPr/>
        </p:nvPicPr>
        <p:blipFill>
          <a:blip r:embed="rId3"/>
          <a:srcRect l="9000" t="37500" r="9000" b="39000"/>
          <a:stretch>
            <a:fillRect/>
          </a:stretch>
        </p:blipFill>
        <p:spPr>
          <a:xfrm>
            <a:off x="7040880" y="1481328"/>
            <a:ext cx="4599432" cy="856784"/>
          </a:xfrm>
          <a:prstGeom prst="roundRect">
            <a:avLst/>
          </a:prstGeom>
        </p:spPr>
      </p:pic>
      <p:sp>
        <p:nvSpPr>
          <p:cNvPr id="7" name="g46|caption|"/>
          <p:cNvSpPr txBox="1"/>
          <p:nvPr/>
        </p:nvSpPr>
        <p:spPr>
          <a:xfrm>
            <a:off x="7040880" y="2432304"/>
            <a:ext cx="4599432" cy="256032"/>
          </a:xfrm>
          <a:prstGeom prst="rect">
            <a:avLst/>
          </a:prstGeom>
          <a:noFill/>
        </p:spPr>
        <p:txBody>
          <a:bodyPr wrap="square" lIns="0" rIns="0" tIns="0" bIns="0" anchor="t">
            <a:noAutofit/>
          </a:bodyPr>
          <a:lstStyle/>
          <a:p>
            <a:pPr algn="l"/>
            <a:r>
              <a:rPr sz="1100" b="0">
                <a:solidFill>
                  <a:srgbClr val="5B6670"/>
                </a:solidFill>
                <a:latin typeface="Inter"/>
              </a:rPr>
              <a:t>Pricing page, in rand</a:t>
            </a:r>
          </a:p>
        </p:txBody>
      </p:sp>
      <p:pic>
        <p:nvPicPr>
          <p:cNvPr id="8" name="g48|img|screenshots/composites/phone-demo-step-01-catalog.png" descr="WhatsApp checkout demo, step 1 · Catalog"/>
          <p:cNvPicPr>
            <a:picLocks noChangeAspect="1"/>
          </p:cNvPicPr>
          <p:nvPr/>
        </p:nvPicPr>
        <p:blipFill>
          <a:blip r:embed="rId4"/>
          <a:srcRect l="6000" t="3000" r="6000" b="3000"/>
          <a:stretch>
            <a:fillRect/>
          </a:stretch>
        </p:blipFill>
        <p:spPr>
          <a:xfrm>
            <a:off x="7040880" y="2834640"/>
            <a:ext cx="1399032" cy="2828724"/>
          </a:xfrm>
          <a:prstGeom prst="rect">
            <a:avLst/>
          </a:prstGeom>
        </p:spPr>
      </p:pic>
      <p:sp>
        <p:nvSpPr>
          <p:cNvPr id="9" name="g47|caption|"/>
          <p:cNvSpPr txBox="1"/>
          <p:nvPr/>
        </p:nvSpPr>
        <p:spPr>
          <a:xfrm>
            <a:off x="7040880" y="5760720"/>
            <a:ext cx="1399032" cy="256032"/>
          </a:xfrm>
          <a:prstGeom prst="rect">
            <a:avLst/>
          </a:prstGeom>
          <a:noFill/>
        </p:spPr>
        <p:txBody>
          <a:bodyPr wrap="square" lIns="0" rIns="0" tIns="0" bIns="0" anchor="t">
            <a:noAutofit/>
          </a:bodyPr>
          <a:lstStyle/>
          <a:p>
            <a:pPr algn="ctr"/>
            <a:r>
              <a:rPr sz="1100" b="0">
                <a:solidFill>
                  <a:srgbClr val="5B6670"/>
                </a:solidFill>
                <a:latin typeface="Inter"/>
              </a:rPr>
              <a:t>1 · Catalog</a:t>
            </a:r>
          </a:p>
        </p:txBody>
      </p:sp>
      <p:pic>
        <p:nvPicPr>
          <p:cNvPr id="10" name="g50|img|screenshots/composites/phone-demo-step-03-cart.png" descr="WhatsApp checkout demo, step 2 · Cart"/>
          <p:cNvPicPr>
            <a:picLocks noChangeAspect="1"/>
          </p:cNvPicPr>
          <p:nvPr/>
        </p:nvPicPr>
        <p:blipFill>
          <a:blip r:embed="rId5"/>
          <a:srcRect l="6000" t="3000" r="6000" b="3000"/>
          <a:stretch>
            <a:fillRect/>
          </a:stretch>
        </p:blipFill>
        <p:spPr>
          <a:xfrm>
            <a:off x="8641080" y="2834640"/>
            <a:ext cx="1399032" cy="2828724"/>
          </a:xfrm>
          <a:prstGeom prst="rect">
            <a:avLst/>
          </a:prstGeom>
        </p:spPr>
      </p:pic>
      <p:sp>
        <p:nvSpPr>
          <p:cNvPr id="11" name="g49|caption|"/>
          <p:cNvSpPr txBox="1"/>
          <p:nvPr/>
        </p:nvSpPr>
        <p:spPr>
          <a:xfrm>
            <a:off x="8641080" y="5760720"/>
            <a:ext cx="1399032" cy="256032"/>
          </a:xfrm>
          <a:prstGeom prst="rect">
            <a:avLst/>
          </a:prstGeom>
          <a:noFill/>
        </p:spPr>
        <p:txBody>
          <a:bodyPr wrap="square" lIns="0" rIns="0" tIns="0" bIns="0" anchor="t">
            <a:noAutofit/>
          </a:bodyPr>
          <a:lstStyle/>
          <a:p>
            <a:pPr algn="ctr"/>
            <a:r>
              <a:rPr sz="1100" b="0">
                <a:solidFill>
                  <a:srgbClr val="5B6670"/>
                </a:solidFill>
                <a:latin typeface="Inter"/>
              </a:rPr>
              <a:t>2 · Cart</a:t>
            </a:r>
          </a:p>
        </p:txBody>
      </p:sp>
      <p:pic>
        <p:nvPicPr>
          <p:cNvPr id="12" name="g52|img|screenshots/composites/phone-demo-step-07-confirmation.png" descr="WhatsApp checkout demo, step 3 · Paid"/>
          <p:cNvPicPr>
            <a:picLocks noChangeAspect="1"/>
          </p:cNvPicPr>
          <p:nvPr/>
        </p:nvPicPr>
        <p:blipFill>
          <a:blip r:embed="rId6"/>
          <a:srcRect l="6000" t="3000" r="6000" b="3000"/>
          <a:stretch>
            <a:fillRect/>
          </a:stretch>
        </p:blipFill>
        <p:spPr>
          <a:xfrm>
            <a:off x="10241280" y="2834640"/>
            <a:ext cx="1399032" cy="2828724"/>
          </a:xfrm>
          <a:prstGeom prst="rect">
            <a:avLst/>
          </a:prstGeom>
        </p:spPr>
      </p:pic>
      <p:sp>
        <p:nvSpPr>
          <p:cNvPr id="13" name="g51|caption|"/>
          <p:cNvSpPr txBox="1"/>
          <p:nvPr/>
        </p:nvSpPr>
        <p:spPr>
          <a:xfrm>
            <a:off x="10241280" y="5760720"/>
            <a:ext cx="1399032" cy="256032"/>
          </a:xfrm>
          <a:prstGeom prst="rect">
            <a:avLst/>
          </a:prstGeom>
          <a:noFill/>
        </p:spPr>
        <p:txBody>
          <a:bodyPr wrap="square" lIns="0" rIns="0" tIns="0" bIns="0" anchor="t">
            <a:noAutofit/>
          </a:bodyPr>
          <a:lstStyle/>
          <a:p>
            <a:pPr algn="ctr"/>
            <a:r>
              <a:rPr sz="1100" b="0">
                <a:solidFill>
                  <a:srgbClr val="5B6670"/>
                </a:solidFill>
                <a:latin typeface="Inter"/>
              </a:rPr>
              <a:t>3 · Paid</a:t>
            </a:r>
          </a:p>
        </p:txBody>
      </p:sp>
      <p:sp>
        <p:nvSpPr>
          <p:cNvPr id="1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5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WORKING WITH FLUXMUSE</a:t>
            </a:r>
          </a:p>
        </p:txBody>
      </p:sp>
      <p:sp>
        <p:nvSpPr>
          <p:cNvPr id="3" name="hdr5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How we work together</a:t>
            </a:r>
          </a:p>
        </p:txBody>
      </p:sp>
      <p:pic>
        <p:nvPicPr>
          <p:cNvPr id="4" name="g54|img|infographics/brand-engagement-journey.png" descr="Discovery call, audit and strategy, setup, pilot campaign, report and optimise, convert to a plan; KPIs tracked from day one"/>
          <p:cNvPicPr>
            <a:picLocks noChangeAspect="1"/>
          </p:cNvPicPr>
          <p:nvPr/>
        </p:nvPicPr>
        <p:blipFill>
          <a:blip r:embed="rId2"/>
          <a:srcRect t="22000"/>
          <a:stretch>
            <a:fillRect/>
          </a:stretch>
        </p:blipFill>
        <p:spPr>
          <a:xfrm>
            <a:off x="548640" y="1424930"/>
            <a:ext cx="11094415" cy="4867674"/>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5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GAUTENG PILOT · UNDERWAY · RESULTS DECEMBER 2026</a:t>
            </a:r>
          </a:p>
        </p:txBody>
      </p:sp>
      <p:sp>
        <p:nvSpPr>
          <p:cNvPr id="3" name="hdr5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Proof: the Gauteng pilot</a:t>
            </a:r>
          </a:p>
        </p:txBody>
      </p:sp>
      <p:pic>
        <p:nvPicPr>
          <p:cNvPr id="4" name="g56|img|infographics/gauteng-pilot.png" descr="Gauteng pilot: 12 brands, September to 30 November 2026, suggested segment mix, KPIs tracked, results December 2026"/>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5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LEAD CASE STUDY · PILOT DATA PENDING</a:t>
            </a:r>
          </a:p>
        </p:txBody>
      </p:sp>
      <p:sp>
        <p:nvSpPr>
          <p:cNvPr id="3" name="hdr5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A case study in the making</a:t>
            </a:r>
          </a:p>
        </p:txBody>
      </p:sp>
      <p:pic>
        <p:nvPicPr>
          <p:cNvPr id="4" name="g58|img|infographics/case-study-template.png" descr="Case study template for a Gauteng braiding and hair studio; every result is a placeholder until pilot data is available"/>
          <p:cNvPicPr>
            <a:picLocks noChangeAspect="1"/>
          </p:cNvPicPr>
          <p:nvPr/>
        </p:nvPicPr>
        <p:blipFill>
          <a:blip r:embed="rId2"/>
          <a:srcRect t="3000"/>
          <a:stretch>
            <a:fillRect/>
          </a:stretch>
        </p:blipFill>
        <p:spPr>
          <a:xfrm>
            <a:off x="1570981" y="1389888"/>
            <a:ext cx="9049731"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5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PRICING (ZAR) · 14-DAY FREE TRIAL, NO CARD</a:t>
            </a:r>
          </a:p>
        </p:txBody>
      </p:sp>
      <p:sp>
        <p:nvSpPr>
          <p:cNvPr id="3" name="hdr5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Simple plans, priced in rand</a:t>
            </a:r>
          </a:p>
        </p:txBody>
      </p:sp>
      <p:pic>
        <p:nvPicPr>
          <p:cNvPr id="4" name="g60|img|infographics/pricing-tiers.png" descr="Four plans in rand: Starter R499, Growth R1,999, Scale R4,999, Agency R7,999 per month, annual 10 times monthly"/>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61|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PRICING (ZAR) · EDITABLE</a:t>
            </a:r>
          </a:p>
        </p:txBody>
      </p:sp>
      <p:sp>
        <p:nvSpPr>
          <p:cNvPr id="3" name="hdr61|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Plans at a glance</a:t>
            </a:r>
          </a:p>
        </p:txBody>
      </p:sp>
      <p:graphicFrame>
        <p:nvGraphicFramePr>
          <p:cNvPr id="4" name="g62|table|pricing-zar"/>
          <p:cNvGraphicFramePr>
            <a:graphicFrameLocks noGrp="1"/>
          </p:cNvGraphicFramePr>
          <p:nvPr/>
        </p:nvGraphicFramePr>
        <p:xfrm>
          <a:off x="548640" y="1481328"/>
          <a:ext cx="11091672" cy="3931920"/>
        </p:xfrm>
        <a:graphic>
          <a:graphicData uri="http://schemas.openxmlformats.org/drawingml/2006/table">
            <a:tbl>
              <a:tblPr firstRow="0" bandRow="0"/>
              <a:tblGrid>
                <a:gridCol w="2679192"/>
                <a:gridCol w="2103120"/>
                <a:gridCol w="2103120"/>
                <a:gridCol w="2103120"/>
                <a:gridCol w="2103120"/>
              </a:tblGrid>
              <a:tr h="676656">
                <a:tc>
                  <a:txBody>
                    <a:bodyPr wrap="square"/>
                    <a:lstStyle/>
                    <a:p>
                      <a:pPr algn="l"/>
                      <a:r>
                        <a:rPr sz="1500" b="1">
                          <a:solidFill>
                            <a:srgbClr val="FFFFFF"/>
                          </a:solidFill>
                          <a:latin typeface="Poppins"/>
                        </a:rPr>
                        <a:t>Plan</a:t>
                      </a:r>
                    </a:p>
                  </a:txBody>
                  <a:tcPr marL="109728" marR="109728" marT="36576" marB="36576" anchor="ctr">
                    <a:lnL w="0">
                      <a:noFill/>
                    </a:lnL>
                    <a:lnR w="0">
                      <a:noFill/>
                    </a:lnR>
                    <a:lnT w="0">
                      <a:noFill/>
                    </a:lnT>
                    <a:lnB w="0">
                      <a:noFill/>
                    </a:lnB>
                    <a:solidFill>
                      <a:srgbClr val="0F1419"/>
                    </a:solidFill>
                  </a:tcPr>
                </a:tc>
                <a:tc>
                  <a:txBody>
                    <a:bodyPr wrap="square"/>
                    <a:lstStyle/>
                    <a:p>
                      <a:pPr algn="ctr"/>
                      <a:r>
                        <a:rPr sz="1500" b="1">
                          <a:solidFill>
                            <a:srgbClr val="FFFFFF"/>
                          </a:solidFill>
                          <a:latin typeface="Poppins"/>
                        </a:rPr>
                        <a:t>Starter</a:t>
                      </a:r>
                    </a:p>
                  </a:txBody>
                  <a:tcPr marL="109728" marR="109728" marT="36576" marB="36576" anchor="ctr">
                    <a:lnL w="0">
                      <a:noFill/>
                    </a:lnL>
                    <a:lnR w="0">
                      <a:noFill/>
                    </a:lnR>
                    <a:lnT w="0">
                      <a:noFill/>
                    </a:lnT>
                    <a:lnB w="0">
                      <a:noFill/>
                    </a:lnB>
                    <a:solidFill>
                      <a:srgbClr val="0F1419"/>
                    </a:solidFill>
                  </a:tcPr>
                </a:tc>
                <a:tc>
                  <a:txBody>
                    <a:bodyPr wrap="square"/>
                    <a:lstStyle/>
                    <a:p>
                      <a:pPr algn="ctr"/>
                      <a:r>
                        <a:rPr sz="1500" b="1">
                          <a:solidFill>
                            <a:srgbClr val="0F1419"/>
                          </a:solidFill>
                          <a:latin typeface="Poppins"/>
                        </a:rPr>
                        <a:t>Growth · most popular</a:t>
                      </a:r>
                    </a:p>
                  </a:txBody>
                  <a:tcPr marL="109728" marR="109728" marT="36576" marB="36576" anchor="ctr">
                    <a:lnL w="0">
                      <a:noFill/>
                    </a:lnL>
                    <a:lnR w="0">
                      <a:noFill/>
                    </a:lnR>
                    <a:lnT w="0">
                      <a:noFill/>
                    </a:lnT>
                    <a:lnB w="0">
                      <a:noFill/>
                    </a:lnB>
                    <a:solidFill>
                      <a:srgbClr val="FF6A00"/>
                    </a:solidFill>
                  </a:tcPr>
                </a:tc>
                <a:tc>
                  <a:txBody>
                    <a:bodyPr wrap="square"/>
                    <a:lstStyle/>
                    <a:p>
                      <a:pPr algn="ctr"/>
                      <a:r>
                        <a:rPr sz="1500" b="1">
                          <a:solidFill>
                            <a:srgbClr val="FFFFFF"/>
                          </a:solidFill>
                          <a:latin typeface="Poppins"/>
                        </a:rPr>
                        <a:t>Scale</a:t>
                      </a:r>
                    </a:p>
                  </a:txBody>
                  <a:tcPr marL="109728" marR="109728" marT="36576" marB="36576" anchor="ctr">
                    <a:lnL w="0">
                      <a:noFill/>
                    </a:lnL>
                    <a:lnR w="0">
                      <a:noFill/>
                    </a:lnR>
                    <a:lnT w="0">
                      <a:noFill/>
                    </a:lnT>
                    <a:lnB w="0">
                      <a:noFill/>
                    </a:lnB>
                    <a:solidFill>
                      <a:srgbClr val="0F1419"/>
                    </a:solidFill>
                  </a:tcPr>
                </a:tc>
                <a:tc>
                  <a:txBody>
                    <a:bodyPr wrap="square"/>
                    <a:lstStyle/>
                    <a:p>
                      <a:pPr algn="ctr"/>
                      <a:r>
                        <a:rPr sz="1500" b="1">
                          <a:solidFill>
                            <a:srgbClr val="FFFFFF"/>
                          </a:solidFill>
                          <a:latin typeface="Poppins"/>
                        </a:rPr>
                        <a:t>Agency</a:t>
                      </a:r>
                    </a:p>
                  </a:txBody>
                  <a:tcPr marL="109728" marR="109728" marT="36576" marB="36576" anchor="ctr">
                    <a:lnL w="0">
                      <a:noFill/>
                    </a:lnL>
                    <a:lnR w="0">
                      <a:noFill/>
                    </a:lnR>
                    <a:lnT w="0">
                      <a:noFill/>
                    </a:lnT>
                    <a:lnB w="0">
                      <a:noFill/>
                    </a:lnB>
                    <a:solidFill>
                      <a:srgbClr val="0F1419"/>
                    </a:solidFill>
                  </a:tcPr>
                </a:tc>
              </a:tr>
              <a:tr h="475488">
                <a:tc>
                  <a:txBody>
                    <a:bodyPr wrap="square"/>
                    <a:lstStyle/>
                    <a:p>
                      <a:pPr algn="l"/>
                      <a:r>
                        <a:rPr sz="1500" b="1">
                          <a:solidFill>
                            <a:srgbClr val="20242B"/>
                          </a:solidFill>
                          <a:latin typeface="Inter"/>
                        </a:rPr>
                        <a:t>Monthly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1">
                          <a:solidFill>
                            <a:srgbClr val="20242B"/>
                          </a:solidFill>
                          <a:latin typeface="Inter"/>
                        </a:rPr>
                        <a:t>R499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1">
                          <a:solidFill>
                            <a:srgbClr val="20242B"/>
                          </a:solidFill>
                          <a:latin typeface="Inter"/>
                        </a:rPr>
                        <a:t>R1,999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1">
                          <a:solidFill>
                            <a:srgbClr val="20242B"/>
                          </a:solidFill>
                          <a:latin typeface="Inter"/>
                        </a:rPr>
                        <a:t>R4,999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1">
                          <a:solidFill>
                            <a:srgbClr val="20242B"/>
                          </a:solidFill>
                          <a:latin typeface="Inter"/>
                        </a:rPr>
                        <a:t>R7,999</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500" b="1">
                          <a:solidFill>
                            <a:srgbClr val="20242B"/>
                          </a:solidFill>
                          <a:latin typeface="Inter"/>
                        </a:rPr>
                        <a:t>Annual (10× monthly)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R4,990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R19,990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0">
                          <a:solidFill>
                            <a:srgbClr val="20242B"/>
                          </a:solidFill>
                          <a:latin typeface="Inter"/>
                        </a:rPr>
                        <a:t>R49,990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R79,990</a:t>
                      </a:r>
                    </a:p>
                  </a:txBody>
                  <a:tcPr marL="109728" marR="109728" marT="36576" marB="36576" anchor="ctr">
                    <a:lnL w="0">
                      <a:noFill/>
                    </a:lnL>
                    <a:lnR w="0">
                      <a:noFill/>
                    </a:lnR>
                    <a:lnT w="0">
                      <a:noFill/>
                    </a:lnT>
                    <a:lnB w="12700">
                      <a:solidFill>
                        <a:srgbClr val="E3E6EA"/>
                      </a:solidFill>
                    </a:lnB>
                    <a:solidFill>
                      <a:srgbClr val="FFFFFF"/>
                    </a:solidFill>
                  </a:tcPr>
                </a:tc>
              </a:tr>
              <a:tr h="676656">
                <a:tc>
                  <a:txBody>
                    <a:bodyPr wrap="square"/>
                    <a:lstStyle/>
                    <a:p>
                      <a:pPr algn="l"/>
                      <a:r>
                        <a:rPr sz="1500" b="1">
                          <a:solidFill>
                            <a:srgbClr val="20242B"/>
                          </a:solidFill>
                          <a:latin typeface="Inter"/>
                        </a:rPr>
                        <a:t>Founding Member, first 2 bills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R349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R1,399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0">
                          <a:solidFill>
                            <a:srgbClr val="20242B"/>
                          </a:solidFill>
                          <a:latin typeface="Inter"/>
                        </a:rPr>
                        <a:t>R3,499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Partner pricing</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500" b="1">
                          <a:solidFill>
                            <a:srgbClr val="20242B"/>
                          </a:solidFill>
                          <a:latin typeface="Inter"/>
                        </a:rPr>
                        <a:t>Brands · channels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1 · 3</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3 · 15</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0">
                          <a:solidFill>
                            <a:srgbClr val="20242B"/>
                          </a:solidFill>
                          <a:latin typeface="Inter"/>
                        </a:rPr>
                        <a:t>10 · 40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Unlimited · 80</a:t>
                      </a:r>
                    </a:p>
                  </a:txBody>
                  <a:tcPr marL="109728" marR="109728" marT="36576" marB="36576" anchor="ctr">
                    <a:lnL w="0">
                      <a:noFill/>
                    </a:lnL>
                    <a:lnR w="0">
                      <a:noFill/>
                    </a:lnR>
                    <a:lnT w="0">
                      <a:noFill/>
                    </a:lnT>
                    <a:lnB w="12700">
                      <a:solidFill>
                        <a:srgbClr val="E3E6EA"/>
                      </a:solidFill>
                    </a:lnB>
                    <a:solidFill>
                      <a:srgbClr val="FFFFFF"/>
                    </a:solidFill>
                  </a:tcPr>
                </a:tc>
              </a:tr>
              <a:tr h="475488">
                <a:tc>
                  <a:txBody>
                    <a:bodyPr wrap="square"/>
                    <a:lstStyle/>
                    <a:p>
                      <a:pPr algn="l"/>
                      <a:r>
                        <a:rPr sz="1500" b="1">
                          <a:solidFill>
                            <a:srgbClr val="20242B"/>
                          </a:solidFill>
                          <a:latin typeface="Inter"/>
                        </a:rPr>
                        <a:t>AI credits / month</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5,000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25,000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0">
                          <a:solidFill>
                            <a:srgbClr val="20242B"/>
                          </a:solidFill>
                          <a:latin typeface="Inter"/>
                        </a:rPr>
                        <a:t>100,000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500,000</a:t>
                      </a:r>
                    </a:p>
                  </a:txBody>
                  <a:tcPr marL="109728" marR="109728" marT="36576" marB="36576" anchor="ctr">
                    <a:lnL w="0">
                      <a:noFill/>
                    </a:lnL>
                    <a:lnR w="0">
                      <a:noFill/>
                    </a:lnR>
                    <a:lnT w="0">
                      <a:noFill/>
                    </a:lnT>
                    <a:lnB w="12700">
                      <a:solidFill>
                        <a:srgbClr val="E3E6EA"/>
                      </a:solidFill>
                    </a:lnB>
                    <a:solidFill>
                      <a:srgbClr val="FFFFFF"/>
                    </a:solidFill>
                  </a:tcPr>
                </a:tc>
              </a:tr>
              <a:tr h="676656">
                <a:tc>
                  <a:txBody>
                    <a:bodyPr wrap="square"/>
                    <a:lstStyle/>
                    <a:p>
                      <a:pPr algn="l"/>
                      <a:r>
                        <a:rPr sz="1500" b="1">
                          <a:solidFill>
                            <a:srgbClr val="20242B"/>
                          </a:solidFill>
                          <a:latin typeface="Inter"/>
                        </a:rPr>
                        <a:t>Best for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Solo founders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E-commerce &amp; WhatsApp</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500" b="0">
                          <a:solidFill>
                            <a:srgbClr val="20242B"/>
                          </a:solidFill>
                          <a:latin typeface="Inter"/>
                        </a:rPr>
                        <a:t>API &amp; white-label reports</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500" b="0">
                          <a:solidFill>
                            <a:srgbClr val="20242B"/>
                          </a:solidFill>
                          <a:latin typeface="Inter"/>
                        </a:rPr>
                        <a:t>White-label, 50 sub-accounts</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g63|chip|"/>
          <p:cNvSpPr/>
          <p:nvPr/>
        </p:nvSpPr>
        <p:spPr>
          <a:xfrm>
            <a:off x="548640" y="5596128"/>
            <a:ext cx="3840480" cy="457200"/>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63|chip|"/>
          <p:cNvSpPr txBox="1"/>
          <p:nvPr/>
        </p:nvSpPr>
        <p:spPr>
          <a:xfrm>
            <a:off x="548640" y="5596128"/>
            <a:ext cx="3840480" cy="457200"/>
          </a:xfrm>
          <a:prstGeom prst="rect">
            <a:avLst/>
          </a:prstGeom>
          <a:noFill/>
        </p:spPr>
        <p:txBody>
          <a:bodyPr wrap="square" lIns="0" rIns="0" tIns="0" bIns="0" anchor="ctr">
            <a:noAutofit/>
          </a:bodyPr>
          <a:lstStyle/>
          <a:p>
            <a:pPr algn="ctr"/>
            <a:r>
              <a:rPr sz="1400" b="1">
                <a:solidFill>
                  <a:srgbClr val="0F1419"/>
                </a:solidFill>
                <a:latin typeface="Inter"/>
              </a:rPr>
              <a:t>14-day free trial · no card required</a:t>
            </a:r>
          </a:p>
        </p:txBody>
      </p:sp>
      <p:sp>
        <p:nvSpPr>
          <p:cNvPr id="7" name="g64|caption|"/>
          <p:cNvSpPr txBox="1"/>
          <p:nvPr/>
        </p:nvSpPr>
        <p:spPr>
          <a:xfrm>
            <a:off x="4663440" y="5614416"/>
            <a:ext cx="6976872" cy="457200"/>
          </a:xfrm>
          <a:prstGeom prst="rect">
            <a:avLst/>
          </a:prstGeom>
          <a:noFill/>
        </p:spPr>
        <p:txBody>
          <a:bodyPr wrap="square" lIns="0" rIns="0" tIns="0" bIns="0" anchor="ctr">
            <a:noAutofit/>
          </a:bodyPr>
          <a:lstStyle/>
          <a:p>
            <a:pPr algn="l"/>
            <a:r>
              <a:rPr sz="1200" b="0">
                <a:solidFill>
                  <a:srgbClr val="5B6670"/>
                </a:solidFill>
                <a:latin typeface="Inter"/>
              </a:rPr>
              <a:t>Enterprise from R19,999/mo: talk to us. Nigeria, Kenya, Ghana and USD pricing: see appendix.</a:t>
            </a:r>
          </a:p>
        </p:txBody>
      </p:sp>
      <p:sp>
        <p:nvSpPr>
          <p:cNvPr id="8"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9"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65|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LAUNCH OFFER · SOUTH AFRICA · 1 DEC 2026 – 31 JAN 2027</a:t>
            </a:r>
          </a:p>
        </p:txBody>
      </p:sp>
      <p:sp>
        <p:nvSpPr>
          <p:cNvPr id="3" name="hdr65|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Founding Member launch offer</a:t>
            </a:r>
          </a:p>
        </p:txBody>
      </p:sp>
      <p:pic>
        <p:nvPicPr>
          <p:cNvPr id="4" name="g66|img|infographics/founding-member-offer.png" descr="Founding Member offer: 30% off the first 2 monthly bills or 2 extra months on annual plans, badge and priority support, South Africa launch window 1 Dec 2026 to 31 Jan 2027"/>
          <p:cNvPicPr>
            <a:picLocks noChangeAspect="1"/>
          </p:cNvPicPr>
          <p:nvPr/>
        </p:nvPicPr>
        <p:blipFill>
          <a:blip r:embed="rId2"/>
          <a:srcRect t="20000"/>
          <a:stretch>
            <a:fillRect/>
          </a:stretch>
        </p:blipFill>
        <p:spPr>
          <a:xfrm>
            <a:off x="1371447" y="1389888"/>
            <a:ext cx="9448800" cy="4251960"/>
          </a:xfrm>
          <a:prstGeom prst="rect">
            <a:avLst/>
          </a:prstGeom>
        </p:spPr>
      </p:pic>
      <p:sp>
        <p:nvSpPr>
          <p:cNvPr id="5" name="g67|chip|"/>
          <p:cNvSpPr/>
          <p:nvPr/>
        </p:nvSpPr>
        <p:spPr>
          <a:xfrm>
            <a:off x="548640" y="5760720"/>
            <a:ext cx="1828800" cy="475488"/>
          </a:xfrm>
          <a:prstGeom prst="roundRect">
            <a:avLst>
              <a:gd name="adj" fmla="val 50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67|chip|"/>
          <p:cNvSpPr txBox="1"/>
          <p:nvPr/>
        </p:nvSpPr>
        <p:spPr>
          <a:xfrm>
            <a:off x="548640" y="5760720"/>
            <a:ext cx="1828800" cy="475488"/>
          </a:xfrm>
          <a:prstGeom prst="rect">
            <a:avLst/>
          </a:prstGeom>
          <a:noFill/>
        </p:spPr>
        <p:txBody>
          <a:bodyPr wrap="square" lIns="0" rIns="0" tIns="0" bIns="0" anchor="ctr">
            <a:noAutofit/>
          </a:bodyPr>
          <a:lstStyle/>
          <a:p>
            <a:pPr algn="ctr"/>
            <a:r>
              <a:rPr sz="1500" b="1">
                <a:solidFill>
                  <a:srgbClr val="20242B"/>
                </a:solidFill>
                <a:latin typeface="Inter"/>
              </a:rPr>
              <a:t>Starter R349</a:t>
            </a:r>
          </a:p>
        </p:txBody>
      </p:sp>
      <p:sp>
        <p:nvSpPr>
          <p:cNvPr id="7" name="g68|chip|"/>
          <p:cNvSpPr/>
          <p:nvPr/>
        </p:nvSpPr>
        <p:spPr>
          <a:xfrm>
            <a:off x="2419273" y="5760720"/>
            <a:ext cx="2011680" cy="475488"/>
          </a:xfrm>
          <a:prstGeom prst="roundRect">
            <a:avLst>
              <a:gd name="adj" fmla="val 50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68|chip|"/>
          <p:cNvSpPr txBox="1"/>
          <p:nvPr/>
        </p:nvSpPr>
        <p:spPr>
          <a:xfrm>
            <a:off x="2419273" y="5760720"/>
            <a:ext cx="2011680" cy="475488"/>
          </a:xfrm>
          <a:prstGeom prst="rect">
            <a:avLst/>
          </a:prstGeom>
          <a:noFill/>
        </p:spPr>
        <p:txBody>
          <a:bodyPr wrap="square" lIns="0" rIns="0" tIns="0" bIns="0" anchor="ctr">
            <a:noAutofit/>
          </a:bodyPr>
          <a:lstStyle/>
          <a:p>
            <a:pPr algn="ctr"/>
            <a:r>
              <a:rPr sz="1500" b="1">
                <a:solidFill>
                  <a:srgbClr val="20242B"/>
                </a:solidFill>
                <a:latin typeface="Inter"/>
              </a:rPr>
              <a:t>Growth R1,399</a:t>
            </a:r>
          </a:p>
        </p:txBody>
      </p:sp>
      <p:sp>
        <p:nvSpPr>
          <p:cNvPr id="9" name="g69|chip|"/>
          <p:cNvSpPr/>
          <p:nvPr/>
        </p:nvSpPr>
        <p:spPr>
          <a:xfrm>
            <a:off x="4472787" y="5760720"/>
            <a:ext cx="1828800" cy="475488"/>
          </a:xfrm>
          <a:prstGeom prst="roundRect">
            <a:avLst>
              <a:gd name="adj" fmla="val 50000"/>
            </a:avLst>
          </a:prstGeom>
          <a:solidFill>
            <a:srgbClr val="FFF4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69|chip|"/>
          <p:cNvSpPr txBox="1"/>
          <p:nvPr/>
        </p:nvSpPr>
        <p:spPr>
          <a:xfrm>
            <a:off x="4472787" y="5760720"/>
            <a:ext cx="1828800" cy="475488"/>
          </a:xfrm>
          <a:prstGeom prst="rect">
            <a:avLst/>
          </a:prstGeom>
          <a:noFill/>
        </p:spPr>
        <p:txBody>
          <a:bodyPr wrap="square" lIns="0" rIns="0" tIns="0" bIns="0" anchor="ctr">
            <a:noAutofit/>
          </a:bodyPr>
          <a:lstStyle/>
          <a:p>
            <a:pPr algn="ctr"/>
            <a:r>
              <a:rPr sz="1500" b="1">
                <a:solidFill>
                  <a:srgbClr val="20242B"/>
                </a:solidFill>
                <a:latin typeface="Inter"/>
              </a:rPr>
              <a:t>Scale R3,499</a:t>
            </a:r>
          </a:p>
        </p:txBody>
      </p:sp>
      <p:sp>
        <p:nvSpPr>
          <p:cNvPr id="11" name="g70|chip|"/>
          <p:cNvSpPr/>
          <p:nvPr/>
        </p:nvSpPr>
        <p:spPr>
          <a:xfrm>
            <a:off x="6343421" y="5760720"/>
            <a:ext cx="2606040" cy="475488"/>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70|chip|"/>
          <p:cNvSpPr txBox="1"/>
          <p:nvPr/>
        </p:nvSpPr>
        <p:spPr>
          <a:xfrm>
            <a:off x="6343421" y="5760720"/>
            <a:ext cx="2606040" cy="475488"/>
          </a:xfrm>
          <a:prstGeom prst="rect">
            <a:avLst/>
          </a:prstGeom>
          <a:noFill/>
        </p:spPr>
        <p:txBody>
          <a:bodyPr wrap="square" lIns="0" rIns="0" tIns="0" bIns="0" anchor="ctr">
            <a:noAutofit/>
          </a:bodyPr>
          <a:lstStyle/>
          <a:p>
            <a:pPr algn="ctr"/>
            <a:r>
              <a:rPr sz="1500" b="1">
                <a:solidFill>
                  <a:srgbClr val="20242B"/>
                </a:solidFill>
                <a:latin typeface="Inter"/>
              </a:rPr>
              <a:t>Annual: +2 months free</a:t>
            </a:r>
          </a:p>
        </p:txBody>
      </p:sp>
      <p:sp>
        <p:nvSpPr>
          <p:cNvPr id="13" name="g71|chip|"/>
          <p:cNvSpPr/>
          <p:nvPr/>
        </p:nvSpPr>
        <p:spPr>
          <a:xfrm>
            <a:off x="8991295" y="5760720"/>
            <a:ext cx="2651760" cy="475488"/>
          </a:xfrm>
          <a:prstGeom prst="roundRect">
            <a:avLst>
              <a:gd name="adj" fmla="val 5000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g71|chip|"/>
          <p:cNvSpPr txBox="1"/>
          <p:nvPr/>
        </p:nvSpPr>
        <p:spPr>
          <a:xfrm>
            <a:off x="8991295" y="5760720"/>
            <a:ext cx="2651760" cy="475488"/>
          </a:xfrm>
          <a:prstGeom prst="rect">
            <a:avLst/>
          </a:prstGeom>
          <a:noFill/>
        </p:spPr>
        <p:txBody>
          <a:bodyPr wrap="square" lIns="0" rIns="0" tIns="0" bIns="0" anchor="ctr">
            <a:noAutofit/>
          </a:bodyPr>
          <a:lstStyle/>
          <a:p>
            <a:pPr algn="ctr"/>
            <a:r>
              <a:rPr sz="1500" b="1">
                <a:solidFill>
                  <a:srgbClr val="20242B"/>
                </a:solidFill>
                <a:latin typeface="Inter"/>
              </a:rPr>
              <a:t>Agencies: partner pricing</a:t>
            </a:r>
          </a:p>
        </p:txBody>
      </p:sp>
      <p:sp>
        <p:nvSpPr>
          <p:cNvPr id="1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7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TRUST &amp; COMPLIANCE</a:t>
            </a:r>
          </a:p>
        </p:txBody>
      </p:sp>
      <p:sp>
        <p:nvSpPr>
          <p:cNvPr id="3" name="hdr7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Built to protect your customers' data</a:t>
            </a:r>
          </a:p>
        </p:txBody>
      </p:sp>
      <p:sp>
        <p:nvSpPr>
          <p:cNvPr id="4" name="trust73|card|"/>
          <p:cNvSpPr/>
          <p:nvPr/>
        </p:nvSpPr>
        <p:spPr>
          <a:xfrm>
            <a:off x="548640"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rust73|deco|"/>
          <p:cNvSpPr/>
          <p:nvPr/>
        </p:nvSpPr>
        <p:spPr>
          <a:xfrm>
            <a:off x="813816"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trust73|icon|shield_deep.png" descr="shield_deep"/>
          <p:cNvPicPr>
            <a:picLocks noChangeAspect="1"/>
          </p:cNvPicPr>
          <p:nvPr/>
        </p:nvPicPr>
        <p:blipFill>
          <a:blip r:embed="rId2"/>
          <a:srcRect/>
          <a:stretch>
            <a:fillRect/>
          </a:stretch>
        </p:blipFill>
        <p:spPr>
          <a:xfrm>
            <a:off x="970727" y="1958279"/>
            <a:ext cx="399409" cy="399409"/>
          </a:xfrm>
          <a:prstGeom prst="rect">
            <a:avLst/>
          </a:prstGeom>
        </p:spPr>
      </p:pic>
      <p:sp>
        <p:nvSpPr>
          <p:cNvPr id="7" name="trust73|card|"/>
          <p:cNvSpPr txBox="1"/>
          <p:nvPr/>
        </p:nvSpPr>
        <p:spPr>
          <a:xfrm>
            <a:off x="84124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POPIA, NDPR, GDPR</a:t>
            </a:r>
          </a:p>
        </p:txBody>
      </p:sp>
      <p:sp>
        <p:nvSpPr>
          <p:cNvPr id="8" name="trust73|card|"/>
          <p:cNvSpPr txBox="1"/>
          <p:nvPr/>
        </p:nvSpPr>
        <p:spPr>
          <a:xfrm>
            <a:off x="84124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Ready: South Africa, Nigeria, EU</a:t>
            </a:r>
          </a:p>
        </p:txBody>
      </p:sp>
      <p:sp>
        <p:nvSpPr>
          <p:cNvPr id="9" name="trust74|card|"/>
          <p:cNvSpPr/>
          <p:nvPr/>
        </p:nvSpPr>
        <p:spPr>
          <a:xfrm>
            <a:off x="434019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74|deco|"/>
          <p:cNvSpPr/>
          <p:nvPr/>
        </p:nvSpPr>
        <p:spPr>
          <a:xfrm>
            <a:off x="460537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trust74|icon|checkCircle_deep.png" descr="checkCircle_deep"/>
          <p:cNvPicPr>
            <a:picLocks noChangeAspect="1"/>
          </p:cNvPicPr>
          <p:nvPr/>
        </p:nvPicPr>
        <p:blipFill>
          <a:blip r:embed="rId3"/>
          <a:srcRect/>
          <a:stretch>
            <a:fillRect/>
          </a:stretch>
        </p:blipFill>
        <p:spPr>
          <a:xfrm>
            <a:off x="4762286" y="1958279"/>
            <a:ext cx="399409" cy="399409"/>
          </a:xfrm>
          <a:prstGeom prst="rect">
            <a:avLst/>
          </a:prstGeom>
        </p:spPr>
      </p:pic>
      <p:sp>
        <p:nvSpPr>
          <p:cNvPr id="12" name="trust74|card|"/>
          <p:cNvSpPr txBox="1"/>
          <p:nvPr/>
        </p:nvSpPr>
        <p:spPr>
          <a:xfrm>
            <a:off x="463280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Meta Tech Provider</a:t>
            </a:r>
          </a:p>
        </p:txBody>
      </p:sp>
      <p:sp>
        <p:nvSpPr>
          <p:cNvPr id="13" name="trust74|card|"/>
          <p:cNvSpPr txBox="1"/>
          <p:nvPr/>
        </p:nvSpPr>
        <p:spPr>
          <a:xfrm>
            <a:off x="463280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Verified by Meta</a:t>
            </a:r>
          </a:p>
        </p:txBody>
      </p:sp>
      <p:sp>
        <p:nvSpPr>
          <p:cNvPr id="14" name="trust75|card|"/>
          <p:cNvSpPr/>
          <p:nvPr/>
        </p:nvSpPr>
        <p:spPr>
          <a:xfrm>
            <a:off x="8131759" y="1536192"/>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rust75|deco|"/>
          <p:cNvSpPr/>
          <p:nvPr/>
        </p:nvSpPr>
        <p:spPr>
          <a:xfrm>
            <a:off x="8396935" y="1801367"/>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trust75|icon|layers_deep.png" descr="layers_deep"/>
          <p:cNvPicPr>
            <a:picLocks noChangeAspect="1"/>
          </p:cNvPicPr>
          <p:nvPr/>
        </p:nvPicPr>
        <p:blipFill>
          <a:blip r:embed="rId4"/>
          <a:srcRect/>
          <a:stretch>
            <a:fillRect/>
          </a:stretch>
        </p:blipFill>
        <p:spPr>
          <a:xfrm>
            <a:off x="8553846" y="1958279"/>
            <a:ext cx="399409" cy="399409"/>
          </a:xfrm>
          <a:prstGeom prst="rect">
            <a:avLst/>
          </a:prstGeom>
        </p:spPr>
      </p:pic>
      <p:sp>
        <p:nvSpPr>
          <p:cNvPr id="17" name="trust75|card|"/>
          <p:cNvSpPr txBox="1"/>
          <p:nvPr/>
        </p:nvSpPr>
        <p:spPr>
          <a:xfrm>
            <a:off x="8424367" y="2633472"/>
            <a:ext cx="2962656" cy="457200"/>
          </a:xfrm>
          <a:prstGeom prst="rect">
            <a:avLst/>
          </a:prstGeom>
          <a:noFill/>
        </p:spPr>
        <p:txBody>
          <a:bodyPr wrap="square" lIns="0" rIns="0" tIns="0" bIns="0" anchor="t">
            <a:noAutofit/>
          </a:bodyPr>
          <a:lstStyle/>
          <a:p>
            <a:pPr algn="l"/>
            <a:r>
              <a:rPr sz="1800" b="1">
                <a:solidFill>
                  <a:srgbClr val="20242B"/>
                </a:solidFill>
                <a:latin typeface="Poppins"/>
              </a:rPr>
              <a:t>Row-level security</a:t>
            </a:r>
          </a:p>
        </p:txBody>
      </p:sp>
      <p:sp>
        <p:nvSpPr>
          <p:cNvPr id="18" name="trust75|card|"/>
          <p:cNvSpPr txBox="1"/>
          <p:nvPr/>
        </p:nvSpPr>
        <p:spPr>
          <a:xfrm>
            <a:off x="8424367" y="3090672"/>
            <a:ext cx="2962656" cy="411480"/>
          </a:xfrm>
          <a:prstGeom prst="rect">
            <a:avLst/>
          </a:prstGeom>
          <a:noFill/>
        </p:spPr>
        <p:txBody>
          <a:bodyPr wrap="square" lIns="0" rIns="0" tIns="0" bIns="0" anchor="t">
            <a:noAutofit/>
          </a:bodyPr>
          <a:lstStyle/>
          <a:p>
            <a:pPr algn="l"/>
            <a:r>
              <a:rPr sz="1400" b="0">
                <a:solidFill>
                  <a:srgbClr val="5B6670"/>
                </a:solidFill>
                <a:latin typeface="Inter"/>
              </a:rPr>
              <a:t>Every database table</a:t>
            </a:r>
          </a:p>
        </p:txBody>
      </p:sp>
      <p:sp>
        <p:nvSpPr>
          <p:cNvPr id="19" name="trust76|card|"/>
          <p:cNvSpPr/>
          <p:nvPr/>
        </p:nvSpPr>
        <p:spPr>
          <a:xfrm>
            <a:off x="548640"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rust76|deco|"/>
          <p:cNvSpPr/>
          <p:nvPr/>
        </p:nvSpPr>
        <p:spPr>
          <a:xfrm>
            <a:off x="813816"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trust76|icon|plug_deep.png" descr="plug_deep"/>
          <p:cNvPicPr>
            <a:picLocks noChangeAspect="1"/>
          </p:cNvPicPr>
          <p:nvPr/>
        </p:nvPicPr>
        <p:blipFill>
          <a:blip r:embed="rId5"/>
          <a:srcRect/>
          <a:stretch>
            <a:fillRect/>
          </a:stretch>
        </p:blipFill>
        <p:spPr>
          <a:xfrm>
            <a:off x="970727" y="4372295"/>
            <a:ext cx="399409" cy="399409"/>
          </a:xfrm>
          <a:prstGeom prst="rect">
            <a:avLst/>
          </a:prstGeom>
        </p:spPr>
      </p:pic>
      <p:sp>
        <p:nvSpPr>
          <p:cNvPr id="22" name="trust76|card|"/>
          <p:cNvSpPr txBox="1"/>
          <p:nvPr/>
        </p:nvSpPr>
        <p:spPr>
          <a:xfrm>
            <a:off x="84124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Encrypted tokens</a:t>
            </a:r>
          </a:p>
        </p:txBody>
      </p:sp>
      <p:sp>
        <p:nvSpPr>
          <p:cNvPr id="23" name="trust76|card|"/>
          <p:cNvSpPr txBox="1"/>
          <p:nvPr/>
        </p:nvSpPr>
        <p:spPr>
          <a:xfrm>
            <a:off x="84124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Connected accounts</a:t>
            </a:r>
          </a:p>
        </p:txBody>
      </p:sp>
      <p:sp>
        <p:nvSpPr>
          <p:cNvPr id="24" name="trust77|card|"/>
          <p:cNvSpPr/>
          <p:nvPr/>
        </p:nvSpPr>
        <p:spPr>
          <a:xfrm>
            <a:off x="434019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rust77|deco|"/>
          <p:cNvSpPr/>
          <p:nvPr/>
        </p:nvSpPr>
        <p:spPr>
          <a:xfrm>
            <a:off x="460537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trust77|icon|file_deep.png" descr="file_deep"/>
          <p:cNvPicPr>
            <a:picLocks noChangeAspect="1"/>
          </p:cNvPicPr>
          <p:nvPr/>
        </p:nvPicPr>
        <p:blipFill>
          <a:blip r:embed="rId6"/>
          <a:srcRect/>
          <a:stretch>
            <a:fillRect/>
          </a:stretch>
        </p:blipFill>
        <p:spPr>
          <a:xfrm>
            <a:off x="4762286" y="4372295"/>
            <a:ext cx="399409" cy="399409"/>
          </a:xfrm>
          <a:prstGeom prst="rect">
            <a:avLst/>
          </a:prstGeom>
        </p:spPr>
      </p:pic>
      <p:sp>
        <p:nvSpPr>
          <p:cNvPr id="27" name="trust77|card|"/>
          <p:cNvSpPr txBox="1"/>
          <p:nvPr/>
        </p:nvSpPr>
        <p:spPr>
          <a:xfrm>
            <a:off x="463280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Audit export</a:t>
            </a:r>
          </a:p>
        </p:txBody>
      </p:sp>
      <p:sp>
        <p:nvSpPr>
          <p:cNvPr id="28" name="trust77|card|"/>
          <p:cNvSpPr txBox="1"/>
          <p:nvPr/>
        </p:nvSpPr>
        <p:spPr>
          <a:xfrm>
            <a:off x="463280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Exportable activity record</a:t>
            </a:r>
          </a:p>
        </p:txBody>
      </p:sp>
      <p:sp>
        <p:nvSpPr>
          <p:cNvPr id="29" name="trust78|card|"/>
          <p:cNvSpPr/>
          <p:nvPr/>
        </p:nvSpPr>
        <p:spPr>
          <a:xfrm>
            <a:off x="8131759" y="3950208"/>
            <a:ext cx="3511296" cy="2212848"/>
          </a:xfrm>
          <a:prstGeom prst="roundRect">
            <a:avLst>
              <a:gd name="adj" fmla="val 7438"/>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rust78|deco|"/>
          <p:cNvSpPr/>
          <p:nvPr/>
        </p:nvSpPr>
        <p:spPr>
          <a:xfrm>
            <a:off x="8396935" y="4215384"/>
            <a:ext cx="713232" cy="7132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trust78|icon|refresh_deep.png" descr="refresh_deep"/>
          <p:cNvPicPr>
            <a:picLocks noChangeAspect="1"/>
          </p:cNvPicPr>
          <p:nvPr/>
        </p:nvPicPr>
        <p:blipFill>
          <a:blip r:embed="rId7"/>
          <a:srcRect/>
          <a:stretch>
            <a:fillRect/>
          </a:stretch>
        </p:blipFill>
        <p:spPr>
          <a:xfrm>
            <a:off x="8553846" y="4372295"/>
            <a:ext cx="399409" cy="399409"/>
          </a:xfrm>
          <a:prstGeom prst="rect">
            <a:avLst/>
          </a:prstGeom>
        </p:spPr>
      </p:pic>
      <p:sp>
        <p:nvSpPr>
          <p:cNvPr id="32" name="trust78|card|"/>
          <p:cNvSpPr txBox="1"/>
          <p:nvPr/>
        </p:nvSpPr>
        <p:spPr>
          <a:xfrm>
            <a:off x="8424367" y="5047488"/>
            <a:ext cx="2962656" cy="457200"/>
          </a:xfrm>
          <a:prstGeom prst="rect">
            <a:avLst/>
          </a:prstGeom>
          <a:noFill/>
        </p:spPr>
        <p:txBody>
          <a:bodyPr wrap="square" lIns="0" rIns="0" tIns="0" bIns="0" anchor="t">
            <a:noAutofit/>
          </a:bodyPr>
          <a:lstStyle/>
          <a:p>
            <a:pPr algn="l"/>
            <a:r>
              <a:rPr sz="1800" b="1">
                <a:solidFill>
                  <a:srgbClr val="20242B"/>
                </a:solidFill>
                <a:latin typeface="Poppins"/>
              </a:rPr>
              <a:t>Data export &amp; deletion</a:t>
            </a:r>
          </a:p>
        </p:txBody>
      </p:sp>
      <p:sp>
        <p:nvSpPr>
          <p:cNvPr id="33" name="trust78|card|"/>
          <p:cNvSpPr txBox="1"/>
          <p:nvPr/>
        </p:nvSpPr>
        <p:spPr>
          <a:xfrm>
            <a:off x="8424367" y="5504688"/>
            <a:ext cx="2962656" cy="411480"/>
          </a:xfrm>
          <a:prstGeom prst="rect">
            <a:avLst/>
          </a:prstGeom>
          <a:noFill/>
        </p:spPr>
        <p:txBody>
          <a:bodyPr wrap="square" lIns="0" rIns="0" tIns="0" bIns="0" anchor="t">
            <a:noAutofit/>
          </a:bodyPr>
          <a:lstStyle/>
          <a:p>
            <a:pPr algn="l"/>
            <a:r>
              <a:rPr sz="1400" b="0">
                <a:solidFill>
                  <a:srgbClr val="5B6670"/>
                </a:solidFill>
                <a:latin typeface="Inter"/>
              </a:rPr>
              <a:t>Export data, delete account</a:t>
            </a:r>
          </a:p>
        </p:txBody>
      </p:sp>
      <p:sp>
        <p:nvSpPr>
          <p:cNvPr id="3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3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7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ROADMAP · INDICATIVE</a:t>
            </a:r>
          </a:p>
        </p:txBody>
      </p:sp>
      <p:sp>
        <p:nvSpPr>
          <p:cNvPr id="3" name="hdr7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What's coming</a:t>
            </a:r>
          </a:p>
        </p:txBody>
      </p:sp>
      <p:pic>
        <p:nvPicPr>
          <p:cNvPr id="4" name="g80|img|infographics/roadmap-2026-2027.png" descr="Indicative roadmap 2026 to 2028: markets and payments lane and product lane"/>
          <p:cNvPicPr>
            <a:picLocks noChangeAspect="1"/>
          </p:cNvPicPr>
          <p:nvPr/>
        </p:nvPicPr>
        <p:blipFill>
          <a:blip r:embed="rId2"/>
          <a:srcRect t="19500"/>
          <a:stretch>
            <a:fillRect/>
          </a:stretch>
        </p:blipFill>
        <p:spPr>
          <a:xfrm>
            <a:off x="643524" y="1389888"/>
            <a:ext cx="10904645"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hdr81|eyebrow|"/>
          <p:cNvSpPr txBox="1"/>
          <p:nvPr/>
        </p:nvSpPr>
        <p:spPr>
          <a:xfrm>
            <a:off x="548640" y="731520"/>
            <a:ext cx="11094415" cy="274320"/>
          </a:xfrm>
          <a:prstGeom prst="rect">
            <a:avLst/>
          </a:prstGeom>
          <a:noFill/>
        </p:spPr>
        <p:txBody>
          <a:bodyPr wrap="square" lIns="0" rIns="0" tIns="0" bIns="0" anchor="t">
            <a:noAutofit/>
          </a:bodyPr>
          <a:lstStyle/>
          <a:p>
            <a:pPr algn="l"/>
            <a:r>
              <a:rPr sz="1200" b="1" spc="150">
                <a:solidFill>
                  <a:srgbClr val="FF6A00"/>
                </a:solidFill>
                <a:latin typeface="Inter"/>
              </a:rPr>
              <a:t>NEXT STEPS</a:t>
            </a:r>
          </a:p>
        </p:txBody>
      </p:sp>
      <p:sp>
        <p:nvSpPr>
          <p:cNvPr id="3" name="hdr81|title|"/>
          <p:cNvSpPr txBox="1"/>
          <p:nvPr/>
        </p:nvSpPr>
        <p:spPr>
          <a:xfrm>
            <a:off x="548640" y="1005840"/>
            <a:ext cx="11094415" cy="731520"/>
          </a:xfrm>
          <a:prstGeom prst="rect">
            <a:avLst/>
          </a:prstGeom>
          <a:noFill/>
        </p:spPr>
        <p:txBody>
          <a:bodyPr wrap="square" lIns="0" rIns="0" tIns="0" bIns="0" anchor="t">
            <a:noAutofit/>
          </a:bodyPr>
          <a:lstStyle/>
          <a:p>
            <a:pPr algn="l"/>
            <a:r>
              <a:rPr sz="3600" b="1">
                <a:solidFill>
                  <a:srgbClr val="FFFFFF"/>
                </a:solidFill>
                <a:latin typeface="Poppins"/>
              </a:rPr>
              <a:t>Let's get you selling in chat</a:t>
            </a:r>
          </a:p>
        </p:txBody>
      </p:sp>
      <p:sp>
        <p:nvSpPr>
          <p:cNvPr id="4" name="cta82|card|"/>
          <p:cNvSpPr/>
          <p:nvPr/>
        </p:nvSpPr>
        <p:spPr>
          <a:xfrm>
            <a:off x="548640" y="2057400"/>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ta82|deco|"/>
          <p:cNvSpPr/>
          <p:nvPr/>
        </p:nvSpPr>
        <p:spPr>
          <a:xfrm>
            <a:off x="841247" y="2331720"/>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ta82|card|"/>
          <p:cNvSpPr txBox="1"/>
          <p:nvPr/>
        </p:nvSpPr>
        <p:spPr>
          <a:xfrm>
            <a:off x="841247" y="2331720"/>
            <a:ext cx="566928" cy="566928"/>
          </a:xfrm>
          <a:prstGeom prst="rect">
            <a:avLst/>
          </a:prstGeom>
          <a:noFill/>
        </p:spPr>
        <p:txBody>
          <a:bodyPr wrap="square" lIns="0" rIns="0" tIns="0" bIns="0" anchor="ctr">
            <a:noAutofit/>
          </a:bodyPr>
          <a:lstStyle/>
          <a:p>
            <a:pPr algn="ctr"/>
            <a:r>
              <a:rPr sz="2000" b="1">
                <a:solidFill>
                  <a:srgbClr val="0F1419"/>
                </a:solidFill>
                <a:latin typeface="Poppins"/>
              </a:rPr>
              <a:t>1</a:t>
            </a:r>
          </a:p>
        </p:txBody>
      </p:sp>
      <p:sp>
        <p:nvSpPr>
          <p:cNvPr id="7" name="cta82|card|"/>
          <p:cNvSpPr txBox="1"/>
          <p:nvPr/>
        </p:nvSpPr>
        <p:spPr>
          <a:xfrm>
            <a:off x="1645919" y="2240280"/>
            <a:ext cx="5623560" cy="411480"/>
          </a:xfrm>
          <a:prstGeom prst="rect">
            <a:avLst/>
          </a:prstGeom>
          <a:noFill/>
        </p:spPr>
        <p:txBody>
          <a:bodyPr wrap="square" lIns="0" rIns="0" tIns="0" bIns="0" anchor="t">
            <a:noAutofit/>
          </a:bodyPr>
          <a:lstStyle/>
          <a:p>
            <a:pPr algn="l"/>
            <a:r>
              <a:rPr sz="2000" b="1">
                <a:solidFill>
                  <a:srgbClr val="FFFFFF"/>
                </a:solidFill>
                <a:latin typeface="Poppins"/>
              </a:rPr>
              <a:t>Book a 30-minute discovery call</a:t>
            </a:r>
          </a:p>
        </p:txBody>
      </p:sp>
      <p:sp>
        <p:nvSpPr>
          <p:cNvPr id="8" name="cta82|card|"/>
          <p:cNvSpPr txBox="1"/>
          <p:nvPr/>
        </p:nvSpPr>
        <p:spPr>
          <a:xfrm>
            <a:off x="1645919" y="2697480"/>
            <a:ext cx="5623560" cy="347472"/>
          </a:xfrm>
          <a:prstGeom prst="rect">
            <a:avLst/>
          </a:prstGeom>
          <a:noFill/>
        </p:spPr>
        <p:txBody>
          <a:bodyPr wrap="square" lIns="0" rIns="0" tIns="0" bIns="0" anchor="t">
            <a:noAutofit/>
          </a:bodyPr>
          <a:lstStyle/>
          <a:p>
            <a:pPr algn="l"/>
            <a:r>
              <a:rPr sz="1500" b="0">
                <a:solidFill>
                  <a:srgbClr val="A7B0B8"/>
                </a:solidFill>
                <a:latin typeface="Inter"/>
              </a:rPr>
              <a:t>We map your goals, channels and products.</a:t>
            </a:r>
          </a:p>
        </p:txBody>
      </p:sp>
      <p:sp>
        <p:nvSpPr>
          <p:cNvPr id="9" name="cta83|card|"/>
          <p:cNvSpPr/>
          <p:nvPr/>
        </p:nvSpPr>
        <p:spPr>
          <a:xfrm>
            <a:off x="548640" y="3355848"/>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ta83|deco|"/>
          <p:cNvSpPr/>
          <p:nvPr/>
        </p:nvSpPr>
        <p:spPr>
          <a:xfrm>
            <a:off x="841247" y="3630168"/>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ta83|card|"/>
          <p:cNvSpPr txBox="1"/>
          <p:nvPr/>
        </p:nvSpPr>
        <p:spPr>
          <a:xfrm>
            <a:off x="841247" y="3630168"/>
            <a:ext cx="566928" cy="566928"/>
          </a:xfrm>
          <a:prstGeom prst="rect">
            <a:avLst/>
          </a:prstGeom>
          <a:noFill/>
        </p:spPr>
        <p:txBody>
          <a:bodyPr wrap="square" lIns="0" rIns="0" tIns="0" bIns="0" anchor="ctr">
            <a:noAutofit/>
          </a:bodyPr>
          <a:lstStyle/>
          <a:p>
            <a:pPr algn="ctr"/>
            <a:r>
              <a:rPr sz="2000" b="1">
                <a:solidFill>
                  <a:srgbClr val="0F1419"/>
                </a:solidFill>
                <a:latin typeface="Poppins"/>
              </a:rPr>
              <a:t>2</a:t>
            </a:r>
          </a:p>
        </p:txBody>
      </p:sp>
      <p:sp>
        <p:nvSpPr>
          <p:cNvPr id="12" name="cta83|card|"/>
          <p:cNvSpPr txBox="1"/>
          <p:nvPr/>
        </p:nvSpPr>
        <p:spPr>
          <a:xfrm>
            <a:off x="1645919" y="3538728"/>
            <a:ext cx="5623560" cy="411480"/>
          </a:xfrm>
          <a:prstGeom prst="rect">
            <a:avLst/>
          </a:prstGeom>
          <a:noFill/>
        </p:spPr>
        <p:txBody>
          <a:bodyPr wrap="square" lIns="0" rIns="0" tIns="0" bIns="0" anchor="t">
            <a:noAutofit/>
          </a:bodyPr>
          <a:lstStyle/>
          <a:p>
            <a:pPr algn="l"/>
            <a:r>
              <a:rPr sz="2000" b="1">
                <a:solidFill>
                  <a:srgbClr val="FFFFFF"/>
                </a:solidFill>
                <a:latin typeface="Poppins"/>
              </a:rPr>
              <a:t>Start your 14-day free trial</a:t>
            </a:r>
          </a:p>
        </p:txBody>
      </p:sp>
      <p:sp>
        <p:nvSpPr>
          <p:cNvPr id="13" name="cta83|card|"/>
          <p:cNvSpPr txBox="1"/>
          <p:nvPr/>
        </p:nvSpPr>
        <p:spPr>
          <a:xfrm>
            <a:off x="1645919" y="3995928"/>
            <a:ext cx="5623560" cy="347472"/>
          </a:xfrm>
          <a:prstGeom prst="rect">
            <a:avLst/>
          </a:prstGeom>
          <a:noFill/>
        </p:spPr>
        <p:txBody>
          <a:bodyPr wrap="square" lIns="0" rIns="0" tIns="0" bIns="0" anchor="t">
            <a:noAutofit/>
          </a:bodyPr>
          <a:lstStyle/>
          <a:p>
            <a:pPr algn="l"/>
            <a:r>
              <a:rPr sz="1500" b="0">
                <a:solidFill>
                  <a:srgbClr val="A7B0B8"/>
                </a:solidFill>
                <a:latin typeface="Inter"/>
              </a:rPr>
              <a:t>No card required, at fluxmuse.ai.</a:t>
            </a:r>
          </a:p>
        </p:txBody>
      </p:sp>
      <p:sp>
        <p:nvSpPr>
          <p:cNvPr id="14" name="cta84|card|"/>
          <p:cNvSpPr/>
          <p:nvPr/>
        </p:nvSpPr>
        <p:spPr>
          <a:xfrm>
            <a:off x="548640" y="4654296"/>
            <a:ext cx="6903720" cy="1115568"/>
          </a:xfrm>
          <a:prstGeom prst="roundRect">
            <a:avLst>
              <a:gd name="adj" fmla="val 14754"/>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ta84|deco|"/>
          <p:cNvSpPr/>
          <p:nvPr/>
        </p:nvSpPr>
        <p:spPr>
          <a:xfrm>
            <a:off x="841247" y="4928616"/>
            <a:ext cx="566928" cy="566928"/>
          </a:xfrm>
          <a:prstGeom prst="ellipse">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ta84|card|"/>
          <p:cNvSpPr txBox="1"/>
          <p:nvPr/>
        </p:nvSpPr>
        <p:spPr>
          <a:xfrm>
            <a:off x="841247" y="4928616"/>
            <a:ext cx="566928" cy="566928"/>
          </a:xfrm>
          <a:prstGeom prst="rect">
            <a:avLst/>
          </a:prstGeom>
          <a:noFill/>
        </p:spPr>
        <p:txBody>
          <a:bodyPr wrap="square" lIns="0" rIns="0" tIns="0" bIns="0" anchor="ctr">
            <a:noAutofit/>
          </a:bodyPr>
          <a:lstStyle/>
          <a:p>
            <a:pPr algn="ctr"/>
            <a:r>
              <a:rPr sz="2000" b="1">
                <a:solidFill>
                  <a:srgbClr val="0F1419"/>
                </a:solidFill>
                <a:latin typeface="Poppins"/>
              </a:rPr>
              <a:t>3</a:t>
            </a:r>
          </a:p>
        </p:txBody>
      </p:sp>
      <p:sp>
        <p:nvSpPr>
          <p:cNvPr id="17" name="cta84|card|"/>
          <p:cNvSpPr txBox="1"/>
          <p:nvPr/>
        </p:nvSpPr>
        <p:spPr>
          <a:xfrm>
            <a:off x="1645919" y="4837176"/>
            <a:ext cx="5623560" cy="411480"/>
          </a:xfrm>
          <a:prstGeom prst="rect">
            <a:avLst/>
          </a:prstGeom>
          <a:noFill/>
        </p:spPr>
        <p:txBody>
          <a:bodyPr wrap="square" lIns="0" rIns="0" tIns="0" bIns="0" anchor="t">
            <a:noAutofit/>
          </a:bodyPr>
          <a:lstStyle/>
          <a:p>
            <a:pPr algn="l"/>
            <a:r>
              <a:rPr sz="2000" b="1">
                <a:solidFill>
                  <a:srgbClr val="FFFFFF"/>
                </a:solidFill>
                <a:latin typeface="Poppins"/>
              </a:rPr>
              <a:t>Become a partner</a:t>
            </a:r>
          </a:p>
        </p:txBody>
      </p:sp>
      <p:sp>
        <p:nvSpPr>
          <p:cNvPr id="18" name="cta84|card|"/>
          <p:cNvSpPr txBox="1"/>
          <p:nvPr/>
        </p:nvSpPr>
        <p:spPr>
          <a:xfrm>
            <a:off x="1645919" y="5294376"/>
            <a:ext cx="5623560" cy="347472"/>
          </a:xfrm>
          <a:prstGeom prst="rect">
            <a:avLst/>
          </a:prstGeom>
          <a:noFill/>
        </p:spPr>
        <p:txBody>
          <a:bodyPr wrap="square" lIns="0" rIns="0" tIns="0" bIns="0" anchor="t">
            <a:noAutofit/>
          </a:bodyPr>
          <a:lstStyle/>
          <a:p>
            <a:pPr algn="l"/>
            <a:r>
              <a:rPr sz="1500" b="0">
                <a:solidFill>
                  <a:srgbClr val="A7B0B8"/>
                </a:solidFill>
                <a:latin typeface="Inter"/>
              </a:rPr>
              <a:t>Agencies: Agency tier at R5,599/mo wholesale.</a:t>
            </a:r>
          </a:p>
        </p:txBody>
      </p:sp>
      <p:sp>
        <p:nvSpPr>
          <p:cNvPr id="19" name="contact85|card|"/>
          <p:cNvSpPr/>
          <p:nvPr/>
        </p:nvSpPr>
        <p:spPr>
          <a:xfrm>
            <a:off x="7772400" y="2057400"/>
            <a:ext cx="3867912" cy="3712463"/>
          </a:xfrm>
          <a:prstGeom prst="roundRect">
            <a:avLst>
              <a:gd name="adj" fmla="val 4433"/>
            </a:avLst>
          </a:prstGeom>
          <a:solidFill>
            <a:srgbClr val="1B23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ntact85|eyebrow|"/>
          <p:cNvSpPr txBox="1"/>
          <p:nvPr/>
        </p:nvSpPr>
        <p:spPr>
          <a:xfrm>
            <a:off x="8092440" y="2286000"/>
            <a:ext cx="3291840" cy="274320"/>
          </a:xfrm>
          <a:prstGeom prst="rect">
            <a:avLst/>
          </a:prstGeom>
          <a:noFill/>
        </p:spPr>
        <p:txBody>
          <a:bodyPr wrap="square" lIns="0" rIns="0" tIns="0" bIns="0" anchor="t">
            <a:noAutofit/>
          </a:bodyPr>
          <a:lstStyle/>
          <a:p>
            <a:pPr algn="l"/>
            <a:r>
              <a:rPr sz="1200" b="1" spc="150">
                <a:solidFill>
                  <a:srgbClr val="FF6A00"/>
                </a:solidFill>
                <a:latin typeface="Inter"/>
              </a:rPr>
              <a:t>TALK TO US</a:t>
            </a:r>
          </a:p>
        </p:txBody>
      </p:sp>
      <p:sp>
        <p:nvSpPr>
          <p:cNvPr id="21" name="contact85|placeholder|"/>
          <p:cNvSpPr txBox="1"/>
          <p:nvPr/>
        </p:nvSpPr>
        <p:spPr>
          <a:xfrm>
            <a:off x="8092440" y="2606040"/>
            <a:ext cx="3291840" cy="1188720"/>
          </a:xfrm>
          <a:prstGeom prst="rect">
            <a:avLst/>
          </a:prstGeom>
          <a:noFill/>
        </p:spPr>
        <p:txBody>
          <a:bodyPr wrap="square" lIns="0" rIns="0" tIns="0" bIns="0" anchor="t">
            <a:noAutofit/>
          </a:bodyPr>
          <a:lstStyle/>
          <a:p>
            <a:pPr algn="l">
              <a:spcAft>
                <a:spcPts val="400"/>
              </a:spcAft>
            </a:pPr>
            <a:r>
              <a:rPr sz="1600" b="1">
                <a:solidFill>
                  <a:srgbClr val="FFFFFF"/>
                </a:solidFill>
                <a:latin typeface="Inter"/>
              </a:rPr>
              <a:t>[[CONTACT NAME]]</a:t>
            </a:r>
          </a:p>
          <a:p>
            <a:pPr algn="l">
              <a:spcAft>
                <a:spcPts val="400"/>
              </a:spcAft>
            </a:pPr>
            <a:r>
              <a:rPr sz="1600" b="0">
                <a:solidFill>
                  <a:srgbClr val="D5DADF"/>
                </a:solidFill>
                <a:latin typeface="Inter"/>
              </a:rPr>
              <a:t>[[EMAIL]]</a:t>
            </a:r>
          </a:p>
          <a:p>
            <a:pPr algn="l"/>
            <a:r>
              <a:rPr sz="1600" b="0">
                <a:solidFill>
                  <a:srgbClr val="D5DADF"/>
                </a:solidFill>
                <a:latin typeface="Inter"/>
              </a:rPr>
              <a:t>[[WHATSAPP NUMBER]]</a:t>
            </a:r>
          </a:p>
        </p:txBody>
      </p:sp>
      <p:sp>
        <p:nvSpPr>
          <p:cNvPr id="22" name="contact85|deco|"/>
          <p:cNvSpPr/>
          <p:nvPr/>
        </p:nvSpPr>
        <p:spPr>
          <a:xfrm>
            <a:off x="8092440" y="3931920"/>
            <a:ext cx="1463040" cy="1463040"/>
          </a:xfrm>
          <a:prstGeom prst="roundRect">
            <a:avLst>
              <a:gd name="adj" fmla="val 6250"/>
            </a:avLst>
          </a:prstGeom>
          <a:noFill/>
          <a:ln w="15875">
            <a:solidFill>
              <a:srgbClr val="A7B0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ontact85|caption|"/>
          <p:cNvSpPr txBox="1"/>
          <p:nvPr/>
        </p:nvSpPr>
        <p:spPr>
          <a:xfrm>
            <a:off x="8092440" y="3931920"/>
            <a:ext cx="1463040" cy="1463040"/>
          </a:xfrm>
          <a:prstGeom prst="rect">
            <a:avLst/>
          </a:prstGeom>
          <a:noFill/>
        </p:spPr>
        <p:txBody>
          <a:bodyPr wrap="square" lIns="0" rIns="0" tIns="0" bIns="0" anchor="ctr">
            <a:noAutofit/>
          </a:bodyPr>
          <a:lstStyle/>
          <a:p>
            <a:pPr algn="ctr"/>
            <a:r>
              <a:rPr sz="1100" b="0">
                <a:solidFill>
                  <a:srgbClr val="A7B0B8"/>
                </a:solidFill>
                <a:latin typeface="Inter"/>
              </a:rPr>
              <a:t>[[wa.me QR CODE]]</a:t>
            </a:r>
          </a:p>
        </p:txBody>
      </p:sp>
      <p:sp>
        <p:nvSpPr>
          <p:cNvPr id="24" name="contact85|placeholder|"/>
          <p:cNvSpPr txBox="1"/>
          <p:nvPr/>
        </p:nvSpPr>
        <p:spPr>
          <a:xfrm>
            <a:off x="9710928" y="4069080"/>
            <a:ext cx="1783080" cy="1280160"/>
          </a:xfrm>
          <a:prstGeom prst="rect">
            <a:avLst/>
          </a:prstGeom>
          <a:noFill/>
        </p:spPr>
        <p:txBody>
          <a:bodyPr wrap="square" lIns="0" rIns="0" tIns="0" bIns="0" anchor="t">
            <a:noAutofit/>
          </a:bodyPr>
          <a:lstStyle/>
          <a:p>
            <a:pPr algn="l">
              <a:spcAft>
                <a:spcPts val="600"/>
              </a:spcAft>
            </a:pPr>
            <a:r>
              <a:rPr sz="1400" b="0">
                <a:solidFill>
                  <a:srgbClr val="A7B0B8"/>
                </a:solidFill>
                <a:latin typeface="Inter"/>
              </a:rPr>
              <a:t>Scan to chat on WhatsApp</a:t>
            </a:r>
          </a:p>
          <a:p>
            <a:pPr algn="l"/>
            <a:r>
              <a:rPr sz="1400" b="1">
                <a:solidFill>
                  <a:srgbClr val="FFFFFF"/>
                </a:solidFill>
                <a:latin typeface="Inter"/>
              </a:rPr>
              <a:t>wa.me/</a:t>
            </a:r>
          </a:p>
          <a:p>
            <a:pPr algn="l"/>
            <a:r>
              <a:rPr sz="1400" b="1">
                <a:solidFill>
                  <a:srgbClr val="FFFFFF"/>
                </a:solidFill>
                <a:latin typeface="Inter"/>
              </a:rPr>
              <a:t>[[NUMBER]]</a:t>
            </a:r>
          </a:p>
        </p:txBody>
      </p:sp>
      <p:sp>
        <p:nvSpPr>
          <p:cNvPr id="2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2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1419"/>
        </a:solidFill>
        <a:effectLst/>
      </p:bgPr>
    </p:bg>
    <p:spTree>
      <p:nvGrpSpPr>
        <p:cNvPr id="1" name=""/>
        <p:cNvGrpSpPr/>
        <p:nvPr/>
      </p:nvGrpSpPr>
      <p:grpSpPr/>
      <p:sp>
        <p:nvSpPr>
          <p:cNvPr id="2" name="g86|eyebrow|"/>
          <p:cNvSpPr txBox="1"/>
          <p:nvPr/>
        </p:nvSpPr>
        <p:spPr>
          <a:xfrm>
            <a:off x="548640" y="1371600"/>
            <a:ext cx="11094415" cy="274320"/>
          </a:xfrm>
          <a:prstGeom prst="rect">
            <a:avLst/>
          </a:prstGeom>
          <a:noFill/>
        </p:spPr>
        <p:txBody>
          <a:bodyPr wrap="square" lIns="0" rIns="0" tIns="0" bIns="0" anchor="t">
            <a:noAutofit/>
          </a:bodyPr>
          <a:lstStyle/>
          <a:p>
            <a:pPr algn="l"/>
            <a:r>
              <a:rPr sz="1200" b="1" spc="150">
                <a:solidFill>
                  <a:srgbClr val="FF6A00"/>
                </a:solidFill>
                <a:latin typeface="Inter"/>
              </a:rPr>
              <a:t>APPENDIX</a:t>
            </a:r>
          </a:p>
        </p:txBody>
      </p:sp>
      <p:sp>
        <p:nvSpPr>
          <p:cNvPr id="3" name="g87|title|"/>
          <p:cNvSpPr txBox="1"/>
          <p:nvPr/>
        </p:nvSpPr>
        <p:spPr>
          <a:xfrm>
            <a:off x="548640" y="1664208"/>
            <a:ext cx="11094415" cy="822960"/>
          </a:xfrm>
          <a:prstGeom prst="rect">
            <a:avLst/>
          </a:prstGeom>
          <a:noFill/>
        </p:spPr>
        <p:txBody>
          <a:bodyPr wrap="square" lIns="0" rIns="0" tIns="0" bIns="0" anchor="t">
            <a:noAutofit/>
          </a:bodyPr>
          <a:lstStyle/>
          <a:p>
            <a:pPr algn="l"/>
            <a:r>
              <a:rPr sz="4000" b="1">
                <a:solidFill>
                  <a:srgbClr val="FFFFFF"/>
                </a:solidFill>
                <a:latin typeface="Poppins"/>
              </a:rPr>
              <a:t>Reference slides</a:t>
            </a:r>
          </a:p>
        </p:txBody>
      </p:sp>
      <p:sp>
        <p:nvSpPr>
          <p:cNvPr id="4" name="ax88|chip|"/>
          <p:cNvSpPr/>
          <p:nvPr/>
        </p:nvSpPr>
        <p:spPr>
          <a:xfrm>
            <a:off x="548640" y="2788920"/>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x88|chip|"/>
          <p:cNvSpPr txBox="1"/>
          <p:nvPr/>
        </p:nvSpPr>
        <p:spPr>
          <a:xfrm>
            <a:off x="548640" y="2788920"/>
            <a:ext cx="868680" cy="512064"/>
          </a:xfrm>
          <a:prstGeom prst="rect">
            <a:avLst/>
          </a:prstGeom>
          <a:noFill/>
        </p:spPr>
        <p:txBody>
          <a:bodyPr wrap="square" lIns="0" rIns="0" tIns="0" bIns="0" anchor="ctr">
            <a:noAutofit/>
          </a:bodyPr>
          <a:lstStyle/>
          <a:p>
            <a:pPr algn="ctr"/>
            <a:r>
              <a:rPr sz="1600" b="1">
                <a:solidFill>
                  <a:srgbClr val="0F1419"/>
                </a:solidFill>
                <a:latin typeface="Poppins"/>
              </a:rPr>
              <a:t>A1</a:t>
            </a:r>
          </a:p>
        </p:txBody>
      </p:sp>
      <p:sp>
        <p:nvSpPr>
          <p:cNvPr id="6" name="ax88|body|"/>
          <p:cNvSpPr txBox="1"/>
          <p:nvPr/>
        </p:nvSpPr>
        <p:spPr>
          <a:xfrm>
            <a:off x="1645919" y="2788920"/>
            <a:ext cx="7315200" cy="512064"/>
          </a:xfrm>
          <a:prstGeom prst="rect">
            <a:avLst/>
          </a:prstGeom>
          <a:noFill/>
        </p:spPr>
        <p:txBody>
          <a:bodyPr wrap="square" lIns="0" rIns="0" tIns="0" bIns="0" anchor="ctr">
            <a:noAutofit/>
          </a:bodyPr>
          <a:lstStyle/>
          <a:p>
            <a:pPr algn="l"/>
            <a:r>
              <a:rPr sz="2000" b="0">
                <a:solidFill>
                  <a:srgbClr val="FFFFFF"/>
                </a:solidFill>
                <a:latin typeface="Inter"/>
              </a:rPr>
              <a:t>Regional pricing: Nigeria, Kenya, Ghana &amp; USD markets</a:t>
            </a:r>
          </a:p>
        </p:txBody>
      </p:sp>
      <p:sp>
        <p:nvSpPr>
          <p:cNvPr id="7" name="ax89|chip|"/>
          <p:cNvSpPr/>
          <p:nvPr/>
        </p:nvSpPr>
        <p:spPr>
          <a:xfrm>
            <a:off x="548640" y="3502152"/>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ax89|chip|"/>
          <p:cNvSpPr txBox="1"/>
          <p:nvPr/>
        </p:nvSpPr>
        <p:spPr>
          <a:xfrm>
            <a:off x="548640" y="3502152"/>
            <a:ext cx="868680" cy="512064"/>
          </a:xfrm>
          <a:prstGeom prst="rect">
            <a:avLst/>
          </a:prstGeom>
          <a:noFill/>
        </p:spPr>
        <p:txBody>
          <a:bodyPr wrap="square" lIns="0" rIns="0" tIns="0" bIns="0" anchor="ctr">
            <a:noAutofit/>
          </a:bodyPr>
          <a:lstStyle/>
          <a:p>
            <a:pPr algn="ctr"/>
            <a:r>
              <a:rPr sz="1600" b="1">
                <a:solidFill>
                  <a:srgbClr val="0F1419"/>
                </a:solidFill>
                <a:latin typeface="Poppins"/>
              </a:rPr>
              <a:t>A2</a:t>
            </a:r>
          </a:p>
        </p:txBody>
      </p:sp>
      <p:sp>
        <p:nvSpPr>
          <p:cNvPr id="9" name="ax89|body|"/>
          <p:cNvSpPr txBox="1"/>
          <p:nvPr/>
        </p:nvSpPr>
        <p:spPr>
          <a:xfrm>
            <a:off x="1645919" y="3502152"/>
            <a:ext cx="7315200" cy="512064"/>
          </a:xfrm>
          <a:prstGeom prst="rect">
            <a:avLst/>
          </a:prstGeom>
          <a:noFill/>
        </p:spPr>
        <p:txBody>
          <a:bodyPr wrap="square" lIns="0" rIns="0" tIns="0" bIns="0" anchor="ctr">
            <a:noAutofit/>
          </a:bodyPr>
          <a:lstStyle/>
          <a:p>
            <a:pPr algn="l"/>
            <a:r>
              <a:rPr sz="2000" b="0">
                <a:solidFill>
                  <a:srgbClr val="FFFFFF"/>
                </a:solidFill>
                <a:latin typeface="Inter"/>
              </a:rPr>
              <a:t>Payment rails by country</a:t>
            </a:r>
          </a:p>
        </p:txBody>
      </p:sp>
      <p:sp>
        <p:nvSpPr>
          <p:cNvPr id="10" name="ax90|chip|"/>
          <p:cNvSpPr/>
          <p:nvPr/>
        </p:nvSpPr>
        <p:spPr>
          <a:xfrm>
            <a:off x="548640" y="4215383"/>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ax90|chip|"/>
          <p:cNvSpPr txBox="1"/>
          <p:nvPr/>
        </p:nvSpPr>
        <p:spPr>
          <a:xfrm>
            <a:off x="548640" y="4215383"/>
            <a:ext cx="868680" cy="512064"/>
          </a:xfrm>
          <a:prstGeom prst="rect">
            <a:avLst/>
          </a:prstGeom>
          <a:noFill/>
        </p:spPr>
        <p:txBody>
          <a:bodyPr wrap="square" lIns="0" rIns="0" tIns="0" bIns="0" anchor="ctr">
            <a:noAutofit/>
          </a:bodyPr>
          <a:lstStyle/>
          <a:p>
            <a:pPr algn="ctr"/>
            <a:r>
              <a:rPr sz="1600" b="1">
                <a:solidFill>
                  <a:srgbClr val="0F1419"/>
                </a:solidFill>
                <a:latin typeface="Poppins"/>
              </a:rPr>
              <a:t>A3</a:t>
            </a:r>
          </a:p>
        </p:txBody>
      </p:sp>
      <p:sp>
        <p:nvSpPr>
          <p:cNvPr id="12" name="ax90|body|"/>
          <p:cNvSpPr txBox="1"/>
          <p:nvPr/>
        </p:nvSpPr>
        <p:spPr>
          <a:xfrm>
            <a:off x="1645919" y="4215383"/>
            <a:ext cx="7315200" cy="512064"/>
          </a:xfrm>
          <a:prstGeom prst="rect">
            <a:avLst/>
          </a:prstGeom>
          <a:noFill/>
        </p:spPr>
        <p:txBody>
          <a:bodyPr wrap="square" lIns="0" rIns="0" tIns="0" bIns="0" anchor="ctr">
            <a:noAutofit/>
          </a:bodyPr>
          <a:lstStyle/>
          <a:p>
            <a:pPr algn="l"/>
            <a:r>
              <a:rPr sz="2000" b="0">
                <a:solidFill>
                  <a:srgbClr val="FFFFFF"/>
                </a:solidFill>
                <a:latin typeface="Inter"/>
              </a:rPr>
              <a:t>Partner wholesale pricing</a:t>
            </a:r>
          </a:p>
        </p:txBody>
      </p:sp>
      <p:sp>
        <p:nvSpPr>
          <p:cNvPr id="13" name="ax91|chip|"/>
          <p:cNvSpPr/>
          <p:nvPr/>
        </p:nvSpPr>
        <p:spPr>
          <a:xfrm>
            <a:off x="548640" y="4928616"/>
            <a:ext cx="868680" cy="512064"/>
          </a:xfrm>
          <a:prstGeom prst="roundRect">
            <a:avLst>
              <a:gd name="adj" fmla="val 50000"/>
            </a:avLst>
          </a:prstGeom>
          <a:solidFill>
            <a:srgbClr val="FF6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x91|chip|"/>
          <p:cNvSpPr txBox="1"/>
          <p:nvPr/>
        </p:nvSpPr>
        <p:spPr>
          <a:xfrm>
            <a:off x="548640" y="4928616"/>
            <a:ext cx="868680" cy="512064"/>
          </a:xfrm>
          <a:prstGeom prst="rect">
            <a:avLst/>
          </a:prstGeom>
          <a:noFill/>
        </p:spPr>
        <p:txBody>
          <a:bodyPr wrap="square" lIns="0" rIns="0" tIns="0" bIns="0" anchor="ctr">
            <a:noAutofit/>
          </a:bodyPr>
          <a:lstStyle/>
          <a:p>
            <a:pPr algn="ctr"/>
            <a:r>
              <a:rPr sz="1600" b="1">
                <a:solidFill>
                  <a:srgbClr val="0F1419"/>
                </a:solidFill>
                <a:latin typeface="Poppins"/>
              </a:rPr>
              <a:t>A4</a:t>
            </a:r>
          </a:p>
        </p:txBody>
      </p:sp>
      <p:sp>
        <p:nvSpPr>
          <p:cNvPr id="15" name="ax91|body|"/>
          <p:cNvSpPr txBox="1"/>
          <p:nvPr/>
        </p:nvSpPr>
        <p:spPr>
          <a:xfrm>
            <a:off x="1645919" y="4928616"/>
            <a:ext cx="7315200" cy="512064"/>
          </a:xfrm>
          <a:prstGeom prst="rect">
            <a:avLst/>
          </a:prstGeom>
          <a:noFill/>
        </p:spPr>
        <p:txBody>
          <a:bodyPr wrap="square" lIns="0" rIns="0" tIns="0" bIns="0" anchor="ctr">
            <a:noAutofit/>
          </a:bodyPr>
          <a:lstStyle/>
          <a:p>
            <a:pPr algn="l"/>
            <a:r>
              <a:rPr sz="2000" b="0">
                <a:solidFill>
                  <a:srgbClr val="FFFFFF"/>
                </a:solidFill>
                <a:latin typeface="Inter"/>
              </a:rPr>
              <a:t>Frequently asked questions</a:t>
            </a:r>
          </a:p>
        </p:txBody>
      </p:sp>
      <p:sp>
        <p:nvSpPr>
          <p:cNvPr id="1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A7B0B8"/>
                </a:solidFill>
                <a:latin typeface="Inter"/>
              </a:rPr>
              <a:t>FluxMuse · fluxmuse.ai</a:t>
            </a:r>
          </a:p>
        </p:txBody>
      </p:sp>
      <p:sp>
        <p:nvSpPr>
          <p:cNvPr id="1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A7B0B8"/>
                </a:solidFill>
                <a:latin typeface="Inter"/>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92|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NIGERIA, KENYA, GHANA &amp; USD MARKETS</a:t>
            </a:r>
          </a:p>
        </p:txBody>
      </p:sp>
      <p:sp>
        <p:nvSpPr>
          <p:cNvPr id="3" name="hdr92|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Regional pricing</a:t>
            </a:r>
          </a:p>
        </p:txBody>
      </p:sp>
      <p:pic>
        <p:nvPicPr>
          <p:cNvPr id="4" name="g93|img|infographics/pricing-regional.png" descr="Monthly plan prices in ZAR, NGN, KES, GHS and USD"/>
          <p:cNvPicPr>
            <a:picLocks noChangeAspect="1"/>
          </p:cNvPicPr>
          <p:nvPr/>
        </p:nvPicPr>
        <p:blipFill>
          <a:blip r:embed="rId2"/>
          <a:srcRect t="20000"/>
          <a:stretch>
            <a:fillRect/>
          </a:stretch>
        </p:blipFill>
        <p:spPr>
          <a:xfrm>
            <a:off x="609447" y="1389888"/>
            <a:ext cx="10972800" cy="4937760"/>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94|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A1 · EDITABLE</a:t>
            </a:r>
          </a:p>
        </p:txBody>
      </p:sp>
      <p:sp>
        <p:nvSpPr>
          <p:cNvPr id="3" name="hdr94|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Local-currency prices, monthly and annual</a:t>
            </a:r>
          </a:p>
        </p:txBody>
      </p:sp>
      <p:graphicFrame>
        <p:nvGraphicFramePr>
          <p:cNvPr id="4" name="g95|table|regional"/>
          <p:cNvGraphicFramePr>
            <a:graphicFrameLocks noGrp="1"/>
          </p:cNvGraphicFramePr>
          <p:nvPr/>
        </p:nvGraphicFramePr>
        <p:xfrm>
          <a:off x="548640" y="1508760"/>
          <a:ext cx="11091672" cy="3675888"/>
        </p:xfrm>
        <a:graphic>
          <a:graphicData uri="http://schemas.openxmlformats.org/drawingml/2006/table">
            <a:tbl>
              <a:tblPr firstRow="0" bandRow="0"/>
              <a:tblGrid>
                <a:gridCol w="1216152"/>
                <a:gridCol w="1234440"/>
                <a:gridCol w="1234440"/>
                <a:gridCol w="1234440"/>
                <a:gridCol w="1234440"/>
                <a:gridCol w="1234440"/>
                <a:gridCol w="1234440"/>
                <a:gridCol w="1234440"/>
                <a:gridCol w="1234440"/>
              </a:tblGrid>
              <a:tr h="566928">
                <a:tc>
                  <a:txBody>
                    <a:bodyPr wrap="square"/>
                    <a:lstStyle/>
                    <a:p>
                      <a:pPr algn="l"/>
                      <a:r>
                        <a:rPr sz="1400" b="1">
                          <a:solidFill>
                            <a:srgbClr val="FFFFFF"/>
                          </a:solidFill>
                          <a:latin typeface="Poppins"/>
                        </a:rPr>
                        <a:t>Plan</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NGN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NGN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KES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KES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GHS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GHS / yr</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USD / mo</a:t>
                      </a:r>
                    </a:p>
                  </a:txBody>
                  <a:tcPr marL="109728" marR="109728" marT="36576" marB="36576" anchor="ctr">
                    <a:lnL w="0">
                      <a:noFill/>
                    </a:lnL>
                    <a:lnR w="0">
                      <a:noFill/>
                    </a:lnR>
                    <a:lnT w="0">
                      <a:noFill/>
                    </a:lnT>
                    <a:lnB w="0">
                      <a:noFill/>
                    </a:lnB>
                    <a:solidFill>
                      <a:srgbClr val="0F1419"/>
                    </a:solidFill>
                  </a:tcPr>
                </a:tc>
                <a:tc>
                  <a:txBody>
                    <a:bodyPr wrap="square"/>
                    <a:lstStyle/>
                    <a:p>
                      <a:pPr algn="ctr"/>
                      <a:r>
                        <a:rPr sz="1400" b="1">
                          <a:solidFill>
                            <a:srgbClr val="FFFFFF"/>
                          </a:solidFill>
                          <a:latin typeface="Poppins"/>
                        </a:rPr>
                        <a:t>USD / yr</a:t>
                      </a:r>
                    </a:p>
                  </a:txBody>
                  <a:tcPr marL="109728" marR="109728" marT="36576" marB="36576" anchor="ctr">
                    <a:lnL w="0">
                      <a:noFill/>
                    </a:lnL>
                    <a:lnR w="0">
                      <a:noFill/>
                    </a:lnR>
                    <a:lnT w="0">
                      <a:noFill/>
                    </a:lnT>
                    <a:lnB w="0">
                      <a:noFill/>
                    </a:lnB>
                    <a:solidFill>
                      <a:srgbClr val="0F1419"/>
                    </a:solidFill>
                  </a:tcPr>
                </a:tc>
              </a:tr>
              <a:tr h="621792">
                <a:tc>
                  <a:txBody>
                    <a:bodyPr wrap="square"/>
                    <a:lstStyle/>
                    <a:p>
                      <a:pPr algn="l"/>
                      <a:r>
                        <a:rPr sz="1400" b="1">
                          <a:solidFill>
                            <a:srgbClr val="20242B"/>
                          </a:solidFill>
                          <a:latin typeface="Inter"/>
                        </a:rPr>
                        <a:t>Starter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$27</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$270</a:t>
                      </a:r>
                    </a:p>
                  </a:txBody>
                  <a:tcPr marL="109728" marR="109728" marT="36576" marB="36576" anchor="ctr">
                    <a:lnL w="0">
                      <a:noFill/>
                    </a:lnL>
                    <a:lnR w="0">
                      <a:noFill/>
                    </a:lnR>
                    <a:lnT w="0">
                      <a:noFill/>
                    </a:lnT>
                    <a:lnB w="12700">
                      <a:solidFill>
                        <a:srgbClr val="E3E6EA"/>
                      </a:solidFill>
                    </a:lnB>
                    <a:solidFill>
                      <a:srgbClr val="FFFFFF"/>
                    </a:solidFill>
                  </a:tcPr>
                </a:tc>
              </a:tr>
              <a:tr h="621792">
                <a:tc>
                  <a:txBody>
                    <a:bodyPr wrap="square"/>
                    <a:lstStyle/>
                    <a:p>
                      <a:pPr algn="l"/>
                      <a:r>
                        <a:rPr sz="1400" b="1">
                          <a:solidFill>
                            <a:srgbClr val="20242B"/>
                          </a:solidFill>
                          <a:latin typeface="Inter"/>
                        </a:rPr>
                        <a:t>Growth</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₦165,000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₦1,650,000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KSh 15,999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KSh 159,990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GH₵ 1,359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GH₵ 13,590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$109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400" b="0">
                          <a:solidFill>
                            <a:srgbClr val="20242B"/>
                          </a:solidFill>
                          <a:latin typeface="Inter"/>
                        </a:rPr>
                        <a:t>$1,090</a:t>
                      </a:r>
                    </a:p>
                  </a:txBody>
                  <a:tcPr marL="109728" marR="109728" marT="36576" marB="36576" anchor="ctr">
                    <a:lnL w="0">
                      <a:noFill/>
                    </a:lnL>
                    <a:lnR w="0">
                      <a:noFill/>
                    </a:lnR>
                    <a:lnT w="0">
                      <a:noFill/>
                    </a:lnT>
                    <a:lnB w="12700">
                      <a:solidFill>
                        <a:srgbClr val="E3E6EA"/>
                      </a:solidFill>
                    </a:lnB>
                    <a:solidFill>
                      <a:srgbClr val="FFF4EB"/>
                    </a:solidFill>
                  </a:tcPr>
                </a:tc>
              </a:tr>
              <a:tr h="621792">
                <a:tc>
                  <a:txBody>
                    <a:bodyPr wrap="square"/>
                    <a:lstStyle/>
                    <a:p>
                      <a:pPr algn="l"/>
                      <a:r>
                        <a:rPr sz="1400" b="1">
                          <a:solidFill>
                            <a:srgbClr val="20242B"/>
                          </a:solidFill>
                          <a:latin typeface="Inter"/>
                        </a:rPr>
                        <a:t>Scale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₦413,000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₦4,130,000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399,990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33,990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$269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$2,690</a:t>
                      </a:r>
                    </a:p>
                  </a:txBody>
                  <a:tcPr marL="109728" marR="109728" marT="36576" marB="36576" anchor="ctr">
                    <a:lnL w="0">
                      <a:noFill/>
                    </a:lnL>
                    <a:lnR w="0">
                      <a:noFill/>
                    </a:lnR>
                    <a:lnT w="0">
                      <a:noFill/>
                    </a:lnT>
                    <a:lnB w="12700">
                      <a:solidFill>
                        <a:srgbClr val="E3E6EA"/>
                      </a:solidFill>
                    </a:lnB>
                    <a:solidFill>
                      <a:srgbClr val="FFFFFF"/>
                    </a:solidFill>
                  </a:tcPr>
                </a:tc>
              </a:tr>
              <a:tr h="621792">
                <a:tc>
                  <a:txBody>
                    <a:bodyPr wrap="square"/>
                    <a:lstStyle/>
                    <a:p>
                      <a:pPr algn="l"/>
                      <a:r>
                        <a:rPr sz="1400" b="1">
                          <a:solidFill>
                            <a:srgbClr val="20242B"/>
                          </a:solidFill>
                          <a:latin typeface="Inter"/>
                        </a:rPr>
                        <a:t>Agency</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₦662,000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₦6,620,000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64,499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KSh 644,990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5,439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GH₵ 54,390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$429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$4,290</a:t>
                      </a:r>
                    </a:p>
                  </a:txBody>
                  <a:tcPr marL="109728" marR="109728" marT="36576" marB="36576" anchor="ctr">
                    <a:lnL w="0">
                      <a:noFill/>
                    </a:lnL>
                    <a:lnR w="0">
                      <a:noFill/>
                    </a:lnR>
                    <a:lnT w="0">
                      <a:noFill/>
                    </a:lnT>
                    <a:lnB w="12700">
                      <a:solidFill>
                        <a:srgbClr val="E3E6EA"/>
                      </a:solidFill>
                    </a:lnB>
                    <a:solidFill>
                      <a:srgbClr val="FFFFFF"/>
                    </a:solidFill>
                  </a:tcPr>
                </a:tc>
              </a:tr>
              <a:tr h="621792">
                <a:tc>
                  <a:txBody>
                    <a:bodyPr wrap="square"/>
                    <a:lstStyle/>
                    <a:p>
                      <a:pPr algn="l"/>
                      <a:r>
                        <a:rPr sz="1400" b="1">
                          <a:solidFill>
                            <a:srgbClr val="20242B"/>
                          </a:solidFill>
                          <a:latin typeface="Inter"/>
                        </a:rPr>
                        <a:t>Enterprise</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₦1,650,000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KSh 161,000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GH₵ 13,600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from $1,099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400" b="0">
                          <a:solidFill>
                            <a:srgbClr val="20242B"/>
                          </a:solidFill>
                          <a:latin typeface="Inter"/>
                        </a:rPr>
                        <a:t>custom</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g96|caption|"/>
          <p:cNvSpPr txBox="1"/>
          <p:nvPr/>
        </p:nvSpPr>
        <p:spPr>
          <a:xfrm>
            <a:off x="548640" y="5440680"/>
            <a:ext cx="11094415" cy="685800"/>
          </a:xfrm>
          <a:prstGeom prst="rect">
            <a:avLst/>
          </a:prstGeom>
          <a:noFill/>
        </p:spPr>
        <p:txBody>
          <a:bodyPr wrap="square" lIns="0" rIns="0" tIns="0" bIns="0" anchor="t">
            <a:noAutofit/>
          </a:bodyPr>
          <a:lstStyle/>
          <a:p>
            <a:pPr algn="l">
              <a:spcAft>
                <a:spcPts val="400"/>
              </a:spcAft>
            </a:pPr>
            <a:r>
              <a:rPr sz="1200" b="0">
                <a:solidFill>
                  <a:srgbClr val="5B6670"/>
                </a:solidFill>
                <a:latin typeface="Inter"/>
              </a:rPr>
              <a:t>Billed in local currency at fixed price points, reviewed quarterly. USD applies in 19 other rail-covered countries.</a:t>
            </a:r>
          </a:p>
          <a:p>
            <a:pPr algn="l"/>
            <a:r>
              <a:rPr sz="1200" b="0">
                <a:solidFill>
                  <a:srgbClr val="5B6670"/>
                </a:solidFill>
                <a:latin typeface="Inter"/>
              </a:rPr>
              <a:t>Countries without a payment rail, including Botswana and Namibia (coming soon): waitlist only, no prices.</a:t>
            </a:r>
          </a:p>
        </p:txBody>
      </p:sp>
      <p:sp>
        <p:nvSpPr>
          <p:cNvPr id="6"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7"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97|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A2 · PAYMENT RAILS</a:t>
            </a:r>
          </a:p>
        </p:txBody>
      </p:sp>
      <p:sp>
        <p:nvSpPr>
          <p:cNvPr id="3" name="hdr97|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Payment rails by country</a:t>
            </a:r>
          </a:p>
        </p:txBody>
      </p:sp>
      <p:pic>
        <p:nvPicPr>
          <p:cNvPr id="4" name="g98|img|infographics/payment-rails-matrix.png" descr="Matrix of 23 countries by region against 5 payment rails with billing currency; Botswana and Namibia coming soon"/>
          <p:cNvPicPr>
            <a:picLocks noChangeAspect="1"/>
          </p:cNvPicPr>
          <p:nvPr/>
        </p:nvPicPr>
        <p:blipFill>
          <a:blip r:embed="rId2"/>
          <a:srcRect t="19000" b="6000"/>
          <a:stretch>
            <a:fillRect/>
          </a:stretch>
        </p:blipFill>
        <p:spPr>
          <a:xfrm>
            <a:off x="548640" y="1518539"/>
            <a:ext cx="11094415" cy="4680456"/>
          </a:xfrm>
          <a:prstGeom prst="rect">
            <a:avLst/>
          </a:prstGeom>
        </p:spPr>
      </p:pic>
      <p:sp>
        <p:nvSpPr>
          <p:cNvPr id="5"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6"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99|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A3 · PARTNER WHOLESALE</a:t>
            </a:r>
          </a:p>
        </p:txBody>
      </p:sp>
      <p:sp>
        <p:nvSpPr>
          <p:cNvPr id="3" name="hdr99|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Partner wholesale pricing</a:t>
            </a:r>
          </a:p>
        </p:txBody>
      </p:sp>
      <p:graphicFrame>
        <p:nvGraphicFramePr>
          <p:cNvPr id="4" name="g100|table|wholesale"/>
          <p:cNvGraphicFramePr>
            <a:graphicFrameLocks noGrp="1"/>
          </p:cNvGraphicFramePr>
          <p:nvPr/>
        </p:nvGraphicFramePr>
        <p:xfrm>
          <a:off x="548640" y="1508760"/>
          <a:ext cx="11091672" cy="2377440"/>
        </p:xfrm>
        <a:graphic>
          <a:graphicData uri="http://schemas.openxmlformats.org/drawingml/2006/table">
            <a:tbl>
              <a:tblPr firstRow="0" bandRow="0"/>
              <a:tblGrid>
                <a:gridCol w="3319272"/>
                <a:gridCol w="1554480"/>
                <a:gridCol w="1554480"/>
                <a:gridCol w="1554480"/>
                <a:gridCol w="1554480"/>
                <a:gridCol w="1554480"/>
              </a:tblGrid>
              <a:tr h="566928">
                <a:tc>
                  <a:txBody>
                    <a:bodyPr wrap="square"/>
                    <a:lstStyle/>
                    <a:p>
                      <a:pPr algn="l"/>
                      <a:r>
                        <a:rPr sz="1600" b="1">
                          <a:solidFill>
                            <a:srgbClr val="FFFFFF"/>
                          </a:solidFill>
                          <a:latin typeface="Poppins"/>
                        </a:rPr>
                        <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ZAR</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NGN</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KES</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GHS</a:t>
                      </a:r>
                    </a:p>
                  </a:txBody>
                  <a:tcPr marL="109728" marR="109728" marT="36576" marB="36576" anchor="ctr">
                    <a:lnL w="0">
                      <a:noFill/>
                    </a:lnL>
                    <a:lnR w="0">
                      <a:noFill/>
                    </a:lnR>
                    <a:lnT w="0">
                      <a:noFill/>
                    </a:lnT>
                    <a:lnB w="0">
                      <a:noFill/>
                    </a:lnB>
                    <a:solidFill>
                      <a:srgbClr val="0F1419"/>
                    </a:solidFill>
                  </a:tcPr>
                </a:tc>
                <a:tc>
                  <a:txBody>
                    <a:bodyPr wrap="square"/>
                    <a:lstStyle/>
                    <a:p>
                      <a:pPr algn="ctr"/>
                      <a:r>
                        <a:rPr sz="1600" b="1">
                          <a:solidFill>
                            <a:srgbClr val="FFFFFF"/>
                          </a:solidFill>
                          <a:latin typeface="Poppins"/>
                        </a:rPr>
                        <a:t>USD</a:t>
                      </a:r>
                    </a:p>
                  </a:txBody>
                  <a:tcPr marL="109728" marR="109728" marT="36576" marB="36576" anchor="ctr">
                    <a:lnL w="0">
                      <a:noFill/>
                    </a:lnL>
                    <a:lnR w="0">
                      <a:noFill/>
                    </a:lnR>
                    <a:lnT w="0">
                      <a:noFill/>
                    </a:lnT>
                    <a:lnB w="0">
                      <a:noFill/>
                    </a:lnB>
                    <a:solidFill>
                      <a:srgbClr val="0F1419"/>
                    </a:solidFill>
                  </a:tcPr>
                </a:tc>
              </a:tr>
              <a:tr h="603504">
                <a:tc>
                  <a:txBody>
                    <a:bodyPr wrap="square"/>
                    <a:lstStyle/>
                    <a:p>
                      <a:pPr algn="l"/>
                      <a:r>
                        <a:rPr sz="1600" b="1">
                          <a:solidFill>
                            <a:srgbClr val="20242B"/>
                          </a:solidFill>
                          <a:latin typeface="Inter"/>
                        </a:rPr>
                        <a:t>Agency list / month</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R7,999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₦662,000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KSh 64,499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GH₵ 5,439</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$429</a:t>
                      </a:r>
                    </a:p>
                  </a:txBody>
                  <a:tcPr marL="109728" marR="109728" marT="36576" marB="36576" anchor="ctr">
                    <a:lnL w="0">
                      <a:noFill/>
                    </a:lnL>
                    <a:lnR w="0">
                      <a:noFill/>
                    </a:lnR>
                    <a:lnT w="0">
                      <a:noFill/>
                    </a:lnT>
                    <a:lnB w="12700">
                      <a:solidFill>
                        <a:srgbClr val="E3E6EA"/>
                      </a:solidFill>
                    </a:lnB>
                    <a:solidFill>
                      <a:srgbClr val="FFFFFF"/>
                    </a:solidFill>
                  </a:tcPr>
                </a:tc>
              </a:tr>
              <a:tr h="603504">
                <a:tc>
                  <a:txBody>
                    <a:bodyPr wrap="square"/>
                    <a:lstStyle/>
                    <a:p>
                      <a:pPr algn="l"/>
                      <a:r>
                        <a:rPr sz="1600" b="1">
                          <a:solidFill>
                            <a:srgbClr val="20242B"/>
                          </a:solidFill>
                          <a:latin typeface="Inter"/>
                        </a:rPr>
                        <a:t>Wholesale / month (−30%)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R5,599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₦463,000</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KSh 44,999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GH₵ 3,799</a:t>
                      </a:r>
                    </a:p>
                  </a:txBody>
                  <a:tcPr marL="109728" marR="109728" marT="36576" marB="36576" anchor="ctr">
                    <a:lnL w="0">
                      <a:noFill/>
                    </a:lnL>
                    <a:lnR w="0">
                      <a:noFill/>
                    </a:lnR>
                    <a:lnT w="0">
                      <a:noFill/>
                    </a:lnT>
                    <a:lnB w="12700">
                      <a:solidFill>
                        <a:srgbClr val="E3E6EA"/>
                      </a:solidFill>
                    </a:lnB>
                    <a:solidFill>
                      <a:srgbClr val="FFF4EB"/>
                    </a:solidFill>
                  </a:tcPr>
                </a:tc>
                <a:tc>
                  <a:txBody>
                    <a:bodyPr wrap="square"/>
                    <a:lstStyle/>
                    <a:p>
                      <a:pPr algn="ctr"/>
                      <a:r>
                        <a:rPr sz="1600" b="1">
                          <a:solidFill>
                            <a:srgbClr val="20242B"/>
                          </a:solidFill>
                          <a:latin typeface="Inter"/>
                        </a:rPr>
                        <a:t>$299</a:t>
                      </a:r>
                    </a:p>
                  </a:txBody>
                  <a:tcPr marL="109728" marR="109728" marT="36576" marB="36576" anchor="ctr">
                    <a:lnL w="0">
                      <a:noFill/>
                    </a:lnL>
                    <a:lnR w="0">
                      <a:noFill/>
                    </a:lnR>
                    <a:lnT w="0">
                      <a:noFill/>
                    </a:lnT>
                    <a:lnB w="12700">
                      <a:solidFill>
                        <a:srgbClr val="E3E6EA"/>
                      </a:solidFill>
                    </a:lnB>
                    <a:solidFill>
                      <a:srgbClr val="FFF4EB"/>
                    </a:solidFill>
                  </a:tcPr>
                </a:tc>
              </a:tr>
              <a:tr h="603504">
                <a:tc>
                  <a:txBody>
                    <a:bodyPr wrap="square"/>
                    <a:lstStyle/>
                    <a:p>
                      <a:pPr algn="l"/>
                      <a:r>
                        <a:rPr sz="1600" b="1">
                          <a:solidFill>
                            <a:srgbClr val="20242B"/>
                          </a:solidFill>
                          <a:latin typeface="Inter"/>
                        </a:rPr>
                        <a:t>Wholesale / year</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R55,990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₦4,630,000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KSh 449,990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GH₵ 37,990</a:t>
                      </a:r>
                    </a:p>
                  </a:txBody>
                  <a:tcPr marL="109728" marR="109728" marT="36576" marB="36576" anchor="ctr">
                    <a:lnL w="0">
                      <a:noFill/>
                    </a:lnL>
                    <a:lnR w="0">
                      <a:noFill/>
                    </a:lnR>
                    <a:lnT w="0">
                      <a:noFill/>
                    </a:lnT>
                    <a:lnB w="12700">
                      <a:solidFill>
                        <a:srgbClr val="E3E6EA"/>
                      </a:solidFill>
                    </a:lnB>
                    <a:solidFill>
                      <a:srgbClr val="FFFFFF"/>
                    </a:solidFill>
                  </a:tcPr>
                </a:tc>
                <a:tc>
                  <a:txBody>
                    <a:bodyPr wrap="square"/>
                    <a:lstStyle/>
                    <a:p>
                      <a:pPr algn="ctr"/>
                      <a:r>
                        <a:rPr sz="1600" b="0">
                          <a:solidFill>
                            <a:srgbClr val="20242B"/>
                          </a:solidFill>
                          <a:latin typeface="Inter"/>
                        </a:rPr>
                        <a:t>$2,990</a:t>
                      </a:r>
                    </a:p>
                  </a:txBody>
                  <a:tcPr marL="109728" marR="109728" marT="36576" marB="36576" anchor="ctr">
                    <a:lnL w="0">
                      <a:noFill/>
                    </a:lnL>
                    <a:lnR w="0">
                      <a:noFill/>
                    </a:lnR>
                    <a:lnT w="0">
                      <a:noFill/>
                    </a:lnT>
                    <a:lnB w="12700">
                      <a:solidFill>
                        <a:srgbClr val="E3E6EA"/>
                      </a:solidFill>
                    </a:lnB>
                    <a:solidFill>
                      <a:srgbClr val="FFFFFF"/>
                    </a:solidFill>
                  </a:tcPr>
                </a:tc>
              </a:tr>
            </a:tbl>
          </a:graphicData>
        </a:graphic>
      </p:graphicFrame>
      <p:sp>
        <p:nvSpPr>
          <p:cNvPr id="5" name="illus101|card|"/>
          <p:cNvSpPr/>
          <p:nvPr/>
        </p:nvSpPr>
        <p:spPr>
          <a:xfrm>
            <a:off x="548640" y="4224528"/>
            <a:ext cx="6720840" cy="1874519"/>
          </a:xfrm>
          <a:prstGeom prst="roundRect">
            <a:avLst>
              <a:gd name="adj" fmla="val 8780"/>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llus101|eyebrow|"/>
          <p:cNvSpPr txBox="1"/>
          <p:nvPr/>
        </p:nvSpPr>
        <p:spPr>
          <a:xfrm>
            <a:off x="868680" y="4407408"/>
            <a:ext cx="6035040" cy="274320"/>
          </a:xfrm>
          <a:prstGeom prst="rect">
            <a:avLst/>
          </a:prstGeom>
          <a:noFill/>
        </p:spPr>
        <p:txBody>
          <a:bodyPr wrap="square" lIns="0" rIns="0" tIns="0" bIns="0" anchor="t">
            <a:noAutofit/>
          </a:bodyPr>
          <a:lstStyle/>
          <a:p>
            <a:pPr algn="l"/>
            <a:r>
              <a:rPr sz="1200" b="1" spc="120">
                <a:solidFill>
                  <a:srgbClr val="C24E00"/>
                </a:solidFill>
                <a:latin typeface="Inter"/>
              </a:rPr>
              <a:t>ILLUSTRATIVE ONLY · NOT A FORECAST</a:t>
            </a:r>
          </a:p>
        </p:txBody>
      </p:sp>
      <p:sp>
        <p:nvSpPr>
          <p:cNvPr id="7" name="illus101|card|"/>
          <p:cNvSpPr txBox="1"/>
          <p:nvPr/>
        </p:nvSpPr>
        <p:spPr>
          <a:xfrm>
            <a:off x="868680" y="4754880"/>
            <a:ext cx="6126480" cy="1188720"/>
          </a:xfrm>
          <a:prstGeom prst="rect">
            <a:avLst/>
          </a:prstGeom>
          <a:noFill/>
        </p:spPr>
        <p:txBody>
          <a:bodyPr wrap="square" lIns="0" rIns="0" tIns="0" bIns="0" anchor="t">
            <a:noAutofit/>
          </a:bodyPr>
          <a:lstStyle/>
          <a:p>
            <a:pPr algn="l">
              <a:spcAft>
                <a:spcPts val="600"/>
              </a:spcAft>
            </a:pPr>
            <a:r>
              <a:rPr sz="1900" b="1">
                <a:solidFill>
                  <a:srgbClr val="20242B"/>
                </a:solidFill>
                <a:latin typeface="Poppins"/>
              </a:rPr>
              <a:t>20 clients × R1,500/mo = R30,000 billed</a:t>
            </a:r>
          </a:p>
          <a:p>
            <a:pPr algn="l"/>
            <a:r>
              <a:rPr sz="1600" b="0">
                <a:solidFill>
                  <a:srgbClr val="20242B"/>
                </a:solidFill>
                <a:latin typeface="Poppins"/>
              </a:rPr>
              <a:t>− R5,599 wholesale = R24,401/mo gross spread, before your own costs</a:t>
            </a:r>
          </a:p>
        </p:txBody>
      </p:sp>
      <p:sp>
        <p:nvSpPr>
          <p:cNvPr id="8" name="g102|body|"/>
          <p:cNvSpPr txBox="1"/>
          <p:nvPr/>
        </p:nvSpPr>
        <p:spPr>
          <a:xfrm>
            <a:off x="7589520" y="4315968"/>
            <a:ext cx="4050791" cy="1737360"/>
          </a:xfrm>
          <a:prstGeom prst="rect">
            <a:avLst/>
          </a:prstGeom>
          <a:noFill/>
        </p:spPr>
        <p:txBody>
          <a:bodyPr wrap="square" lIns="0" rIns="0" tIns="0" bIns="0" anchor="t">
            <a:noAutofit/>
          </a:bodyPr>
          <a:lstStyle/>
          <a:p>
            <a:pPr algn="l">
              <a:spcAft>
                <a:spcPts val="800"/>
              </a:spcAft>
            </a:pPr>
            <a:r>
              <a:rPr sz="1400" b="0">
                <a:solidFill>
                  <a:srgbClr val="5B6670"/>
                </a:solidFill>
                <a:latin typeface="Inter"/>
              </a:rPr>
              <a:t>Same inclusions as Agency. Annual = 10× monthly.</a:t>
            </a:r>
          </a:p>
          <a:p>
            <a:pPr algn="l">
              <a:spcAft>
                <a:spcPts val="800"/>
              </a:spcAft>
            </a:pPr>
            <a:r>
              <a:rPr sz="1400" b="0">
                <a:solidFill>
                  <a:srgbClr val="5B6670"/>
                </a:solidFill>
                <a:latin typeface="Inter"/>
              </a:rPr>
              <a:t>You set your retail price.</a:t>
            </a:r>
          </a:p>
          <a:p>
            <a:pPr algn="l"/>
            <a:r>
              <a:rPr sz="1400" b="0">
                <a:solidFill>
                  <a:srgbClr val="5B6670"/>
                </a:solidFill>
                <a:latin typeface="Inter"/>
              </a:rPr>
              <a:t>No payment rail? Waitlist only.</a:t>
            </a:r>
          </a:p>
        </p:txBody>
      </p:sp>
      <p:sp>
        <p:nvSpPr>
          <p:cNvPr id="9"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10"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03|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A4 · FAQ (1 OF 2)</a:t>
            </a:r>
          </a:p>
        </p:txBody>
      </p:sp>
      <p:sp>
        <p:nvSpPr>
          <p:cNvPr id="3" name="hdr103|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104|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104|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104|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104|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Is my customers' data safe?</a:t>
            </a:r>
          </a:p>
        </p:txBody>
      </p:sp>
      <p:sp>
        <p:nvSpPr>
          <p:cNvPr id="8" name="faq104|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FluxMuse is POPIA, NDPR and GDPR ready, with row-level security on every table, encrypted tokens, audit export, and account deletion and data export.</a:t>
            </a:r>
          </a:p>
        </p:txBody>
      </p:sp>
      <p:sp>
        <p:nvSpPr>
          <p:cNvPr id="9" name="faq105|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105|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105|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105|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Can I use my own WhatsApp number?</a:t>
            </a:r>
          </a:p>
        </p:txBody>
      </p:sp>
      <p:sp>
        <p:nvSpPr>
          <p:cNvPr id="13" name="faq105|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You connect a WhatsApp Business number through Meta's official Embedded Signup (WhatsApp Cloud API). We check your number with you during setup.</a:t>
            </a:r>
          </a:p>
        </p:txBody>
      </p:sp>
      <p:sp>
        <p:nvSpPr>
          <p:cNvPr id="14" name="faq106|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106|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106|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106|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Which payment methods can customers use?</a:t>
            </a:r>
          </a:p>
        </p:txBody>
      </p:sp>
      <p:sp>
        <p:nvSpPr>
          <p:cNvPr id="18" name="faq106|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In South Africa: Yoco card and tap-to-pay, Ozow instant EFT and Paystack. Across Africa: Paystack, pawaPay mobile money and Fincra, in 23 countries.</a:t>
            </a:r>
          </a:p>
        </p:txBody>
      </p:sp>
      <p:sp>
        <p:nvSpPr>
          <p:cNvPr id="19" name="faq107|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107|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107|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107|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Is there a contract? Can I cancel?</a:t>
            </a:r>
          </a:p>
        </p:txBody>
      </p:sp>
      <p:sp>
        <p:nvSpPr>
          <p:cNvPr id="23" name="faq107|placeholder|"/>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Start with a 14-day free trial, no card required. Then pay monthly, or annually for 2 months free. Cancellation terms: [[CONFIRM TERMS]].</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hdr108|eyebrow|"/>
          <p:cNvSpPr txBox="1"/>
          <p:nvPr/>
        </p:nvSpPr>
        <p:spPr>
          <a:xfrm>
            <a:off x="548640" y="384048"/>
            <a:ext cx="11094415" cy="237744"/>
          </a:xfrm>
          <a:prstGeom prst="rect">
            <a:avLst/>
          </a:prstGeom>
          <a:noFill/>
        </p:spPr>
        <p:txBody>
          <a:bodyPr wrap="square" lIns="0" rIns="0" tIns="0" bIns="0" anchor="t">
            <a:noAutofit/>
          </a:bodyPr>
          <a:lstStyle/>
          <a:p>
            <a:pPr algn="l"/>
            <a:r>
              <a:rPr sz="1200" b="1" spc="150">
                <a:solidFill>
                  <a:srgbClr val="C24E00"/>
                </a:solidFill>
                <a:latin typeface="Inter"/>
              </a:rPr>
              <a:t>APPENDIX A4 · FAQ (2 OF 2)</a:t>
            </a:r>
          </a:p>
        </p:txBody>
      </p:sp>
      <p:sp>
        <p:nvSpPr>
          <p:cNvPr id="3" name="hdr108|title|"/>
          <p:cNvSpPr txBox="1"/>
          <p:nvPr/>
        </p:nvSpPr>
        <p:spPr>
          <a:xfrm>
            <a:off x="548640" y="640080"/>
            <a:ext cx="11094415" cy="713232"/>
          </a:xfrm>
          <a:prstGeom prst="rect">
            <a:avLst/>
          </a:prstGeom>
          <a:noFill/>
        </p:spPr>
        <p:txBody>
          <a:bodyPr wrap="square" lIns="0" rIns="0" tIns="0" bIns="0" anchor="t">
            <a:noAutofit/>
          </a:bodyPr>
          <a:lstStyle/>
          <a:p>
            <a:pPr algn="l"/>
            <a:r>
              <a:rPr sz="3200" b="1">
                <a:solidFill>
                  <a:srgbClr val="20242B"/>
                </a:solidFill>
                <a:latin typeface="Poppins"/>
              </a:rPr>
              <a:t>Questions prospects ask</a:t>
            </a:r>
          </a:p>
        </p:txBody>
      </p:sp>
      <p:sp>
        <p:nvSpPr>
          <p:cNvPr id="4" name="faq109|card|"/>
          <p:cNvSpPr/>
          <p:nvPr/>
        </p:nvSpPr>
        <p:spPr>
          <a:xfrm>
            <a:off x="548640"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aq109|deco|"/>
          <p:cNvSpPr/>
          <p:nvPr/>
        </p:nvSpPr>
        <p:spPr>
          <a:xfrm>
            <a:off x="777239"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faq109|icon|chat_deep.png" descr="chat_deep"/>
          <p:cNvPicPr>
            <a:picLocks noChangeAspect="1"/>
          </p:cNvPicPr>
          <p:nvPr/>
        </p:nvPicPr>
        <p:blipFill>
          <a:blip r:embed="rId2"/>
          <a:srcRect/>
          <a:stretch>
            <a:fillRect/>
          </a:stretch>
        </p:blipFill>
        <p:spPr>
          <a:xfrm>
            <a:off x="897940" y="1912924"/>
            <a:ext cx="307238" cy="307238"/>
          </a:xfrm>
          <a:prstGeom prst="rect">
            <a:avLst/>
          </a:prstGeom>
        </p:spPr>
      </p:pic>
      <p:sp>
        <p:nvSpPr>
          <p:cNvPr id="7" name="faq109|card|"/>
          <p:cNvSpPr txBox="1"/>
          <p:nvPr/>
        </p:nvSpPr>
        <p:spPr>
          <a:xfrm>
            <a:off x="1463040"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Which languages does it write in?</a:t>
            </a:r>
          </a:p>
        </p:txBody>
      </p:sp>
      <p:sp>
        <p:nvSpPr>
          <p:cNvPr id="8" name="faq109|card|"/>
          <p:cNvSpPr txBox="1"/>
          <p:nvPr/>
        </p:nvSpPr>
        <p:spPr>
          <a:xfrm>
            <a:off x="868680"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The Creator agent writes in isiZulu, Afrikaans, English, Pidgin, Swahili and more.</a:t>
            </a:r>
          </a:p>
        </p:txBody>
      </p:sp>
      <p:sp>
        <p:nvSpPr>
          <p:cNvPr id="9" name="faq110|card|"/>
          <p:cNvSpPr/>
          <p:nvPr/>
        </p:nvSpPr>
        <p:spPr>
          <a:xfrm>
            <a:off x="6202375" y="153619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faq110|deco|"/>
          <p:cNvSpPr/>
          <p:nvPr/>
        </p:nvSpPr>
        <p:spPr>
          <a:xfrm>
            <a:off x="6430975" y="1792223"/>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faq110|icon|chat_deep.png" descr="chat_deep"/>
          <p:cNvPicPr>
            <a:picLocks noChangeAspect="1"/>
          </p:cNvPicPr>
          <p:nvPr/>
        </p:nvPicPr>
        <p:blipFill>
          <a:blip r:embed="rId2"/>
          <a:srcRect/>
          <a:stretch>
            <a:fillRect/>
          </a:stretch>
        </p:blipFill>
        <p:spPr>
          <a:xfrm>
            <a:off x="6551675" y="1912924"/>
            <a:ext cx="307238" cy="307238"/>
          </a:xfrm>
          <a:prstGeom prst="rect">
            <a:avLst/>
          </a:prstGeom>
        </p:spPr>
      </p:pic>
      <p:sp>
        <p:nvSpPr>
          <p:cNvPr id="12" name="faq110|card|"/>
          <p:cNvSpPr txBox="1"/>
          <p:nvPr/>
        </p:nvSpPr>
        <p:spPr>
          <a:xfrm>
            <a:off x="7116775" y="1719072"/>
            <a:ext cx="4251960" cy="713232"/>
          </a:xfrm>
          <a:prstGeom prst="rect">
            <a:avLst/>
          </a:prstGeom>
          <a:noFill/>
        </p:spPr>
        <p:txBody>
          <a:bodyPr wrap="square" lIns="0" rIns="0" tIns="0" bIns="0" anchor="ctr">
            <a:noAutofit/>
          </a:bodyPr>
          <a:lstStyle/>
          <a:p>
            <a:pPr algn="l"/>
            <a:r>
              <a:rPr sz="1700" b="1">
                <a:solidFill>
                  <a:srgbClr val="20242B"/>
                </a:solidFill>
                <a:latin typeface="Poppins"/>
              </a:rPr>
              <a:t>How long does onboarding take?</a:t>
            </a:r>
          </a:p>
        </p:txBody>
      </p:sp>
      <p:sp>
        <p:nvSpPr>
          <p:cNvPr id="13" name="faq110|card|"/>
          <p:cNvSpPr txBox="1"/>
          <p:nvPr/>
        </p:nvSpPr>
        <p:spPr>
          <a:xfrm>
            <a:off x="6522415" y="2523744"/>
            <a:ext cx="4800600" cy="1133856"/>
          </a:xfrm>
          <a:prstGeom prst="rect">
            <a:avLst/>
          </a:prstGeom>
          <a:noFill/>
        </p:spPr>
        <p:txBody>
          <a:bodyPr wrap="square" lIns="0" rIns="0" tIns="0" bIns="0" anchor="t">
            <a:noAutofit/>
          </a:bodyPr>
          <a:lstStyle/>
          <a:p>
            <a:pPr algn="l"/>
            <a:r>
              <a:rPr sz="1500" b="0">
                <a:solidFill>
                  <a:srgbClr val="20242B"/>
                </a:solidFill>
                <a:latin typeface="Inter"/>
              </a:rPr>
              <a:t>Typically 1–2 weeks to set up your WhatsApp number, catalog, payment rail and content calendar.</a:t>
            </a:r>
          </a:p>
        </p:txBody>
      </p:sp>
      <p:sp>
        <p:nvSpPr>
          <p:cNvPr id="14" name="faq111|card|"/>
          <p:cNvSpPr/>
          <p:nvPr/>
        </p:nvSpPr>
        <p:spPr>
          <a:xfrm>
            <a:off x="548640"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faq111|deco|"/>
          <p:cNvSpPr/>
          <p:nvPr/>
        </p:nvSpPr>
        <p:spPr>
          <a:xfrm>
            <a:off x="777239"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faq111|icon|chat_deep.png" descr="chat_deep"/>
          <p:cNvPicPr>
            <a:picLocks noChangeAspect="1"/>
          </p:cNvPicPr>
          <p:nvPr/>
        </p:nvPicPr>
        <p:blipFill>
          <a:blip r:embed="rId2"/>
          <a:srcRect/>
          <a:stretch>
            <a:fillRect/>
          </a:stretch>
        </p:blipFill>
        <p:spPr>
          <a:xfrm>
            <a:off x="897940" y="4336084"/>
            <a:ext cx="307238" cy="307238"/>
          </a:xfrm>
          <a:prstGeom prst="rect">
            <a:avLst/>
          </a:prstGeom>
        </p:spPr>
      </p:pic>
      <p:sp>
        <p:nvSpPr>
          <p:cNvPr id="17" name="faq111|card|"/>
          <p:cNvSpPr txBox="1"/>
          <p:nvPr/>
        </p:nvSpPr>
        <p:spPr>
          <a:xfrm>
            <a:off x="1463040"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I already use Shopify or WooCommerce.</a:t>
            </a:r>
          </a:p>
        </p:txBody>
      </p:sp>
      <p:sp>
        <p:nvSpPr>
          <p:cNvPr id="18" name="faq111|card|"/>
          <p:cNvSpPr txBox="1"/>
          <p:nvPr/>
        </p:nvSpPr>
        <p:spPr>
          <a:xfrm>
            <a:off x="868680"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Keep them. FluxMuse integrates with Shopify, WooCommerce and Takealot, plus HubSpot/CRM sync, accounting sync, Slack and Zapier, from the Growth plan.</a:t>
            </a:r>
          </a:p>
        </p:txBody>
      </p:sp>
      <p:sp>
        <p:nvSpPr>
          <p:cNvPr id="19" name="faq112|card|"/>
          <p:cNvSpPr/>
          <p:nvPr/>
        </p:nvSpPr>
        <p:spPr>
          <a:xfrm>
            <a:off x="6202375" y="3959352"/>
            <a:ext cx="5440680" cy="2240280"/>
          </a:xfrm>
          <a:prstGeom prst="roundRect">
            <a:avLst>
              <a:gd name="adj" fmla="val 7346"/>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aq112|deco|"/>
          <p:cNvSpPr/>
          <p:nvPr/>
        </p:nvSpPr>
        <p:spPr>
          <a:xfrm>
            <a:off x="6430975" y="4215384"/>
            <a:ext cx="548640" cy="54864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faq112|icon|chat_deep.png" descr="chat_deep"/>
          <p:cNvPicPr>
            <a:picLocks noChangeAspect="1"/>
          </p:cNvPicPr>
          <p:nvPr/>
        </p:nvPicPr>
        <p:blipFill>
          <a:blip r:embed="rId2"/>
          <a:srcRect/>
          <a:stretch>
            <a:fillRect/>
          </a:stretch>
        </p:blipFill>
        <p:spPr>
          <a:xfrm>
            <a:off x="6551675" y="4336084"/>
            <a:ext cx="307238" cy="307238"/>
          </a:xfrm>
          <a:prstGeom prst="rect">
            <a:avLst/>
          </a:prstGeom>
        </p:spPr>
      </p:pic>
      <p:sp>
        <p:nvSpPr>
          <p:cNvPr id="22" name="faq112|card|"/>
          <p:cNvSpPr txBox="1"/>
          <p:nvPr/>
        </p:nvSpPr>
        <p:spPr>
          <a:xfrm>
            <a:off x="7116775" y="4142232"/>
            <a:ext cx="4251960" cy="713232"/>
          </a:xfrm>
          <a:prstGeom prst="rect">
            <a:avLst/>
          </a:prstGeom>
          <a:noFill/>
        </p:spPr>
        <p:txBody>
          <a:bodyPr wrap="square" lIns="0" rIns="0" tIns="0" bIns="0" anchor="ctr">
            <a:noAutofit/>
          </a:bodyPr>
          <a:lstStyle/>
          <a:p>
            <a:pPr algn="l"/>
            <a:r>
              <a:rPr sz="1700" b="1">
                <a:solidFill>
                  <a:srgbClr val="20242B"/>
                </a:solidFill>
                <a:latin typeface="Poppins"/>
              </a:rPr>
              <a:t>Where can I buy FluxMuse?</a:t>
            </a:r>
          </a:p>
        </p:txBody>
      </p:sp>
      <p:sp>
        <p:nvSpPr>
          <p:cNvPr id="23" name="faq112|card|"/>
          <p:cNvSpPr txBox="1"/>
          <p:nvPr/>
        </p:nvSpPr>
        <p:spPr>
          <a:xfrm>
            <a:off x="6522415" y="4946904"/>
            <a:ext cx="4800600" cy="1133856"/>
          </a:xfrm>
          <a:prstGeom prst="rect">
            <a:avLst/>
          </a:prstGeom>
          <a:noFill/>
        </p:spPr>
        <p:txBody>
          <a:bodyPr wrap="square" lIns="0" rIns="0" tIns="0" bIns="0" anchor="t">
            <a:noAutofit/>
          </a:bodyPr>
          <a:lstStyle/>
          <a:p>
            <a:pPr algn="l"/>
            <a:r>
              <a:rPr sz="1500" b="0">
                <a:solidFill>
                  <a:srgbClr val="20242B"/>
                </a:solidFill>
                <a:latin typeface="Inter"/>
              </a:rPr>
              <a:t>In 23 African countries with local payment rails: ZAR, NGN, KES or GHS pricing, USD elsewhere. Botswana and Namibia are coming soon; other countries can join the waitlist.</a:t>
            </a:r>
          </a:p>
        </p:txBody>
      </p:sp>
      <p:sp>
        <p:nvSpPr>
          <p:cNvPr id="24" name="chrome|footer|"/>
          <p:cNvSpPr txBox="1"/>
          <p:nvPr/>
        </p:nvSpPr>
        <p:spPr>
          <a:xfrm>
            <a:off x="548640" y="6437376"/>
            <a:ext cx="3657600" cy="237744"/>
          </a:xfrm>
          <a:prstGeom prst="rect">
            <a:avLst/>
          </a:prstGeom>
          <a:noFill/>
        </p:spPr>
        <p:txBody>
          <a:bodyPr wrap="square" lIns="0" rIns="0" tIns="0" bIns="0" anchor="t">
            <a:noAutofit/>
          </a:bodyPr>
          <a:lstStyle/>
          <a:p>
            <a:pPr algn="l"/>
            <a:r>
              <a:rPr sz="1000" b="0">
                <a:solidFill>
                  <a:srgbClr val="5B6670"/>
                </a:solidFill>
                <a:latin typeface="Inter"/>
              </a:rPr>
              <a:t>FluxMuse · fluxmuse.ai</a:t>
            </a:r>
          </a:p>
        </p:txBody>
      </p:sp>
      <p:sp>
        <p:nvSpPr>
          <p:cNvPr id="25" name="chrome|slidenum|"/>
          <p:cNvSpPr txBox="1"/>
          <p:nvPr/>
        </p:nvSpPr>
        <p:spPr>
          <a:xfrm>
            <a:off x="10728655" y="6437376"/>
            <a:ext cx="914400" cy="237744"/>
          </a:xfrm>
          <a:prstGeom prst="rect">
            <a:avLst/>
          </a:prstGeom>
          <a:noFill/>
        </p:spPr>
        <p:txBody>
          <a:bodyPr wrap="none" lIns="0" rIns="0" tIns="0" bIns="0">
            <a:spAutoFit/>
          </a:bodyPr>
          <a:lstStyle/>
          <a:p>
            <a:pPr algn="r"/>
            <a:fld id="{B6F15528-21DE-4FAA-801E-634DDDAF4B2B}" type="slidenum">
              <a:rPr lang="en-ZA" sz="1000">
                <a:solidFill>
                  <a:srgbClr val="5B6670"/>
                </a:solidFill>
                <a:latin typeface="Inter"/>
              </a:rPr>
              <a:t>30</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Poppins"/>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FluxMuse pitch deck</dc:title>
  <dc:subject>AI marketing &amp; WhatsApp commerce</dc:subject>
  <dc:creator>Fluxmuse Pty Ltd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