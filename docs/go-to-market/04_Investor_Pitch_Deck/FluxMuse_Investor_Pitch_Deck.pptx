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your time. FluxMuse, built by Fluxmuse Pty Ltd in South Africa, gives African small businesses an AI marketing team and lets them sell and get paid inside WhatsApp. We are raising a R25M seed round, about US$1.35M, and the model shows this round alone carries the company to profitability, with no Series A required. Every financial figure in this deck comes from financial model v2, dated 11 September 2026, and every projection is labelled. Market figures are estimates with sources. Sources: model_summary.json → seed_zar (25,000,000) and seed_usd; model_summary.json → profitable_on_seed_alone. Replace [[DATE]] before sending and keep the Confidential marker.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how small businesses in South Africa actually sell. Buyers find them on Facebook, Instagram or a WhatsApp status, then ask questions, order and pay in chat, and the owner handles every message by hand. Owners rarely have the time or budget for marketing, so posting is inconsistent and agency retainers are out of reach for many. When the sale moves to an external payment link, buyers drop off, especially where checkout lacks local ways to pay such as instant EFT or mobile money. We deliberately show no market statistics on this slide: the framing comes from our segment work in 00_FACTS_AND_ASSUMPTIONS.md §4b, and the Gauteng pilot will quantify it from December 2026.</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FluxMuse is one loop. The Strategist plans goals, channel mix and budget. The Creator writes copy and images in isiZulu, Afrikaans, Pidgin, Swahili, English and more. The Publisher schedules across social, WhatsApp, email, SMS and USSD. Buyers browse a catalog, build a cart and pay inside WhatsApp, and the Analyst feeds orders and data back into the next plan. Behind the four core agents sit 23 specialist Flux agents. The phone on the right is our demo store confirming an order in the chat. Everything named here is live, except Instagram, which is in Meta App Review. Sources: 00_FACTS_AND_ASSUMPTIONS.md §1 (shipped capability, Meta approvals); assets how-fluxmuse-works_dark and hero-laptop-phone_night.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product as it stands. On the left are three real screens from our WhatsApp checkout demo: browse the catalog, review the cart, and see the order confirmed in the chat. The demo is simulated, so no money moves. On the right is the platform stack with an honest status column. The AI workforce, WhatsApp commerce, channels, growth tools and integrations are live. All five payment rails are live in September 2026, with pawaPay and Fincra from 14 September. Instagram publishing, comments and DMs are in Meta App Review, and the other social networks are coming soon through our social adapters work. Sources: 00_FACTS_AND_ASSUMPTIONS.md §1 and §3; assets/ASSETS_INDEX.md for the approved screenshots.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Africa, and why now. WhatsApp is where commerce already happens: more than 90% of internet users in South Africa and Nigeria use it (DataReportal 2025 est.), and Sub-Saharan Africa handles about 70% of global mobile money value (GSMA est.). There are roughly 44 million MSMEs in the region. We size a serviceable market of about 3.5 million digitally active SMBs in our 23 rail-covered countries that can pay at least US$25 a month, and a five-year obtainable share of 0.5%, or 17,500 paying workspaces. The base case needs 8,816, about half. These are estimates to verify before external use. Sources: 00_FACTS_AND_ASSUMPTIONS.md §5; model_summary.json → market_sizing.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Revenue is mainly subscriptions. Four plans in rand, from Starter at R499 to Agency at R7,999, with fixed local price points in Nigeria, Kenya and Ghana and USD in the other 19 rail-covered markets, all set at parity and reviewed quarterly. Agencies buy the Agency tier at partner wholesale, R5,599 a month, and resell under their own brand. Annual plans are ten times monthly, every plan starts with a 14-day free trial, and Founding Member gives 30% off the first two monthly bills in a 60-day launch window. In FY5 the model books R213.8M of net subscriptions out of R238.0M. The commerce fee is excluded from Base. Sources: facts §2; model_summary.json → price_tables and annual[4].revenue_by_stream_zar.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go to market in South Africa first, with three segments. Solo entrepreneurs start self-serve on Starter, SMEs start on Growth with a guided onboarding call, and agencies are our partner channel, buying the Agency tier at wholesale and serving their own clients under their brand. The Gauteng pilot converts on 1 December 2026, when the Founding Member window opens, running to 31 January 2027. Nigeria, Kenya and Ghana then launch in Feb 2028, Apr 2028 and Jun 2028 in the base case, each only once monthly recurring revenue clears its gate, followed by 19 USD markets self-serve from Nov 2028. Botswana and Namibia are coming soon; everywhere else is waitlist only. Sources: facts §3 and §4b; model_summary.json → markets.launch_months.Base.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Payments are the moat. We have five rails: Yoco for cards and tap-to-pay and Ozow for instant EFT in South Africa, Paystack across six countries, pawaPay for mobile money in 20 countries with more than 40 operators, and Fincra for collections and payouts. Together they cover 23 African countries, all live in September 2026. South Africa has four rails; Nigeria, Kenya and Ghana have three each. South Sudan and Zimbabwe are payouts only, so they stay gated until subscription collection is confirmed, and Botswana and Namibia are coming soon. Replicating this takes contracts, compliance and local pricing in every market. Sources: 00_FACTS_AND_ASSUMPTIONS.md §2 (gating) and §3 (rails); infographic payment-coverage-map_dark.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what is real today, and we are careful not to overstate it. Fluxmuse Pty Ltd has passed Meta Business Verification and Access Verification as a Tech Provider. Meta has approved WhatsApp Business messaging and management, plus Pages messaging. Our in-house publisher is live for Facebook Pages, with Instagram still in App Review. All five payment rails are live in September 2026. A 12-brand pilot is running in Gauteng until 30 November 2026, tracking conversations, orders and GMV, content, time saved, conversion and NPS. We report no customer counts, revenue or results until pilot data exists with consent, in December 2026. Sources: facts §1 and §6; 07_Case_Studies/Gauteng_Pilot_Case_Studies.md; infographic gauteng-pilot.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position against categories, not named companies, and this map is our qualitative view, not measured data. Global social media tools are strong at publishing and analytics. WhatsApp business solution providers and chatbot vendors are strong at messaging infrastructure. E-commerce platforms are strong at storefronts. Local agencies bring service and local knowledge. FluxMuse aims for the top right: African payment rails and local pricing on one axis, AI marketing and commerce in one platform on the other. We treat agencies as a channel: they resell FluxMuse at the R5,599 partner wholesale price. On defensibility, the answer is the combination of local rails, local pricing and the agency channel. Sources: facts §1 to §3.</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Unit economics are shown for FY3, when the base case is at steady scale. Blended LTV is R31,572 against a blended CAC of R5,604, so LTV to CAC is 5.6 times, and CAC pays back in 3.8 months. LTV is ARPA times software gross margin of 76.8%, divided by monthly churn. Solo is the thinnest segment at 3.0 times, SMEs are 12.8 and agencies 6.0. The blend improves from 2.8 times in FY1 to 6.3 in FY5. Projection (model v2, base case). Sources: model_summary.json → unit_economics_fy3.blended and by_segment; annual[0], annual[2] and annual[4].unit_economics and software_gross_margin_pct.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five-year base case, net of launch discounts. Revenue grows R3.4M, R24.9M, R73.1M, R144.9M, R238.0M from FY1 to FY5, about US$12.86M in the final year. Gross margin rises from 47% to 76% as WhatsApp pass-through becomes a smaller share. EBITDA is negative for two years, −R7.1M and −R13.7M, turns positive at R0.5M in FY3 and reaches R66.3M, a 27.9% margin, in FY5. Paying workspaces grow from 421 to 8,816. Projection (model v2, base case). Sources: model_summary.json → annual[0–4].total_revenue_zar, gross_margin_pct, ebitda_zar, ebitda_margin_pct, ending_paying_workspaces, subscription_arr_zar.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R25M is sized to reach profitability on its own. The seed lands in Feb 2027. Cash then declines to its low of R7.96M in Sep 2028, R4.96M above our R3.0M minimum buffer. Operating cash flow turns positive in Oct 2028, and EBITDA breaks even in Mar 2029, sustained from Jun 2029. No Series A is needed in any scenario. Gating protects the buffer: every hire waits for an MRR milestone, Nigeria, Kenya and Ghana launch only at R0.9M, R1.2M and R1.5M of monthly recurring revenue, and paid acquisition is capped. A pre-seed bridge of R57.5k is needed before close. Sources: model_summary.json → cash; markets.launch_mrr_gate_zar; scenario_definitions.Base.cap_pct.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tested the plan three ways. Conservative, with slower trial growth, lower conversion and higher churn, still reaches R116.0M revenue and R24.7M EBITDA in FY5, with a cash low of R4.27M; it holds the buffer by waiting for 40% more MRR before each hire. Upside reaches R450.9M. On FX, if the rand strengthens 15% against the naira, shilling, cedi and dollar, quarterly repricing keeps the low at R7.55M; without repricing FY5 EBITDA falls by R9.9M and the plan still passes. The real sensitivity is trial volume: 30% fewer trials takes the low to R0.98M, below the buffer, so we would raise the gates early. Sources: model_summary.json → scenarios; fx_shock.results; sensitivity_base.min_post_seed_cash_zar_m[2][0].</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risks we would want an investor to probe. Trial volume matters most: the sensitivity grid shows 30% fewer trials takes minimum cash to R0.98M, so pilot conversion data replaces our assumptions first, and we raise hiring gates if early trials run more than about 20% below plan. FX is controlled by fixed local prices and quarterly repricing. Meta dependency is real: we are a verified Tech Provider on the official Cloud API, and we also run email, SMS, USSD and web chat. Payments are spread across five rails. Competition is answered by the combined product and the agency channel. Execution risk is managed by MRR-gated hiring. Sources: Financial_Model_Notes.md §6 and §10; model_summary.json → annual[1].headcount_end_fy.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are raising R25M, about US$1.35M, with instrument and valuation to be confirmed. The allocation is 40% product and engineering, R10.0M; 30% sales, marketing and the partner programme, R7.5M; 15% expansion into Nigeria, Kenya and Ghana with payments compliance, R3.75M; and 15% operations and working capital, R3.75M. To be plain about the reconciliation: the seed funds net burn, not gross spend. In the first 24 months the model consumes R16.93M, so about R8.1M stays unspent. That is a downside reserve that keeps the plan intact if trial volume underperforms, not money we plan to deploy. Sources: model_summary.json → use_of_funds.allocation and use_of_funds.reconciliation["24"].</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the round buys, in order. All five rails go live in September 2026, and Meta permissions, including Instagram, are targeted for Q4 2026. The pilot ends on 30 November and results arrive in December, as South Africa launches on 1 December with the Founding Member window. The seed closes in Feb 2027 in the model and funds the first hires. From 2027, in the founder's order: social adapters, business app integrations and the Flux_Partner programme, all indicative. Then the modelled milestones: Nigeria, Kenya and Ghana from Feb 2028 to Jun 2028, operating cash flow positive in Oct 2028, USD markets from Nov 2028, and EBITDA break-even in Mar 2029. Sources: facts §1 roadmap, §3, §6; model_summary.json → markets.launch_months.Base and cash.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founding team here: fill in the founder, co-founder and advisors, with one line on why each is right for this problem. The model runs lean before the seed, with two founders on reduced salaries. The seed then funds the hires in the table, each waiting for a monthly recurring revenue milestone: engineers, a Head of Growth, a partnerships manager and a customer success lead at close; design, AI and finance through 2027; country leads before each wave-1 launch; and senior leaders only once MRR supports them. Headcount reaches 18 by the end of FY1, 41 in FY2 and 135 in FY5. Sources: hiring plan in _build/fm_inputs.py (ROLES) applied to model_summary.json → monthly_base.subscription_mrr_net_zar, reconciled to monthly_base.headcount; annual[].headcount_end_fy.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ask and a clear next step. FluxMuse gives African SMBs an AI marketing team and WhatsApp checkout on local rails, and in the model the R25M seed carries the plan to profitability in all three scenarios, with no Series A. Offer data-room access, including the financial model and notes, Meta verification evidence and rail contracts, and promise the pilot results pack in December 2026. Agree a follow-up date before the meeting ends. Fill in [[EMAIL]], [[PHONE]] and the data-room [[LINK]] before sending. Sources: model_summary.json → profitable_on_seed_alone (Conservative True, Base True, Upside True); facts §6 and §7; Investor_Deck_Guide.md for the data room.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appendix supports questions and diligence; it is not part of the main talk track. A1 lists the model's key assumptions word for word from the model summary. A2 shows paying workspaces by segment and by market. A3 has the full price tables in rand, local currencies and US dollars, plus partner wholesale. A4 is the payment rails matrix by country. A5 is the FX shock sensitivity, and A6 the Founding Member discount cost against the alternatives. A7 lists founder confirmations still open: it is for internal use only, so hide or delete it before the deck goes to any investor. Sources: model_summary.json; 00_FACTS_AND_ASSUMPTIONS.md.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assumptions are copied word for word from the model summary, so they always match the workbook. This page covers timing &amp; cash, pilot, founding member, pricing, partner wholesale. Items marked [[CONFIRM]] are still waiting for founder sign-off and are listed again in appendix A7. When an investor challenges a number in the deck, trace it here first, then to the Assumptions sheet in FluxMuse_Financial_Model.xlsx, where each input sits in its own cell with the Conservative, Base and Upside values side by side. The most important inputs to replace with pilot data are trial-to-paid conversion, trial volume and early churn. Source: model_summary.json → key_assumptions[0–4]; Financial_Model_Notes.md §4 and §11.</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assumptions are copied word for word from the model summary, so they always match the workbook. This page covers fx, segments, churn, markets, cost discipline. Items marked [[CONFIRM]] are still waiting for founder sign-off and are listed again in appendix A7. When an investor challenges a number in the deck, trace it here first, then to the Assumptions sheet in FluxMuse_Financial_Model.xlsx, where each input sits in its own cell with the Conservative, Base and Upside values side by side. The most important inputs to replace with pilot data are trial-to-paid conversion, trial volume and early churn. Source: model_summary.json → key_assumptions[5–9]; Financial_Model_Notes.md §4 and §11.</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assumptions are copied word for word from the model summary, so they always match the workbook. This page covers other revenue, cogs, funding &amp; tax. Items marked [[CONFIRM]] are still waiting for founder sign-off and are listed again in appendix A7. When an investor challenges a number in the deck, trace it here first, then to the Assumptions sheet in FluxMuse_Financial_Model.xlsx, where each input sits in its own cell with the Conservative, Base and Upside values side by side. The most important inputs to replace with pilot data are trial-to-paid conversion, trial volume and early churn. Source: model_summary.json → key_assumptions[10–12]; Financial_Model_Notes.md §4 and §11.</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views of the same customer base. By segment, solo entrepreneurs and SMEs make up almost all workspaces, with 321 agency partners and 17 inbound enterprise customers by FY5. Note that the segment chart rounds each segment before stacking, so its FY1 and FY3 labels read one higher than the model totals of 421 and 3,820; quote the totals. By market, South Africa stays the core with 5,724 workspaces at the end of FY5, and the markets outside it add the rest, starting with Nigeria in Feb 2028. Projection (model v2, base case). Sources: model_summary.json → annual[].ending_customers_by_segment, ending_customers_by_market and ending_paying_workspaces.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rand price list. Starter is R499 a month, Growth R1,999, Scale R4,999 and Agency R7,999; annual billing is ten times monthly, which is two months free. Founding Members pay R349, R1,399 or R3,499 for their first two monthly bills, and the offer is not available on Agency: agencies buy at the permanent partner wholesale price of R5,599. Enterprise starts from R19,999 and is inbound only. The twelve pilot brands get 50% off their first two bills from 1 December 2026. Sources: 00_FACTS_AND_ASSUMPTIONS.md §2; model_summary.json → price_tables.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Local-currency prices for the first expansion wave and USD for the other rail-covered markets. Nigeria, Kenya and Ghana use fixed, rounded price points set at parity with the rand, using 1 ZAR = ₦82.83, KSh 8.07 and GH₵ 0.68. The 19 USD markets are billed in US dollars at parity. Kenyan annual prices end in 990 by design, as in the facts file. Partner wholesale is 30% off the Agency list price in every currency. Prices are reviewed quarterly and reset when their rand value drifts more than 10%, which is the main FX control tested in appendix A5. Sources: 00_FACTS_AND_ASSUMPTIONS.md §2; model_summary.json → price_tables.local_monthly, partner_wholesale_monthly, fx_price_setting.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matrix shows which of the five rails covers each of the 23 countries, grouped by region, with the billing currency. South Africa has four rails: Yoco, Ozow, Paystack and Fincra. Nigeria, Ghana and Kenya each have Paystack, pawaPay and Fincra, which is why they form the first expansion wave. Most other countries are covered by pawaPay mobile money and Fincra. South Sudan and Zimbabwe are Fincra payouts only, so sales there open only once subscription collection is confirmed. Botswana and Namibia are coming soon with no rail yet, so they are waitlist only. Rail contracts belong in the data room. Sources: 00_FACTS_AND_ASSUMPTIONS.md §3; infographic payment-rails-matrix.</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currency stress test. From October 2028 the rand is assumed 15% stronger against the naira, shilling, cedi and dollar, so every local price is worth less in rand. With our quarterly repricing policy, the shock costs one quarter of revenue and then triggers a reset, so FY5 ends slightly above base and the cash low is R7.55M. Without repricing, FY5 revenue moves −R21.0M and FY5 EBITDA −R9.9M, and the plan is still profitable on the seed alone. The lesson is that repricing discipline is the main FX control. Sources: model_summary.json → fx_shock.definition and fx_shock.results; Financial_Model_Notes.md §6.</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Investors often ask whether the launch discount hurts the plan. It does not. Founding Member, 30% off the first two monthly bills for solo and SME sign-ups in a 60-day launch window, costs R26k, R119k and R45k of revenue in FY1 to FY3. Because the model assumes a 20% sign-up uplift inside each window, option B leaves slightly more cash than no offer at all. That uplift is unproven, so the South African December to January window is the test. The alternative Launch Sprint offer is kept only as a sensitivity and is never shown externally. Sources: model_summary.json → founding_member.discount_cost_by_fy_zar, option_comparison, window_signup_uplift_pct; pilot.pilot_discount_cost_fy1_zar.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Internal slide: hide or delete it before the deck goes to any investor. These are the model inputs and decisions the founder still has to confirm, copied from the model summary. The most urgent are opening cash and how to cover the pre-seed bridge, the seed close month and instrument, and the pilot conversion rate. Market sizing must also be verified before any external use. Once a decision is made, update the Assumptions sheet, rebuild the model, rebuild this deck with build_investor_deck.py and rerun the QA script, so that every slide picks up the new numbers. Source: model_summary.json → founder_confirmations_needed; Financial_Model_Notes.md §12.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6.png"/><Relationship Id="rId4" Type="http://schemas.openxmlformats.org/officeDocument/2006/relationships/image" Target="../media/image8.png"/><Relationship Id="rId5" Type="http://schemas.openxmlformats.org/officeDocument/2006/relationships/image" Target="../media/image2.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3.png"/><Relationship Id="rId4" Type="http://schemas.openxmlformats.org/officeDocument/2006/relationships/image" Target="../media/image17.png"/><Relationship Id="rId5" Type="http://schemas.openxmlformats.org/officeDocument/2006/relationships/image" Target="../media/image5.pn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5.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419"/>
        </a:solidFill>
        <a:effectLst/>
      </p:bgPr>
    </p:bg>
    <p:spTree>
      <p:nvGrpSpPr>
        <p:cNvPr id="1" name=""/>
        <p:cNvGrpSpPr/>
        <p:nvPr/>
      </p:nvGrpSpPr>
      <p:grpSpPr/>
      <p:pic>
        <p:nvPicPr>
          <p:cNvPr id="2" name="g1|img|brand/fluxmuse-logo-dark.png" descr="FluxMuse logo"/>
          <p:cNvPicPr>
            <a:picLocks noChangeAspect="1"/>
          </p:cNvPicPr>
          <p:nvPr/>
        </p:nvPicPr>
        <p:blipFill>
          <a:blip r:embed="rId2"/>
          <a:srcRect/>
          <a:stretch>
            <a:fillRect/>
          </a:stretch>
        </p:blipFill>
        <p:spPr>
          <a:xfrm>
            <a:off x="548640" y="502920"/>
            <a:ext cx="2377440" cy="789290"/>
          </a:xfrm>
          <a:prstGeom prst="rect">
            <a:avLst/>
          </a:prstGeom>
        </p:spPr>
      </p:pic>
      <p:sp>
        <p:nvSpPr>
          <p:cNvPr id="3" name="g2|eyebrow|"/>
          <p:cNvSpPr txBox="1"/>
          <p:nvPr/>
        </p:nvSpPr>
        <p:spPr>
          <a:xfrm>
            <a:off x="548640" y="1828800"/>
            <a:ext cx="6035040" cy="274320"/>
          </a:xfrm>
          <a:prstGeom prst="rect">
            <a:avLst/>
          </a:prstGeom>
          <a:noFill/>
        </p:spPr>
        <p:txBody>
          <a:bodyPr wrap="square" lIns="0" rIns="0" tIns="0" bIns="0" anchor="t">
            <a:noAutofit/>
          </a:bodyPr>
          <a:lstStyle/>
          <a:p>
            <a:pPr algn="l"/>
            <a:r>
              <a:rPr sz="1300" b="1" spc="150">
                <a:solidFill>
                  <a:srgbClr val="FF6A00"/>
                </a:solidFill>
                <a:latin typeface="Inter"/>
              </a:rPr>
              <a:t>FLUXMUSE · INVESTOR PRESENTATION</a:t>
            </a:r>
          </a:p>
        </p:txBody>
      </p:sp>
      <p:sp>
        <p:nvSpPr>
          <p:cNvPr id="4" name="g3|title|"/>
          <p:cNvSpPr txBox="1"/>
          <p:nvPr/>
        </p:nvSpPr>
        <p:spPr>
          <a:xfrm>
            <a:off x="548640" y="2176272"/>
            <a:ext cx="5943600" cy="2011680"/>
          </a:xfrm>
          <a:prstGeom prst="rect">
            <a:avLst/>
          </a:prstGeom>
          <a:noFill/>
        </p:spPr>
        <p:txBody>
          <a:bodyPr wrap="square" lIns="0" rIns="0" tIns="0" bIns="0" anchor="t">
            <a:noAutofit/>
          </a:bodyPr>
          <a:lstStyle/>
          <a:p>
            <a:pPr algn="l">
              <a:lnSpc>
                <a:spcPct val="95000"/>
              </a:lnSpc>
            </a:pPr>
            <a:r>
              <a:rPr sz="3400" b="1">
                <a:solidFill>
                  <a:srgbClr val="FFFFFF"/>
                </a:solidFill>
                <a:latin typeface="Poppins"/>
              </a:rPr>
              <a:t>AI marketing team + WhatsApp commerce for African businesses</a:t>
            </a:r>
          </a:p>
        </p:txBody>
      </p:sp>
      <p:sp>
        <p:nvSpPr>
          <p:cNvPr id="5" name="g4|chip|"/>
          <p:cNvSpPr/>
          <p:nvPr/>
        </p:nvSpPr>
        <p:spPr>
          <a:xfrm>
            <a:off x="548640" y="4389120"/>
            <a:ext cx="3017520" cy="530352"/>
          </a:xfrm>
          <a:prstGeom prst="roundRect">
            <a:avLst>
              <a:gd name="adj" fmla="val 50000"/>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g4|chip|"/>
          <p:cNvSpPr txBox="1"/>
          <p:nvPr/>
        </p:nvSpPr>
        <p:spPr>
          <a:xfrm>
            <a:off x="548640" y="4389120"/>
            <a:ext cx="3017520" cy="530352"/>
          </a:xfrm>
          <a:prstGeom prst="rect">
            <a:avLst/>
          </a:prstGeom>
          <a:noFill/>
        </p:spPr>
        <p:txBody>
          <a:bodyPr wrap="square" lIns="0" rIns="0" tIns="0" bIns="0" anchor="ctr">
            <a:noAutofit/>
          </a:bodyPr>
          <a:lstStyle/>
          <a:p>
            <a:pPr algn="ctr"/>
            <a:r>
              <a:rPr sz="1800" b="1">
                <a:solidFill>
                  <a:srgbClr val="0F1419"/>
                </a:solidFill>
                <a:latin typeface="Inter"/>
              </a:rPr>
              <a:t>Seed round · R25M</a:t>
            </a:r>
          </a:p>
        </p:txBody>
      </p:sp>
      <p:sp>
        <p:nvSpPr>
          <p:cNvPr id="7" name="g5|placeholder|"/>
          <p:cNvSpPr txBox="1"/>
          <p:nvPr/>
        </p:nvSpPr>
        <p:spPr>
          <a:xfrm>
            <a:off x="548640" y="5166360"/>
            <a:ext cx="5943600" cy="329184"/>
          </a:xfrm>
          <a:prstGeom prst="rect">
            <a:avLst/>
          </a:prstGeom>
          <a:noFill/>
        </p:spPr>
        <p:txBody>
          <a:bodyPr wrap="square" lIns="0" rIns="0" tIns="0" bIns="0" anchor="t">
            <a:noAutofit/>
          </a:bodyPr>
          <a:lstStyle/>
          <a:p>
            <a:pPr algn="l"/>
            <a:r>
              <a:rPr sz="1600" b="1">
                <a:solidFill>
                  <a:srgbClr val="FFFFFF"/>
                </a:solidFill>
                <a:latin typeface="Inter"/>
              </a:rPr>
              <a:t>[[DATE]]</a:t>
            </a:r>
            <a:r>
              <a:rPr sz="1600" b="0">
                <a:solidFill>
                  <a:srgbClr val="A7B0B8"/>
                </a:solidFill>
                <a:latin typeface="Inter"/>
              </a:rPr>
              <a:t>  ·  Confidential</a:t>
            </a:r>
          </a:p>
        </p:txBody>
      </p:sp>
      <p:sp>
        <p:nvSpPr>
          <p:cNvPr id="8" name="g6|body|"/>
          <p:cNvSpPr txBox="1"/>
          <p:nvPr/>
        </p:nvSpPr>
        <p:spPr>
          <a:xfrm>
            <a:off x="548640" y="5577840"/>
            <a:ext cx="5943600" cy="274320"/>
          </a:xfrm>
          <a:prstGeom prst="rect">
            <a:avLst/>
          </a:prstGeom>
          <a:noFill/>
        </p:spPr>
        <p:txBody>
          <a:bodyPr wrap="square" lIns="0" rIns="0" tIns="0" bIns="0" anchor="t">
            <a:noAutofit/>
          </a:bodyPr>
          <a:lstStyle/>
          <a:p>
            <a:pPr algn="l"/>
            <a:r>
              <a:rPr sz="1400" b="0">
                <a:solidFill>
                  <a:srgbClr val="A7B0B8"/>
                </a:solidFill>
                <a:latin typeface="Inter"/>
              </a:rPr>
              <a:t>Fluxmuse Pty Ltd · South Africa · fluxmuse.ai</a:t>
            </a:r>
          </a:p>
        </p:txBody>
      </p:sp>
      <p:pic>
        <p:nvPicPr>
          <p:cNvPr id="9" name="g7|img|screenshots/composites/hero-laptop-phone_night.png" descr="FluxMuse on a laptop and an order confirmed inside WhatsApp on a phone"/>
          <p:cNvPicPr>
            <a:picLocks noChangeAspect="1"/>
          </p:cNvPicPr>
          <p:nvPr/>
        </p:nvPicPr>
        <p:blipFill>
          <a:blip r:embed="rId3"/>
          <a:srcRect l="2000" t="9000" r="6000" b="2000"/>
          <a:stretch>
            <a:fillRect/>
          </a:stretch>
        </p:blipFill>
        <p:spPr>
          <a:xfrm>
            <a:off x="6675120" y="2081502"/>
            <a:ext cx="5120640" cy="2786435"/>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8|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THE PROBLEM</a:t>
            </a:r>
          </a:p>
        </p:txBody>
      </p:sp>
      <p:sp>
        <p:nvSpPr>
          <p:cNvPr id="3" name="hdr8|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Sales happen in chat. The tools don't.</a:t>
            </a:r>
          </a:p>
        </p:txBody>
      </p:sp>
      <p:sp>
        <p:nvSpPr>
          <p:cNvPr id="4" name="prob9|card|"/>
          <p:cNvSpPr/>
          <p:nvPr/>
        </p:nvSpPr>
        <p:spPr>
          <a:xfrm>
            <a:off x="548640" y="1572768"/>
            <a:ext cx="3511296" cy="3310128"/>
          </a:xfrm>
          <a:prstGeom prst="roundRect">
            <a:avLst>
              <a:gd name="adj" fmla="val 5524"/>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prob9|deco|"/>
          <p:cNvSpPr/>
          <p:nvPr/>
        </p:nvSpPr>
        <p:spPr>
          <a:xfrm>
            <a:off x="822960" y="1828800"/>
            <a:ext cx="822960" cy="8229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rob9|icon|chat_deep.png" descr="chat_deep"/>
          <p:cNvPicPr>
            <a:picLocks noChangeAspect="1"/>
          </p:cNvPicPr>
          <p:nvPr/>
        </p:nvPicPr>
        <p:blipFill>
          <a:blip r:embed="rId2"/>
          <a:srcRect/>
          <a:stretch>
            <a:fillRect/>
          </a:stretch>
        </p:blipFill>
        <p:spPr>
          <a:xfrm>
            <a:off x="1004011" y="2009851"/>
            <a:ext cx="460857" cy="460857"/>
          </a:xfrm>
          <a:prstGeom prst="rect">
            <a:avLst/>
          </a:prstGeom>
        </p:spPr>
      </p:pic>
      <p:sp>
        <p:nvSpPr>
          <p:cNvPr id="7" name="prob9|card|"/>
          <p:cNvSpPr txBox="1"/>
          <p:nvPr/>
        </p:nvSpPr>
        <p:spPr>
          <a:xfrm>
            <a:off x="841247" y="2743200"/>
            <a:ext cx="2926079" cy="777240"/>
          </a:xfrm>
          <a:prstGeom prst="rect">
            <a:avLst/>
          </a:prstGeom>
          <a:noFill/>
        </p:spPr>
        <p:txBody>
          <a:bodyPr wrap="square" lIns="0" rIns="0" tIns="0" bIns="0" anchor="t">
            <a:noAutofit/>
          </a:bodyPr>
          <a:lstStyle/>
          <a:p>
            <a:pPr algn="l"/>
            <a:r>
              <a:rPr sz="1900" b="1">
                <a:solidFill>
                  <a:srgbClr val="20242B"/>
                </a:solidFill>
                <a:latin typeface="Poppins"/>
              </a:rPr>
              <a:t>Buyers already shop in chats</a:t>
            </a:r>
          </a:p>
        </p:txBody>
      </p:sp>
      <p:sp>
        <p:nvSpPr>
          <p:cNvPr id="8" name="prob9|card|"/>
          <p:cNvSpPr txBox="1"/>
          <p:nvPr/>
        </p:nvSpPr>
        <p:spPr>
          <a:xfrm>
            <a:off x="841247" y="3584448"/>
            <a:ext cx="2926079" cy="1234440"/>
          </a:xfrm>
          <a:prstGeom prst="rect">
            <a:avLst/>
          </a:prstGeom>
          <a:noFill/>
        </p:spPr>
        <p:txBody>
          <a:bodyPr wrap="square" lIns="0" rIns="0" tIns="0" bIns="0" anchor="t">
            <a:noAutofit/>
          </a:bodyPr>
          <a:lstStyle/>
          <a:p>
            <a:pPr algn="l"/>
            <a:r>
              <a:rPr sz="1500" b="0">
                <a:solidFill>
                  <a:srgbClr val="37474F"/>
                </a:solidFill>
                <a:latin typeface="Inter"/>
              </a:rPr>
              <a:t>They discover on social, then ask, order and pay in WhatsApp DMs that owners answer by hand.</a:t>
            </a:r>
          </a:p>
        </p:txBody>
      </p:sp>
      <p:sp>
        <p:nvSpPr>
          <p:cNvPr id="9" name="prob10|card|"/>
          <p:cNvSpPr/>
          <p:nvPr/>
        </p:nvSpPr>
        <p:spPr>
          <a:xfrm>
            <a:off x="4340199" y="1572768"/>
            <a:ext cx="3511296" cy="3310128"/>
          </a:xfrm>
          <a:prstGeom prst="roundRect">
            <a:avLst>
              <a:gd name="adj" fmla="val 5524"/>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rob10|deco|"/>
          <p:cNvSpPr/>
          <p:nvPr/>
        </p:nvSpPr>
        <p:spPr>
          <a:xfrm>
            <a:off x="4614519" y="1828800"/>
            <a:ext cx="822960" cy="8229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rob10|icon|megaphone_deep.png" descr="megaphone_deep"/>
          <p:cNvPicPr>
            <a:picLocks noChangeAspect="1"/>
          </p:cNvPicPr>
          <p:nvPr/>
        </p:nvPicPr>
        <p:blipFill>
          <a:blip r:embed="rId3"/>
          <a:srcRect/>
          <a:stretch>
            <a:fillRect/>
          </a:stretch>
        </p:blipFill>
        <p:spPr>
          <a:xfrm>
            <a:off x="4795570" y="2009851"/>
            <a:ext cx="460857" cy="460857"/>
          </a:xfrm>
          <a:prstGeom prst="rect">
            <a:avLst/>
          </a:prstGeom>
        </p:spPr>
      </p:pic>
      <p:sp>
        <p:nvSpPr>
          <p:cNvPr id="12" name="prob10|card|"/>
          <p:cNvSpPr txBox="1"/>
          <p:nvPr/>
        </p:nvSpPr>
        <p:spPr>
          <a:xfrm>
            <a:off x="4632807" y="2743200"/>
            <a:ext cx="2926079" cy="777240"/>
          </a:xfrm>
          <a:prstGeom prst="rect">
            <a:avLst/>
          </a:prstGeom>
          <a:noFill/>
        </p:spPr>
        <p:txBody>
          <a:bodyPr wrap="square" lIns="0" rIns="0" tIns="0" bIns="0" anchor="t">
            <a:noAutofit/>
          </a:bodyPr>
          <a:lstStyle/>
          <a:p>
            <a:pPr algn="l"/>
            <a:r>
              <a:rPr sz="1900" b="1">
                <a:solidFill>
                  <a:srgbClr val="20242B"/>
                </a:solidFill>
                <a:latin typeface="Poppins"/>
              </a:rPr>
              <a:t>No marketing capacity</a:t>
            </a:r>
          </a:p>
        </p:txBody>
      </p:sp>
      <p:sp>
        <p:nvSpPr>
          <p:cNvPr id="13" name="prob10|card|"/>
          <p:cNvSpPr txBox="1"/>
          <p:nvPr/>
        </p:nvSpPr>
        <p:spPr>
          <a:xfrm>
            <a:off x="4632807" y="3584448"/>
            <a:ext cx="2926079" cy="1234440"/>
          </a:xfrm>
          <a:prstGeom prst="rect">
            <a:avLst/>
          </a:prstGeom>
          <a:noFill/>
        </p:spPr>
        <p:txBody>
          <a:bodyPr wrap="square" lIns="0" rIns="0" tIns="0" bIns="0" anchor="t">
            <a:noAutofit/>
          </a:bodyPr>
          <a:lstStyle/>
          <a:p>
            <a:pPr algn="l"/>
            <a:r>
              <a:rPr sz="1500" b="0">
                <a:solidFill>
                  <a:srgbClr val="37474F"/>
                </a:solidFill>
                <a:latin typeface="Inter"/>
              </a:rPr>
              <a:t>Owners post when they find time. A marketer or agency retainer is out of reach for many.</a:t>
            </a:r>
          </a:p>
        </p:txBody>
      </p:sp>
      <p:sp>
        <p:nvSpPr>
          <p:cNvPr id="14" name="prob11|card|"/>
          <p:cNvSpPr/>
          <p:nvPr/>
        </p:nvSpPr>
        <p:spPr>
          <a:xfrm>
            <a:off x="8131759" y="1572768"/>
            <a:ext cx="3511296" cy="3310128"/>
          </a:xfrm>
          <a:prstGeom prst="roundRect">
            <a:avLst>
              <a:gd name="adj" fmla="val 5524"/>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rob11|deco|"/>
          <p:cNvSpPr/>
          <p:nvPr/>
        </p:nvSpPr>
        <p:spPr>
          <a:xfrm>
            <a:off x="8406079" y="1828800"/>
            <a:ext cx="822960" cy="8229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rob11|icon|card_deep.png" descr="card_deep"/>
          <p:cNvPicPr>
            <a:picLocks noChangeAspect="1"/>
          </p:cNvPicPr>
          <p:nvPr/>
        </p:nvPicPr>
        <p:blipFill>
          <a:blip r:embed="rId4"/>
          <a:srcRect/>
          <a:stretch>
            <a:fillRect/>
          </a:stretch>
        </p:blipFill>
        <p:spPr>
          <a:xfrm>
            <a:off x="8587130" y="2009851"/>
            <a:ext cx="460857" cy="460857"/>
          </a:xfrm>
          <a:prstGeom prst="rect">
            <a:avLst/>
          </a:prstGeom>
        </p:spPr>
      </p:pic>
      <p:sp>
        <p:nvSpPr>
          <p:cNvPr id="17" name="prob11|card|"/>
          <p:cNvSpPr txBox="1"/>
          <p:nvPr/>
        </p:nvSpPr>
        <p:spPr>
          <a:xfrm>
            <a:off x="8424367" y="2743200"/>
            <a:ext cx="2926079" cy="777240"/>
          </a:xfrm>
          <a:prstGeom prst="rect">
            <a:avLst/>
          </a:prstGeom>
          <a:noFill/>
        </p:spPr>
        <p:txBody>
          <a:bodyPr wrap="square" lIns="0" rIns="0" tIns="0" bIns="0" anchor="t">
            <a:noAutofit/>
          </a:bodyPr>
          <a:lstStyle/>
          <a:p>
            <a:pPr algn="l"/>
            <a:r>
              <a:rPr sz="1900" b="1">
                <a:solidFill>
                  <a:srgbClr val="20242B"/>
                </a:solidFill>
                <a:latin typeface="Poppins"/>
              </a:rPr>
              <a:t>Checkout breaks the chat</a:t>
            </a:r>
          </a:p>
        </p:txBody>
      </p:sp>
      <p:sp>
        <p:nvSpPr>
          <p:cNvPr id="18" name="prob11|card|"/>
          <p:cNvSpPr txBox="1"/>
          <p:nvPr/>
        </p:nvSpPr>
        <p:spPr>
          <a:xfrm>
            <a:off x="8424367" y="3584448"/>
            <a:ext cx="2926079" cy="1234440"/>
          </a:xfrm>
          <a:prstGeom prst="rect">
            <a:avLst/>
          </a:prstGeom>
          <a:noFill/>
        </p:spPr>
        <p:txBody>
          <a:bodyPr wrap="square" lIns="0" rIns="0" tIns="0" bIns="0" anchor="t">
            <a:noAutofit/>
          </a:bodyPr>
          <a:lstStyle/>
          <a:p>
            <a:pPr algn="l"/>
            <a:r>
              <a:rPr sz="1500" b="0">
                <a:solidFill>
                  <a:srgbClr val="37474F"/>
                </a:solidFill>
                <a:latin typeface="Inter"/>
              </a:rPr>
              <a:t>External payment links lose buyers, and checkout often lacks local options like instant EFT or mobile money.</a:t>
            </a:r>
          </a:p>
        </p:txBody>
      </p:sp>
      <p:sp>
        <p:nvSpPr>
          <p:cNvPr id="19" name="band12|card|"/>
          <p:cNvSpPr/>
          <p:nvPr/>
        </p:nvSpPr>
        <p:spPr>
          <a:xfrm>
            <a:off x="548640" y="5047488"/>
            <a:ext cx="11094415" cy="1051560"/>
          </a:xfrm>
          <a:prstGeom prst="roundRect">
            <a:avLst>
              <a:gd name="adj" fmla="val 17391"/>
            </a:avLst>
          </a:prstGeom>
          <a:solidFill>
            <a:srgbClr val="0F14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and12|deco|"/>
          <p:cNvSpPr/>
          <p:nvPr/>
        </p:nvSpPr>
        <p:spPr>
          <a:xfrm>
            <a:off x="905255" y="5276088"/>
            <a:ext cx="603504" cy="603504"/>
          </a:xfrm>
          <a:prstGeom prst="ellipse">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band12|icon|sparkles_ink.png" descr="sparkles_ink"/>
          <p:cNvPicPr>
            <a:picLocks noChangeAspect="1"/>
          </p:cNvPicPr>
          <p:nvPr/>
        </p:nvPicPr>
        <p:blipFill>
          <a:blip r:embed="rId5"/>
          <a:srcRect/>
          <a:stretch>
            <a:fillRect/>
          </a:stretch>
        </p:blipFill>
        <p:spPr>
          <a:xfrm>
            <a:off x="1038026" y="5408858"/>
            <a:ext cx="337962" cy="337962"/>
          </a:xfrm>
          <a:prstGeom prst="rect">
            <a:avLst/>
          </a:prstGeom>
        </p:spPr>
      </p:pic>
      <p:sp>
        <p:nvSpPr>
          <p:cNvPr id="22" name="band12|card|"/>
          <p:cNvSpPr txBox="1"/>
          <p:nvPr/>
        </p:nvSpPr>
        <p:spPr>
          <a:xfrm>
            <a:off x="1783080" y="5138928"/>
            <a:ext cx="9494215" cy="868680"/>
          </a:xfrm>
          <a:prstGeom prst="rect">
            <a:avLst/>
          </a:prstGeom>
          <a:noFill/>
        </p:spPr>
        <p:txBody>
          <a:bodyPr wrap="square" lIns="0" rIns="0" tIns="0" bIns="0" anchor="ctr">
            <a:noAutofit/>
          </a:bodyPr>
          <a:lstStyle/>
          <a:p>
            <a:pPr algn="l"/>
            <a:r>
              <a:rPr sz="1900" b="1">
                <a:solidFill>
                  <a:srgbClr val="FFFFFF"/>
                </a:solidFill>
                <a:latin typeface="Poppins"/>
              </a:rPr>
              <a:t>FluxMuse closes the loop: an AI marketing team that fills the chat, and checkout that gets paid inside it.</a:t>
            </a:r>
          </a:p>
        </p:txBody>
      </p:sp>
      <p:sp>
        <p:nvSpPr>
          <p:cNvPr id="23"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Confidential</a:t>
            </a:r>
          </a:p>
        </p:txBody>
      </p:sp>
      <p:sp>
        <p:nvSpPr>
          <p:cNvPr id="24"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2</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419"/>
        </a:solidFill>
        <a:effectLst/>
      </p:bgPr>
    </p:bg>
    <p:spTree>
      <p:nvGrpSpPr>
        <p:cNvPr id="1" name=""/>
        <p:cNvGrpSpPr/>
        <p:nvPr/>
      </p:nvGrpSpPr>
      <p:grpSpPr/>
      <p:sp>
        <p:nvSpPr>
          <p:cNvPr id="2" name="hdr13|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FF6A00"/>
                </a:solidFill>
                <a:latin typeface="Inter"/>
              </a:rPr>
              <a:t>THE SOLUTION</a:t>
            </a:r>
          </a:p>
        </p:txBody>
      </p:sp>
      <p:sp>
        <p:nvSpPr>
          <p:cNvPr id="3" name="hdr13|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FFFFFF"/>
                </a:solidFill>
                <a:latin typeface="Poppins"/>
              </a:rPr>
              <a:t>An AI team that markets and sells in chat</a:t>
            </a:r>
          </a:p>
        </p:txBody>
      </p:sp>
      <p:pic>
        <p:nvPicPr>
          <p:cNvPr id="4" name="g14|img|infographics/how-fluxmuse-works_dark.png" descr="Loop: Plan (Strategist), Create (Creator), Publish (Publisher), Sell (WhatsApp commerce), Learn (Analyst)"/>
          <p:cNvPicPr>
            <a:picLocks noChangeAspect="1"/>
          </p:cNvPicPr>
          <p:nvPr/>
        </p:nvPicPr>
        <p:blipFill>
          <a:blip r:embed="rId2"/>
          <a:srcRect l="8000" t="24000" r="8000" b="6000"/>
          <a:stretch>
            <a:fillRect/>
          </a:stretch>
        </p:blipFill>
        <p:spPr>
          <a:xfrm>
            <a:off x="548640" y="1481328"/>
            <a:ext cx="6675120" cy="3128962"/>
          </a:xfrm>
          <a:prstGeom prst="rect">
            <a:avLst/>
          </a:prstGeom>
        </p:spPr>
      </p:pic>
      <p:sp>
        <p:nvSpPr>
          <p:cNvPr id="5" name="g15|deco|"/>
          <p:cNvSpPr/>
          <p:nvPr/>
        </p:nvSpPr>
        <p:spPr>
          <a:xfrm>
            <a:off x="557783" y="4901183"/>
            <a:ext cx="530352" cy="530352"/>
          </a:xfrm>
          <a:prstGeom prst="ellipse">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g15|icon|sparkles_ink.png" descr="sparkles_ink"/>
          <p:cNvPicPr>
            <a:picLocks noChangeAspect="1"/>
          </p:cNvPicPr>
          <p:nvPr/>
        </p:nvPicPr>
        <p:blipFill>
          <a:blip r:embed="rId3"/>
          <a:srcRect/>
          <a:stretch>
            <a:fillRect/>
          </a:stretch>
        </p:blipFill>
        <p:spPr>
          <a:xfrm>
            <a:off x="674461" y="5017861"/>
            <a:ext cx="296997" cy="296997"/>
          </a:xfrm>
          <a:prstGeom prst="rect">
            <a:avLst/>
          </a:prstGeom>
        </p:spPr>
      </p:pic>
      <p:sp>
        <p:nvSpPr>
          <p:cNvPr id="7" name="g15|body|"/>
          <p:cNvSpPr txBox="1"/>
          <p:nvPr/>
        </p:nvSpPr>
        <p:spPr>
          <a:xfrm>
            <a:off x="1261872" y="4892040"/>
            <a:ext cx="5989320" cy="548640"/>
          </a:xfrm>
          <a:prstGeom prst="rect">
            <a:avLst/>
          </a:prstGeom>
          <a:noFill/>
        </p:spPr>
        <p:txBody>
          <a:bodyPr wrap="square" lIns="0" rIns="0" tIns="0" bIns="0" anchor="ctr">
            <a:noAutofit/>
          </a:bodyPr>
          <a:lstStyle/>
          <a:p>
            <a:pPr algn="l"/>
            <a:r>
              <a:rPr sz="1500" b="0">
                <a:solidFill>
                  <a:srgbClr val="FFFFFF"/>
                </a:solidFill>
                <a:latin typeface="Inter"/>
              </a:rPr>
              <a:t>AI marketing team: Strategist, Creator, Publisher and Analyst, plus 23 specialist agents</a:t>
            </a:r>
          </a:p>
        </p:txBody>
      </p:sp>
      <p:sp>
        <p:nvSpPr>
          <p:cNvPr id="8" name="g16|deco|"/>
          <p:cNvSpPr/>
          <p:nvPr/>
        </p:nvSpPr>
        <p:spPr>
          <a:xfrm>
            <a:off x="557783" y="5559551"/>
            <a:ext cx="530352" cy="530352"/>
          </a:xfrm>
          <a:prstGeom prst="ellipse">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g16|icon|cart_ink.png" descr="cart_ink"/>
          <p:cNvPicPr>
            <a:picLocks noChangeAspect="1"/>
          </p:cNvPicPr>
          <p:nvPr/>
        </p:nvPicPr>
        <p:blipFill>
          <a:blip r:embed="rId4"/>
          <a:srcRect/>
          <a:stretch>
            <a:fillRect/>
          </a:stretch>
        </p:blipFill>
        <p:spPr>
          <a:xfrm>
            <a:off x="674461" y="5676229"/>
            <a:ext cx="296997" cy="296997"/>
          </a:xfrm>
          <a:prstGeom prst="rect">
            <a:avLst/>
          </a:prstGeom>
        </p:spPr>
      </p:pic>
      <p:sp>
        <p:nvSpPr>
          <p:cNvPr id="10" name="g16|body|"/>
          <p:cNvSpPr txBox="1"/>
          <p:nvPr/>
        </p:nvSpPr>
        <p:spPr>
          <a:xfrm>
            <a:off x="1261872" y="5550407"/>
            <a:ext cx="5989320" cy="548640"/>
          </a:xfrm>
          <a:prstGeom prst="rect">
            <a:avLst/>
          </a:prstGeom>
          <a:noFill/>
        </p:spPr>
        <p:txBody>
          <a:bodyPr wrap="square" lIns="0" rIns="0" tIns="0" bIns="0" anchor="ctr">
            <a:noAutofit/>
          </a:bodyPr>
          <a:lstStyle/>
          <a:p>
            <a:pPr algn="l"/>
            <a:r>
              <a:rPr sz="1500" b="0">
                <a:solidFill>
                  <a:srgbClr val="FFFFFF"/>
                </a:solidFill>
                <a:latin typeface="Inter"/>
              </a:rPr>
              <a:t>WhatsApp commerce: catalog, cart and checkout in chat, on 5 local payment rails</a:t>
            </a:r>
          </a:p>
        </p:txBody>
      </p:sp>
      <p:pic>
        <p:nvPicPr>
          <p:cNvPr id="11" name="g17|img|screenshots/composites/hero-laptop-phone_night.png" descr="FluxMuse website on a laptop and an order confirmed inside WhatsApp"/>
          <p:cNvPicPr>
            <a:picLocks noChangeAspect="1"/>
          </p:cNvPicPr>
          <p:nvPr/>
        </p:nvPicPr>
        <p:blipFill>
          <a:blip r:embed="rId5"/>
          <a:srcRect l="2000" t="9000" r="6000" b="2000"/>
          <a:stretch>
            <a:fillRect/>
          </a:stretch>
        </p:blipFill>
        <p:spPr>
          <a:xfrm>
            <a:off x="7498079" y="1954514"/>
            <a:ext cx="4142232" cy="2254027"/>
          </a:xfrm>
          <a:prstGeom prst="rect">
            <a:avLst/>
          </a:prstGeom>
        </p:spPr>
      </p:pic>
      <p:sp>
        <p:nvSpPr>
          <p:cNvPr id="12" name="g18|body|"/>
          <p:cNvSpPr txBox="1"/>
          <p:nvPr/>
        </p:nvSpPr>
        <p:spPr>
          <a:xfrm>
            <a:off x="7498079" y="4892040"/>
            <a:ext cx="4142232" cy="1188720"/>
          </a:xfrm>
          <a:prstGeom prst="rect">
            <a:avLst/>
          </a:prstGeom>
          <a:noFill/>
        </p:spPr>
        <p:txBody>
          <a:bodyPr wrap="square" lIns="0" rIns="0" tIns="0" bIns="0" anchor="t">
            <a:noAutofit/>
          </a:bodyPr>
          <a:lstStyle/>
          <a:p>
            <a:pPr algn="l"/>
            <a:r>
              <a:rPr sz="1400" b="0">
                <a:solidFill>
                  <a:srgbClr val="A7B0B8"/>
                </a:solidFill>
                <a:latin typeface="Inter"/>
              </a:rPr>
              <a:t>Live today: WhatsApp Cloud API, Facebook Pages, Messenger, email, SMS, USSD, web chat and landing pages. Instagram: in Meta App Review.</a:t>
            </a:r>
          </a:p>
        </p:txBody>
      </p:sp>
      <p:sp>
        <p:nvSpPr>
          <p:cNvPr id="13"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A7B0B8"/>
                </a:solidFill>
                <a:latin typeface="Inter"/>
              </a:rPr>
              <a:t>FluxMuse · Confidential</a:t>
            </a:r>
          </a:p>
        </p:txBody>
      </p:sp>
      <p:sp>
        <p:nvSpPr>
          <p:cNvPr id="14"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A7B0B8"/>
                </a:solidFill>
                <a:latin typeface="Inter"/>
              </a:rPr>
              <a:t>3</a:t>
            </a:fld>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9|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PRODUCT</a:t>
            </a:r>
          </a:p>
        </p:txBody>
      </p:sp>
      <p:sp>
        <p:nvSpPr>
          <p:cNvPr id="3" name="hdr19|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Live today, and what's in review</a:t>
            </a:r>
          </a:p>
        </p:txBody>
      </p:sp>
      <p:pic>
        <p:nvPicPr>
          <p:cNvPr id="4" name="g20|img|screenshots/composites/checkout-in-chat-3-phones.png" descr="WhatsApp checkout demo: catalog, cart, order confirmed"/>
          <p:cNvPicPr>
            <a:picLocks noChangeAspect="1"/>
          </p:cNvPicPr>
          <p:nvPr/>
        </p:nvPicPr>
        <p:blipFill>
          <a:blip r:embed="rId2"/>
          <a:srcRect l="12000" t="20500" r="12000" b="2000"/>
          <a:stretch>
            <a:fillRect/>
          </a:stretch>
        </p:blipFill>
        <p:spPr>
          <a:xfrm>
            <a:off x="548640" y="1481328"/>
            <a:ext cx="4937760" cy="2832308"/>
          </a:xfrm>
          <a:prstGeom prst="rect">
            <a:avLst/>
          </a:prstGeom>
        </p:spPr>
      </p:pic>
      <p:sp>
        <p:nvSpPr>
          <p:cNvPr id="5" name="g21|caption|"/>
          <p:cNvSpPr txBox="1"/>
          <p:nvPr/>
        </p:nvSpPr>
        <p:spPr>
          <a:xfrm>
            <a:off x="548640" y="4389120"/>
            <a:ext cx="4937760" cy="457200"/>
          </a:xfrm>
          <a:prstGeom prst="rect">
            <a:avLst/>
          </a:prstGeom>
          <a:noFill/>
        </p:spPr>
        <p:txBody>
          <a:bodyPr wrap="square" lIns="0" rIns="0" tIns="0" bIns="0" anchor="t">
            <a:noAutofit/>
          </a:bodyPr>
          <a:lstStyle/>
          <a:p>
            <a:pPr algn="l"/>
            <a:r>
              <a:rPr sz="1200" b="0">
                <a:solidFill>
                  <a:srgbClr val="5B6670"/>
                </a:solidFill>
                <a:latin typeface="Inter"/>
              </a:rPr>
              <a:t>WhatsApp checkout demo: catalog, cart, order confirmed in chat (simulated demo store, no real payment).</a:t>
            </a:r>
          </a:p>
        </p:txBody>
      </p:sp>
      <p:sp>
        <p:nvSpPr>
          <p:cNvPr id="6" name="tile22|card|"/>
          <p:cNvSpPr/>
          <p:nvPr/>
        </p:nvSpPr>
        <p:spPr>
          <a:xfrm>
            <a:off x="548640" y="4937760"/>
            <a:ext cx="1554480" cy="1325880"/>
          </a:xfrm>
          <a:prstGeom prst="roundRect">
            <a:avLst>
              <a:gd name="adj" fmla="val 11034"/>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ile22|card|"/>
          <p:cNvSpPr txBox="1"/>
          <p:nvPr/>
        </p:nvSpPr>
        <p:spPr>
          <a:xfrm>
            <a:off x="749808" y="5065776"/>
            <a:ext cx="1152144" cy="475488"/>
          </a:xfrm>
          <a:prstGeom prst="rect">
            <a:avLst/>
          </a:prstGeom>
          <a:noFill/>
        </p:spPr>
        <p:txBody>
          <a:bodyPr wrap="square" lIns="0" rIns="0" tIns="0" bIns="0" anchor="t">
            <a:noAutofit/>
          </a:bodyPr>
          <a:lstStyle/>
          <a:p>
            <a:pPr algn="l"/>
            <a:r>
              <a:rPr sz="2400" b="1">
                <a:solidFill>
                  <a:srgbClr val="C24E00"/>
                </a:solidFill>
                <a:latin typeface="Poppins"/>
              </a:rPr>
              <a:t>4</a:t>
            </a:r>
          </a:p>
        </p:txBody>
      </p:sp>
      <p:sp>
        <p:nvSpPr>
          <p:cNvPr id="8" name="tile22|card|"/>
          <p:cNvSpPr txBox="1"/>
          <p:nvPr/>
        </p:nvSpPr>
        <p:spPr>
          <a:xfrm>
            <a:off x="749808" y="5577840"/>
            <a:ext cx="1152144" cy="630936"/>
          </a:xfrm>
          <a:prstGeom prst="rect">
            <a:avLst/>
          </a:prstGeom>
          <a:noFill/>
        </p:spPr>
        <p:txBody>
          <a:bodyPr wrap="square" lIns="0" rIns="0" tIns="0" bIns="0" anchor="t">
            <a:noAutofit/>
          </a:bodyPr>
          <a:lstStyle/>
          <a:p>
            <a:pPr algn="l"/>
            <a:r>
              <a:rPr sz="1400" b="0">
                <a:solidFill>
                  <a:srgbClr val="20242B"/>
                </a:solidFill>
                <a:latin typeface="Inter"/>
              </a:rPr>
              <a:t>core AI agents</a:t>
            </a:r>
          </a:p>
        </p:txBody>
      </p:sp>
      <p:sp>
        <p:nvSpPr>
          <p:cNvPr id="9" name="tile23|card|"/>
          <p:cNvSpPr/>
          <p:nvPr/>
        </p:nvSpPr>
        <p:spPr>
          <a:xfrm>
            <a:off x="2240280" y="4937760"/>
            <a:ext cx="1554480" cy="1325880"/>
          </a:xfrm>
          <a:prstGeom prst="roundRect">
            <a:avLst>
              <a:gd name="adj" fmla="val 11034"/>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ile23|card|"/>
          <p:cNvSpPr txBox="1"/>
          <p:nvPr/>
        </p:nvSpPr>
        <p:spPr>
          <a:xfrm>
            <a:off x="2441448" y="5065776"/>
            <a:ext cx="1152144" cy="475488"/>
          </a:xfrm>
          <a:prstGeom prst="rect">
            <a:avLst/>
          </a:prstGeom>
          <a:noFill/>
        </p:spPr>
        <p:txBody>
          <a:bodyPr wrap="square" lIns="0" rIns="0" tIns="0" bIns="0" anchor="t">
            <a:noAutofit/>
          </a:bodyPr>
          <a:lstStyle/>
          <a:p>
            <a:pPr algn="l"/>
            <a:r>
              <a:rPr sz="2400" b="1">
                <a:solidFill>
                  <a:srgbClr val="C24E00"/>
                </a:solidFill>
                <a:latin typeface="Poppins"/>
              </a:rPr>
              <a:t>23</a:t>
            </a:r>
          </a:p>
        </p:txBody>
      </p:sp>
      <p:sp>
        <p:nvSpPr>
          <p:cNvPr id="11" name="tile23|card|"/>
          <p:cNvSpPr txBox="1"/>
          <p:nvPr/>
        </p:nvSpPr>
        <p:spPr>
          <a:xfrm>
            <a:off x="2441448" y="5577840"/>
            <a:ext cx="1152144" cy="630936"/>
          </a:xfrm>
          <a:prstGeom prst="rect">
            <a:avLst/>
          </a:prstGeom>
          <a:noFill/>
        </p:spPr>
        <p:txBody>
          <a:bodyPr wrap="square" lIns="0" rIns="0" tIns="0" bIns="0" anchor="t">
            <a:noAutofit/>
          </a:bodyPr>
          <a:lstStyle/>
          <a:p>
            <a:pPr algn="l"/>
            <a:r>
              <a:rPr sz="1400" b="0">
                <a:solidFill>
                  <a:srgbClr val="20242B"/>
                </a:solidFill>
                <a:latin typeface="Inter"/>
              </a:rPr>
              <a:t>specialist agents</a:t>
            </a:r>
          </a:p>
        </p:txBody>
      </p:sp>
      <p:sp>
        <p:nvSpPr>
          <p:cNvPr id="12" name="tile24|card|"/>
          <p:cNvSpPr/>
          <p:nvPr/>
        </p:nvSpPr>
        <p:spPr>
          <a:xfrm>
            <a:off x="3931920" y="4937760"/>
            <a:ext cx="1554480" cy="1325880"/>
          </a:xfrm>
          <a:prstGeom prst="roundRect">
            <a:avLst>
              <a:gd name="adj" fmla="val 11034"/>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ile24|card|"/>
          <p:cNvSpPr txBox="1"/>
          <p:nvPr/>
        </p:nvSpPr>
        <p:spPr>
          <a:xfrm>
            <a:off x="4133087" y="5065776"/>
            <a:ext cx="1152144" cy="475488"/>
          </a:xfrm>
          <a:prstGeom prst="rect">
            <a:avLst/>
          </a:prstGeom>
          <a:noFill/>
        </p:spPr>
        <p:txBody>
          <a:bodyPr wrap="square" lIns="0" rIns="0" tIns="0" bIns="0" anchor="t">
            <a:noAutofit/>
          </a:bodyPr>
          <a:lstStyle/>
          <a:p>
            <a:pPr algn="l"/>
            <a:r>
              <a:rPr sz="2400" b="1">
                <a:solidFill>
                  <a:srgbClr val="C24E00"/>
                </a:solidFill>
                <a:latin typeface="Poppins"/>
              </a:rPr>
              <a:t>5</a:t>
            </a:r>
          </a:p>
        </p:txBody>
      </p:sp>
      <p:sp>
        <p:nvSpPr>
          <p:cNvPr id="14" name="tile24|card|"/>
          <p:cNvSpPr txBox="1"/>
          <p:nvPr/>
        </p:nvSpPr>
        <p:spPr>
          <a:xfrm>
            <a:off x="4133087" y="5577840"/>
            <a:ext cx="1152144" cy="630936"/>
          </a:xfrm>
          <a:prstGeom prst="rect">
            <a:avLst/>
          </a:prstGeom>
          <a:noFill/>
        </p:spPr>
        <p:txBody>
          <a:bodyPr wrap="square" lIns="0" rIns="0" tIns="0" bIns="0" anchor="t">
            <a:noAutofit/>
          </a:bodyPr>
          <a:lstStyle/>
          <a:p>
            <a:pPr algn="l"/>
            <a:r>
              <a:rPr sz="1400" b="0">
                <a:solidFill>
                  <a:srgbClr val="20242B"/>
                </a:solidFill>
                <a:latin typeface="Inter"/>
              </a:rPr>
              <a:t>payment rails</a:t>
            </a:r>
          </a:p>
        </p:txBody>
      </p:sp>
      <p:graphicFrame>
        <p:nvGraphicFramePr>
          <p:cNvPr id="15" name="g25|table|stack"/>
          <p:cNvGraphicFramePr>
            <a:graphicFrameLocks noGrp="1"/>
          </p:cNvGraphicFramePr>
          <p:nvPr/>
        </p:nvGraphicFramePr>
        <p:xfrm>
          <a:off x="5760720" y="1481328"/>
          <a:ext cx="5879592" cy="4764024"/>
        </p:xfrm>
        <a:graphic>
          <a:graphicData uri="http://schemas.openxmlformats.org/drawingml/2006/table">
            <a:tbl>
              <a:tblPr firstRow="0" bandRow="0"/>
              <a:tblGrid>
                <a:gridCol w="1691640"/>
                <a:gridCol w="3044952"/>
                <a:gridCol w="1143000"/>
              </a:tblGrid>
              <a:tr h="411480">
                <a:tc>
                  <a:txBody>
                    <a:bodyPr wrap="square"/>
                    <a:lstStyle/>
                    <a:p>
                      <a:pPr algn="l"/>
                      <a:r>
                        <a:rPr sz="1400" b="1">
                          <a:solidFill>
                            <a:srgbClr val="FFFFFF"/>
                          </a:solidFill>
                          <a:latin typeface="Poppins"/>
                        </a:rPr>
                        <a:t>Layer</a:t>
                      </a:r>
                    </a:p>
                  </a:txBody>
                  <a:tcPr marL="109728" marR="109728" marT="36576" marB="36576" anchor="ctr">
                    <a:lnL w="0">
                      <a:noFill/>
                    </a:lnL>
                    <a:lnR w="0">
                      <a:noFill/>
                    </a:lnR>
                    <a:lnT w="0">
                      <a:noFill/>
                    </a:lnT>
                    <a:lnB w="0">
                      <a:noFill/>
                    </a:lnB>
                    <a:solidFill>
                      <a:srgbClr val="0F1419"/>
                    </a:solidFill>
                  </a:tcPr>
                </a:tc>
                <a:tc>
                  <a:txBody>
                    <a:bodyPr wrap="square"/>
                    <a:lstStyle/>
                    <a:p>
                      <a:pPr algn="l"/>
                      <a:r>
                        <a:rPr sz="1400" b="1">
                          <a:solidFill>
                            <a:srgbClr val="FFFFFF"/>
                          </a:solidFill>
                          <a:latin typeface="Poppins"/>
                        </a:rPr>
                        <a:t>What's included</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Status</a:t>
                      </a:r>
                    </a:p>
                  </a:txBody>
                  <a:tcPr marL="109728" marR="109728" marT="36576" marB="36576" anchor="ctr">
                    <a:lnL w="0">
                      <a:noFill/>
                    </a:lnL>
                    <a:lnR w="0">
                      <a:noFill/>
                    </a:lnR>
                    <a:lnT w="0">
                      <a:noFill/>
                    </a:lnT>
                    <a:lnB w="0">
                      <a:noFill/>
                    </a:lnB>
                    <a:solidFill>
                      <a:srgbClr val="0F1419"/>
                    </a:solidFill>
                  </a:tcPr>
                </a:tc>
              </a:tr>
              <a:tr h="621792">
                <a:tc>
                  <a:txBody>
                    <a:bodyPr wrap="square"/>
                    <a:lstStyle/>
                    <a:p>
                      <a:pPr algn="l"/>
                      <a:r>
                        <a:rPr sz="1400" b="1">
                          <a:solidFill>
                            <a:srgbClr val="20242B"/>
                          </a:solidFill>
                          <a:latin typeface="Inter"/>
                        </a:rPr>
                        <a:t>AI workforce</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400" b="0">
                          <a:solidFill>
                            <a:srgbClr val="20242B"/>
                          </a:solidFill>
                          <a:latin typeface="Inter"/>
                        </a:rPr>
                        <a:t>4 core agents + 23 specialists, Agent Marketplace</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C24E00"/>
                          </a:solidFill>
                          <a:latin typeface="Inter"/>
                        </a:rPr>
                        <a:t>Live</a:t>
                      </a:r>
                    </a:p>
                  </a:txBody>
                  <a:tcPr marL="109728" marR="109728" marT="36576" marB="36576" anchor="ctr">
                    <a:lnL w="0">
                      <a:noFill/>
                    </a:lnL>
                    <a:lnR w="0">
                      <a:noFill/>
                    </a:lnR>
                    <a:lnT w="0">
                      <a:noFill/>
                    </a:lnT>
                    <a:lnB w="12700">
                      <a:solidFill>
                        <a:srgbClr val="E3E6EA"/>
                      </a:solidFill>
                    </a:lnB>
                    <a:solidFill>
                      <a:srgbClr val="FFF4EB"/>
                    </a:solidFill>
                  </a:tcPr>
                </a:tc>
              </a:tr>
              <a:tr h="621792">
                <a:tc>
                  <a:txBody>
                    <a:bodyPr wrap="square"/>
                    <a:lstStyle/>
                    <a:p>
                      <a:pPr algn="l"/>
                      <a:r>
                        <a:rPr sz="1400" b="1">
                          <a:solidFill>
                            <a:srgbClr val="20242B"/>
                          </a:solidFill>
                          <a:latin typeface="Inter"/>
                        </a:rPr>
                        <a:t>WhatsApp commerce</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400" b="0">
                          <a:solidFill>
                            <a:srgbClr val="20242B"/>
                          </a:solidFill>
                          <a:latin typeface="Inter"/>
                        </a:rPr>
                        <a:t>Cloud API, Flows, catalog, cart, orders, recovery</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C24E00"/>
                          </a:solidFill>
                          <a:latin typeface="Inter"/>
                        </a:rPr>
                        <a:t>Live</a:t>
                      </a:r>
                    </a:p>
                  </a:txBody>
                  <a:tcPr marL="109728" marR="109728" marT="36576" marB="36576" anchor="ctr">
                    <a:lnL w="0">
                      <a:noFill/>
                    </a:lnL>
                    <a:lnR w="0">
                      <a:noFill/>
                    </a:lnR>
                    <a:lnT w="0">
                      <a:noFill/>
                    </a:lnT>
                    <a:lnB w="12700">
                      <a:solidFill>
                        <a:srgbClr val="E3E6EA"/>
                      </a:solidFill>
                    </a:lnB>
                    <a:solidFill>
                      <a:srgbClr val="FFF4EB"/>
                    </a:solidFill>
                  </a:tcPr>
                </a:tc>
              </a:tr>
              <a:tr h="621792">
                <a:tc>
                  <a:txBody>
                    <a:bodyPr wrap="square"/>
                    <a:lstStyle/>
                    <a:p>
                      <a:pPr algn="l"/>
                      <a:r>
                        <a:rPr sz="1400" b="1">
                          <a:solidFill>
                            <a:srgbClr val="20242B"/>
                          </a:solidFill>
                          <a:latin typeface="Inter"/>
                        </a:rPr>
                        <a:t>Payments</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400" b="0">
                          <a:solidFill>
                            <a:srgbClr val="20242B"/>
                          </a:solidFill>
                          <a:latin typeface="Inter"/>
                        </a:rPr>
                        <a:t>Yoco, Ozow, Paystack, pawaPay, Fincra</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C24E00"/>
                          </a:solidFill>
                          <a:latin typeface="Inter"/>
                        </a:rPr>
                        <a:t>Live Sept 2026</a:t>
                      </a:r>
                    </a:p>
                  </a:txBody>
                  <a:tcPr marL="109728" marR="109728" marT="36576" marB="36576" anchor="ctr">
                    <a:lnL w="0">
                      <a:noFill/>
                    </a:lnL>
                    <a:lnR w="0">
                      <a:noFill/>
                    </a:lnR>
                    <a:lnT w="0">
                      <a:noFill/>
                    </a:lnT>
                    <a:lnB w="12700">
                      <a:solidFill>
                        <a:srgbClr val="E3E6EA"/>
                      </a:solidFill>
                    </a:lnB>
                    <a:solidFill>
                      <a:srgbClr val="FFF4EB"/>
                    </a:solidFill>
                  </a:tcPr>
                </a:tc>
              </a:tr>
              <a:tr h="621792">
                <a:tc>
                  <a:txBody>
                    <a:bodyPr wrap="square"/>
                    <a:lstStyle/>
                    <a:p>
                      <a:pPr algn="l"/>
                      <a:r>
                        <a:rPr sz="1400" b="1">
                          <a:solidFill>
                            <a:srgbClr val="20242B"/>
                          </a:solidFill>
                          <a:latin typeface="Inter"/>
                        </a:rPr>
                        <a:t>Channels</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400" b="0">
                          <a:solidFill>
                            <a:srgbClr val="20242B"/>
                          </a:solidFill>
                          <a:latin typeface="Inter"/>
                        </a:rPr>
                        <a:t>Facebook Pages, Messenger, email, SMS, USSD, web chat</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C24E00"/>
                          </a:solidFill>
                          <a:latin typeface="Inter"/>
                        </a:rPr>
                        <a:t>Live</a:t>
                      </a:r>
                    </a:p>
                  </a:txBody>
                  <a:tcPr marL="109728" marR="109728" marT="36576" marB="36576" anchor="ctr">
                    <a:lnL w="0">
                      <a:noFill/>
                    </a:lnL>
                    <a:lnR w="0">
                      <a:noFill/>
                    </a:lnR>
                    <a:lnT w="0">
                      <a:noFill/>
                    </a:lnT>
                    <a:lnB w="12700">
                      <a:solidFill>
                        <a:srgbClr val="E3E6EA"/>
                      </a:solidFill>
                    </a:lnB>
                    <a:solidFill>
                      <a:srgbClr val="FFF4EB"/>
                    </a:solidFill>
                  </a:tcPr>
                </a:tc>
              </a:tr>
              <a:tr h="621792">
                <a:tc>
                  <a:txBody>
                    <a:bodyPr wrap="square"/>
                    <a:lstStyle/>
                    <a:p>
                      <a:pPr algn="l"/>
                      <a:r>
                        <a:rPr sz="1400" b="1">
                          <a:solidFill>
                            <a:srgbClr val="20242B"/>
                          </a:solidFill>
                          <a:latin typeface="Inter"/>
                        </a:rPr>
                        <a:t>Growth &amp; integrations</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400" b="0">
                          <a:solidFill>
                            <a:srgbClr val="20242B"/>
                          </a:solidFill>
                          <a:latin typeface="Inter"/>
                        </a:rPr>
                        <a:t>CRM, loyalty, Shopify, WooCommerce, HubSpot, API</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C24E00"/>
                          </a:solidFill>
                          <a:latin typeface="Inter"/>
                        </a:rPr>
                        <a:t>Live</a:t>
                      </a:r>
                    </a:p>
                  </a:txBody>
                  <a:tcPr marL="109728" marR="109728" marT="36576" marB="36576" anchor="ctr">
                    <a:lnL w="0">
                      <a:noFill/>
                    </a:lnL>
                    <a:lnR w="0">
                      <a:noFill/>
                    </a:lnR>
                    <a:lnT w="0">
                      <a:noFill/>
                    </a:lnT>
                    <a:lnB w="12700">
                      <a:solidFill>
                        <a:srgbClr val="E3E6EA"/>
                      </a:solidFill>
                    </a:lnB>
                    <a:solidFill>
                      <a:srgbClr val="FFF4EB"/>
                    </a:solidFill>
                  </a:tcPr>
                </a:tc>
              </a:tr>
              <a:tr h="621792">
                <a:tc>
                  <a:txBody>
                    <a:bodyPr wrap="square"/>
                    <a:lstStyle/>
                    <a:p>
                      <a:pPr algn="l"/>
                      <a:r>
                        <a:rPr sz="1400" b="1">
                          <a:solidFill>
                            <a:srgbClr val="20242B"/>
                          </a:solidFill>
                          <a:latin typeface="Inter"/>
                        </a:rPr>
                        <a:t>Instagram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400" b="0">
                          <a:solidFill>
                            <a:srgbClr val="20242B"/>
                          </a:solidFill>
                          <a:latin typeface="Inter"/>
                        </a:rPr>
                        <a:t>Publishing, comments and DMs (Meta permissions)</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20242B"/>
                          </a:solidFill>
                          <a:latin typeface="Inter"/>
                        </a:rPr>
                        <a:t>In review</a:t>
                      </a:r>
                    </a:p>
                  </a:txBody>
                  <a:tcPr marL="109728" marR="109728" marT="36576" marB="36576" anchor="ctr">
                    <a:lnL w="0">
                      <a:noFill/>
                    </a:lnL>
                    <a:lnR w="0">
                      <a:noFill/>
                    </a:lnR>
                    <a:lnT w="0">
                      <a:noFill/>
                    </a:lnT>
                    <a:lnB w="12700">
                      <a:solidFill>
                        <a:srgbClr val="E3E6EA"/>
                      </a:solidFill>
                    </a:lnB>
                    <a:solidFill>
                      <a:srgbClr val="F3F4F6"/>
                    </a:solidFill>
                  </a:tcPr>
                </a:tc>
              </a:tr>
              <a:tr h="621792">
                <a:tc>
                  <a:txBody>
                    <a:bodyPr wrap="square"/>
                    <a:lstStyle/>
                    <a:p>
                      <a:pPr algn="l"/>
                      <a:r>
                        <a:rPr sz="1400" b="1">
                          <a:solidFill>
                            <a:srgbClr val="20242B"/>
                          </a:solidFill>
                          <a:latin typeface="Inter"/>
                        </a:rPr>
                        <a:t>More social networks</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400" b="0">
                          <a:solidFill>
                            <a:srgbClr val="20242B"/>
                          </a:solidFill>
                          <a:latin typeface="Inter"/>
                        </a:rPr>
                        <a:t>TikTok, LinkedIn, X, YouTube, Threads, Pinterest</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5B6670"/>
                          </a:solidFill>
                          <a:latin typeface="Inter"/>
                        </a:rPr>
                        <a:t>Coming soon</a:t>
                      </a:r>
                    </a:p>
                  </a:txBody>
                  <a:tcPr marL="109728" marR="109728" marT="36576" marB="36576" anchor="ctr">
                    <a:lnL w="0">
                      <a:noFill/>
                    </a:lnL>
                    <a:lnR w="0">
                      <a:noFill/>
                    </a:lnR>
                    <a:lnT w="0">
                      <a:noFill/>
                    </a:lnT>
                    <a:lnB w="12700">
                      <a:solidFill>
                        <a:srgbClr val="E3E6EA"/>
                      </a:solidFill>
                    </a:lnB>
                    <a:solidFill>
                      <a:srgbClr val="F3F4F6"/>
                    </a:solidFill>
                  </a:tcPr>
                </a:tc>
              </a:tr>
            </a:tbl>
          </a:graphicData>
        </a:graphic>
      </p:graphicFrame>
      <p:sp>
        <p:nvSpPr>
          <p:cNvPr id="16"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Confidential</a:t>
            </a:r>
          </a:p>
        </p:txBody>
      </p:sp>
      <p:sp>
        <p:nvSpPr>
          <p:cNvPr id="17"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4</a:t>
            </a:fld>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26|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WHY AFRICA, WHY NOW · MARKET ESTIMATES</a:t>
            </a:r>
          </a:p>
        </p:txBody>
      </p:sp>
      <p:sp>
        <p:nvSpPr>
          <p:cNvPr id="3" name="hdr26|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SMBs already sell and pay on mobile</a:t>
            </a:r>
          </a:p>
        </p:txBody>
      </p:sp>
      <p:sp>
        <p:nvSpPr>
          <p:cNvPr id="4" name="why27|card|"/>
          <p:cNvSpPr txBox="1"/>
          <p:nvPr/>
        </p:nvSpPr>
        <p:spPr>
          <a:xfrm>
            <a:off x="548640" y="1554480"/>
            <a:ext cx="1463040" cy="566928"/>
          </a:xfrm>
          <a:prstGeom prst="rect">
            <a:avLst/>
          </a:prstGeom>
          <a:noFill/>
        </p:spPr>
        <p:txBody>
          <a:bodyPr wrap="square" lIns="0" rIns="0" tIns="0" bIns="0" anchor="ctr">
            <a:noAutofit/>
          </a:bodyPr>
          <a:lstStyle/>
          <a:p>
            <a:pPr algn="l"/>
            <a:r>
              <a:rPr sz="2600" b="1">
                <a:solidFill>
                  <a:srgbClr val="C24E00"/>
                </a:solidFill>
                <a:latin typeface="Poppins"/>
              </a:rPr>
              <a:t>&gt;90%</a:t>
            </a:r>
          </a:p>
        </p:txBody>
      </p:sp>
      <p:sp>
        <p:nvSpPr>
          <p:cNvPr id="5" name="why27|body|"/>
          <p:cNvSpPr txBox="1"/>
          <p:nvPr/>
        </p:nvSpPr>
        <p:spPr>
          <a:xfrm>
            <a:off x="2103120" y="1554480"/>
            <a:ext cx="3063240" cy="566928"/>
          </a:xfrm>
          <a:prstGeom prst="rect">
            <a:avLst/>
          </a:prstGeom>
          <a:noFill/>
        </p:spPr>
        <p:txBody>
          <a:bodyPr wrap="square" lIns="0" rIns="0" tIns="0" bIns="0" anchor="ctr">
            <a:noAutofit/>
          </a:bodyPr>
          <a:lstStyle/>
          <a:p>
            <a:pPr algn="l"/>
            <a:r>
              <a:rPr sz="1400" b="0">
                <a:solidFill>
                  <a:srgbClr val="20242B"/>
                </a:solidFill>
                <a:latin typeface="Inter"/>
              </a:rPr>
              <a:t>of internet users in SA and Nigeria use WhatsApp</a:t>
            </a:r>
          </a:p>
        </p:txBody>
      </p:sp>
      <p:sp>
        <p:nvSpPr>
          <p:cNvPr id="6" name="why27|caption|"/>
          <p:cNvSpPr txBox="1"/>
          <p:nvPr/>
        </p:nvSpPr>
        <p:spPr>
          <a:xfrm>
            <a:off x="2103120" y="2176272"/>
            <a:ext cx="3063240" cy="274320"/>
          </a:xfrm>
          <a:prstGeom prst="rect">
            <a:avLst/>
          </a:prstGeom>
          <a:noFill/>
        </p:spPr>
        <p:txBody>
          <a:bodyPr wrap="square" lIns="0" rIns="0" tIns="0" bIns="0" anchor="t">
            <a:noAutofit/>
          </a:bodyPr>
          <a:lstStyle/>
          <a:p>
            <a:pPr algn="l"/>
            <a:r>
              <a:rPr sz="1100" b="0">
                <a:solidFill>
                  <a:srgbClr val="5B6670"/>
                </a:solidFill>
                <a:latin typeface="Inter"/>
              </a:rPr>
              <a:t>DataReportal 2025 est.</a:t>
            </a:r>
          </a:p>
        </p:txBody>
      </p:sp>
      <p:sp>
        <p:nvSpPr>
          <p:cNvPr id="7" name="why29|card|"/>
          <p:cNvSpPr txBox="1"/>
          <p:nvPr/>
        </p:nvSpPr>
        <p:spPr>
          <a:xfrm>
            <a:off x="548640" y="2651760"/>
            <a:ext cx="1463040" cy="566928"/>
          </a:xfrm>
          <a:prstGeom prst="rect">
            <a:avLst/>
          </a:prstGeom>
          <a:noFill/>
        </p:spPr>
        <p:txBody>
          <a:bodyPr wrap="square" lIns="0" rIns="0" tIns="0" bIns="0" anchor="ctr">
            <a:noAutofit/>
          </a:bodyPr>
          <a:lstStyle/>
          <a:p>
            <a:pPr algn="l"/>
            <a:r>
              <a:rPr sz="2600" b="1">
                <a:solidFill>
                  <a:srgbClr val="C24E00"/>
                </a:solidFill>
                <a:latin typeface="Poppins"/>
              </a:rPr>
              <a:t>~70%</a:t>
            </a:r>
          </a:p>
        </p:txBody>
      </p:sp>
      <p:sp>
        <p:nvSpPr>
          <p:cNvPr id="8" name="why29|body|"/>
          <p:cNvSpPr txBox="1"/>
          <p:nvPr/>
        </p:nvSpPr>
        <p:spPr>
          <a:xfrm>
            <a:off x="2103120" y="2651760"/>
            <a:ext cx="3063240" cy="566928"/>
          </a:xfrm>
          <a:prstGeom prst="rect">
            <a:avLst/>
          </a:prstGeom>
          <a:noFill/>
        </p:spPr>
        <p:txBody>
          <a:bodyPr wrap="square" lIns="0" rIns="0" tIns="0" bIns="0" anchor="ctr">
            <a:noAutofit/>
          </a:bodyPr>
          <a:lstStyle/>
          <a:p>
            <a:pPr algn="l"/>
            <a:r>
              <a:rPr sz="1400" b="0">
                <a:solidFill>
                  <a:srgbClr val="20242B"/>
                </a:solidFill>
                <a:latin typeface="Inter"/>
              </a:rPr>
              <a:t>of global mobile money value is in Sub-Saharan Africa</a:t>
            </a:r>
          </a:p>
        </p:txBody>
      </p:sp>
      <p:sp>
        <p:nvSpPr>
          <p:cNvPr id="9" name="why29|caption|"/>
          <p:cNvSpPr txBox="1"/>
          <p:nvPr/>
        </p:nvSpPr>
        <p:spPr>
          <a:xfrm>
            <a:off x="2103120" y="3273552"/>
            <a:ext cx="3063240" cy="274320"/>
          </a:xfrm>
          <a:prstGeom prst="rect">
            <a:avLst/>
          </a:prstGeom>
          <a:noFill/>
        </p:spPr>
        <p:txBody>
          <a:bodyPr wrap="square" lIns="0" rIns="0" tIns="0" bIns="0" anchor="t">
            <a:noAutofit/>
          </a:bodyPr>
          <a:lstStyle/>
          <a:p>
            <a:pPr algn="l"/>
            <a:r>
              <a:rPr sz="1100" b="0">
                <a:solidFill>
                  <a:srgbClr val="5B6670"/>
                </a:solidFill>
                <a:latin typeface="Inter"/>
              </a:rPr>
              <a:t>GSMA State of the Industry 2025 est.</a:t>
            </a:r>
          </a:p>
        </p:txBody>
      </p:sp>
      <p:sp>
        <p:nvSpPr>
          <p:cNvPr id="10" name="why31|card|"/>
          <p:cNvSpPr txBox="1"/>
          <p:nvPr/>
        </p:nvSpPr>
        <p:spPr>
          <a:xfrm>
            <a:off x="548640" y="3749039"/>
            <a:ext cx="1463040" cy="566928"/>
          </a:xfrm>
          <a:prstGeom prst="rect">
            <a:avLst/>
          </a:prstGeom>
          <a:noFill/>
        </p:spPr>
        <p:txBody>
          <a:bodyPr wrap="square" lIns="0" rIns="0" tIns="0" bIns="0" anchor="ctr">
            <a:noAutofit/>
          </a:bodyPr>
          <a:lstStyle/>
          <a:p>
            <a:pPr algn="l"/>
            <a:r>
              <a:rPr sz="2600" b="1">
                <a:solidFill>
                  <a:srgbClr val="C24E00"/>
                </a:solidFill>
                <a:latin typeface="Poppins"/>
              </a:rPr>
              <a:t>~44M</a:t>
            </a:r>
          </a:p>
        </p:txBody>
      </p:sp>
      <p:sp>
        <p:nvSpPr>
          <p:cNvPr id="11" name="why31|body|"/>
          <p:cNvSpPr txBox="1"/>
          <p:nvPr/>
        </p:nvSpPr>
        <p:spPr>
          <a:xfrm>
            <a:off x="2103120" y="3749039"/>
            <a:ext cx="3063240" cy="566928"/>
          </a:xfrm>
          <a:prstGeom prst="rect">
            <a:avLst/>
          </a:prstGeom>
          <a:noFill/>
        </p:spPr>
        <p:txBody>
          <a:bodyPr wrap="square" lIns="0" rIns="0" tIns="0" bIns="0" anchor="ctr">
            <a:noAutofit/>
          </a:bodyPr>
          <a:lstStyle/>
          <a:p>
            <a:pPr algn="l"/>
            <a:r>
              <a:rPr sz="1400" b="0">
                <a:solidFill>
                  <a:srgbClr val="20242B"/>
                </a:solidFill>
                <a:latin typeface="Inter"/>
              </a:rPr>
              <a:t>MSMEs in Sub-Saharan Africa</a:t>
            </a:r>
          </a:p>
        </p:txBody>
      </p:sp>
      <p:sp>
        <p:nvSpPr>
          <p:cNvPr id="12" name="why31|caption|"/>
          <p:cNvSpPr txBox="1"/>
          <p:nvPr/>
        </p:nvSpPr>
        <p:spPr>
          <a:xfrm>
            <a:off x="2103120" y="4370831"/>
            <a:ext cx="3063240" cy="274320"/>
          </a:xfrm>
          <a:prstGeom prst="rect">
            <a:avLst/>
          </a:prstGeom>
          <a:noFill/>
        </p:spPr>
        <p:txBody>
          <a:bodyPr wrap="square" lIns="0" rIns="0" tIns="0" bIns="0" anchor="t">
            <a:noAutofit/>
          </a:bodyPr>
          <a:lstStyle/>
          <a:p>
            <a:pPr algn="l"/>
            <a:r>
              <a:rPr sz="1100" b="0">
                <a:solidFill>
                  <a:srgbClr val="5B6670"/>
                </a:solidFill>
                <a:latin typeface="Inter"/>
              </a:rPr>
              <a:t>IFC / World Bank est.</a:t>
            </a:r>
          </a:p>
        </p:txBody>
      </p:sp>
      <p:sp>
        <p:nvSpPr>
          <p:cNvPr id="13" name="why33|card|"/>
          <p:cNvSpPr txBox="1"/>
          <p:nvPr/>
        </p:nvSpPr>
        <p:spPr>
          <a:xfrm>
            <a:off x="548640" y="4846320"/>
            <a:ext cx="1463040" cy="566928"/>
          </a:xfrm>
          <a:prstGeom prst="rect">
            <a:avLst/>
          </a:prstGeom>
          <a:noFill/>
        </p:spPr>
        <p:txBody>
          <a:bodyPr wrap="square" lIns="0" rIns="0" tIns="0" bIns="0" anchor="ctr">
            <a:noAutofit/>
          </a:bodyPr>
          <a:lstStyle/>
          <a:p>
            <a:pPr algn="l"/>
            <a:r>
              <a:rPr sz="2600" b="1">
                <a:solidFill>
                  <a:srgbClr val="C24E00"/>
                </a:solidFill>
                <a:latin typeface="Poppins"/>
              </a:rPr>
              <a:t>~39M</a:t>
            </a:r>
          </a:p>
        </p:txBody>
      </p:sp>
      <p:sp>
        <p:nvSpPr>
          <p:cNvPr id="14" name="why33|body|"/>
          <p:cNvSpPr txBox="1"/>
          <p:nvPr/>
        </p:nvSpPr>
        <p:spPr>
          <a:xfrm>
            <a:off x="2103120" y="4846320"/>
            <a:ext cx="3063240" cy="566928"/>
          </a:xfrm>
          <a:prstGeom prst="rect">
            <a:avLst/>
          </a:prstGeom>
          <a:noFill/>
        </p:spPr>
        <p:txBody>
          <a:bodyPr wrap="square" lIns="0" rIns="0" tIns="0" bIns="0" anchor="ctr">
            <a:noAutofit/>
          </a:bodyPr>
          <a:lstStyle/>
          <a:p>
            <a:pPr algn="l"/>
            <a:r>
              <a:rPr sz="1400" b="0">
                <a:solidFill>
                  <a:srgbClr val="20242B"/>
                </a:solidFill>
                <a:latin typeface="Inter"/>
              </a:rPr>
              <a:t>MSMEs in Nigeria; ~7.4M in Kenya; ~2.5–3M SMMEs in South Africa</a:t>
            </a:r>
          </a:p>
        </p:txBody>
      </p:sp>
      <p:sp>
        <p:nvSpPr>
          <p:cNvPr id="15" name="why33|caption|"/>
          <p:cNvSpPr txBox="1"/>
          <p:nvPr/>
        </p:nvSpPr>
        <p:spPr>
          <a:xfrm>
            <a:off x="2103120" y="5468112"/>
            <a:ext cx="3063240" cy="274320"/>
          </a:xfrm>
          <a:prstGeom prst="rect">
            <a:avLst/>
          </a:prstGeom>
          <a:noFill/>
        </p:spPr>
        <p:txBody>
          <a:bodyPr wrap="square" lIns="0" rIns="0" tIns="0" bIns="0" anchor="t">
            <a:noAutofit/>
          </a:bodyPr>
          <a:lstStyle/>
          <a:p>
            <a:pPr algn="l"/>
            <a:r>
              <a:rPr sz="1100" b="0">
                <a:solidFill>
                  <a:srgbClr val="5B6670"/>
                </a:solidFill>
                <a:latin typeface="Inter"/>
              </a:rPr>
              <a:t>SMEDAN, KNBS, SEDA / Stats SA est.</a:t>
            </a:r>
          </a:p>
        </p:txBody>
      </p:sp>
      <p:pic>
        <p:nvPicPr>
          <p:cNvPr id="16" name="g35|img|charts/tam_sam_som_16x9.png" descr="TAM 44 million MSMEs, SAM 3.5 million SMBs, SOM 17,500 paying workspaces (estimates)"/>
          <p:cNvPicPr>
            <a:picLocks noChangeAspect="1"/>
          </p:cNvPicPr>
          <p:nvPr/>
        </p:nvPicPr>
        <p:blipFill>
          <a:blip r:embed="rId2"/>
          <a:srcRect l="10000" t="14000" r="2000" b="5000"/>
          <a:stretch>
            <a:fillRect/>
          </a:stretch>
        </p:blipFill>
        <p:spPr>
          <a:xfrm>
            <a:off x="5440680" y="1481328"/>
            <a:ext cx="6199632" cy="3209894"/>
          </a:xfrm>
          <a:prstGeom prst="rect">
            <a:avLst/>
          </a:prstGeom>
        </p:spPr>
      </p:pic>
      <p:sp>
        <p:nvSpPr>
          <p:cNvPr id="17" name="g36|caption|"/>
          <p:cNvSpPr txBox="1"/>
          <p:nvPr/>
        </p:nvSpPr>
        <p:spPr>
          <a:xfrm>
            <a:off x="5440680" y="4892040"/>
            <a:ext cx="6199632" cy="914400"/>
          </a:xfrm>
          <a:prstGeom prst="rect">
            <a:avLst/>
          </a:prstGeom>
          <a:noFill/>
        </p:spPr>
        <p:txBody>
          <a:bodyPr wrap="square" lIns="0" rIns="0" tIns="0" bIns="0" anchor="t">
            <a:noAutofit/>
          </a:bodyPr>
          <a:lstStyle/>
          <a:p>
            <a:pPr algn="l"/>
            <a:r>
              <a:rPr sz="1200" b="0">
                <a:solidFill>
                  <a:srgbClr val="5B6670"/>
                </a:solidFill>
                <a:latin typeface="Inter"/>
              </a:rPr>
              <a:t>TAM: IFC / World Bank est. SAM and SOM: FluxMuse planning estimates (facts §5). The base case reaches 8,816 paying workspaces in FY5, 50.4% of SOM (projection (model v2, base case)). Verify all estimates before external use.</a:t>
            </a:r>
          </a:p>
        </p:txBody>
      </p:sp>
      <p:sp>
        <p:nvSpPr>
          <p:cNvPr id="18"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Confidential</a:t>
            </a:r>
          </a:p>
        </p:txBody>
      </p:sp>
      <p:sp>
        <p:nvSpPr>
          <p:cNvPr id="19"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5</a:t>
            </a:fld>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37|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BUSINESS MODEL · FIXED PRICES PER MARKET</a:t>
            </a:r>
          </a:p>
        </p:txBody>
      </p:sp>
      <p:sp>
        <p:nvSpPr>
          <p:cNvPr id="3" name="hdr37|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Subscriptions, priced for each market</a:t>
            </a:r>
          </a:p>
        </p:txBody>
      </p:sp>
      <p:graphicFrame>
        <p:nvGraphicFramePr>
          <p:cNvPr id="4" name="g38|table|pricing"/>
          <p:cNvGraphicFramePr>
            <a:graphicFrameLocks noGrp="1"/>
          </p:cNvGraphicFramePr>
          <p:nvPr/>
        </p:nvGraphicFramePr>
        <p:xfrm>
          <a:off x="548640" y="1481328"/>
          <a:ext cx="7178040" cy="3200400"/>
        </p:xfrm>
        <a:graphic>
          <a:graphicData uri="http://schemas.openxmlformats.org/drawingml/2006/table">
            <a:tbl>
              <a:tblPr firstRow="0" bandRow="0"/>
              <a:tblGrid>
                <a:gridCol w="1828800"/>
                <a:gridCol w="914400"/>
                <a:gridCol w="1216152"/>
                <a:gridCol w="1234440"/>
                <a:gridCol w="1207008"/>
                <a:gridCol w="777240"/>
              </a:tblGrid>
              <a:tr h="457200">
                <a:tc>
                  <a:txBody>
                    <a:bodyPr wrap="square"/>
                    <a:lstStyle/>
                    <a:p>
                      <a:pPr algn="l"/>
                      <a:r>
                        <a:rPr sz="1400" b="1">
                          <a:solidFill>
                            <a:srgbClr val="FFFFFF"/>
                          </a:solidFill>
                          <a:latin typeface="Poppins"/>
                        </a:rPr>
                        <a:t>Monthly</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ZAR</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NGN</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KES</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GHS</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USD</a:t>
                      </a:r>
                    </a:p>
                  </a:txBody>
                  <a:tcPr marL="109728" marR="109728" marT="36576" marB="36576" anchor="ctr">
                    <a:lnL w="0">
                      <a:noFill/>
                    </a:lnL>
                    <a:lnR w="0">
                      <a:noFill/>
                    </a:lnR>
                    <a:lnT w="0">
                      <a:noFill/>
                    </a:lnT>
                    <a:lnB w="0">
                      <a:noFill/>
                    </a:lnB>
                    <a:solidFill>
                      <a:srgbClr val="0F1419"/>
                    </a:solidFill>
                  </a:tcPr>
                </a:tc>
              </a:tr>
              <a:tr h="548640">
                <a:tc>
                  <a:txBody>
                    <a:bodyPr wrap="square"/>
                    <a:lstStyle/>
                    <a:p>
                      <a:pPr algn="l"/>
                      <a:r>
                        <a:rPr sz="1400" b="1">
                          <a:solidFill>
                            <a:srgbClr val="20242B"/>
                          </a:solidFill>
                          <a:latin typeface="Inter"/>
                        </a:rPr>
                        <a:t>Starter</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20242B"/>
                          </a:solidFill>
                          <a:latin typeface="Inter"/>
                        </a:rPr>
                        <a:t>R499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₦41,000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KSh 3,999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GH₵ 339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$27</a:t>
                      </a:r>
                    </a:p>
                  </a:txBody>
                  <a:tcPr marL="109728" marR="109728" marT="36576" marB="36576" anchor="ctr">
                    <a:lnL w="0">
                      <a:noFill/>
                    </a:lnL>
                    <a:lnR w="0">
                      <a:noFill/>
                    </a:lnR>
                    <a:lnT w="0">
                      <a:noFill/>
                    </a:lnT>
                    <a:lnB w="12700">
                      <a:solidFill>
                        <a:srgbClr val="E3E6EA"/>
                      </a:solidFill>
                    </a:lnB>
                    <a:solidFill>
                      <a:srgbClr val="FFFFFF"/>
                    </a:solidFill>
                  </a:tcPr>
                </a:tc>
              </a:tr>
              <a:tr h="548640">
                <a:tc>
                  <a:txBody>
                    <a:bodyPr wrap="square"/>
                    <a:lstStyle/>
                    <a:p>
                      <a:pPr algn="l"/>
                      <a:r>
                        <a:rPr sz="1400" b="1">
                          <a:solidFill>
                            <a:srgbClr val="20242B"/>
                          </a:solidFill>
                          <a:latin typeface="Inter"/>
                        </a:rPr>
                        <a:t>Growth</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400" b="1">
                          <a:solidFill>
                            <a:srgbClr val="20242B"/>
                          </a:solidFill>
                          <a:latin typeface="Inter"/>
                        </a:rPr>
                        <a:t>R1,999</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400" b="0">
                          <a:solidFill>
                            <a:srgbClr val="20242B"/>
                          </a:solidFill>
                          <a:latin typeface="Inter"/>
                        </a:rPr>
                        <a:t>₦165,000</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400" b="0">
                          <a:solidFill>
                            <a:srgbClr val="20242B"/>
                          </a:solidFill>
                          <a:latin typeface="Inter"/>
                        </a:rPr>
                        <a:t>KSh 15,999</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400" b="0">
                          <a:solidFill>
                            <a:srgbClr val="20242B"/>
                          </a:solidFill>
                          <a:latin typeface="Inter"/>
                        </a:rPr>
                        <a:t>GH₵ 1,359</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400" b="0">
                          <a:solidFill>
                            <a:srgbClr val="20242B"/>
                          </a:solidFill>
                          <a:latin typeface="Inter"/>
                        </a:rPr>
                        <a:t>$109</a:t>
                      </a:r>
                    </a:p>
                  </a:txBody>
                  <a:tcPr marL="109728" marR="109728" marT="36576" marB="36576" anchor="ctr">
                    <a:lnL w="0">
                      <a:noFill/>
                    </a:lnL>
                    <a:lnR w="0">
                      <a:noFill/>
                    </a:lnR>
                    <a:lnT w="0">
                      <a:noFill/>
                    </a:lnT>
                    <a:lnB w="12700">
                      <a:solidFill>
                        <a:srgbClr val="E3E6EA"/>
                      </a:solidFill>
                    </a:lnB>
                    <a:solidFill>
                      <a:srgbClr val="FFF4EB"/>
                    </a:solidFill>
                  </a:tcPr>
                </a:tc>
              </a:tr>
              <a:tr h="548640">
                <a:tc>
                  <a:txBody>
                    <a:bodyPr wrap="square"/>
                    <a:lstStyle/>
                    <a:p>
                      <a:pPr algn="l"/>
                      <a:r>
                        <a:rPr sz="1400" b="1">
                          <a:solidFill>
                            <a:srgbClr val="20242B"/>
                          </a:solidFill>
                          <a:latin typeface="Inter"/>
                        </a:rPr>
                        <a:t>Scale</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20242B"/>
                          </a:solidFill>
                          <a:latin typeface="Inter"/>
                        </a:rPr>
                        <a:t>R4,999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₦413,000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KSh 39,999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GH₵ 3,399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$269</a:t>
                      </a:r>
                    </a:p>
                  </a:txBody>
                  <a:tcPr marL="109728" marR="109728" marT="36576" marB="36576" anchor="ctr">
                    <a:lnL w="0">
                      <a:noFill/>
                    </a:lnL>
                    <a:lnR w="0">
                      <a:noFill/>
                    </a:lnR>
                    <a:lnT w="0">
                      <a:noFill/>
                    </a:lnT>
                    <a:lnB w="12700">
                      <a:solidFill>
                        <a:srgbClr val="E3E6EA"/>
                      </a:solidFill>
                    </a:lnB>
                    <a:solidFill>
                      <a:srgbClr val="FFFFFF"/>
                    </a:solidFill>
                  </a:tcPr>
                </a:tc>
              </a:tr>
              <a:tr h="548640">
                <a:tc>
                  <a:txBody>
                    <a:bodyPr wrap="square"/>
                    <a:lstStyle/>
                    <a:p>
                      <a:pPr algn="l"/>
                      <a:r>
                        <a:rPr sz="1400" b="1">
                          <a:solidFill>
                            <a:srgbClr val="20242B"/>
                          </a:solidFill>
                          <a:latin typeface="Inter"/>
                        </a:rPr>
                        <a:t>Agency</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20242B"/>
                          </a:solidFill>
                          <a:latin typeface="Inter"/>
                        </a:rPr>
                        <a:t>R7,999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₦662,000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KSh 64,499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GH₵ 5,439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$429</a:t>
                      </a:r>
                    </a:p>
                  </a:txBody>
                  <a:tcPr marL="109728" marR="109728" marT="36576" marB="36576" anchor="ctr">
                    <a:lnL w="0">
                      <a:noFill/>
                    </a:lnL>
                    <a:lnR w="0">
                      <a:noFill/>
                    </a:lnR>
                    <a:lnT w="0">
                      <a:noFill/>
                    </a:lnT>
                    <a:lnB w="12700">
                      <a:solidFill>
                        <a:srgbClr val="E3E6EA"/>
                      </a:solidFill>
                    </a:lnB>
                    <a:solidFill>
                      <a:srgbClr val="FFFFFF"/>
                    </a:solidFill>
                  </a:tcPr>
                </a:tc>
              </a:tr>
              <a:tr h="548640">
                <a:tc>
                  <a:txBody>
                    <a:bodyPr wrap="square"/>
                    <a:lstStyle/>
                    <a:p>
                      <a:pPr algn="l"/>
                      <a:r>
                        <a:rPr sz="1400" b="1">
                          <a:solidFill>
                            <a:srgbClr val="FF6A00"/>
                          </a:solidFill>
                          <a:latin typeface="Inter"/>
                        </a:rPr>
                        <a:t>Partner wholesale</a:t>
                      </a:r>
                    </a:p>
                  </a:txBody>
                  <a:tcPr marL="109728" marR="109728" marT="36576" marB="36576" anchor="ctr">
                    <a:lnL w="0">
                      <a:noFill/>
                    </a:lnL>
                    <a:lnR w="0">
                      <a:noFill/>
                    </a:lnR>
                    <a:lnT w="0">
                      <a:noFill/>
                    </a:lnT>
                    <a:lnB w="0">
                      <a:noFill/>
                    </a:lnB>
                    <a:solidFill>
                      <a:srgbClr val="1B232C"/>
                    </a:solidFill>
                  </a:tcPr>
                </a:tc>
                <a:tc>
                  <a:txBody>
                    <a:bodyPr wrap="square"/>
                    <a:lstStyle/>
                    <a:p>
                      <a:pPr algn="ctr"/>
                      <a:r>
                        <a:rPr sz="1400" b="1">
                          <a:solidFill>
                            <a:srgbClr val="FFFFFF"/>
                          </a:solidFill>
                          <a:latin typeface="Inter"/>
                        </a:rPr>
                        <a:t>R5,599</a:t>
                      </a:r>
                    </a:p>
                  </a:txBody>
                  <a:tcPr marL="109728" marR="109728" marT="36576" marB="36576" anchor="ctr">
                    <a:lnL w="0">
                      <a:noFill/>
                    </a:lnL>
                    <a:lnR w="0">
                      <a:noFill/>
                    </a:lnR>
                    <a:lnT w="0">
                      <a:noFill/>
                    </a:lnT>
                    <a:lnB w="0">
                      <a:noFill/>
                    </a:lnB>
                    <a:solidFill>
                      <a:srgbClr val="1B232C"/>
                    </a:solidFill>
                  </a:tcPr>
                </a:tc>
                <a:tc>
                  <a:txBody>
                    <a:bodyPr wrap="square"/>
                    <a:lstStyle/>
                    <a:p>
                      <a:pPr algn="ctr"/>
                      <a:r>
                        <a:rPr sz="1400" b="1">
                          <a:solidFill>
                            <a:srgbClr val="FFFFFF"/>
                          </a:solidFill>
                          <a:latin typeface="Inter"/>
                        </a:rPr>
                        <a:t>₦463,000</a:t>
                      </a:r>
                    </a:p>
                  </a:txBody>
                  <a:tcPr marL="109728" marR="109728" marT="36576" marB="36576" anchor="ctr">
                    <a:lnL w="0">
                      <a:noFill/>
                    </a:lnL>
                    <a:lnR w="0">
                      <a:noFill/>
                    </a:lnR>
                    <a:lnT w="0">
                      <a:noFill/>
                    </a:lnT>
                    <a:lnB w="0">
                      <a:noFill/>
                    </a:lnB>
                    <a:solidFill>
                      <a:srgbClr val="1B232C"/>
                    </a:solidFill>
                  </a:tcPr>
                </a:tc>
                <a:tc>
                  <a:txBody>
                    <a:bodyPr wrap="square"/>
                    <a:lstStyle/>
                    <a:p>
                      <a:pPr algn="ctr"/>
                      <a:r>
                        <a:rPr sz="1400" b="1">
                          <a:solidFill>
                            <a:srgbClr val="FFFFFF"/>
                          </a:solidFill>
                          <a:latin typeface="Inter"/>
                        </a:rPr>
                        <a:t>KSh 44,999</a:t>
                      </a:r>
                    </a:p>
                  </a:txBody>
                  <a:tcPr marL="109728" marR="109728" marT="36576" marB="36576" anchor="ctr">
                    <a:lnL w="0">
                      <a:noFill/>
                    </a:lnL>
                    <a:lnR w="0">
                      <a:noFill/>
                    </a:lnR>
                    <a:lnT w="0">
                      <a:noFill/>
                    </a:lnT>
                    <a:lnB w="0">
                      <a:noFill/>
                    </a:lnB>
                    <a:solidFill>
                      <a:srgbClr val="1B232C"/>
                    </a:solidFill>
                  </a:tcPr>
                </a:tc>
                <a:tc>
                  <a:txBody>
                    <a:bodyPr wrap="square"/>
                    <a:lstStyle/>
                    <a:p>
                      <a:pPr algn="ctr"/>
                      <a:r>
                        <a:rPr sz="1400" b="1">
                          <a:solidFill>
                            <a:srgbClr val="FFFFFF"/>
                          </a:solidFill>
                          <a:latin typeface="Inter"/>
                        </a:rPr>
                        <a:t>GH₵ 3,799</a:t>
                      </a:r>
                    </a:p>
                  </a:txBody>
                  <a:tcPr marL="109728" marR="109728" marT="36576" marB="36576" anchor="ctr">
                    <a:lnL w="0">
                      <a:noFill/>
                    </a:lnL>
                    <a:lnR w="0">
                      <a:noFill/>
                    </a:lnR>
                    <a:lnT w="0">
                      <a:noFill/>
                    </a:lnT>
                    <a:lnB w="0">
                      <a:noFill/>
                    </a:lnB>
                    <a:solidFill>
                      <a:srgbClr val="1B232C"/>
                    </a:solidFill>
                  </a:tcPr>
                </a:tc>
                <a:tc>
                  <a:txBody>
                    <a:bodyPr wrap="square"/>
                    <a:lstStyle/>
                    <a:p>
                      <a:pPr algn="ctr"/>
                      <a:r>
                        <a:rPr sz="1400" b="1">
                          <a:solidFill>
                            <a:srgbClr val="FFFFFF"/>
                          </a:solidFill>
                          <a:latin typeface="Inter"/>
                        </a:rPr>
                        <a:t>$299</a:t>
                      </a:r>
                    </a:p>
                  </a:txBody>
                  <a:tcPr marL="109728" marR="109728" marT="36576" marB="36576" anchor="ctr">
                    <a:lnL w="0">
                      <a:noFill/>
                    </a:lnL>
                    <a:lnR w="0">
                      <a:noFill/>
                    </a:lnR>
                    <a:lnT w="0">
                      <a:noFill/>
                    </a:lnT>
                    <a:lnB w="0">
                      <a:noFill/>
                    </a:lnB>
                    <a:solidFill>
                      <a:srgbClr val="1B232C"/>
                    </a:solidFill>
                  </a:tcPr>
                </a:tc>
              </a:tr>
            </a:tbl>
          </a:graphicData>
        </a:graphic>
      </p:graphicFrame>
      <p:sp>
        <p:nvSpPr>
          <p:cNvPr id="5" name="g39|chip|"/>
          <p:cNvSpPr/>
          <p:nvPr/>
        </p:nvSpPr>
        <p:spPr>
          <a:xfrm>
            <a:off x="548640" y="4754880"/>
            <a:ext cx="2103120" cy="457200"/>
          </a:xfrm>
          <a:prstGeom prst="roundRect">
            <a:avLst>
              <a:gd name="adj" fmla="val 50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g39|chip|"/>
          <p:cNvSpPr txBox="1"/>
          <p:nvPr/>
        </p:nvSpPr>
        <p:spPr>
          <a:xfrm>
            <a:off x="548640" y="4754880"/>
            <a:ext cx="2103120" cy="457200"/>
          </a:xfrm>
          <a:prstGeom prst="rect">
            <a:avLst/>
          </a:prstGeom>
          <a:noFill/>
        </p:spPr>
        <p:txBody>
          <a:bodyPr wrap="square" lIns="0" rIns="0" tIns="0" bIns="0" anchor="ctr">
            <a:noAutofit/>
          </a:bodyPr>
          <a:lstStyle/>
          <a:p>
            <a:pPr algn="ctr"/>
            <a:r>
              <a:rPr sz="1400" b="1">
                <a:solidFill>
                  <a:srgbClr val="20242B"/>
                </a:solidFill>
                <a:latin typeface="Inter"/>
              </a:rPr>
              <a:t>Annual = 10× monthly</a:t>
            </a:r>
          </a:p>
        </p:txBody>
      </p:sp>
      <p:sp>
        <p:nvSpPr>
          <p:cNvPr id="7" name="g40|chip|"/>
          <p:cNvSpPr/>
          <p:nvPr/>
        </p:nvSpPr>
        <p:spPr>
          <a:xfrm>
            <a:off x="2743200" y="4754880"/>
            <a:ext cx="2560320" cy="457200"/>
          </a:xfrm>
          <a:prstGeom prst="roundRect">
            <a:avLst>
              <a:gd name="adj" fmla="val 50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g40|chip|"/>
          <p:cNvSpPr txBox="1"/>
          <p:nvPr/>
        </p:nvSpPr>
        <p:spPr>
          <a:xfrm>
            <a:off x="2743200" y="4754880"/>
            <a:ext cx="2560320" cy="457200"/>
          </a:xfrm>
          <a:prstGeom prst="rect">
            <a:avLst/>
          </a:prstGeom>
          <a:noFill/>
        </p:spPr>
        <p:txBody>
          <a:bodyPr wrap="square" lIns="0" rIns="0" tIns="0" bIns="0" anchor="ctr">
            <a:noAutofit/>
          </a:bodyPr>
          <a:lstStyle/>
          <a:p>
            <a:pPr algn="ctr"/>
            <a:r>
              <a:rPr sz="1400" b="1">
                <a:solidFill>
                  <a:srgbClr val="20242B"/>
                </a:solidFill>
                <a:latin typeface="Inter"/>
              </a:rPr>
              <a:t>14-day free trial, no card</a:t>
            </a:r>
          </a:p>
        </p:txBody>
      </p:sp>
      <p:sp>
        <p:nvSpPr>
          <p:cNvPr id="9" name="g41|chip|"/>
          <p:cNvSpPr/>
          <p:nvPr/>
        </p:nvSpPr>
        <p:spPr>
          <a:xfrm>
            <a:off x="5394960" y="4754880"/>
            <a:ext cx="2240280" cy="457200"/>
          </a:xfrm>
          <a:prstGeom prst="roundRect">
            <a:avLst>
              <a:gd name="adj" fmla="val 50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g41|chip|"/>
          <p:cNvSpPr txBox="1"/>
          <p:nvPr/>
        </p:nvSpPr>
        <p:spPr>
          <a:xfrm>
            <a:off x="5394960" y="4754880"/>
            <a:ext cx="2240280" cy="457200"/>
          </a:xfrm>
          <a:prstGeom prst="rect">
            <a:avLst/>
          </a:prstGeom>
          <a:noFill/>
        </p:spPr>
        <p:txBody>
          <a:bodyPr wrap="square" lIns="0" rIns="0" tIns="0" bIns="0" anchor="ctr">
            <a:noAutofit/>
          </a:bodyPr>
          <a:lstStyle/>
          <a:p>
            <a:pPr algn="ctr"/>
            <a:r>
              <a:rPr sz="1400" b="1">
                <a:solidFill>
                  <a:srgbClr val="20242B"/>
                </a:solidFill>
                <a:latin typeface="Inter"/>
              </a:rPr>
              <a:t>Enterprise: inbound only</a:t>
            </a:r>
          </a:p>
        </p:txBody>
      </p:sp>
      <p:sp>
        <p:nvSpPr>
          <p:cNvPr id="11" name="fm42|card|"/>
          <p:cNvSpPr/>
          <p:nvPr/>
        </p:nvSpPr>
        <p:spPr>
          <a:xfrm>
            <a:off x="548640" y="5394960"/>
            <a:ext cx="7178040" cy="868680"/>
          </a:xfrm>
          <a:prstGeom prst="roundRect">
            <a:avLst>
              <a:gd name="adj" fmla="val 16842"/>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m42|card|"/>
          <p:cNvSpPr txBox="1"/>
          <p:nvPr/>
        </p:nvSpPr>
        <p:spPr>
          <a:xfrm>
            <a:off x="777240" y="5468112"/>
            <a:ext cx="6720840" cy="731520"/>
          </a:xfrm>
          <a:prstGeom prst="rect">
            <a:avLst/>
          </a:prstGeom>
          <a:noFill/>
        </p:spPr>
        <p:txBody>
          <a:bodyPr wrap="square" lIns="0" rIns="0" tIns="0" bIns="0" anchor="ctr">
            <a:noAutofit/>
          </a:bodyPr>
          <a:lstStyle/>
          <a:p>
            <a:pPr algn="l"/>
            <a:r>
              <a:rPr sz="1400" b="1">
                <a:solidFill>
                  <a:srgbClr val="C24E00"/>
                </a:solidFill>
                <a:latin typeface="Inter"/>
              </a:rPr>
              <a:t>Founding Member launch offer: </a:t>
            </a:r>
            <a:r>
              <a:rPr sz="1400" b="0">
                <a:solidFill>
                  <a:srgbClr val="20242B"/>
                </a:solidFill>
                <a:latin typeface="Inter"/>
              </a:rPr>
              <a:t>30% off the first 2 monthly bills (R349 / R1,399 / R3,499) for sign-ups in a 60-day launch window. Not offered on Agency.</a:t>
            </a:r>
          </a:p>
        </p:txBody>
      </p:sp>
      <p:sp>
        <p:nvSpPr>
          <p:cNvPr id="13" name="streams43|card|"/>
          <p:cNvSpPr/>
          <p:nvPr/>
        </p:nvSpPr>
        <p:spPr>
          <a:xfrm>
            <a:off x="7909560" y="1481328"/>
            <a:ext cx="3730752" cy="4617720"/>
          </a:xfrm>
          <a:prstGeom prst="roundRect">
            <a:avLst>
              <a:gd name="adj" fmla="val 4901"/>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treams43|eyebrow|"/>
          <p:cNvSpPr txBox="1"/>
          <p:nvPr/>
        </p:nvSpPr>
        <p:spPr>
          <a:xfrm>
            <a:off x="8183880" y="1664208"/>
            <a:ext cx="3182112" cy="256032"/>
          </a:xfrm>
          <a:prstGeom prst="rect">
            <a:avLst/>
          </a:prstGeom>
          <a:noFill/>
        </p:spPr>
        <p:txBody>
          <a:bodyPr wrap="square" lIns="0" rIns="0" tIns="0" bIns="0" anchor="t">
            <a:noAutofit/>
          </a:bodyPr>
          <a:lstStyle/>
          <a:p>
            <a:pPr algn="l"/>
            <a:r>
              <a:rPr sz="1200" b="1" spc="120">
                <a:solidFill>
                  <a:srgbClr val="C24E00"/>
                </a:solidFill>
                <a:latin typeface="Inter"/>
              </a:rPr>
              <a:t>REVENUE STREAMS · FY5</a:t>
            </a:r>
          </a:p>
        </p:txBody>
      </p:sp>
      <p:sp>
        <p:nvSpPr>
          <p:cNvPr id="15" name="streams43|caption|"/>
          <p:cNvSpPr txBox="1"/>
          <p:nvPr/>
        </p:nvSpPr>
        <p:spPr>
          <a:xfrm>
            <a:off x="8183880" y="1920240"/>
            <a:ext cx="3182112" cy="256032"/>
          </a:xfrm>
          <a:prstGeom prst="rect">
            <a:avLst/>
          </a:prstGeom>
          <a:noFill/>
        </p:spPr>
        <p:txBody>
          <a:bodyPr wrap="square" lIns="0" rIns="0" tIns="0" bIns="0" anchor="t">
            <a:noAutofit/>
          </a:bodyPr>
          <a:lstStyle/>
          <a:p>
            <a:pPr algn="l"/>
            <a:r>
              <a:rPr sz="1200" b="0">
                <a:solidFill>
                  <a:srgbClr val="5B6670"/>
                </a:solidFill>
                <a:latin typeface="Inter"/>
              </a:rPr>
              <a:t>Projection (model v2, base case)</a:t>
            </a:r>
          </a:p>
        </p:txBody>
      </p:sp>
      <p:sp>
        <p:nvSpPr>
          <p:cNvPr id="16" name="streams43|card|"/>
          <p:cNvSpPr txBox="1"/>
          <p:nvPr/>
        </p:nvSpPr>
        <p:spPr>
          <a:xfrm>
            <a:off x="8183880" y="2304288"/>
            <a:ext cx="2194560" cy="384048"/>
          </a:xfrm>
          <a:prstGeom prst="rect">
            <a:avLst/>
          </a:prstGeom>
          <a:noFill/>
        </p:spPr>
        <p:txBody>
          <a:bodyPr wrap="square" lIns="0" rIns="0" tIns="0" bIns="0" anchor="ctr">
            <a:noAutofit/>
          </a:bodyPr>
          <a:lstStyle/>
          <a:p>
            <a:pPr algn="l"/>
            <a:r>
              <a:rPr sz="1500" b="0">
                <a:solidFill>
                  <a:srgbClr val="20242B"/>
                </a:solidFill>
                <a:latin typeface="Inter"/>
              </a:rPr>
              <a:t>Subscriptions (net)</a:t>
            </a:r>
          </a:p>
        </p:txBody>
      </p:sp>
      <p:sp>
        <p:nvSpPr>
          <p:cNvPr id="17" name="streams43|card|"/>
          <p:cNvSpPr txBox="1"/>
          <p:nvPr/>
        </p:nvSpPr>
        <p:spPr>
          <a:xfrm>
            <a:off x="10378440" y="2304288"/>
            <a:ext cx="987552" cy="384048"/>
          </a:xfrm>
          <a:prstGeom prst="rect">
            <a:avLst/>
          </a:prstGeom>
          <a:noFill/>
        </p:spPr>
        <p:txBody>
          <a:bodyPr wrap="square" lIns="0" rIns="0" tIns="0" bIns="0" anchor="ctr">
            <a:noAutofit/>
          </a:bodyPr>
          <a:lstStyle/>
          <a:p>
            <a:pPr algn="r"/>
            <a:r>
              <a:rPr sz="1500" b="1">
                <a:solidFill>
                  <a:srgbClr val="20242B"/>
                </a:solidFill>
                <a:latin typeface="Inter"/>
              </a:rPr>
              <a:t>R213.8M</a:t>
            </a:r>
          </a:p>
        </p:txBody>
      </p:sp>
      <p:sp>
        <p:nvSpPr>
          <p:cNvPr id="18" name="streams43|card|"/>
          <p:cNvSpPr txBox="1"/>
          <p:nvPr/>
        </p:nvSpPr>
        <p:spPr>
          <a:xfrm>
            <a:off x="8183880" y="2761488"/>
            <a:ext cx="2194560" cy="384048"/>
          </a:xfrm>
          <a:prstGeom prst="rect">
            <a:avLst/>
          </a:prstGeom>
          <a:noFill/>
        </p:spPr>
        <p:txBody>
          <a:bodyPr wrap="square" lIns="0" rIns="0" tIns="0" bIns="0" anchor="ctr">
            <a:noAutofit/>
          </a:bodyPr>
          <a:lstStyle/>
          <a:p>
            <a:pPr algn="l"/>
            <a:r>
              <a:rPr sz="1500" b="0">
                <a:solidFill>
                  <a:srgbClr val="20242B"/>
                </a:solidFill>
                <a:latin typeface="Inter"/>
              </a:rPr>
              <a:t>WhatsApp messaging</a:t>
            </a:r>
          </a:p>
        </p:txBody>
      </p:sp>
      <p:sp>
        <p:nvSpPr>
          <p:cNvPr id="19" name="streams43|card|"/>
          <p:cNvSpPr txBox="1"/>
          <p:nvPr/>
        </p:nvSpPr>
        <p:spPr>
          <a:xfrm>
            <a:off x="10378440" y="2761488"/>
            <a:ext cx="987552" cy="384048"/>
          </a:xfrm>
          <a:prstGeom prst="rect">
            <a:avLst/>
          </a:prstGeom>
          <a:noFill/>
        </p:spPr>
        <p:txBody>
          <a:bodyPr wrap="square" lIns="0" rIns="0" tIns="0" bIns="0" anchor="ctr">
            <a:noAutofit/>
          </a:bodyPr>
          <a:lstStyle/>
          <a:p>
            <a:pPr algn="r"/>
            <a:r>
              <a:rPr sz="1500" b="1">
                <a:solidFill>
                  <a:srgbClr val="20242B"/>
                </a:solidFill>
                <a:latin typeface="Inter"/>
              </a:rPr>
              <a:t>R19.1M</a:t>
            </a:r>
          </a:p>
        </p:txBody>
      </p:sp>
      <p:sp>
        <p:nvSpPr>
          <p:cNvPr id="20" name="streams43|card|"/>
          <p:cNvSpPr txBox="1"/>
          <p:nvPr/>
        </p:nvSpPr>
        <p:spPr>
          <a:xfrm>
            <a:off x="8183880" y="3218688"/>
            <a:ext cx="2194560" cy="384048"/>
          </a:xfrm>
          <a:prstGeom prst="rect">
            <a:avLst/>
          </a:prstGeom>
          <a:noFill/>
        </p:spPr>
        <p:txBody>
          <a:bodyPr wrap="square" lIns="0" rIns="0" tIns="0" bIns="0" anchor="ctr">
            <a:noAutofit/>
          </a:bodyPr>
          <a:lstStyle/>
          <a:p>
            <a:pPr algn="l"/>
            <a:r>
              <a:rPr sz="1500" b="0">
                <a:solidFill>
                  <a:srgbClr val="20242B"/>
                </a:solidFill>
                <a:latin typeface="Inter"/>
              </a:rPr>
              <a:t>AI-credit top-ups</a:t>
            </a:r>
          </a:p>
        </p:txBody>
      </p:sp>
      <p:sp>
        <p:nvSpPr>
          <p:cNvPr id="21" name="streams43|card|"/>
          <p:cNvSpPr txBox="1"/>
          <p:nvPr/>
        </p:nvSpPr>
        <p:spPr>
          <a:xfrm>
            <a:off x="10378440" y="3218688"/>
            <a:ext cx="987552" cy="384048"/>
          </a:xfrm>
          <a:prstGeom prst="rect">
            <a:avLst/>
          </a:prstGeom>
          <a:noFill/>
        </p:spPr>
        <p:txBody>
          <a:bodyPr wrap="square" lIns="0" rIns="0" tIns="0" bIns="0" anchor="ctr">
            <a:noAutofit/>
          </a:bodyPr>
          <a:lstStyle/>
          <a:p>
            <a:pPr algn="r"/>
            <a:r>
              <a:rPr sz="1500" b="1">
                <a:solidFill>
                  <a:srgbClr val="20242B"/>
                </a:solidFill>
                <a:latin typeface="Inter"/>
              </a:rPr>
              <a:t>R4.1M</a:t>
            </a:r>
          </a:p>
        </p:txBody>
      </p:sp>
      <p:sp>
        <p:nvSpPr>
          <p:cNvPr id="22" name="streams43|card|"/>
          <p:cNvSpPr txBox="1"/>
          <p:nvPr/>
        </p:nvSpPr>
        <p:spPr>
          <a:xfrm>
            <a:off x="8183880" y="3675887"/>
            <a:ext cx="2194560" cy="384048"/>
          </a:xfrm>
          <a:prstGeom prst="rect">
            <a:avLst/>
          </a:prstGeom>
          <a:noFill/>
        </p:spPr>
        <p:txBody>
          <a:bodyPr wrap="square" lIns="0" rIns="0" tIns="0" bIns="0" anchor="ctr">
            <a:noAutofit/>
          </a:bodyPr>
          <a:lstStyle/>
          <a:p>
            <a:pPr algn="l"/>
            <a:r>
              <a:rPr sz="1500" b="0">
                <a:solidFill>
                  <a:srgbClr val="20242B"/>
                </a:solidFill>
                <a:latin typeface="Inter"/>
              </a:rPr>
              <a:t>Agency setup fees</a:t>
            </a:r>
          </a:p>
        </p:txBody>
      </p:sp>
      <p:sp>
        <p:nvSpPr>
          <p:cNvPr id="23" name="streams43|card|"/>
          <p:cNvSpPr txBox="1"/>
          <p:nvPr/>
        </p:nvSpPr>
        <p:spPr>
          <a:xfrm>
            <a:off x="10378440" y="3675887"/>
            <a:ext cx="987552" cy="384048"/>
          </a:xfrm>
          <a:prstGeom prst="rect">
            <a:avLst/>
          </a:prstGeom>
          <a:noFill/>
        </p:spPr>
        <p:txBody>
          <a:bodyPr wrap="square" lIns="0" rIns="0" tIns="0" bIns="0" anchor="ctr">
            <a:noAutofit/>
          </a:bodyPr>
          <a:lstStyle/>
          <a:p>
            <a:pPr algn="r"/>
            <a:r>
              <a:rPr sz="1500" b="1">
                <a:solidFill>
                  <a:srgbClr val="20242B"/>
                </a:solidFill>
                <a:latin typeface="Inter"/>
              </a:rPr>
              <a:t>R0.8M</a:t>
            </a:r>
          </a:p>
        </p:txBody>
      </p:sp>
      <p:sp>
        <p:nvSpPr>
          <p:cNvPr id="24" name="streams43|card|"/>
          <p:cNvSpPr txBox="1"/>
          <p:nvPr/>
        </p:nvSpPr>
        <p:spPr>
          <a:xfrm>
            <a:off x="8183880" y="4133087"/>
            <a:ext cx="2194560" cy="384048"/>
          </a:xfrm>
          <a:prstGeom prst="rect">
            <a:avLst/>
          </a:prstGeom>
          <a:noFill/>
        </p:spPr>
        <p:txBody>
          <a:bodyPr wrap="square" lIns="0" rIns="0" tIns="0" bIns="0" anchor="ctr">
            <a:noAutofit/>
          </a:bodyPr>
          <a:lstStyle/>
          <a:p>
            <a:pPr algn="l"/>
            <a:r>
              <a:rPr sz="1500" b="0">
                <a:solidFill>
                  <a:srgbClr val="20242B"/>
                </a:solidFill>
                <a:latin typeface="Inter"/>
              </a:rPr>
              <a:t>Enterprise setup fees</a:t>
            </a:r>
          </a:p>
        </p:txBody>
      </p:sp>
      <p:sp>
        <p:nvSpPr>
          <p:cNvPr id="25" name="streams43|card|"/>
          <p:cNvSpPr txBox="1"/>
          <p:nvPr/>
        </p:nvSpPr>
        <p:spPr>
          <a:xfrm>
            <a:off x="10378440" y="4133087"/>
            <a:ext cx="987552" cy="384048"/>
          </a:xfrm>
          <a:prstGeom prst="rect">
            <a:avLst/>
          </a:prstGeom>
          <a:noFill/>
        </p:spPr>
        <p:txBody>
          <a:bodyPr wrap="square" lIns="0" rIns="0" tIns="0" bIns="0" anchor="ctr">
            <a:noAutofit/>
          </a:bodyPr>
          <a:lstStyle/>
          <a:p>
            <a:pPr algn="r"/>
            <a:r>
              <a:rPr sz="1500" b="1">
                <a:solidFill>
                  <a:srgbClr val="20242B"/>
                </a:solidFill>
                <a:latin typeface="Inter"/>
              </a:rPr>
              <a:t>R0.2M</a:t>
            </a:r>
          </a:p>
        </p:txBody>
      </p:sp>
      <p:sp>
        <p:nvSpPr>
          <p:cNvPr id="26" name="streams43|card|"/>
          <p:cNvSpPr txBox="1"/>
          <p:nvPr/>
        </p:nvSpPr>
        <p:spPr>
          <a:xfrm>
            <a:off x="8183880" y="4590288"/>
            <a:ext cx="2194560" cy="384048"/>
          </a:xfrm>
          <a:prstGeom prst="rect">
            <a:avLst/>
          </a:prstGeom>
          <a:noFill/>
        </p:spPr>
        <p:txBody>
          <a:bodyPr wrap="square" lIns="0" rIns="0" tIns="0" bIns="0" anchor="ctr">
            <a:noAutofit/>
          </a:bodyPr>
          <a:lstStyle/>
          <a:p>
            <a:pPr algn="l"/>
            <a:r>
              <a:rPr sz="1500" b="0">
                <a:solidFill>
                  <a:srgbClr val="20242B"/>
                </a:solidFill>
                <a:latin typeface="Inter"/>
              </a:rPr>
              <a:t>Commerce fee (Base)</a:t>
            </a:r>
          </a:p>
        </p:txBody>
      </p:sp>
      <p:sp>
        <p:nvSpPr>
          <p:cNvPr id="27" name="streams43|card|"/>
          <p:cNvSpPr txBox="1"/>
          <p:nvPr/>
        </p:nvSpPr>
        <p:spPr>
          <a:xfrm>
            <a:off x="10378440" y="4590288"/>
            <a:ext cx="987552" cy="384048"/>
          </a:xfrm>
          <a:prstGeom prst="rect">
            <a:avLst/>
          </a:prstGeom>
          <a:noFill/>
        </p:spPr>
        <p:txBody>
          <a:bodyPr wrap="square" lIns="0" rIns="0" tIns="0" bIns="0" anchor="ctr">
            <a:noAutofit/>
          </a:bodyPr>
          <a:lstStyle/>
          <a:p>
            <a:pPr algn="r"/>
            <a:r>
              <a:rPr sz="1500" b="1">
                <a:solidFill>
                  <a:srgbClr val="20242B"/>
                </a:solidFill>
                <a:latin typeface="Inter"/>
              </a:rPr>
              <a:t>R0</a:t>
            </a:r>
          </a:p>
        </p:txBody>
      </p:sp>
      <p:sp>
        <p:nvSpPr>
          <p:cNvPr id="28" name="streams43|deco|"/>
          <p:cNvSpPr/>
          <p:nvPr/>
        </p:nvSpPr>
        <p:spPr>
          <a:xfrm>
            <a:off x="8183880" y="5010912"/>
            <a:ext cx="3182112" cy="18288"/>
          </a:xfrm>
          <a:prstGeom prst="rect">
            <a:avLst/>
          </a:prstGeom>
          <a:solidFill>
            <a:srgbClr val="374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streams43|card|"/>
          <p:cNvSpPr txBox="1"/>
          <p:nvPr/>
        </p:nvSpPr>
        <p:spPr>
          <a:xfrm>
            <a:off x="8183880" y="5047488"/>
            <a:ext cx="2194560" cy="384048"/>
          </a:xfrm>
          <a:prstGeom prst="rect">
            <a:avLst/>
          </a:prstGeom>
          <a:noFill/>
        </p:spPr>
        <p:txBody>
          <a:bodyPr wrap="square" lIns="0" rIns="0" tIns="0" bIns="0" anchor="ctr">
            <a:noAutofit/>
          </a:bodyPr>
          <a:lstStyle/>
          <a:p>
            <a:pPr algn="l"/>
            <a:r>
              <a:rPr sz="1500" b="1">
                <a:solidFill>
                  <a:srgbClr val="20242B"/>
                </a:solidFill>
                <a:latin typeface="Inter"/>
              </a:rPr>
              <a:t>Total revenue</a:t>
            </a:r>
          </a:p>
        </p:txBody>
      </p:sp>
      <p:sp>
        <p:nvSpPr>
          <p:cNvPr id="30" name="streams43|card|"/>
          <p:cNvSpPr txBox="1"/>
          <p:nvPr/>
        </p:nvSpPr>
        <p:spPr>
          <a:xfrm>
            <a:off x="10378440" y="5047488"/>
            <a:ext cx="987552" cy="384048"/>
          </a:xfrm>
          <a:prstGeom prst="rect">
            <a:avLst/>
          </a:prstGeom>
          <a:noFill/>
        </p:spPr>
        <p:txBody>
          <a:bodyPr wrap="square" lIns="0" rIns="0" tIns="0" bIns="0" anchor="ctr">
            <a:noAutofit/>
          </a:bodyPr>
          <a:lstStyle/>
          <a:p>
            <a:pPr algn="r"/>
            <a:r>
              <a:rPr sz="1500" b="1">
                <a:solidFill>
                  <a:srgbClr val="20242B"/>
                </a:solidFill>
                <a:latin typeface="Inter"/>
              </a:rPr>
              <a:t>R238.0M</a:t>
            </a:r>
          </a:p>
        </p:txBody>
      </p:sp>
      <p:sp>
        <p:nvSpPr>
          <p:cNvPr id="31" name="streams43|caption|"/>
          <p:cNvSpPr txBox="1"/>
          <p:nvPr/>
        </p:nvSpPr>
        <p:spPr>
          <a:xfrm>
            <a:off x="8183880" y="5532120"/>
            <a:ext cx="3182112" cy="457200"/>
          </a:xfrm>
          <a:prstGeom prst="rect">
            <a:avLst/>
          </a:prstGeom>
          <a:noFill/>
        </p:spPr>
        <p:txBody>
          <a:bodyPr wrap="square" lIns="0" rIns="0" tIns="0" bIns="0" anchor="t">
            <a:noAutofit/>
          </a:bodyPr>
          <a:lstStyle/>
          <a:p>
            <a:pPr algn="l"/>
            <a:r>
              <a:rPr sz="1100" b="0">
                <a:solidFill>
                  <a:srgbClr val="5B6670"/>
                </a:solidFill>
                <a:latin typeface="Inter"/>
              </a:rPr>
              <a:t>Commerce fee (0.75% of checkout GMV) is Upside only and not in current pricing.</a:t>
            </a:r>
          </a:p>
        </p:txBody>
      </p:sp>
      <p:sp>
        <p:nvSpPr>
          <p:cNvPr id="32"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Confidential</a:t>
            </a:r>
          </a:p>
        </p:txBody>
      </p:sp>
      <p:sp>
        <p:nvSpPr>
          <p:cNvPr id="33"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6</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45|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GO-TO-MARKET · SOUTH AFRICA FIRST</a:t>
            </a:r>
          </a:p>
        </p:txBody>
      </p:sp>
      <p:sp>
        <p:nvSpPr>
          <p:cNvPr id="3" name="hdr45|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Three segments, one partner channel</a:t>
            </a:r>
          </a:p>
        </p:txBody>
      </p:sp>
      <p:sp>
        <p:nvSpPr>
          <p:cNvPr id="4" name="seg46|card|"/>
          <p:cNvSpPr/>
          <p:nvPr/>
        </p:nvSpPr>
        <p:spPr>
          <a:xfrm>
            <a:off x="548640" y="1481328"/>
            <a:ext cx="3511296" cy="2121408"/>
          </a:xfrm>
          <a:prstGeom prst="roundRect">
            <a:avLst>
              <a:gd name="adj" fmla="val 862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seg46|deco|"/>
          <p:cNvSpPr/>
          <p:nvPr/>
        </p:nvSpPr>
        <p:spPr>
          <a:xfrm>
            <a:off x="768095" y="1636776"/>
            <a:ext cx="566928" cy="56692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seg46|icon|users_deep.png" descr="users_deep"/>
          <p:cNvPicPr>
            <a:picLocks noChangeAspect="1"/>
          </p:cNvPicPr>
          <p:nvPr/>
        </p:nvPicPr>
        <p:blipFill>
          <a:blip r:embed="rId2"/>
          <a:srcRect/>
          <a:stretch>
            <a:fillRect/>
          </a:stretch>
        </p:blipFill>
        <p:spPr>
          <a:xfrm>
            <a:off x="892820" y="1761500"/>
            <a:ext cx="317479" cy="317479"/>
          </a:xfrm>
          <a:prstGeom prst="rect">
            <a:avLst/>
          </a:prstGeom>
        </p:spPr>
      </p:pic>
      <p:sp>
        <p:nvSpPr>
          <p:cNvPr id="7" name="seg46|card|"/>
          <p:cNvSpPr txBox="1"/>
          <p:nvPr/>
        </p:nvSpPr>
        <p:spPr>
          <a:xfrm>
            <a:off x="1444752" y="1682496"/>
            <a:ext cx="2459736" cy="475488"/>
          </a:xfrm>
          <a:prstGeom prst="rect">
            <a:avLst/>
          </a:prstGeom>
          <a:noFill/>
        </p:spPr>
        <p:txBody>
          <a:bodyPr wrap="square" lIns="0" rIns="0" tIns="0" bIns="0" anchor="ctr">
            <a:noAutofit/>
          </a:bodyPr>
          <a:lstStyle/>
          <a:p>
            <a:pPr algn="l"/>
            <a:r>
              <a:rPr sz="1700" b="1">
                <a:solidFill>
                  <a:srgbClr val="20242B"/>
                </a:solidFill>
                <a:latin typeface="Poppins"/>
              </a:rPr>
              <a:t>Solo entrepreneurs</a:t>
            </a:r>
          </a:p>
        </p:txBody>
      </p:sp>
      <p:sp>
        <p:nvSpPr>
          <p:cNvPr id="8" name="seg46|card|"/>
          <p:cNvSpPr txBox="1"/>
          <p:nvPr/>
        </p:nvSpPr>
        <p:spPr>
          <a:xfrm>
            <a:off x="822959" y="2286000"/>
            <a:ext cx="2962656" cy="292608"/>
          </a:xfrm>
          <a:prstGeom prst="rect">
            <a:avLst/>
          </a:prstGeom>
          <a:noFill/>
        </p:spPr>
        <p:txBody>
          <a:bodyPr wrap="square" lIns="0" rIns="0" tIns="0" bIns="0" anchor="t">
            <a:noAutofit/>
          </a:bodyPr>
          <a:lstStyle/>
          <a:p>
            <a:pPr algn="l"/>
            <a:r>
              <a:rPr sz="1400" b="0">
                <a:solidFill>
                  <a:srgbClr val="5B6670"/>
                </a:solidFill>
                <a:latin typeface="Inter"/>
              </a:rPr>
              <a:t>Founder-run, 1–5 people</a:t>
            </a:r>
          </a:p>
        </p:txBody>
      </p:sp>
      <p:sp>
        <p:nvSpPr>
          <p:cNvPr id="9" name="seg46|card|"/>
          <p:cNvSpPr txBox="1"/>
          <p:nvPr/>
        </p:nvSpPr>
        <p:spPr>
          <a:xfrm>
            <a:off x="822959" y="2615184"/>
            <a:ext cx="2962656" cy="329184"/>
          </a:xfrm>
          <a:prstGeom prst="rect">
            <a:avLst/>
          </a:prstGeom>
          <a:noFill/>
        </p:spPr>
        <p:txBody>
          <a:bodyPr wrap="square" lIns="0" rIns="0" tIns="0" bIns="0" anchor="t">
            <a:noAutofit/>
          </a:bodyPr>
          <a:lstStyle/>
          <a:p>
            <a:pPr algn="l"/>
            <a:r>
              <a:rPr sz="1600" b="1">
                <a:solidFill>
                  <a:srgbClr val="C24E00"/>
                </a:solidFill>
                <a:latin typeface="Inter"/>
              </a:rPr>
              <a:t>Starter R499 → Growth</a:t>
            </a:r>
          </a:p>
        </p:txBody>
      </p:sp>
      <p:sp>
        <p:nvSpPr>
          <p:cNvPr id="10" name="seg46|card|"/>
          <p:cNvSpPr txBox="1"/>
          <p:nvPr/>
        </p:nvSpPr>
        <p:spPr>
          <a:xfrm>
            <a:off x="822959" y="2980944"/>
            <a:ext cx="2962656" cy="530352"/>
          </a:xfrm>
          <a:prstGeom prst="rect">
            <a:avLst/>
          </a:prstGeom>
          <a:noFill/>
        </p:spPr>
        <p:txBody>
          <a:bodyPr wrap="square" lIns="0" rIns="0" tIns="0" bIns="0" anchor="t">
            <a:noAutofit/>
          </a:bodyPr>
          <a:lstStyle/>
          <a:p>
            <a:pPr algn="l"/>
            <a:r>
              <a:rPr sz="1400" b="0">
                <a:solidFill>
                  <a:srgbClr val="20242B"/>
                </a:solidFill>
                <a:latin typeface="Inter"/>
              </a:rPr>
              <a:t>Self-serve trial, then Founding Member offer</a:t>
            </a:r>
          </a:p>
        </p:txBody>
      </p:sp>
      <p:sp>
        <p:nvSpPr>
          <p:cNvPr id="11" name="seg47|card|"/>
          <p:cNvSpPr/>
          <p:nvPr/>
        </p:nvSpPr>
        <p:spPr>
          <a:xfrm>
            <a:off x="4340199" y="1481328"/>
            <a:ext cx="3511296" cy="2121408"/>
          </a:xfrm>
          <a:prstGeom prst="roundRect">
            <a:avLst>
              <a:gd name="adj" fmla="val 862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seg47|deco|"/>
          <p:cNvSpPr/>
          <p:nvPr/>
        </p:nvSpPr>
        <p:spPr>
          <a:xfrm>
            <a:off x="4559655" y="1636776"/>
            <a:ext cx="566928" cy="56692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seg47|icon|briefcase_deep.png" descr="briefcase_deep"/>
          <p:cNvPicPr>
            <a:picLocks noChangeAspect="1"/>
          </p:cNvPicPr>
          <p:nvPr/>
        </p:nvPicPr>
        <p:blipFill>
          <a:blip r:embed="rId3"/>
          <a:srcRect/>
          <a:stretch>
            <a:fillRect/>
          </a:stretch>
        </p:blipFill>
        <p:spPr>
          <a:xfrm>
            <a:off x="4684379" y="1761500"/>
            <a:ext cx="317479" cy="317479"/>
          </a:xfrm>
          <a:prstGeom prst="rect">
            <a:avLst/>
          </a:prstGeom>
        </p:spPr>
      </p:pic>
      <p:sp>
        <p:nvSpPr>
          <p:cNvPr id="14" name="seg47|card|"/>
          <p:cNvSpPr txBox="1"/>
          <p:nvPr/>
        </p:nvSpPr>
        <p:spPr>
          <a:xfrm>
            <a:off x="5236311" y="1682496"/>
            <a:ext cx="2459736" cy="475488"/>
          </a:xfrm>
          <a:prstGeom prst="rect">
            <a:avLst/>
          </a:prstGeom>
          <a:noFill/>
        </p:spPr>
        <p:txBody>
          <a:bodyPr wrap="square" lIns="0" rIns="0" tIns="0" bIns="0" anchor="ctr">
            <a:noAutofit/>
          </a:bodyPr>
          <a:lstStyle/>
          <a:p>
            <a:pPr algn="l"/>
            <a:r>
              <a:rPr sz="1700" b="1">
                <a:solidFill>
                  <a:srgbClr val="20242B"/>
                </a:solidFill>
                <a:latin typeface="Poppins"/>
              </a:rPr>
              <a:t>SMEs</a:t>
            </a:r>
          </a:p>
        </p:txBody>
      </p:sp>
      <p:sp>
        <p:nvSpPr>
          <p:cNvPr id="15" name="seg47|card|"/>
          <p:cNvSpPr txBox="1"/>
          <p:nvPr/>
        </p:nvSpPr>
        <p:spPr>
          <a:xfrm>
            <a:off x="4614519" y="2286000"/>
            <a:ext cx="2962656" cy="292608"/>
          </a:xfrm>
          <a:prstGeom prst="rect">
            <a:avLst/>
          </a:prstGeom>
          <a:noFill/>
        </p:spPr>
        <p:txBody>
          <a:bodyPr wrap="square" lIns="0" rIns="0" tIns="0" bIns="0" anchor="t">
            <a:noAutofit/>
          </a:bodyPr>
          <a:lstStyle/>
          <a:p>
            <a:pPr algn="l"/>
            <a:r>
              <a:rPr sz="1400" b="0">
                <a:solidFill>
                  <a:srgbClr val="5B6670"/>
                </a:solidFill>
                <a:latin typeface="Inter"/>
              </a:rPr>
              <a:t>5–200 staff</a:t>
            </a:r>
          </a:p>
        </p:txBody>
      </p:sp>
      <p:sp>
        <p:nvSpPr>
          <p:cNvPr id="16" name="seg47|card|"/>
          <p:cNvSpPr txBox="1"/>
          <p:nvPr/>
        </p:nvSpPr>
        <p:spPr>
          <a:xfrm>
            <a:off x="4614519" y="2615184"/>
            <a:ext cx="2962656" cy="329184"/>
          </a:xfrm>
          <a:prstGeom prst="rect">
            <a:avLst/>
          </a:prstGeom>
          <a:noFill/>
        </p:spPr>
        <p:txBody>
          <a:bodyPr wrap="square" lIns="0" rIns="0" tIns="0" bIns="0" anchor="t">
            <a:noAutofit/>
          </a:bodyPr>
          <a:lstStyle/>
          <a:p>
            <a:pPr algn="l"/>
            <a:r>
              <a:rPr sz="1600" b="1">
                <a:solidFill>
                  <a:srgbClr val="C24E00"/>
                </a:solidFill>
                <a:latin typeface="Inter"/>
              </a:rPr>
              <a:t>Growth R1,999 → Scale</a:t>
            </a:r>
          </a:p>
        </p:txBody>
      </p:sp>
      <p:sp>
        <p:nvSpPr>
          <p:cNvPr id="17" name="seg47|card|"/>
          <p:cNvSpPr txBox="1"/>
          <p:nvPr/>
        </p:nvSpPr>
        <p:spPr>
          <a:xfrm>
            <a:off x="4614519" y="2980944"/>
            <a:ext cx="2962656" cy="530352"/>
          </a:xfrm>
          <a:prstGeom prst="rect">
            <a:avLst/>
          </a:prstGeom>
          <a:noFill/>
        </p:spPr>
        <p:txBody>
          <a:bodyPr wrap="square" lIns="0" rIns="0" tIns="0" bIns="0" anchor="t">
            <a:noAutofit/>
          </a:bodyPr>
          <a:lstStyle/>
          <a:p>
            <a:pPr algn="l"/>
            <a:r>
              <a:rPr sz="1400" b="0">
                <a:solidFill>
                  <a:srgbClr val="20242B"/>
                </a:solidFill>
                <a:latin typeface="Inter"/>
              </a:rPr>
              <a:t>Trial plus a guided onboarding call</a:t>
            </a:r>
          </a:p>
        </p:txBody>
      </p:sp>
      <p:sp>
        <p:nvSpPr>
          <p:cNvPr id="18" name="seg48|card|"/>
          <p:cNvSpPr/>
          <p:nvPr/>
        </p:nvSpPr>
        <p:spPr>
          <a:xfrm>
            <a:off x="8131759" y="1481328"/>
            <a:ext cx="3511296" cy="2121408"/>
          </a:xfrm>
          <a:prstGeom prst="roundRect">
            <a:avLst>
              <a:gd name="adj" fmla="val 862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eg48|deco|"/>
          <p:cNvSpPr/>
          <p:nvPr/>
        </p:nvSpPr>
        <p:spPr>
          <a:xfrm>
            <a:off x="8351215" y="1636776"/>
            <a:ext cx="566928" cy="56692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seg48|icon|layers_deep.png" descr="layers_deep"/>
          <p:cNvPicPr>
            <a:picLocks noChangeAspect="1"/>
          </p:cNvPicPr>
          <p:nvPr/>
        </p:nvPicPr>
        <p:blipFill>
          <a:blip r:embed="rId4"/>
          <a:srcRect/>
          <a:stretch>
            <a:fillRect/>
          </a:stretch>
        </p:blipFill>
        <p:spPr>
          <a:xfrm>
            <a:off x="8475939" y="1761500"/>
            <a:ext cx="317479" cy="317479"/>
          </a:xfrm>
          <a:prstGeom prst="rect">
            <a:avLst/>
          </a:prstGeom>
        </p:spPr>
      </p:pic>
      <p:sp>
        <p:nvSpPr>
          <p:cNvPr id="21" name="seg48|card|"/>
          <p:cNvSpPr txBox="1"/>
          <p:nvPr/>
        </p:nvSpPr>
        <p:spPr>
          <a:xfrm>
            <a:off x="9027871" y="1682496"/>
            <a:ext cx="2459736" cy="475488"/>
          </a:xfrm>
          <a:prstGeom prst="rect">
            <a:avLst/>
          </a:prstGeom>
          <a:noFill/>
        </p:spPr>
        <p:txBody>
          <a:bodyPr wrap="square" lIns="0" rIns="0" tIns="0" bIns="0" anchor="ctr">
            <a:noAutofit/>
          </a:bodyPr>
          <a:lstStyle/>
          <a:p>
            <a:pPr algn="l"/>
            <a:r>
              <a:rPr sz="1700" b="1">
                <a:solidFill>
                  <a:srgbClr val="20242B"/>
                </a:solidFill>
                <a:latin typeface="Poppins"/>
              </a:rPr>
              <a:t>Agency partners</a:t>
            </a:r>
          </a:p>
        </p:txBody>
      </p:sp>
      <p:sp>
        <p:nvSpPr>
          <p:cNvPr id="22" name="seg48|card|"/>
          <p:cNvSpPr txBox="1"/>
          <p:nvPr/>
        </p:nvSpPr>
        <p:spPr>
          <a:xfrm>
            <a:off x="8406079" y="2286000"/>
            <a:ext cx="2962656" cy="292608"/>
          </a:xfrm>
          <a:prstGeom prst="rect">
            <a:avLst/>
          </a:prstGeom>
          <a:noFill/>
        </p:spPr>
        <p:txBody>
          <a:bodyPr wrap="square" lIns="0" rIns="0" tIns="0" bIns="0" anchor="t">
            <a:noAutofit/>
          </a:bodyPr>
          <a:lstStyle/>
          <a:p>
            <a:pPr algn="l"/>
            <a:r>
              <a:rPr sz="1400" b="0">
                <a:solidFill>
                  <a:srgbClr val="5B6670"/>
                </a:solidFill>
                <a:latin typeface="Inter"/>
              </a:rPr>
              <a:t>Managing 5–50 SMB clients</a:t>
            </a:r>
          </a:p>
        </p:txBody>
      </p:sp>
      <p:sp>
        <p:nvSpPr>
          <p:cNvPr id="23" name="seg48|card|"/>
          <p:cNvSpPr txBox="1"/>
          <p:nvPr/>
        </p:nvSpPr>
        <p:spPr>
          <a:xfrm>
            <a:off x="8406079" y="2615184"/>
            <a:ext cx="2962656" cy="329184"/>
          </a:xfrm>
          <a:prstGeom prst="rect">
            <a:avLst/>
          </a:prstGeom>
          <a:noFill/>
        </p:spPr>
        <p:txBody>
          <a:bodyPr wrap="square" lIns="0" rIns="0" tIns="0" bIns="0" anchor="t">
            <a:noAutofit/>
          </a:bodyPr>
          <a:lstStyle/>
          <a:p>
            <a:pPr algn="l"/>
            <a:r>
              <a:rPr sz="1600" b="1">
                <a:solidFill>
                  <a:srgbClr val="C24E00"/>
                </a:solidFill>
                <a:latin typeface="Inter"/>
              </a:rPr>
              <a:t>Partner wholesale R5,599</a:t>
            </a:r>
          </a:p>
        </p:txBody>
      </p:sp>
      <p:sp>
        <p:nvSpPr>
          <p:cNvPr id="24" name="seg48|card|"/>
          <p:cNvSpPr txBox="1"/>
          <p:nvPr/>
        </p:nvSpPr>
        <p:spPr>
          <a:xfrm>
            <a:off x="8406079" y="2980944"/>
            <a:ext cx="2962656" cy="530352"/>
          </a:xfrm>
          <a:prstGeom prst="rect">
            <a:avLst/>
          </a:prstGeom>
          <a:noFill/>
        </p:spPr>
        <p:txBody>
          <a:bodyPr wrap="square" lIns="0" rIns="0" tIns="0" bIns="0" anchor="t">
            <a:noAutofit/>
          </a:bodyPr>
          <a:lstStyle/>
          <a:p>
            <a:pPr algn="l"/>
            <a:r>
              <a:rPr sz="1400" b="0">
                <a:solidFill>
                  <a:srgbClr val="20242B"/>
                </a:solidFill>
                <a:latin typeface="Inter"/>
              </a:rPr>
              <a:t>Demo, pilot client, then reseller billing</a:t>
            </a:r>
          </a:p>
        </p:txBody>
      </p:sp>
      <p:sp>
        <p:nvSpPr>
          <p:cNvPr id="25" name="fmband49|card|"/>
          <p:cNvSpPr/>
          <p:nvPr/>
        </p:nvSpPr>
        <p:spPr>
          <a:xfrm>
            <a:off x="548640" y="3749039"/>
            <a:ext cx="11094415" cy="512064"/>
          </a:xfrm>
          <a:prstGeom prst="roundRect">
            <a:avLst>
              <a:gd name="adj" fmla="val 50000"/>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fmband49|icon|calendar_deep.png" descr="calendar_deep"/>
          <p:cNvPicPr>
            <a:picLocks noChangeAspect="1"/>
          </p:cNvPicPr>
          <p:nvPr/>
        </p:nvPicPr>
        <p:blipFill>
          <a:blip r:embed="rId5"/>
          <a:srcRect/>
          <a:stretch>
            <a:fillRect/>
          </a:stretch>
        </p:blipFill>
        <p:spPr>
          <a:xfrm>
            <a:off x="731520" y="3822191"/>
            <a:ext cx="365760" cy="365760"/>
          </a:xfrm>
          <a:prstGeom prst="rect">
            <a:avLst/>
          </a:prstGeom>
        </p:spPr>
      </p:pic>
      <p:sp>
        <p:nvSpPr>
          <p:cNvPr id="27" name="fmband49|card|"/>
          <p:cNvSpPr txBox="1"/>
          <p:nvPr/>
        </p:nvSpPr>
        <p:spPr>
          <a:xfrm>
            <a:off x="1280160" y="3749039"/>
            <a:ext cx="10180015" cy="512064"/>
          </a:xfrm>
          <a:prstGeom prst="rect">
            <a:avLst/>
          </a:prstGeom>
          <a:noFill/>
        </p:spPr>
        <p:txBody>
          <a:bodyPr wrap="square" lIns="0" rIns="0" tIns="0" bIns="0" anchor="ctr">
            <a:noAutofit/>
          </a:bodyPr>
          <a:lstStyle/>
          <a:p>
            <a:pPr algn="l"/>
            <a:r>
              <a:rPr sz="1500" b="1">
                <a:solidFill>
                  <a:srgbClr val="20242B"/>
                </a:solidFill>
                <a:latin typeface="Inter"/>
              </a:rPr>
              <a:t>Founding Member launch in South Africa: 1 Dec 2026 – 31 Jan 2027. Pilot brands convert on 1 Dec 2026.</a:t>
            </a:r>
          </a:p>
        </p:txBody>
      </p:sp>
      <p:sp>
        <p:nvSpPr>
          <p:cNvPr id="28" name="step50|card|"/>
          <p:cNvSpPr/>
          <p:nvPr/>
        </p:nvSpPr>
        <p:spPr>
          <a:xfrm>
            <a:off x="548640" y="4462272"/>
            <a:ext cx="2514600" cy="1627632"/>
          </a:xfrm>
          <a:prstGeom prst="roundRect">
            <a:avLst>
              <a:gd name="adj" fmla="val 10112"/>
            </a:avLst>
          </a:prstGeom>
          <a:solidFill>
            <a:srgbClr val="FFFFFF"/>
          </a:solidFill>
          <a:ln w="1905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step50|eyebrow|"/>
          <p:cNvSpPr txBox="1"/>
          <p:nvPr/>
        </p:nvSpPr>
        <p:spPr>
          <a:xfrm>
            <a:off x="731520" y="4590288"/>
            <a:ext cx="2148840" cy="237744"/>
          </a:xfrm>
          <a:prstGeom prst="rect">
            <a:avLst/>
          </a:prstGeom>
          <a:noFill/>
        </p:spPr>
        <p:txBody>
          <a:bodyPr wrap="square" lIns="0" rIns="0" tIns="0" bIns="0" anchor="t">
            <a:noAutofit/>
          </a:bodyPr>
          <a:lstStyle/>
          <a:p>
            <a:pPr algn="l"/>
            <a:r>
              <a:rPr sz="1100" b="1" spc="80">
                <a:solidFill>
                  <a:srgbClr val="C24E00"/>
                </a:solidFill>
                <a:latin typeface="Inter"/>
              </a:rPr>
              <a:t>1 · HOME MARKET</a:t>
            </a:r>
          </a:p>
        </p:txBody>
      </p:sp>
      <p:sp>
        <p:nvSpPr>
          <p:cNvPr id="30" name="step50|card|"/>
          <p:cNvSpPr txBox="1"/>
          <p:nvPr/>
        </p:nvSpPr>
        <p:spPr>
          <a:xfrm>
            <a:off x="731520" y="4846320"/>
            <a:ext cx="2148840" cy="603504"/>
          </a:xfrm>
          <a:prstGeom prst="rect">
            <a:avLst/>
          </a:prstGeom>
          <a:noFill/>
        </p:spPr>
        <p:txBody>
          <a:bodyPr wrap="square" lIns="0" rIns="0" tIns="0" bIns="0" anchor="t">
            <a:noAutofit/>
          </a:bodyPr>
          <a:lstStyle/>
          <a:p>
            <a:pPr algn="l"/>
            <a:r>
              <a:rPr sz="1500" b="1">
                <a:solidFill>
                  <a:srgbClr val="20242B"/>
                </a:solidFill>
                <a:latin typeface="Poppins"/>
              </a:rPr>
              <a:t>South Africa</a:t>
            </a:r>
          </a:p>
        </p:txBody>
      </p:sp>
      <p:sp>
        <p:nvSpPr>
          <p:cNvPr id="31" name="step50|card|"/>
          <p:cNvSpPr txBox="1"/>
          <p:nvPr/>
        </p:nvSpPr>
        <p:spPr>
          <a:xfrm>
            <a:off x="731520" y="5468112"/>
            <a:ext cx="2148840" cy="548640"/>
          </a:xfrm>
          <a:prstGeom prst="rect">
            <a:avLst/>
          </a:prstGeom>
          <a:noFill/>
        </p:spPr>
        <p:txBody>
          <a:bodyPr wrap="square" lIns="0" rIns="0" tIns="0" bIns="0" anchor="t">
            <a:noAutofit/>
          </a:bodyPr>
          <a:lstStyle/>
          <a:p>
            <a:pPr algn="l"/>
            <a:r>
              <a:rPr sz="1400" b="0">
                <a:solidFill>
                  <a:srgbClr val="5B6670"/>
                </a:solidFill>
                <a:latin typeface="Inter"/>
              </a:rPr>
              <a:t>Billed in ZAR · launch 1 Dec 2026</a:t>
            </a:r>
          </a:p>
        </p:txBody>
      </p:sp>
      <p:sp>
        <p:nvSpPr>
          <p:cNvPr id="32" name="g51|deco|"/>
          <p:cNvSpPr/>
          <p:nvPr/>
        </p:nvSpPr>
        <p:spPr>
          <a:xfrm>
            <a:off x="3117037" y="5138928"/>
            <a:ext cx="237744" cy="274320"/>
          </a:xfrm>
          <a:prstGeom prst="rightArrow">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tep52|card|"/>
          <p:cNvSpPr/>
          <p:nvPr/>
        </p:nvSpPr>
        <p:spPr>
          <a:xfrm>
            <a:off x="3408578" y="4462272"/>
            <a:ext cx="2514600" cy="1627632"/>
          </a:xfrm>
          <a:prstGeom prst="roundRect">
            <a:avLst>
              <a:gd name="adj" fmla="val 10112"/>
            </a:avLst>
          </a:prstGeom>
          <a:solidFill>
            <a:srgbClr val="FFFFFF"/>
          </a:solidFill>
          <a:ln w="1905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step52|eyebrow|"/>
          <p:cNvSpPr txBox="1"/>
          <p:nvPr/>
        </p:nvSpPr>
        <p:spPr>
          <a:xfrm>
            <a:off x="3591458" y="4590288"/>
            <a:ext cx="2148840" cy="237744"/>
          </a:xfrm>
          <a:prstGeom prst="rect">
            <a:avLst/>
          </a:prstGeom>
          <a:noFill/>
        </p:spPr>
        <p:txBody>
          <a:bodyPr wrap="square" lIns="0" rIns="0" tIns="0" bIns="0" anchor="t">
            <a:noAutofit/>
          </a:bodyPr>
          <a:lstStyle/>
          <a:p>
            <a:pPr algn="l"/>
            <a:r>
              <a:rPr sz="1100" b="1" spc="80">
                <a:solidFill>
                  <a:srgbClr val="C24E00"/>
                </a:solidFill>
                <a:latin typeface="Inter"/>
              </a:rPr>
              <a:t>2 · WAVE 1, MRR-GATED</a:t>
            </a:r>
          </a:p>
        </p:txBody>
      </p:sp>
      <p:sp>
        <p:nvSpPr>
          <p:cNvPr id="35" name="step52|card|"/>
          <p:cNvSpPr txBox="1"/>
          <p:nvPr/>
        </p:nvSpPr>
        <p:spPr>
          <a:xfrm>
            <a:off x="3591458" y="4846320"/>
            <a:ext cx="2148840" cy="603504"/>
          </a:xfrm>
          <a:prstGeom prst="rect">
            <a:avLst/>
          </a:prstGeom>
          <a:noFill/>
        </p:spPr>
        <p:txBody>
          <a:bodyPr wrap="square" lIns="0" rIns="0" tIns="0" bIns="0" anchor="t">
            <a:noAutofit/>
          </a:bodyPr>
          <a:lstStyle/>
          <a:p>
            <a:pPr algn="l"/>
            <a:r>
              <a:rPr sz="1500" b="1">
                <a:solidFill>
                  <a:srgbClr val="20242B"/>
                </a:solidFill>
                <a:latin typeface="Poppins"/>
              </a:rPr>
              <a:t>Nigeria, Kenya, Ghana</a:t>
            </a:r>
          </a:p>
        </p:txBody>
      </p:sp>
      <p:sp>
        <p:nvSpPr>
          <p:cNvPr id="36" name="step52|card|"/>
          <p:cNvSpPr txBox="1"/>
          <p:nvPr/>
        </p:nvSpPr>
        <p:spPr>
          <a:xfrm>
            <a:off x="3591458" y="5468112"/>
            <a:ext cx="2148840" cy="548640"/>
          </a:xfrm>
          <a:prstGeom prst="rect">
            <a:avLst/>
          </a:prstGeom>
          <a:noFill/>
        </p:spPr>
        <p:txBody>
          <a:bodyPr wrap="square" lIns="0" rIns="0" tIns="0" bIns="0" anchor="t">
            <a:noAutofit/>
          </a:bodyPr>
          <a:lstStyle/>
          <a:p>
            <a:pPr algn="l"/>
            <a:r>
              <a:rPr sz="1400" b="0">
                <a:solidFill>
                  <a:srgbClr val="5B6670"/>
                </a:solidFill>
                <a:latin typeface="Inter"/>
              </a:rPr>
              <a:t>Local currency · Feb / Apr / Jun 2028</a:t>
            </a:r>
          </a:p>
        </p:txBody>
      </p:sp>
      <p:sp>
        <p:nvSpPr>
          <p:cNvPr id="37" name="g53|deco|"/>
          <p:cNvSpPr/>
          <p:nvPr/>
        </p:nvSpPr>
        <p:spPr>
          <a:xfrm>
            <a:off x="5976975" y="5138928"/>
            <a:ext cx="237744" cy="274320"/>
          </a:xfrm>
          <a:prstGeom prst="rightArrow">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step54|card|"/>
          <p:cNvSpPr/>
          <p:nvPr/>
        </p:nvSpPr>
        <p:spPr>
          <a:xfrm>
            <a:off x="6268516" y="4462272"/>
            <a:ext cx="2514600" cy="1627632"/>
          </a:xfrm>
          <a:prstGeom prst="roundRect">
            <a:avLst>
              <a:gd name="adj" fmla="val 10112"/>
            </a:avLst>
          </a:prstGeom>
          <a:solidFill>
            <a:srgbClr val="FFFFFF"/>
          </a:solidFill>
          <a:ln w="1905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step54|eyebrow|"/>
          <p:cNvSpPr txBox="1"/>
          <p:nvPr/>
        </p:nvSpPr>
        <p:spPr>
          <a:xfrm>
            <a:off x="6451396" y="4590288"/>
            <a:ext cx="2148840" cy="237744"/>
          </a:xfrm>
          <a:prstGeom prst="rect">
            <a:avLst/>
          </a:prstGeom>
          <a:noFill/>
        </p:spPr>
        <p:txBody>
          <a:bodyPr wrap="square" lIns="0" rIns="0" tIns="0" bIns="0" anchor="t">
            <a:noAutofit/>
          </a:bodyPr>
          <a:lstStyle/>
          <a:p>
            <a:pPr algn="l"/>
            <a:r>
              <a:rPr sz="1100" b="1" spc="80">
                <a:solidFill>
                  <a:srgbClr val="C24E00"/>
                </a:solidFill>
                <a:latin typeface="Inter"/>
              </a:rPr>
              <a:t>3 · SELF-SERVE</a:t>
            </a:r>
          </a:p>
        </p:txBody>
      </p:sp>
      <p:sp>
        <p:nvSpPr>
          <p:cNvPr id="40" name="step54|card|"/>
          <p:cNvSpPr txBox="1"/>
          <p:nvPr/>
        </p:nvSpPr>
        <p:spPr>
          <a:xfrm>
            <a:off x="6451396" y="4846320"/>
            <a:ext cx="2148840" cy="603504"/>
          </a:xfrm>
          <a:prstGeom prst="rect">
            <a:avLst/>
          </a:prstGeom>
          <a:noFill/>
        </p:spPr>
        <p:txBody>
          <a:bodyPr wrap="square" lIns="0" rIns="0" tIns="0" bIns="0" anchor="t">
            <a:noAutofit/>
          </a:bodyPr>
          <a:lstStyle/>
          <a:p>
            <a:pPr algn="l"/>
            <a:r>
              <a:rPr sz="1500" b="1">
                <a:solidFill>
                  <a:srgbClr val="20242B"/>
                </a:solidFill>
                <a:latin typeface="Poppins"/>
              </a:rPr>
              <a:t>19 more countries</a:t>
            </a:r>
          </a:p>
        </p:txBody>
      </p:sp>
      <p:sp>
        <p:nvSpPr>
          <p:cNvPr id="41" name="step54|card|"/>
          <p:cNvSpPr txBox="1"/>
          <p:nvPr/>
        </p:nvSpPr>
        <p:spPr>
          <a:xfrm>
            <a:off x="6451396" y="5468112"/>
            <a:ext cx="2148840" cy="548640"/>
          </a:xfrm>
          <a:prstGeom prst="rect">
            <a:avLst/>
          </a:prstGeom>
          <a:noFill/>
        </p:spPr>
        <p:txBody>
          <a:bodyPr wrap="square" lIns="0" rIns="0" tIns="0" bIns="0" anchor="t">
            <a:noAutofit/>
          </a:bodyPr>
          <a:lstStyle/>
          <a:p>
            <a:pPr algn="l"/>
            <a:r>
              <a:rPr sz="1400" b="0">
                <a:solidFill>
                  <a:srgbClr val="5B6670"/>
                </a:solidFill>
                <a:latin typeface="Inter"/>
              </a:rPr>
              <a:t>Billed in USD · from Nov 2028</a:t>
            </a:r>
          </a:p>
        </p:txBody>
      </p:sp>
      <p:sp>
        <p:nvSpPr>
          <p:cNvPr id="42" name="g55|deco|"/>
          <p:cNvSpPr/>
          <p:nvPr/>
        </p:nvSpPr>
        <p:spPr>
          <a:xfrm>
            <a:off x="8836914" y="5138928"/>
            <a:ext cx="237744" cy="274320"/>
          </a:xfrm>
          <a:prstGeom prst="rightArrow">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step56|card|"/>
          <p:cNvSpPr/>
          <p:nvPr/>
        </p:nvSpPr>
        <p:spPr>
          <a:xfrm>
            <a:off x="9128455" y="4462272"/>
            <a:ext cx="2514600" cy="1627632"/>
          </a:xfrm>
          <a:prstGeom prst="roundRect">
            <a:avLst>
              <a:gd name="adj" fmla="val 10112"/>
            </a:avLst>
          </a:prstGeom>
          <a:noFill/>
          <a:ln w="19050">
            <a:solidFill>
              <a:srgbClr val="5B66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step56|eyebrow|"/>
          <p:cNvSpPr txBox="1"/>
          <p:nvPr/>
        </p:nvSpPr>
        <p:spPr>
          <a:xfrm>
            <a:off x="9311335" y="4590288"/>
            <a:ext cx="2148840" cy="237744"/>
          </a:xfrm>
          <a:prstGeom prst="rect">
            <a:avLst/>
          </a:prstGeom>
          <a:noFill/>
        </p:spPr>
        <p:txBody>
          <a:bodyPr wrap="square" lIns="0" rIns="0" tIns="0" bIns="0" anchor="t">
            <a:noAutofit/>
          </a:bodyPr>
          <a:lstStyle/>
          <a:p>
            <a:pPr algn="l"/>
            <a:r>
              <a:rPr sz="1100" b="1" spc="80">
                <a:solidFill>
                  <a:srgbClr val="5B6670"/>
                </a:solidFill>
                <a:latin typeface="Inter"/>
              </a:rPr>
              <a:t>4 · COMING SOON</a:t>
            </a:r>
          </a:p>
        </p:txBody>
      </p:sp>
      <p:sp>
        <p:nvSpPr>
          <p:cNvPr id="45" name="step56|card|"/>
          <p:cNvSpPr txBox="1"/>
          <p:nvPr/>
        </p:nvSpPr>
        <p:spPr>
          <a:xfrm>
            <a:off x="9311335" y="4846320"/>
            <a:ext cx="2148840" cy="603504"/>
          </a:xfrm>
          <a:prstGeom prst="rect">
            <a:avLst/>
          </a:prstGeom>
          <a:noFill/>
        </p:spPr>
        <p:txBody>
          <a:bodyPr wrap="square" lIns="0" rIns="0" tIns="0" bIns="0" anchor="t">
            <a:noAutofit/>
          </a:bodyPr>
          <a:lstStyle/>
          <a:p>
            <a:pPr algn="l"/>
            <a:r>
              <a:rPr sz="1500" b="1">
                <a:solidFill>
                  <a:srgbClr val="20242B"/>
                </a:solidFill>
                <a:latin typeface="Poppins"/>
              </a:rPr>
              <a:t>Botswana &amp; Namibia</a:t>
            </a:r>
          </a:p>
        </p:txBody>
      </p:sp>
      <p:sp>
        <p:nvSpPr>
          <p:cNvPr id="46" name="step56|card|"/>
          <p:cNvSpPr txBox="1"/>
          <p:nvPr/>
        </p:nvSpPr>
        <p:spPr>
          <a:xfrm>
            <a:off x="9311335" y="5468112"/>
            <a:ext cx="2148840" cy="548640"/>
          </a:xfrm>
          <a:prstGeom prst="rect">
            <a:avLst/>
          </a:prstGeom>
          <a:noFill/>
        </p:spPr>
        <p:txBody>
          <a:bodyPr wrap="square" lIns="0" rIns="0" tIns="0" bIns="0" anchor="t">
            <a:noAutofit/>
          </a:bodyPr>
          <a:lstStyle/>
          <a:p>
            <a:pPr algn="l"/>
            <a:r>
              <a:rPr sz="1400" b="0">
                <a:solidFill>
                  <a:srgbClr val="5B6670"/>
                </a:solidFill>
                <a:latin typeface="Inter"/>
              </a:rPr>
              <a:t>Opens once a payment rail covers them</a:t>
            </a:r>
          </a:p>
        </p:txBody>
      </p:sp>
      <p:sp>
        <p:nvSpPr>
          <p:cNvPr id="47" name="g57|caption|"/>
          <p:cNvSpPr txBox="1"/>
          <p:nvPr/>
        </p:nvSpPr>
        <p:spPr>
          <a:xfrm>
            <a:off x="548640" y="6163056"/>
            <a:ext cx="11094415" cy="237744"/>
          </a:xfrm>
          <a:prstGeom prst="rect">
            <a:avLst/>
          </a:prstGeom>
          <a:noFill/>
        </p:spPr>
        <p:txBody>
          <a:bodyPr wrap="square" lIns="0" rIns="0" tIns="0" bIns="0" anchor="t">
            <a:noAutofit/>
          </a:bodyPr>
          <a:lstStyle/>
          <a:p>
            <a:pPr algn="l"/>
            <a:r>
              <a:rPr sz="1100" b="0">
                <a:solidFill>
                  <a:srgbClr val="5B6670"/>
                </a:solidFill>
                <a:latin typeface="Inter"/>
              </a:rPr>
              <a:t>Everywhere else: waitlist only (gated). Launch months: projection (model v2, base case); each launch waits for its MRR gate.</a:t>
            </a:r>
          </a:p>
        </p:txBody>
      </p:sp>
      <p:sp>
        <p:nvSpPr>
          <p:cNvPr id="48"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Confidential</a:t>
            </a:r>
          </a:p>
        </p:txBody>
      </p:sp>
      <p:sp>
        <p:nvSpPr>
          <p:cNvPr id="49"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7</a:t>
            </a:fld>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419"/>
        </a:solidFill>
        <a:effectLst/>
      </p:bgPr>
    </p:bg>
    <p:spTree>
      <p:nvGrpSpPr>
        <p:cNvPr id="1" name=""/>
        <p:cNvGrpSpPr/>
        <p:nvPr/>
      </p:nvGrpSpPr>
      <p:grpSpPr/>
      <p:sp>
        <p:nvSpPr>
          <p:cNvPr id="2" name="hdr58|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FF6A00"/>
                </a:solidFill>
                <a:latin typeface="Inter"/>
              </a:rPr>
              <a:t>PAYMENTS MOAT</a:t>
            </a:r>
          </a:p>
        </p:txBody>
      </p:sp>
      <p:sp>
        <p:nvSpPr>
          <p:cNvPr id="3" name="hdr58|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FFFFFF"/>
                </a:solidFill>
                <a:latin typeface="Poppins"/>
              </a:rPr>
              <a:t>Local rails in 23 African countries</a:t>
            </a:r>
          </a:p>
        </p:txBody>
      </p:sp>
      <p:pic>
        <p:nvPicPr>
          <p:cNvPr id="4" name="g59|img|infographics/payment-coverage-map_dark.png" descr="Tile map of 23 African countries covered by 5 live payment rails; Botswana and Namibia coming soon; 40+ mobile money operators"/>
          <p:cNvPicPr>
            <a:picLocks noChangeAspect="1"/>
          </p:cNvPicPr>
          <p:nvPr/>
        </p:nvPicPr>
        <p:blipFill>
          <a:blip r:embed="rId2"/>
          <a:srcRect t="20500"/>
          <a:stretch>
            <a:fillRect/>
          </a:stretch>
        </p:blipFill>
        <p:spPr>
          <a:xfrm>
            <a:off x="548640" y="1481328"/>
            <a:ext cx="8138160" cy="3639283"/>
          </a:xfrm>
          <a:prstGeom prst="rect">
            <a:avLst/>
          </a:prstGeom>
        </p:spPr>
      </p:pic>
      <p:sp>
        <p:nvSpPr>
          <p:cNvPr id="5" name="moat60|card|"/>
          <p:cNvSpPr/>
          <p:nvPr/>
        </p:nvSpPr>
        <p:spPr>
          <a:xfrm>
            <a:off x="8915400" y="1481328"/>
            <a:ext cx="2724912" cy="1143000"/>
          </a:xfrm>
          <a:prstGeom prst="roundRect">
            <a:avLst>
              <a:gd name="adj" fmla="val 12800"/>
            </a:avLst>
          </a:prstGeom>
          <a:solidFill>
            <a:srgbClr val="1B23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moat60|card|"/>
          <p:cNvSpPr txBox="1"/>
          <p:nvPr/>
        </p:nvSpPr>
        <p:spPr>
          <a:xfrm>
            <a:off x="9125712" y="1609344"/>
            <a:ext cx="2331720" cy="347472"/>
          </a:xfrm>
          <a:prstGeom prst="rect">
            <a:avLst/>
          </a:prstGeom>
          <a:noFill/>
        </p:spPr>
        <p:txBody>
          <a:bodyPr wrap="square" lIns="0" rIns="0" tIns="0" bIns="0" anchor="t">
            <a:noAutofit/>
          </a:bodyPr>
          <a:lstStyle/>
          <a:p>
            <a:pPr algn="l"/>
            <a:r>
              <a:rPr sz="1600" b="1">
                <a:solidFill>
                  <a:srgbClr val="FF6A00"/>
                </a:solidFill>
                <a:latin typeface="Poppins"/>
              </a:rPr>
              <a:t>Collect and pay out</a:t>
            </a:r>
          </a:p>
        </p:txBody>
      </p:sp>
      <p:sp>
        <p:nvSpPr>
          <p:cNvPr id="7" name="moat60|card|"/>
          <p:cNvSpPr txBox="1"/>
          <p:nvPr/>
        </p:nvSpPr>
        <p:spPr>
          <a:xfrm>
            <a:off x="9125712" y="1956816"/>
            <a:ext cx="2331720" cy="566928"/>
          </a:xfrm>
          <a:prstGeom prst="rect">
            <a:avLst/>
          </a:prstGeom>
          <a:noFill/>
        </p:spPr>
        <p:txBody>
          <a:bodyPr wrap="square" lIns="0" rIns="0" tIns="0" bIns="0" anchor="t">
            <a:noAutofit/>
          </a:bodyPr>
          <a:lstStyle/>
          <a:p>
            <a:pPr algn="l"/>
            <a:r>
              <a:rPr sz="1400" b="0">
                <a:solidFill>
                  <a:srgbClr val="FFFFFF"/>
                </a:solidFill>
                <a:latin typeface="Inter"/>
              </a:rPr>
              <a:t>Cards, instant EFT, bank transfer and mobile money</a:t>
            </a:r>
          </a:p>
        </p:txBody>
      </p:sp>
      <p:sp>
        <p:nvSpPr>
          <p:cNvPr id="8" name="moat61|card|"/>
          <p:cNvSpPr/>
          <p:nvPr/>
        </p:nvSpPr>
        <p:spPr>
          <a:xfrm>
            <a:off x="8915400" y="2743200"/>
            <a:ext cx="2724912" cy="1143000"/>
          </a:xfrm>
          <a:prstGeom prst="roundRect">
            <a:avLst>
              <a:gd name="adj" fmla="val 12800"/>
            </a:avLst>
          </a:prstGeom>
          <a:solidFill>
            <a:srgbClr val="1B23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moat61|card|"/>
          <p:cNvSpPr txBox="1"/>
          <p:nvPr/>
        </p:nvSpPr>
        <p:spPr>
          <a:xfrm>
            <a:off x="9125712" y="2871216"/>
            <a:ext cx="2331720" cy="347472"/>
          </a:xfrm>
          <a:prstGeom prst="rect">
            <a:avLst/>
          </a:prstGeom>
          <a:noFill/>
        </p:spPr>
        <p:txBody>
          <a:bodyPr wrap="square" lIns="0" rIns="0" tIns="0" bIns="0" anchor="t">
            <a:noAutofit/>
          </a:bodyPr>
          <a:lstStyle/>
          <a:p>
            <a:pPr algn="l"/>
            <a:r>
              <a:rPr sz="1600" b="1">
                <a:solidFill>
                  <a:srgbClr val="FF6A00"/>
                </a:solidFill>
                <a:latin typeface="Poppins"/>
              </a:rPr>
              <a:t>Priced locally</a:t>
            </a:r>
          </a:p>
        </p:txBody>
      </p:sp>
      <p:sp>
        <p:nvSpPr>
          <p:cNvPr id="10" name="moat61|card|"/>
          <p:cNvSpPr txBox="1"/>
          <p:nvPr/>
        </p:nvSpPr>
        <p:spPr>
          <a:xfrm>
            <a:off x="9125712" y="3218688"/>
            <a:ext cx="2331720" cy="566928"/>
          </a:xfrm>
          <a:prstGeom prst="rect">
            <a:avLst/>
          </a:prstGeom>
          <a:noFill/>
        </p:spPr>
        <p:txBody>
          <a:bodyPr wrap="square" lIns="0" rIns="0" tIns="0" bIns="0" anchor="t">
            <a:noAutofit/>
          </a:bodyPr>
          <a:lstStyle/>
          <a:p>
            <a:pPr algn="l"/>
            <a:r>
              <a:rPr sz="1400" b="0">
                <a:solidFill>
                  <a:srgbClr val="FFFFFF"/>
                </a:solidFill>
                <a:latin typeface="Inter"/>
              </a:rPr>
              <a:t>ZAR, NGN, KES and GHS; USD in 19 markets</a:t>
            </a:r>
          </a:p>
        </p:txBody>
      </p:sp>
      <p:sp>
        <p:nvSpPr>
          <p:cNvPr id="11" name="moat62|card|"/>
          <p:cNvSpPr/>
          <p:nvPr/>
        </p:nvSpPr>
        <p:spPr>
          <a:xfrm>
            <a:off x="8915400" y="4005072"/>
            <a:ext cx="2724912" cy="1143000"/>
          </a:xfrm>
          <a:prstGeom prst="roundRect">
            <a:avLst>
              <a:gd name="adj" fmla="val 12800"/>
            </a:avLst>
          </a:prstGeom>
          <a:solidFill>
            <a:srgbClr val="1B23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moat62|card|"/>
          <p:cNvSpPr txBox="1"/>
          <p:nvPr/>
        </p:nvSpPr>
        <p:spPr>
          <a:xfrm>
            <a:off x="9125712" y="4133087"/>
            <a:ext cx="2331720" cy="347472"/>
          </a:xfrm>
          <a:prstGeom prst="rect">
            <a:avLst/>
          </a:prstGeom>
          <a:noFill/>
        </p:spPr>
        <p:txBody>
          <a:bodyPr wrap="square" lIns="0" rIns="0" tIns="0" bIns="0" anchor="t">
            <a:noAutofit/>
          </a:bodyPr>
          <a:lstStyle/>
          <a:p>
            <a:pPr algn="l"/>
            <a:r>
              <a:rPr sz="1600" b="1">
                <a:solidFill>
                  <a:srgbClr val="FF6A00"/>
                </a:solidFill>
                <a:latin typeface="Poppins"/>
              </a:rPr>
              <a:t>Gated by design</a:t>
            </a:r>
          </a:p>
        </p:txBody>
      </p:sp>
      <p:sp>
        <p:nvSpPr>
          <p:cNvPr id="13" name="moat62|card|"/>
          <p:cNvSpPr txBox="1"/>
          <p:nvPr/>
        </p:nvSpPr>
        <p:spPr>
          <a:xfrm>
            <a:off x="9125712" y="4480560"/>
            <a:ext cx="2331720" cy="566928"/>
          </a:xfrm>
          <a:prstGeom prst="rect">
            <a:avLst/>
          </a:prstGeom>
          <a:noFill/>
        </p:spPr>
        <p:txBody>
          <a:bodyPr wrap="square" lIns="0" rIns="0" tIns="0" bIns="0" anchor="t">
            <a:noAutofit/>
          </a:bodyPr>
          <a:lstStyle/>
          <a:p>
            <a:pPr algn="l"/>
            <a:r>
              <a:rPr sz="1400" b="0">
                <a:solidFill>
                  <a:srgbClr val="FFFFFF"/>
                </a:solidFill>
                <a:latin typeface="Inter"/>
              </a:rPr>
              <a:t>No checkout where no rail can collect</a:t>
            </a:r>
          </a:p>
        </p:txBody>
      </p:sp>
      <p:sp>
        <p:nvSpPr>
          <p:cNvPr id="14" name="g63|chip|"/>
          <p:cNvSpPr/>
          <p:nvPr/>
        </p:nvSpPr>
        <p:spPr>
          <a:xfrm>
            <a:off x="548640" y="5468112"/>
            <a:ext cx="1371600" cy="457200"/>
          </a:xfrm>
          <a:prstGeom prst="roundRect">
            <a:avLst>
              <a:gd name="adj" fmla="val 50000"/>
            </a:avLst>
          </a:prstGeom>
          <a:solidFill>
            <a:srgbClr val="1B232C"/>
          </a:solidFill>
          <a:ln w="12700">
            <a:solidFill>
              <a:srgbClr val="37424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g63|chip|"/>
          <p:cNvSpPr txBox="1"/>
          <p:nvPr/>
        </p:nvSpPr>
        <p:spPr>
          <a:xfrm>
            <a:off x="548640" y="5468112"/>
            <a:ext cx="1371600" cy="457200"/>
          </a:xfrm>
          <a:prstGeom prst="rect">
            <a:avLst/>
          </a:prstGeom>
          <a:noFill/>
        </p:spPr>
        <p:txBody>
          <a:bodyPr wrap="square" lIns="0" rIns="0" tIns="0" bIns="0" anchor="ctr">
            <a:noAutofit/>
          </a:bodyPr>
          <a:lstStyle/>
          <a:p>
            <a:pPr algn="ctr"/>
            <a:r>
              <a:rPr sz="1500" b="1">
                <a:solidFill>
                  <a:srgbClr val="FFFFFF"/>
                </a:solidFill>
                <a:latin typeface="Inter"/>
              </a:rPr>
              <a:t>Yoco</a:t>
            </a:r>
          </a:p>
        </p:txBody>
      </p:sp>
      <p:sp>
        <p:nvSpPr>
          <p:cNvPr id="16" name="g64|chip|"/>
          <p:cNvSpPr/>
          <p:nvPr/>
        </p:nvSpPr>
        <p:spPr>
          <a:xfrm>
            <a:off x="2029968" y="5468112"/>
            <a:ext cx="1371600" cy="457200"/>
          </a:xfrm>
          <a:prstGeom prst="roundRect">
            <a:avLst>
              <a:gd name="adj" fmla="val 50000"/>
            </a:avLst>
          </a:prstGeom>
          <a:solidFill>
            <a:srgbClr val="1B232C"/>
          </a:solidFill>
          <a:ln w="12700">
            <a:solidFill>
              <a:srgbClr val="37424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g64|chip|"/>
          <p:cNvSpPr txBox="1"/>
          <p:nvPr/>
        </p:nvSpPr>
        <p:spPr>
          <a:xfrm>
            <a:off x="2029968" y="5468112"/>
            <a:ext cx="1371600" cy="457200"/>
          </a:xfrm>
          <a:prstGeom prst="rect">
            <a:avLst/>
          </a:prstGeom>
          <a:noFill/>
        </p:spPr>
        <p:txBody>
          <a:bodyPr wrap="square" lIns="0" rIns="0" tIns="0" bIns="0" anchor="ctr">
            <a:noAutofit/>
          </a:bodyPr>
          <a:lstStyle/>
          <a:p>
            <a:pPr algn="ctr"/>
            <a:r>
              <a:rPr sz="1500" b="1">
                <a:solidFill>
                  <a:srgbClr val="FFFFFF"/>
                </a:solidFill>
                <a:latin typeface="Inter"/>
              </a:rPr>
              <a:t>Ozow</a:t>
            </a:r>
          </a:p>
        </p:txBody>
      </p:sp>
      <p:sp>
        <p:nvSpPr>
          <p:cNvPr id="18" name="g65|chip|"/>
          <p:cNvSpPr/>
          <p:nvPr/>
        </p:nvSpPr>
        <p:spPr>
          <a:xfrm>
            <a:off x="3511296" y="5468112"/>
            <a:ext cx="1371600" cy="457200"/>
          </a:xfrm>
          <a:prstGeom prst="roundRect">
            <a:avLst>
              <a:gd name="adj" fmla="val 50000"/>
            </a:avLst>
          </a:prstGeom>
          <a:solidFill>
            <a:srgbClr val="1B232C"/>
          </a:solidFill>
          <a:ln w="12700">
            <a:solidFill>
              <a:srgbClr val="37424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g65|chip|"/>
          <p:cNvSpPr txBox="1"/>
          <p:nvPr/>
        </p:nvSpPr>
        <p:spPr>
          <a:xfrm>
            <a:off x="3511296" y="5468112"/>
            <a:ext cx="1371600" cy="457200"/>
          </a:xfrm>
          <a:prstGeom prst="rect">
            <a:avLst/>
          </a:prstGeom>
          <a:noFill/>
        </p:spPr>
        <p:txBody>
          <a:bodyPr wrap="square" lIns="0" rIns="0" tIns="0" bIns="0" anchor="ctr">
            <a:noAutofit/>
          </a:bodyPr>
          <a:lstStyle/>
          <a:p>
            <a:pPr algn="ctr"/>
            <a:r>
              <a:rPr sz="1500" b="1">
                <a:solidFill>
                  <a:srgbClr val="FFFFFF"/>
                </a:solidFill>
                <a:latin typeface="Inter"/>
              </a:rPr>
              <a:t>Paystack</a:t>
            </a:r>
          </a:p>
        </p:txBody>
      </p:sp>
      <p:sp>
        <p:nvSpPr>
          <p:cNvPr id="20" name="g66|chip|"/>
          <p:cNvSpPr/>
          <p:nvPr/>
        </p:nvSpPr>
        <p:spPr>
          <a:xfrm>
            <a:off x="4992624" y="5468112"/>
            <a:ext cx="1371600" cy="457200"/>
          </a:xfrm>
          <a:prstGeom prst="roundRect">
            <a:avLst>
              <a:gd name="adj" fmla="val 50000"/>
            </a:avLst>
          </a:prstGeom>
          <a:solidFill>
            <a:srgbClr val="1B232C"/>
          </a:solidFill>
          <a:ln w="12700">
            <a:solidFill>
              <a:srgbClr val="37424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g66|chip|"/>
          <p:cNvSpPr txBox="1"/>
          <p:nvPr/>
        </p:nvSpPr>
        <p:spPr>
          <a:xfrm>
            <a:off x="4992624" y="5468112"/>
            <a:ext cx="1371600" cy="457200"/>
          </a:xfrm>
          <a:prstGeom prst="rect">
            <a:avLst/>
          </a:prstGeom>
          <a:noFill/>
        </p:spPr>
        <p:txBody>
          <a:bodyPr wrap="square" lIns="0" rIns="0" tIns="0" bIns="0" anchor="ctr">
            <a:noAutofit/>
          </a:bodyPr>
          <a:lstStyle/>
          <a:p>
            <a:pPr algn="ctr"/>
            <a:r>
              <a:rPr sz="1500" b="1">
                <a:solidFill>
                  <a:srgbClr val="FFFFFF"/>
                </a:solidFill>
                <a:latin typeface="Inter"/>
              </a:rPr>
              <a:t>pawaPay</a:t>
            </a:r>
          </a:p>
        </p:txBody>
      </p:sp>
      <p:sp>
        <p:nvSpPr>
          <p:cNvPr id="22" name="g67|chip|"/>
          <p:cNvSpPr/>
          <p:nvPr/>
        </p:nvSpPr>
        <p:spPr>
          <a:xfrm>
            <a:off x="6473952" y="5468112"/>
            <a:ext cx="1371600" cy="457200"/>
          </a:xfrm>
          <a:prstGeom prst="roundRect">
            <a:avLst>
              <a:gd name="adj" fmla="val 50000"/>
            </a:avLst>
          </a:prstGeom>
          <a:solidFill>
            <a:srgbClr val="1B232C"/>
          </a:solidFill>
          <a:ln w="12700">
            <a:solidFill>
              <a:srgbClr val="37424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g67|chip|"/>
          <p:cNvSpPr txBox="1"/>
          <p:nvPr/>
        </p:nvSpPr>
        <p:spPr>
          <a:xfrm>
            <a:off x="6473952" y="5468112"/>
            <a:ext cx="1371600" cy="457200"/>
          </a:xfrm>
          <a:prstGeom prst="rect">
            <a:avLst/>
          </a:prstGeom>
          <a:noFill/>
        </p:spPr>
        <p:txBody>
          <a:bodyPr wrap="square" lIns="0" rIns="0" tIns="0" bIns="0" anchor="ctr">
            <a:noAutofit/>
          </a:bodyPr>
          <a:lstStyle/>
          <a:p>
            <a:pPr algn="ctr"/>
            <a:r>
              <a:rPr sz="1500" b="1">
                <a:solidFill>
                  <a:srgbClr val="FFFFFF"/>
                </a:solidFill>
                <a:latin typeface="Inter"/>
              </a:rPr>
              <a:t>Fincra</a:t>
            </a:r>
          </a:p>
        </p:txBody>
      </p:sp>
      <p:sp>
        <p:nvSpPr>
          <p:cNvPr id="24" name="g68|caption|"/>
          <p:cNvSpPr txBox="1"/>
          <p:nvPr/>
        </p:nvSpPr>
        <p:spPr>
          <a:xfrm>
            <a:off x="8046720" y="5394960"/>
            <a:ext cx="3593592" cy="640080"/>
          </a:xfrm>
          <a:prstGeom prst="rect">
            <a:avLst/>
          </a:prstGeom>
          <a:noFill/>
        </p:spPr>
        <p:txBody>
          <a:bodyPr wrap="square" lIns="0" rIns="0" tIns="0" bIns="0" anchor="t">
            <a:noAutofit/>
          </a:bodyPr>
          <a:lstStyle/>
          <a:p>
            <a:pPr algn="l"/>
            <a:r>
              <a:rPr sz="1200" b="0">
                <a:solidFill>
                  <a:srgbClr val="A7B0B8"/>
                </a:solidFill>
                <a:latin typeface="Inter"/>
              </a:rPr>
              <a:t>All five live September 2026 (pawaPay and Fincra from 14 Sept). South Sudan and Zimbabwe: payouts only, gated.</a:t>
            </a:r>
          </a:p>
        </p:txBody>
      </p:sp>
      <p:sp>
        <p:nvSpPr>
          <p:cNvPr id="2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A7B0B8"/>
                </a:solidFill>
                <a:latin typeface="Inter"/>
              </a:rPr>
              <a:t>FluxMuse · Confidential</a:t>
            </a:r>
          </a:p>
        </p:txBody>
      </p:sp>
      <p:sp>
        <p:nvSpPr>
          <p:cNvPr id="2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A7B0B8"/>
                </a:solidFill>
                <a:latin typeface="Inter"/>
              </a:rPr>
              <a:t>8</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69|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TRACTION &amp; PROOF TO DATE · NO CUSTOMER RESULTS YET</a:t>
            </a:r>
          </a:p>
        </p:txBody>
      </p:sp>
      <p:sp>
        <p:nvSpPr>
          <p:cNvPr id="3" name="hdr69|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Verified, approved, live and in pilot</a:t>
            </a:r>
          </a:p>
        </p:txBody>
      </p:sp>
      <p:sp>
        <p:nvSpPr>
          <p:cNvPr id="4" name="proof70|card|"/>
          <p:cNvSpPr/>
          <p:nvPr/>
        </p:nvSpPr>
        <p:spPr>
          <a:xfrm>
            <a:off x="548640" y="1481328"/>
            <a:ext cx="2636443" cy="205740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proof70|deco|"/>
          <p:cNvSpPr/>
          <p:nvPr/>
        </p:nvSpPr>
        <p:spPr>
          <a:xfrm>
            <a:off x="758951" y="1673351"/>
            <a:ext cx="585216" cy="58521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roof70|icon|checkCircle_deep.png" descr="checkCircle_deep"/>
          <p:cNvPicPr>
            <a:picLocks noChangeAspect="1"/>
          </p:cNvPicPr>
          <p:nvPr/>
        </p:nvPicPr>
        <p:blipFill>
          <a:blip r:embed="rId2"/>
          <a:srcRect/>
          <a:stretch>
            <a:fillRect/>
          </a:stretch>
        </p:blipFill>
        <p:spPr>
          <a:xfrm>
            <a:off x="887699" y="1802099"/>
            <a:ext cx="327720" cy="327720"/>
          </a:xfrm>
          <a:prstGeom prst="rect">
            <a:avLst/>
          </a:prstGeom>
        </p:spPr>
      </p:pic>
      <p:sp>
        <p:nvSpPr>
          <p:cNvPr id="7" name="proof70|card|"/>
          <p:cNvSpPr txBox="1"/>
          <p:nvPr/>
        </p:nvSpPr>
        <p:spPr>
          <a:xfrm>
            <a:off x="777240" y="2377440"/>
            <a:ext cx="2179243" cy="640080"/>
          </a:xfrm>
          <a:prstGeom prst="rect">
            <a:avLst/>
          </a:prstGeom>
          <a:noFill/>
        </p:spPr>
        <p:txBody>
          <a:bodyPr wrap="square" lIns="0" rIns="0" tIns="0" bIns="0" anchor="t">
            <a:noAutofit/>
          </a:bodyPr>
          <a:lstStyle/>
          <a:p>
            <a:pPr algn="l"/>
            <a:r>
              <a:rPr sz="1600" b="1">
                <a:solidFill>
                  <a:srgbClr val="20242B"/>
                </a:solidFill>
                <a:latin typeface="Poppins"/>
              </a:rPr>
              <a:t>Verified Meta Tech Provider</a:t>
            </a:r>
          </a:p>
        </p:txBody>
      </p:sp>
      <p:sp>
        <p:nvSpPr>
          <p:cNvPr id="8" name="proof70|card|"/>
          <p:cNvSpPr txBox="1"/>
          <p:nvPr/>
        </p:nvSpPr>
        <p:spPr>
          <a:xfrm>
            <a:off x="777240" y="3017520"/>
            <a:ext cx="2179243" cy="475488"/>
          </a:xfrm>
          <a:prstGeom prst="rect">
            <a:avLst/>
          </a:prstGeom>
          <a:noFill/>
        </p:spPr>
        <p:txBody>
          <a:bodyPr wrap="square" lIns="0" rIns="0" tIns="0" bIns="0" anchor="t">
            <a:noAutofit/>
          </a:bodyPr>
          <a:lstStyle/>
          <a:p>
            <a:pPr algn="l"/>
            <a:r>
              <a:rPr sz="1400" b="0">
                <a:solidFill>
                  <a:srgbClr val="5B6670"/>
                </a:solidFill>
                <a:latin typeface="Inter"/>
              </a:rPr>
              <a:t>Business and access verification passed</a:t>
            </a:r>
          </a:p>
        </p:txBody>
      </p:sp>
      <p:sp>
        <p:nvSpPr>
          <p:cNvPr id="9" name="proof71|card|"/>
          <p:cNvSpPr/>
          <p:nvPr/>
        </p:nvSpPr>
        <p:spPr>
          <a:xfrm>
            <a:off x="3367963" y="1481328"/>
            <a:ext cx="2636443" cy="205740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roof71|deco|"/>
          <p:cNvSpPr/>
          <p:nvPr/>
        </p:nvSpPr>
        <p:spPr>
          <a:xfrm>
            <a:off x="3578275" y="1673351"/>
            <a:ext cx="585216" cy="58521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roof71|icon|chat_deep.png" descr="chat_deep"/>
          <p:cNvPicPr>
            <a:picLocks noChangeAspect="1"/>
          </p:cNvPicPr>
          <p:nvPr/>
        </p:nvPicPr>
        <p:blipFill>
          <a:blip r:embed="rId3"/>
          <a:srcRect/>
          <a:stretch>
            <a:fillRect/>
          </a:stretch>
        </p:blipFill>
        <p:spPr>
          <a:xfrm>
            <a:off x="3707023" y="1802099"/>
            <a:ext cx="327720" cy="327720"/>
          </a:xfrm>
          <a:prstGeom prst="rect">
            <a:avLst/>
          </a:prstGeom>
        </p:spPr>
      </p:pic>
      <p:sp>
        <p:nvSpPr>
          <p:cNvPr id="12" name="proof71|card|"/>
          <p:cNvSpPr txBox="1"/>
          <p:nvPr/>
        </p:nvSpPr>
        <p:spPr>
          <a:xfrm>
            <a:off x="3596563" y="2377440"/>
            <a:ext cx="2179243" cy="640080"/>
          </a:xfrm>
          <a:prstGeom prst="rect">
            <a:avLst/>
          </a:prstGeom>
          <a:noFill/>
        </p:spPr>
        <p:txBody>
          <a:bodyPr wrap="square" lIns="0" rIns="0" tIns="0" bIns="0" anchor="t">
            <a:noAutofit/>
          </a:bodyPr>
          <a:lstStyle/>
          <a:p>
            <a:pPr algn="l"/>
            <a:r>
              <a:rPr sz="1600" b="1">
                <a:solidFill>
                  <a:srgbClr val="20242B"/>
                </a:solidFill>
                <a:latin typeface="Poppins"/>
              </a:rPr>
              <a:t>WhatsApp Business APIs approved</a:t>
            </a:r>
          </a:p>
        </p:txBody>
      </p:sp>
      <p:sp>
        <p:nvSpPr>
          <p:cNvPr id="13" name="proof71|card|"/>
          <p:cNvSpPr txBox="1"/>
          <p:nvPr/>
        </p:nvSpPr>
        <p:spPr>
          <a:xfrm>
            <a:off x="3596563" y="3017520"/>
            <a:ext cx="2179243" cy="475488"/>
          </a:xfrm>
          <a:prstGeom prst="rect">
            <a:avLst/>
          </a:prstGeom>
          <a:noFill/>
        </p:spPr>
        <p:txBody>
          <a:bodyPr wrap="square" lIns="0" rIns="0" tIns="0" bIns="0" anchor="t">
            <a:noAutofit/>
          </a:bodyPr>
          <a:lstStyle/>
          <a:p>
            <a:pPr algn="l"/>
            <a:r>
              <a:rPr sz="1400" b="0">
                <a:solidFill>
                  <a:srgbClr val="5B6670"/>
                </a:solidFill>
                <a:latin typeface="Inter"/>
              </a:rPr>
              <a:t>Messaging and management permissions</a:t>
            </a:r>
          </a:p>
        </p:txBody>
      </p:sp>
      <p:sp>
        <p:nvSpPr>
          <p:cNvPr id="14" name="proof72|card|"/>
          <p:cNvSpPr/>
          <p:nvPr/>
        </p:nvSpPr>
        <p:spPr>
          <a:xfrm>
            <a:off x="6187287" y="1481328"/>
            <a:ext cx="2636443" cy="205740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roof72|deco|"/>
          <p:cNvSpPr/>
          <p:nvPr/>
        </p:nvSpPr>
        <p:spPr>
          <a:xfrm>
            <a:off x="6397599" y="1673351"/>
            <a:ext cx="585216" cy="58521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roof72|icon|send_deep.png" descr="send_deep"/>
          <p:cNvPicPr>
            <a:picLocks noChangeAspect="1"/>
          </p:cNvPicPr>
          <p:nvPr/>
        </p:nvPicPr>
        <p:blipFill>
          <a:blip r:embed="rId4"/>
          <a:srcRect/>
          <a:stretch>
            <a:fillRect/>
          </a:stretch>
        </p:blipFill>
        <p:spPr>
          <a:xfrm>
            <a:off x="6526347" y="1802099"/>
            <a:ext cx="327720" cy="327720"/>
          </a:xfrm>
          <a:prstGeom prst="rect">
            <a:avLst/>
          </a:prstGeom>
        </p:spPr>
      </p:pic>
      <p:sp>
        <p:nvSpPr>
          <p:cNvPr id="17" name="proof72|card|"/>
          <p:cNvSpPr txBox="1"/>
          <p:nvPr/>
        </p:nvSpPr>
        <p:spPr>
          <a:xfrm>
            <a:off x="6415887" y="2377440"/>
            <a:ext cx="2179243" cy="640080"/>
          </a:xfrm>
          <a:prstGeom prst="rect">
            <a:avLst/>
          </a:prstGeom>
          <a:noFill/>
        </p:spPr>
        <p:txBody>
          <a:bodyPr wrap="square" lIns="0" rIns="0" tIns="0" bIns="0" anchor="t">
            <a:noAutofit/>
          </a:bodyPr>
          <a:lstStyle/>
          <a:p>
            <a:pPr algn="l"/>
            <a:r>
              <a:rPr sz="1600" b="1">
                <a:solidFill>
                  <a:srgbClr val="20242B"/>
                </a:solidFill>
                <a:latin typeface="Poppins"/>
              </a:rPr>
              <a:t>Facebook Pages publisher live</a:t>
            </a:r>
          </a:p>
        </p:txBody>
      </p:sp>
      <p:sp>
        <p:nvSpPr>
          <p:cNvPr id="18" name="proof72|card|"/>
          <p:cNvSpPr txBox="1"/>
          <p:nvPr/>
        </p:nvSpPr>
        <p:spPr>
          <a:xfrm>
            <a:off x="6415887" y="3017520"/>
            <a:ext cx="2179243" cy="475488"/>
          </a:xfrm>
          <a:prstGeom prst="rect">
            <a:avLst/>
          </a:prstGeom>
          <a:noFill/>
        </p:spPr>
        <p:txBody>
          <a:bodyPr wrap="square" lIns="0" rIns="0" tIns="0" bIns="0" anchor="t">
            <a:noAutofit/>
          </a:bodyPr>
          <a:lstStyle/>
          <a:p>
            <a:pPr algn="l"/>
            <a:r>
              <a:rPr sz="1400" b="0">
                <a:solidFill>
                  <a:srgbClr val="5B6670"/>
                </a:solidFill>
                <a:latin typeface="Inter"/>
              </a:rPr>
              <a:t>In-house; Instagram in App Review</a:t>
            </a:r>
          </a:p>
        </p:txBody>
      </p:sp>
      <p:sp>
        <p:nvSpPr>
          <p:cNvPr id="19" name="proof73|card|"/>
          <p:cNvSpPr/>
          <p:nvPr/>
        </p:nvSpPr>
        <p:spPr>
          <a:xfrm>
            <a:off x="9006611" y="1481328"/>
            <a:ext cx="2636443" cy="205740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roof73|deco|"/>
          <p:cNvSpPr/>
          <p:nvPr/>
        </p:nvSpPr>
        <p:spPr>
          <a:xfrm>
            <a:off x="9216923" y="1673351"/>
            <a:ext cx="585216" cy="58521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roof73|icon|card_deep.png" descr="card_deep"/>
          <p:cNvPicPr>
            <a:picLocks noChangeAspect="1"/>
          </p:cNvPicPr>
          <p:nvPr/>
        </p:nvPicPr>
        <p:blipFill>
          <a:blip r:embed="rId5"/>
          <a:srcRect/>
          <a:stretch>
            <a:fillRect/>
          </a:stretch>
        </p:blipFill>
        <p:spPr>
          <a:xfrm>
            <a:off x="9345670" y="1802099"/>
            <a:ext cx="327720" cy="327720"/>
          </a:xfrm>
          <a:prstGeom prst="rect">
            <a:avLst/>
          </a:prstGeom>
        </p:spPr>
      </p:pic>
      <p:sp>
        <p:nvSpPr>
          <p:cNvPr id="22" name="proof73|card|"/>
          <p:cNvSpPr txBox="1"/>
          <p:nvPr/>
        </p:nvSpPr>
        <p:spPr>
          <a:xfrm>
            <a:off x="9235211" y="2377440"/>
            <a:ext cx="2179243" cy="640080"/>
          </a:xfrm>
          <a:prstGeom prst="rect">
            <a:avLst/>
          </a:prstGeom>
          <a:noFill/>
        </p:spPr>
        <p:txBody>
          <a:bodyPr wrap="square" lIns="0" rIns="0" tIns="0" bIns="0" anchor="t">
            <a:noAutofit/>
          </a:bodyPr>
          <a:lstStyle/>
          <a:p>
            <a:pPr algn="l"/>
            <a:r>
              <a:rPr sz="1600" b="1">
                <a:solidFill>
                  <a:srgbClr val="20242B"/>
                </a:solidFill>
                <a:latin typeface="Poppins"/>
              </a:rPr>
              <a:t>5 payment rails live</a:t>
            </a:r>
          </a:p>
        </p:txBody>
      </p:sp>
      <p:sp>
        <p:nvSpPr>
          <p:cNvPr id="23" name="proof73|card|"/>
          <p:cNvSpPr txBox="1"/>
          <p:nvPr/>
        </p:nvSpPr>
        <p:spPr>
          <a:xfrm>
            <a:off x="9235211" y="3017520"/>
            <a:ext cx="2179243" cy="475488"/>
          </a:xfrm>
          <a:prstGeom prst="rect">
            <a:avLst/>
          </a:prstGeom>
          <a:noFill/>
        </p:spPr>
        <p:txBody>
          <a:bodyPr wrap="square" lIns="0" rIns="0" tIns="0" bIns="0" anchor="t">
            <a:noAutofit/>
          </a:bodyPr>
          <a:lstStyle/>
          <a:p>
            <a:pPr algn="l"/>
            <a:r>
              <a:rPr sz="1400" b="0">
                <a:solidFill>
                  <a:srgbClr val="5B6670"/>
                </a:solidFill>
                <a:latin typeface="Inter"/>
              </a:rPr>
              <a:t>September 2026, 23 countries</a:t>
            </a:r>
          </a:p>
        </p:txBody>
      </p:sp>
      <p:sp>
        <p:nvSpPr>
          <p:cNvPr id="24" name="pilot74|card|"/>
          <p:cNvSpPr/>
          <p:nvPr/>
        </p:nvSpPr>
        <p:spPr>
          <a:xfrm>
            <a:off x="548640" y="3749039"/>
            <a:ext cx="6766560" cy="2359152"/>
          </a:xfrm>
          <a:prstGeom prst="roundRect">
            <a:avLst>
              <a:gd name="adj" fmla="val 7751"/>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lot74|eyebrow|"/>
          <p:cNvSpPr txBox="1"/>
          <p:nvPr/>
        </p:nvSpPr>
        <p:spPr>
          <a:xfrm>
            <a:off x="868680" y="3931920"/>
            <a:ext cx="6126480" cy="256032"/>
          </a:xfrm>
          <a:prstGeom prst="rect">
            <a:avLst/>
          </a:prstGeom>
          <a:noFill/>
        </p:spPr>
        <p:txBody>
          <a:bodyPr wrap="square" lIns="0" rIns="0" tIns="0" bIns="0" anchor="t">
            <a:noAutofit/>
          </a:bodyPr>
          <a:lstStyle/>
          <a:p>
            <a:pPr algn="l"/>
            <a:r>
              <a:rPr sz="1200" b="1" spc="150">
                <a:solidFill>
                  <a:srgbClr val="C24E00"/>
                </a:solidFill>
                <a:latin typeface="Inter"/>
              </a:rPr>
              <a:t>GAUTENG PILOT · UNDERWAY</a:t>
            </a:r>
          </a:p>
        </p:txBody>
      </p:sp>
      <p:sp>
        <p:nvSpPr>
          <p:cNvPr id="26" name="pilot74|card|"/>
          <p:cNvSpPr txBox="1"/>
          <p:nvPr/>
        </p:nvSpPr>
        <p:spPr>
          <a:xfrm>
            <a:off x="868680" y="4224528"/>
            <a:ext cx="6126480" cy="411480"/>
          </a:xfrm>
          <a:prstGeom prst="rect">
            <a:avLst/>
          </a:prstGeom>
          <a:noFill/>
        </p:spPr>
        <p:txBody>
          <a:bodyPr wrap="square" lIns="0" rIns="0" tIns="0" bIns="0" anchor="t">
            <a:noAutofit/>
          </a:bodyPr>
          <a:lstStyle/>
          <a:p>
            <a:pPr algn="l"/>
            <a:r>
              <a:rPr sz="1800" b="1">
                <a:solidFill>
                  <a:srgbClr val="20242B"/>
                </a:solidFill>
                <a:latin typeface="Poppins"/>
              </a:rPr>
              <a:t>12 brands: solo entrepreneurs, SMEs and agencies</a:t>
            </a:r>
          </a:p>
        </p:txBody>
      </p:sp>
      <p:sp>
        <p:nvSpPr>
          <p:cNvPr id="27" name="pilot74|deco|"/>
          <p:cNvSpPr/>
          <p:nvPr/>
        </p:nvSpPr>
        <p:spPr>
          <a:xfrm>
            <a:off x="1737360" y="5047488"/>
            <a:ext cx="4389120" cy="36576"/>
          </a:xfrm>
          <a:prstGeom prst="rect">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ilot74|deco|"/>
          <p:cNvSpPr/>
          <p:nvPr/>
        </p:nvSpPr>
        <p:spPr>
          <a:xfrm>
            <a:off x="1627631" y="4956048"/>
            <a:ext cx="219456" cy="219456"/>
          </a:xfrm>
          <a:prstGeom prst="ellipse">
            <a:avLst/>
          </a:prstGeom>
          <a:solidFill>
            <a:srgbClr val="FFFFFF"/>
          </a:solidFill>
          <a:ln w="25400">
            <a:solidFill>
              <a:srgbClr val="FF6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ilot74|card|"/>
          <p:cNvSpPr txBox="1"/>
          <p:nvPr/>
        </p:nvSpPr>
        <p:spPr>
          <a:xfrm>
            <a:off x="731519" y="5266944"/>
            <a:ext cx="2011680" cy="731520"/>
          </a:xfrm>
          <a:prstGeom prst="rect">
            <a:avLst/>
          </a:prstGeom>
          <a:noFill/>
        </p:spPr>
        <p:txBody>
          <a:bodyPr wrap="square" lIns="0" rIns="0" tIns="0" bIns="0" anchor="t">
            <a:noAutofit/>
          </a:bodyPr>
          <a:lstStyle/>
          <a:p>
            <a:pPr algn="ctr"/>
            <a:r>
              <a:rPr sz="1400" b="1">
                <a:solidFill>
                  <a:srgbClr val="20242B"/>
                </a:solidFill>
                <a:latin typeface="Inter"/>
              </a:rPr>
              <a:t>Sept 2026</a:t>
            </a:r>
          </a:p>
          <a:p>
            <a:pPr algn="ctr"/>
            <a:r>
              <a:rPr sz="1400" b="0">
                <a:solidFill>
                  <a:srgbClr val="20242B"/>
                </a:solidFill>
                <a:latin typeface="Inter"/>
              </a:rPr>
              <a:t>Pilot starts</a:t>
            </a:r>
          </a:p>
        </p:txBody>
      </p:sp>
      <p:sp>
        <p:nvSpPr>
          <p:cNvPr id="30" name="pilot74|deco|"/>
          <p:cNvSpPr/>
          <p:nvPr/>
        </p:nvSpPr>
        <p:spPr>
          <a:xfrm>
            <a:off x="3822191" y="4956048"/>
            <a:ext cx="219456" cy="219456"/>
          </a:xfrm>
          <a:prstGeom prst="ellipse">
            <a:avLst/>
          </a:prstGeom>
          <a:solidFill>
            <a:srgbClr val="FFFFFF"/>
          </a:solidFill>
          <a:ln w="25400">
            <a:solidFill>
              <a:srgbClr val="FF6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ilot74|card|"/>
          <p:cNvSpPr txBox="1"/>
          <p:nvPr/>
        </p:nvSpPr>
        <p:spPr>
          <a:xfrm>
            <a:off x="2926079" y="5266944"/>
            <a:ext cx="2011680" cy="731520"/>
          </a:xfrm>
          <a:prstGeom prst="rect">
            <a:avLst/>
          </a:prstGeom>
          <a:noFill/>
        </p:spPr>
        <p:txBody>
          <a:bodyPr wrap="square" lIns="0" rIns="0" tIns="0" bIns="0" anchor="t">
            <a:noAutofit/>
          </a:bodyPr>
          <a:lstStyle/>
          <a:p>
            <a:pPr algn="ctr"/>
            <a:r>
              <a:rPr sz="1400" b="1">
                <a:solidFill>
                  <a:srgbClr val="20242B"/>
                </a:solidFill>
                <a:latin typeface="Inter"/>
              </a:rPr>
              <a:t>30 Nov 2026</a:t>
            </a:r>
          </a:p>
          <a:p>
            <a:pPr algn="ctr"/>
            <a:r>
              <a:rPr sz="1400" b="0">
                <a:solidFill>
                  <a:srgbClr val="20242B"/>
                </a:solidFill>
                <a:latin typeface="Inter"/>
              </a:rPr>
              <a:t>Pilot ends</a:t>
            </a:r>
          </a:p>
        </p:txBody>
      </p:sp>
      <p:sp>
        <p:nvSpPr>
          <p:cNvPr id="32" name="pilot74|deco|"/>
          <p:cNvSpPr/>
          <p:nvPr/>
        </p:nvSpPr>
        <p:spPr>
          <a:xfrm>
            <a:off x="6016751" y="4956048"/>
            <a:ext cx="219456" cy="219456"/>
          </a:xfrm>
          <a:prstGeom prst="ellipse">
            <a:avLst/>
          </a:prstGeom>
          <a:solidFill>
            <a:srgbClr val="FF6A00"/>
          </a:solidFill>
          <a:ln w="25400">
            <a:solidFill>
              <a:srgbClr val="FF6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ilot74|card|"/>
          <p:cNvSpPr txBox="1"/>
          <p:nvPr/>
        </p:nvSpPr>
        <p:spPr>
          <a:xfrm>
            <a:off x="5120640" y="5266944"/>
            <a:ext cx="2011680" cy="731520"/>
          </a:xfrm>
          <a:prstGeom prst="rect">
            <a:avLst/>
          </a:prstGeom>
          <a:noFill/>
        </p:spPr>
        <p:txBody>
          <a:bodyPr wrap="square" lIns="0" rIns="0" tIns="0" bIns="0" anchor="t">
            <a:noAutofit/>
          </a:bodyPr>
          <a:lstStyle/>
          <a:p>
            <a:pPr algn="ctr"/>
            <a:r>
              <a:rPr sz="1400" b="1">
                <a:solidFill>
                  <a:srgbClr val="C24E00"/>
                </a:solidFill>
                <a:latin typeface="Inter"/>
              </a:rPr>
              <a:t>Dec 2026</a:t>
            </a:r>
          </a:p>
          <a:p>
            <a:pPr algn="ctr"/>
            <a:r>
              <a:rPr sz="1400" b="0">
                <a:solidFill>
                  <a:srgbClr val="20242B"/>
                </a:solidFill>
                <a:latin typeface="Inter"/>
              </a:rPr>
              <a:t>Results + first conversions</a:t>
            </a:r>
          </a:p>
        </p:txBody>
      </p:sp>
      <p:sp>
        <p:nvSpPr>
          <p:cNvPr id="34" name="kpi75|card|"/>
          <p:cNvSpPr/>
          <p:nvPr/>
        </p:nvSpPr>
        <p:spPr>
          <a:xfrm>
            <a:off x="7498079" y="3749039"/>
            <a:ext cx="4142232" cy="2359152"/>
          </a:xfrm>
          <a:prstGeom prst="roundRect">
            <a:avLst>
              <a:gd name="adj" fmla="val 7751"/>
            </a:avLst>
          </a:prstGeom>
          <a:solidFill>
            <a:srgbClr val="0F14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kpi75|eyebrow|"/>
          <p:cNvSpPr txBox="1"/>
          <p:nvPr/>
        </p:nvSpPr>
        <p:spPr>
          <a:xfrm>
            <a:off x="7772400" y="3931920"/>
            <a:ext cx="3611880" cy="256032"/>
          </a:xfrm>
          <a:prstGeom prst="rect">
            <a:avLst/>
          </a:prstGeom>
          <a:noFill/>
        </p:spPr>
        <p:txBody>
          <a:bodyPr wrap="square" lIns="0" rIns="0" tIns="0" bIns="0" anchor="t">
            <a:noAutofit/>
          </a:bodyPr>
          <a:lstStyle/>
          <a:p>
            <a:pPr algn="l"/>
            <a:r>
              <a:rPr sz="1200" b="1" spc="150">
                <a:solidFill>
                  <a:srgbClr val="FF6A00"/>
                </a:solidFill>
                <a:latin typeface="Inter"/>
              </a:rPr>
              <a:t>KPIS WE TRACK</a:t>
            </a:r>
          </a:p>
        </p:txBody>
      </p:sp>
      <p:sp>
        <p:nvSpPr>
          <p:cNvPr id="36" name="kpi75|card|"/>
          <p:cNvSpPr txBox="1"/>
          <p:nvPr/>
        </p:nvSpPr>
        <p:spPr>
          <a:xfrm>
            <a:off x="7772400" y="4242816"/>
            <a:ext cx="3611880" cy="1143000"/>
          </a:xfrm>
          <a:prstGeom prst="rect">
            <a:avLst/>
          </a:prstGeom>
          <a:noFill/>
        </p:spPr>
        <p:txBody>
          <a:bodyPr wrap="square" lIns="0" rIns="0" tIns="0" bIns="0" anchor="t">
            <a:noAutofit/>
          </a:bodyPr>
          <a:lstStyle/>
          <a:p>
            <a:pPr algn="l"/>
            <a:r>
              <a:rPr sz="1400" b="0">
                <a:solidFill>
                  <a:srgbClr val="FFFFFF"/>
                </a:solidFill>
                <a:latin typeface="Inter"/>
              </a:rPr>
              <a:t>Brands onboarded, WhatsApp conversations, orders and GMV, content published, time saved, conversion uplift, NPS</a:t>
            </a:r>
          </a:p>
        </p:txBody>
      </p:sp>
      <p:sp>
        <p:nvSpPr>
          <p:cNvPr id="37" name="kpi75|caption|"/>
          <p:cNvSpPr txBox="1"/>
          <p:nvPr/>
        </p:nvSpPr>
        <p:spPr>
          <a:xfrm>
            <a:off x="7772400" y="5468112"/>
            <a:ext cx="3611880" cy="502920"/>
          </a:xfrm>
          <a:prstGeom prst="rect">
            <a:avLst/>
          </a:prstGeom>
          <a:noFill/>
        </p:spPr>
        <p:txBody>
          <a:bodyPr wrap="square" lIns="0" rIns="0" tIns="0" bIns="0" anchor="t">
            <a:noAutofit/>
          </a:bodyPr>
          <a:lstStyle/>
          <a:p>
            <a:pPr algn="l"/>
            <a:r>
              <a:rPr sz="1200" b="0">
                <a:solidFill>
                  <a:srgbClr val="A7B0B8"/>
                </a:solidFill>
                <a:latin typeface="Inter"/>
              </a:rPr>
              <a:t>Published in December 2026, only with each brand's consent.</a:t>
            </a:r>
          </a:p>
        </p:txBody>
      </p:sp>
      <p:sp>
        <p:nvSpPr>
          <p:cNvPr id="38"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Confidential</a:t>
            </a:r>
          </a:p>
        </p:txBody>
      </p:sp>
      <p:sp>
        <p:nvSpPr>
          <p:cNvPr id="39"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9</a:t>
            </a:fld>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76|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COMPETITION &amp; POSITIONING · QUALITATIVE VIEW</a:t>
            </a:r>
          </a:p>
        </p:txBody>
      </p:sp>
      <p:sp>
        <p:nvSpPr>
          <p:cNvPr id="3" name="hdr76|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Where FluxMuse sits</a:t>
            </a:r>
          </a:p>
        </p:txBody>
      </p:sp>
      <p:sp>
        <p:nvSpPr>
          <p:cNvPr id="4" name="mx77|deco|"/>
          <p:cNvSpPr/>
          <p:nvPr/>
        </p:nvSpPr>
        <p:spPr>
          <a:xfrm>
            <a:off x="960120" y="1828800"/>
            <a:ext cx="4754880" cy="3840480"/>
          </a:xfrm>
          <a:prstGeom prst="roundRect">
            <a:avLst>
              <a:gd name="adj" fmla="val 2857"/>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mx77|deco|"/>
          <p:cNvSpPr/>
          <p:nvPr/>
        </p:nvSpPr>
        <p:spPr>
          <a:xfrm>
            <a:off x="3328416" y="1965960"/>
            <a:ext cx="18288" cy="3566160"/>
          </a:xfrm>
          <a:prstGeom prst="rect">
            <a:avLst/>
          </a:prstGeom>
          <a:solidFill>
            <a:srgbClr val="D5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mx77|deco|"/>
          <p:cNvSpPr/>
          <p:nvPr/>
        </p:nvSpPr>
        <p:spPr>
          <a:xfrm>
            <a:off x="1097280" y="3739896"/>
            <a:ext cx="4480560" cy="18288"/>
          </a:xfrm>
          <a:prstGeom prst="rect">
            <a:avLst/>
          </a:prstGeom>
          <a:solidFill>
            <a:srgbClr val="D5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g78|caption|"/>
          <p:cNvSpPr txBox="1"/>
          <p:nvPr/>
        </p:nvSpPr>
        <p:spPr>
          <a:xfrm>
            <a:off x="960120" y="1481328"/>
            <a:ext cx="4754880" cy="274320"/>
          </a:xfrm>
          <a:prstGeom prst="rect">
            <a:avLst/>
          </a:prstGeom>
          <a:noFill/>
        </p:spPr>
        <p:txBody>
          <a:bodyPr wrap="square" lIns="0" rIns="0" tIns="0" bIns="0" anchor="t">
            <a:noAutofit/>
          </a:bodyPr>
          <a:lstStyle/>
          <a:p>
            <a:pPr algn="l"/>
            <a:r>
              <a:rPr sz="1300" b="1">
                <a:solidFill>
                  <a:srgbClr val="37474F"/>
                </a:solidFill>
                <a:latin typeface="Inter"/>
              </a:rPr>
              <a:t>↑ African payment rails &amp; local pricing</a:t>
            </a:r>
          </a:p>
        </p:txBody>
      </p:sp>
      <p:sp>
        <p:nvSpPr>
          <p:cNvPr id="8" name="g79|caption|"/>
          <p:cNvSpPr txBox="1"/>
          <p:nvPr/>
        </p:nvSpPr>
        <p:spPr>
          <a:xfrm>
            <a:off x="960120" y="5742432"/>
            <a:ext cx="4754880" cy="274320"/>
          </a:xfrm>
          <a:prstGeom prst="rect">
            <a:avLst/>
          </a:prstGeom>
          <a:noFill/>
        </p:spPr>
        <p:txBody>
          <a:bodyPr wrap="square" lIns="0" rIns="0" tIns="0" bIns="0" anchor="t">
            <a:noAutofit/>
          </a:bodyPr>
          <a:lstStyle/>
          <a:p>
            <a:pPr algn="r"/>
            <a:r>
              <a:rPr sz="1300" b="1">
                <a:solidFill>
                  <a:srgbClr val="37474F"/>
                </a:solidFill>
                <a:latin typeface="Inter"/>
              </a:rPr>
              <a:t>AI marketing + commerce in one platform →</a:t>
            </a:r>
          </a:p>
        </p:txBody>
      </p:sp>
      <p:sp>
        <p:nvSpPr>
          <p:cNvPr id="9" name="pt80|deco|"/>
          <p:cNvSpPr/>
          <p:nvPr/>
        </p:nvSpPr>
        <p:spPr>
          <a:xfrm>
            <a:off x="2648102" y="5012740"/>
            <a:ext cx="237744" cy="237744"/>
          </a:xfrm>
          <a:prstGeom prst="ellipse">
            <a:avLst/>
          </a:prstGeom>
          <a:solidFill>
            <a:srgbClr val="374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t80|body|"/>
          <p:cNvSpPr txBox="1"/>
          <p:nvPr/>
        </p:nvSpPr>
        <p:spPr>
          <a:xfrm>
            <a:off x="2968142" y="4893868"/>
            <a:ext cx="2103120" cy="475488"/>
          </a:xfrm>
          <a:prstGeom prst="rect">
            <a:avLst/>
          </a:prstGeom>
          <a:noFill/>
        </p:spPr>
        <p:txBody>
          <a:bodyPr wrap="square" lIns="0" rIns="0" tIns="0" bIns="0" anchor="ctr">
            <a:noAutofit/>
          </a:bodyPr>
          <a:lstStyle/>
          <a:p>
            <a:pPr algn="l"/>
            <a:r>
              <a:rPr sz="1400" b="0">
                <a:solidFill>
                  <a:srgbClr val="20242B"/>
                </a:solidFill>
                <a:latin typeface="Inter"/>
              </a:rPr>
              <a:t>Global social media tools</a:t>
            </a:r>
          </a:p>
        </p:txBody>
      </p:sp>
      <p:sp>
        <p:nvSpPr>
          <p:cNvPr id="11" name="pt81|deco|"/>
          <p:cNvSpPr/>
          <p:nvPr/>
        </p:nvSpPr>
        <p:spPr>
          <a:xfrm>
            <a:off x="3218688" y="3937406"/>
            <a:ext cx="237744" cy="237744"/>
          </a:xfrm>
          <a:prstGeom prst="ellipse">
            <a:avLst/>
          </a:prstGeom>
          <a:solidFill>
            <a:srgbClr val="374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t81|body|"/>
          <p:cNvSpPr txBox="1"/>
          <p:nvPr/>
        </p:nvSpPr>
        <p:spPr>
          <a:xfrm>
            <a:off x="3538728" y="3818534"/>
            <a:ext cx="2103120" cy="475488"/>
          </a:xfrm>
          <a:prstGeom prst="rect">
            <a:avLst/>
          </a:prstGeom>
          <a:noFill/>
        </p:spPr>
        <p:txBody>
          <a:bodyPr wrap="square" lIns="0" rIns="0" tIns="0" bIns="0" anchor="ctr">
            <a:noAutofit/>
          </a:bodyPr>
          <a:lstStyle/>
          <a:p>
            <a:pPr algn="l"/>
            <a:r>
              <a:rPr sz="1400" b="0">
                <a:solidFill>
                  <a:srgbClr val="20242B"/>
                </a:solidFill>
                <a:latin typeface="Inter"/>
              </a:rPr>
              <a:t>WhatsApp BSPs &amp; chatbot vendors</a:t>
            </a:r>
          </a:p>
        </p:txBody>
      </p:sp>
      <p:sp>
        <p:nvSpPr>
          <p:cNvPr id="13" name="pt82|deco|"/>
          <p:cNvSpPr/>
          <p:nvPr/>
        </p:nvSpPr>
        <p:spPr>
          <a:xfrm>
            <a:off x="2267712" y="3246120"/>
            <a:ext cx="237744" cy="237744"/>
          </a:xfrm>
          <a:prstGeom prst="ellipse">
            <a:avLst/>
          </a:prstGeom>
          <a:solidFill>
            <a:srgbClr val="374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t82|body|"/>
          <p:cNvSpPr txBox="1"/>
          <p:nvPr/>
        </p:nvSpPr>
        <p:spPr>
          <a:xfrm>
            <a:off x="2587752" y="3127248"/>
            <a:ext cx="2103120" cy="475488"/>
          </a:xfrm>
          <a:prstGeom prst="rect">
            <a:avLst/>
          </a:prstGeom>
          <a:noFill/>
        </p:spPr>
        <p:txBody>
          <a:bodyPr wrap="square" lIns="0" rIns="0" tIns="0" bIns="0" anchor="ctr">
            <a:noAutofit/>
          </a:bodyPr>
          <a:lstStyle/>
          <a:p>
            <a:pPr algn="l"/>
            <a:r>
              <a:rPr sz="1400" b="0">
                <a:solidFill>
                  <a:srgbClr val="20242B"/>
                </a:solidFill>
                <a:latin typeface="Inter"/>
              </a:rPr>
              <a:t>E-commerce platforms</a:t>
            </a:r>
          </a:p>
        </p:txBody>
      </p:sp>
      <p:sp>
        <p:nvSpPr>
          <p:cNvPr id="15" name="pt83|deco|"/>
          <p:cNvSpPr/>
          <p:nvPr/>
        </p:nvSpPr>
        <p:spPr>
          <a:xfrm>
            <a:off x="1554480" y="2554833"/>
            <a:ext cx="237744" cy="237744"/>
          </a:xfrm>
          <a:prstGeom prst="ellipse">
            <a:avLst/>
          </a:prstGeom>
          <a:solidFill>
            <a:srgbClr val="374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t83|body|"/>
          <p:cNvSpPr txBox="1"/>
          <p:nvPr/>
        </p:nvSpPr>
        <p:spPr>
          <a:xfrm>
            <a:off x="1874520" y="2435961"/>
            <a:ext cx="2103120" cy="475488"/>
          </a:xfrm>
          <a:prstGeom prst="rect">
            <a:avLst/>
          </a:prstGeom>
          <a:noFill/>
        </p:spPr>
        <p:txBody>
          <a:bodyPr wrap="square" lIns="0" rIns="0" tIns="0" bIns="0" anchor="ctr">
            <a:noAutofit/>
          </a:bodyPr>
          <a:lstStyle/>
          <a:p>
            <a:pPr algn="l"/>
            <a:r>
              <a:rPr sz="1400" b="0">
                <a:solidFill>
                  <a:srgbClr val="20242B"/>
                </a:solidFill>
                <a:latin typeface="Inter"/>
              </a:rPr>
              <a:t>Local agencies</a:t>
            </a:r>
          </a:p>
        </p:txBody>
      </p:sp>
      <p:sp>
        <p:nvSpPr>
          <p:cNvPr id="17" name="fm84|deco|"/>
          <p:cNvSpPr/>
          <p:nvPr/>
        </p:nvSpPr>
        <p:spPr>
          <a:xfrm>
            <a:off x="4657953" y="2203703"/>
            <a:ext cx="402336" cy="402336"/>
          </a:xfrm>
          <a:prstGeom prst="ellipse">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fm84|body|"/>
          <p:cNvSpPr txBox="1"/>
          <p:nvPr/>
        </p:nvSpPr>
        <p:spPr>
          <a:xfrm>
            <a:off x="4356201" y="2679191"/>
            <a:ext cx="1691640" cy="365760"/>
          </a:xfrm>
          <a:prstGeom prst="rect">
            <a:avLst/>
          </a:prstGeom>
          <a:noFill/>
        </p:spPr>
        <p:txBody>
          <a:bodyPr wrap="square" lIns="0" rIns="0" tIns="0" bIns="0" anchor="t">
            <a:noAutofit/>
          </a:bodyPr>
          <a:lstStyle/>
          <a:p>
            <a:pPr algn="ctr"/>
            <a:r>
              <a:rPr sz="1700" b="1">
                <a:solidFill>
                  <a:srgbClr val="C24E00"/>
                </a:solidFill>
                <a:latin typeface="Poppins"/>
              </a:rPr>
              <a:t>FluxMuse</a:t>
            </a:r>
          </a:p>
        </p:txBody>
      </p:sp>
      <p:sp>
        <p:nvSpPr>
          <p:cNvPr id="19" name="cat85|card|"/>
          <p:cNvSpPr/>
          <p:nvPr/>
        </p:nvSpPr>
        <p:spPr>
          <a:xfrm>
            <a:off x="6172200" y="1481328"/>
            <a:ext cx="5468112" cy="1060704"/>
          </a:xfrm>
          <a:prstGeom prst="roundRect">
            <a:avLst>
              <a:gd name="adj" fmla="val 13793"/>
            </a:avLst>
          </a:prstGeom>
          <a:solidFill>
            <a:srgbClr val="FFFFFF"/>
          </a:solidFill>
          <a:ln w="1587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cat85|card|"/>
          <p:cNvSpPr txBox="1"/>
          <p:nvPr/>
        </p:nvSpPr>
        <p:spPr>
          <a:xfrm>
            <a:off x="6446520" y="1591056"/>
            <a:ext cx="4919472" cy="329184"/>
          </a:xfrm>
          <a:prstGeom prst="rect">
            <a:avLst/>
          </a:prstGeom>
          <a:noFill/>
        </p:spPr>
        <p:txBody>
          <a:bodyPr wrap="square" lIns="0" rIns="0" tIns="0" bIns="0" anchor="t">
            <a:noAutofit/>
          </a:bodyPr>
          <a:lstStyle/>
          <a:p>
            <a:pPr algn="l"/>
            <a:r>
              <a:rPr sz="1600" b="1">
                <a:solidFill>
                  <a:srgbClr val="20242B"/>
                </a:solidFill>
                <a:latin typeface="Poppins"/>
              </a:rPr>
              <a:t>Global social media tools</a:t>
            </a:r>
          </a:p>
        </p:txBody>
      </p:sp>
      <p:sp>
        <p:nvSpPr>
          <p:cNvPr id="21" name="cat85|card|"/>
          <p:cNvSpPr txBox="1"/>
          <p:nvPr/>
        </p:nvSpPr>
        <p:spPr>
          <a:xfrm>
            <a:off x="6446520" y="1938528"/>
            <a:ext cx="4919472" cy="530352"/>
          </a:xfrm>
          <a:prstGeom prst="rect">
            <a:avLst/>
          </a:prstGeom>
          <a:noFill/>
        </p:spPr>
        <p:txBody>
          <a:bodyPr wrap="square" lIns="0" rIns="0" tIns="0" bIns="0" anchor="t">
            <a:noAutofit/>
          </a:bodyPr>
          <a:lstStyle/>
          <a:p>
            <a:pPr algn="l"/>
            <a:r>
              <a:rPr sz="1400" b="0">
                <a:solidFill>
                  <a:srgbClr val="37474F"/>
                </a:solidFill>
                <a:latin typeface="Inter"/>
              </a:rPr>
              <a:t>Strong at publishing and analytics. FluxMuse adds selling and getting paid in chat, priced locally.</a:t>
            </a:r>
          </a:p>
        </p:txBody>
      </p:sp>
      <p:sp>
        <p:nvSpPr>
          <p:cNvPr id="22" name="cat86|card|"/>
          <p:cNvSpPr/>
          <p:nvPr/>
        </p:nvSpPr>
        <p:spPr>
          <a:xfrm>
            <a:off x="6172200" y="2651760"/>
            <a:ext cx="5468112" cy="1060704"/>
          </a:xfrm>
          <a:prstGeom prst="roundRect">
            <a:avLst>
              <a:gd name="adj" fmla="val 13793"/>
            </a:avLst>
          </a:prstGeom>
          <a:solidFill>
            <a:srgbClr val="FFFFFF"/>
          </a:solidFill>
          <a:ln w="1587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cat86|card|"/>
          <p:cNvSpPr txBox="1"/>
          <p:nvPr/>
        </p:nvSpPr>
        <p:spPr>
          <a:xfrm>
            <a:off x="6446520" y="2761488"/>
            <a:ext cx="4919472" cy="329184"/>
          </a:xfrm>
          <a:prstGeom prst="rect">
            <a:avLst/>
          </a:prstGeom>
          <a:noFill/>
        </p:spPr>
        <p:txBody>
          <a:bodyPr wrap="square" lIns="0" rIns="0" tIns="0" bIns="0" anchor="t">
            <a:noAutofit/>
          </a:bodyPr>
          <a:lstStyle/>
          <a:p>
            <a:pPr algn="l"/>
            <a:r>
              <a:rPr sz="1600" b="1">
                <a:solidFill>
                  <a:srgbClr val="20242B"/>
                </a:solidFill>
                <a:latin typeface="Poppins"/>
              </a:rPr>
              <a:t>WhatsApp BSPs &amp; chatbot vendors</a:t>
            </a:r>
          </a:p>
        </p:txBody>
      </p:sp>
      <p:sp>
        <p:nvSpPr>
          <p:cNvPr id="24" name="cat86|card|"/>
          <p:cNvSpPr txBox="1"/>
          <p:nvPr/>
        </p:nvSpPr>
        <p:spPr>
          <a:xfrm>
            <a:off x="6446520" y="3108960"/>
            <a:ext cx="4919472" cy="530352"/>
          </a:xfrm>
          <a:prstGeom prst="rect">
            <a:avLst/>
          </a:prstGeom>
          <a:noFill/>
        </p:spPr>
        <p:txBody>
          <a:bodyPr wrap="square" lIns="0" rIns="0" tIns="0" bIns="0" anchor="t">
            <a:noAutofit/>
          </a:bodyPr>
          <a:lstStyle/>
          <a:p>
            <a:pPr algn="l"/>
            <a:r>
              <a:rPr sz="1400" b="0">
                <a:solidFill>
                  <a:srgbClr val="37474F"/>
                </a:solidFill>
                <a:latin typeface="Inter"/>
              </a:rPr>
              <a:t>Strong at messaging infrastructure. FluxMuse adds the AI team that plans and creates the marketing.</a:t>
            </a:r>
          </a:p>
        </p:txBody>
      </p:sp>
      <p:sp>
        <p:nvSpPr>
          <p:cNvPr id="25" name="cat87|card|"/>
          <p:cNvSpPr/>
          <p:nvPr/>
        </p:nvSpPr>
        <p:spPr>
          <a:xfrm>
            <a:off x="6172200" y="3822191"/>
            <a:ext cx="5468112" cy="1060704"/>
          </a:xfrm>
          <a:prstGeom prst="roundRect">
            <a:avLst>
              <a:gd name="adj" fmla="val 13793"/>
            </a:avLst>
          </a:prstGeom>
          <a:solidFill>
            <a:srgbClr val="FFFFFF"/>
          </a:solidFill>
          <a:ln w="1587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cat87|card|"/>
          <p:cNvSpPr txBox="1"/>
          <p:nvPr/>
        </p:nvSpPr>
        <p:spPr>
          <a:xfrm>
            <a:off x="6446520" y="3931920"/>
            <a:ext cx="4919472" cy="329184"/>
          </a:xfrm>
          <a:prstGeom prst="rect">
            <a:avLst/>
          </a:prstGeom>
          <a:noFill/>
        </p:spPr>
        <p:txBody>
          <a:bodyPr wrap="square" lIns="0" rIns="0" tIns="0" bIns="0" anchor="t">
            <a:noAutofit/>
          </a:bodyPr>
          <a:lstStyle/>
          <a:p>
            <a:pPr algn="l"/>
            <a:r>
              <a:rPr sz="1600" b="1">
                <a:solidFill>
                  <a:srgbClr val="20242B"/>
                </a:solidFill>
                <a:latin typeface="Poppins"/>
              </a:rPr>
              <a:t>E-commerce platforms</a:t>
            </a:r>
          </a:p>
        </p:txBody>
      </p:sp>
      <p:sp>
        <p:nvSpPr>
          <p:cNvPr id="27" name="cat87|card|"/>
          <p:cNvSpPr txBox="1"/>
          <p:nvPr/>
        </p:nvSpPr>
        <p:spPr>
          <a:xfrm>
            <a:off x="6446520" y="4279392"/>
            <a:ext cx="4919472" cy="530352"/>
          </a:xfrm>
          <a:prstGeom prst="rect">
            <a:avLst/>
          </a:prstGeom>
          <a:noFill/>
        </p:spPr>
        <p:txBody>
          <a:bodyPr wrap="square" lIns="0" rIns="0" tIns="0" bIns="0" anchor="t">
            <a:noAutofit/>
          </a:bodyPr>
          <a:lstStyle/>
          <a:p>
            <a:pPr algn="l"/>
            <a:r>
              <a:rPr sz="1400" b="0">
                <a:solidFill>
                  <a:srgbClr val="37474F"/>
                </a:solidFill>
                <a:latin typeface="Inter"/>
              </a:rPr>
              <a:t>Strong at storefronts and catalogs. FluxMuse brings the sale into the chat, on local rails.</a:t>
            </a:r>
          </a:p>
        </p:txBody>
      </p:sp>
      <p:sp>
        <p:nvSpPr>
          <p:cNvPr id="28" name="cat88|card|"/>
          <p:cNvSpPr/>
          <p:nvPr/>
        </p:nvSpPr>
        <p:spPr>
          <a:xfrm>
            <a:off x="6172200" y="4992624"/>
            <a:ext cx="5468112" cy="1060704"/>
          </a:xfrm>
          <a:prstGeom prst="roundRect">
            <a:avLst>
              <a:gd name="adj" fmla="val 13793"/>
            </a:avLst>
          </a:prstGeom>
          <a:solidFill>
            <a:srgbClr val="FFFFFF"/>
          </a:solidFill>
          <a:ln w="1587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cat88|card|"/>
          <p:cNvSpPr txBox="1"/>
          <p:nvPr/>
        </p:nvSpPr>
        <p:spPr>
          <a:xfrm>
            <a:off x="6446520" y="5102352"/>
            <a:ext cx="4919472" cy="329184"/>
          </a:xfrm>
          <a:prstGeom prst="rect">
            <a:avLst/>
          </a:prstGeom>
          <a:noFill/>
        </p:spPr>
        <p:txBody>
          <a:bodyPr wrap="square" lIns="0" rIns="0" tIns="0" bIns="0" anchor="t">
            <a:noAutofit/>
          </a:bodyPr>
          <a:lstStyle/>
          <a:p>
            <a:pPr algn="l"/>
            <a:r>
              <a:rPr sz="1600" b="1">
                <a:solidFill>
                  <a:srgbClr val="20242B"/>
                </a:solidFill>
                <a:latin typeface="Poppins"/>
              </a:rPr>
              <a:t>Local agencies</a:t>
            </a:r>
          </a:p>
        </p:txBody>
      </p:sp>
      <p:sp>
        <p:nvSpPr>
          <p:cNvPr id="30" name="cat88|card|"/>
          <p:cNvSpPr txBox="1"/>
          <p:nvPr/>
        </p:nvSpPr>
        <p:spPr>
          <a:xfrm>
            <a:off x="6446520" y="5449824"/>
            <a:ext cx="4919472" cy="530352"/>
          </a:xfrm>
          <a:prstGeom prst="rect">
            <a:avLst/>
          </a:prstGeom>
          <a:noFill/>
        </p:spPr>
        <p:txBody>
          <a:bodyPr wrap="square" lIns="0" rIns="0" tIns="0" bIns="0" anchor="t">
            <a:noAutofit/>
          </a:bodyPr>
          <a:lstStyle/>
          <a:p>
            <a:pPr algn="l"/>
            <a:r>
              <a:rPr sz="1400" b="0">
                <a:solidFill>
                  <a:srgbClr val="37474F"/>
                </a:solidFill>
                <a:latin typeface="Inter"/>
              </a:rPr>
              <a:t>Local knowledge and service. FluxMuse makes them partners, white-label at R5,599/mo wholesale.</a:t>
            </a:r>
          </a:p>
        </p:txBody>
      </p:sp>
      <p:sp>
        <p:nvSpPr>
          <p:cNvPr id="31"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Confidential</a:t>
            </a:r>
          </a:p>
        </p:txBody>
      </p:sp>
      <p:sp>
        <p:nvSpPr>
          <p:cNvPr id="32"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10</a:t>
            </a:fld>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89|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UNIT ECONOMICS · FY3 · PROJECTION (MODEL V2, BASE CASE)</a:t>
            </a:r>
          </a:p>
        </p:txBody>
      </p:sp>
      <p:sp>
        <p:nvSpPr>
          <p:cNvPr id="3" name="hdr89|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Blended LTV:CAC 5.6x, payback 3.8 months</a:t>
            </a:r>
          </a:p>
        </p:txBody>
      </p:sp>
      <p:pic>
        <p:nvPicPr>
          <p:cNvPr id="4" name="g90|img|charts/unit_economics_16x9.png" descr="LTV and CAC by segment in FY3: Solo, SMEs, Agencies, Enterprise"/>
          <p:cNvPicPr>
            <a:picLocks noChangeAspect="1"/>
          </p:cNvPicPr>
          <p:nvPr/>
        </p:nvPicPr>
        <p:blipFill>
          <a:blip r:embed="rId2"/>
          <a:srcRect t="14500" b="5000"/>
          <a:stretch>
            <a:fillRect/>
          </a:stretch>
        </p:blipFill>
        <p:spPr>
          <a:xfrm>
            <a:off x="548639" y="1481328"/>
            <a:ext cx="7223760" cy="3271008"/>
          </a:xfrm>
          <a:prstGeom prst="rect">
            <a:avLst/>
          </a:prstGeom>
        </p:spPr>
      </p:pic>
      <p:sp>
        <p:nvSpPr>
          <p:cNvPr id="5" name="solo91|card|"/>
          <p:cNvSpPr/>
          <p:nvPr/>
        </p:nvSpPr>
        <p:spPr>
          <a:xfrm>
            <a:off x="548640" y="4956048"/>
            <a:ext cx="7223760" cy="1143000"/>
          </a:xfrm>
          <a:prstGeom prst="roundRect">
            <a:avLst>
              <a:gd name="adj" fmla="val 128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olo91|card|"/>
          <p:cNvSpPr txBox="1"/>
          <p:nvPr/>
        </p:nvSpPr>
        <p:spPr>
          <a:xfrm>
            <a:off x="822959" y="5029200"/>
            <a:ext cx="6675120" cy="1005840"/>
          </a:xfrm>
          <a:prstGeom prst="rect">
            <a:avLst/>
          </a:prstGeom>
          <a:noFill/>
        </p:spPr>
        <p:txBody>
          <a:bodyPr wrap="square" lIns="0" rIns="0" tIns="0" bIns="0" anchor="ctr">
            <a:noAutofit/>
          </a:bodyPr>
          <a:lstStyle/>
          <a:p>
            <a:pPr algn="l"/>
            <a:r>
              <a:rPr sz="1400" b="0">
                <a:solidFill>
                  <a:srgbClr val="20242B"/>
                </a:solidFill>
                <a:latin typeface="Inter"/>
              </a:rPr>
              <a:t>Solo is the thinnest segment (3.0x LTV:CAC, 6.3% monthly churn), so its conversion and churn are the first inputs we replace with pilot data. SMEs (12.8x) and agencies (6.0x) carry the blend.</a:t>
            </a:r>
          </a:p>
        </p:txBody>
      </p:sp>
      <p:sp>
        <p:nvSpPr>
          <p:cNvPr id="7" name="tile92|card|"/>
          <p:cNvSpPr/>
          <p:nvPr/>
        </p:nvSpPr>
        <p:spPr>
          <a:xfrm>
            <a:off x="8092440" y="1481328"/>
            <a:ext cx="1682495" cy="1152144"/>
          </a:xfrm>
          <a:prstGeom prst="roundRect">
            <a:avLst>
              <a:gd name="adj" fmla="val 12698"/>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ile92|card|"/>
          <p:cNvSpPr txBox="1"/>
          <p:nvPr/>
        </p:nvSpPr>
        <p:spPr>
          <a:xfrm>
            <a:off x="8293608" y="1609344"/>
            <a:ext cx="1280160" cy="475488"/>
          </a:xfrm>
          <a:prstGeom prst="rect">
            <a:avLst/>
          </a:prstGeom>
          <a:noFill/>
        </p:spPr>
        <p:txBody>
          <a:bodyPr wrap="square" lIns="0" rIns="0" tIns="0" bIns="0" anchor="t">
            <a:noAutofit/>
          </a:bodyPr>
          <a:lstStyle/>
          <a:p>
            <a:pPr algn="l"/>
            <a:r>
              <a:rPr sz="2200" b="1">
                <a:solidFill>
                  <a:srgbClr val="C24E00"/>
                </a:solidFill>
                <a:latin typeface="Poppins"/>
              </a:rPr>
              <a:t>R31,572</a:t>
            </a:r>
          </a:p>
        </p:txBody>
      </p:sp>
      <p:sp>
        <p:nvSpPr>
          <p:cNvPr id="9" name="tile92|card|"/>
          <p:cNvSpPr txBox="1"/>
          <p:nvPr/>
        </p:nvSpPr>
        <p:spPr>
          <a:xfrm>
            <a:off x="8293608" y="2121408"/>
            <a:ext cx="1280160" cy="457200"/>
          </a:xfrm>
          <a:prstGeom prst="rect">
            <a:avLst/>
          </a:prstGeom>
          <a:noFill/>
        </p:spPr>
        <p:txBody>
          <a:bodyPr wrap="square" lIns="0" rIns="0" tIns="0" bIns="0" anchor="t">
            <a:noAutofit/>
          </a:bodyPr>
          <a:lstStyle/>
          <a:p>
            <a:pPr algn="l"/>
            <a:r>
              <a:rPr sz="1400" b="0">
                <a:solidFill>
                  <a:srgbClr val="20242B"/>
                </a:solidFill>
                <a:latin typeface="Inter"/>
              </a:rPr>
              <a:t>Blended LTV</a:t>
            </a:r>
          </a:p>
        </p:txBody>
      </p:sp>
      <p:sp>
        <p:nvSpPr>
          <p:cNvPr id="10" name="tile93|card|"/>
          <p:cNvSpPr/>
          <p:nvPr/>
        </p:nvSpPr>
        <p:spPr>
          <a:xfrm>
            <a:off x="9957816" y="1481328"/>
            <a:ext cx="1682495" cy="1152144"/>
          </a:xfrm>
          <a:prstGeom prst="roundRect">
            <a:avLst>
              <a:gd name="adj" fmla="val 12698"/>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ile93|card|"/>
          <p:cNvSpPr txBox="1"/>
          <p:nvPr/>
        </p:nvSpPr>
        <p:spPr>
          <a:xfrm>
            <a:off x="10158984" y="1609344"/>
            <a:ext cx="1280160" cy="475488"/>
          </a:xfrm>
          <a:prstGeom prst="rect">
            <a:avLst/>
          </a:prstGeom>
          <a:noFill/>
        </p:spPr>
        <p:txBody>
          <a:bodyPr wrap="square" lIns="0" rIns="0" tIns="0" bIns="0" anchor="t">
            <a:noAutofit/>
          </a:bodyPr>
          <a:lstStyle/>
          <a:p>
            <a:pPr algn="l"/>
            <a:r>
              <a:rPr sz="2200" b="1">
                <a:solidFill>
                  <a:srgbClr val="C24E00"/>
                </a:solidFill>
                <a:latin typeface="Poppins"/>
              </a:rPr>
              <a:t>R5,604</a:t>
            </a:r>
          </a:p>
        </p:txBody>
      </p:sp>
      <p:sp>
        <p:nvSpPr>
          <p:cNvPr id="12" name="tile93|card|"/>
          <p:cNvSpPr txBox="1"/>
          <p:nvPr/>
        </p:nvSpPr>
        <p:spPr>
          <a:xfrm>
            <a:off x="10158984" y="2121408"/>
            <a:ext cx="1280160" cy="457200"/>
          </a:xfrm>
          <a:prstGeom prst="rect">
            <a:avLst/>
          </a:prstGeom>
          <a:noFill/>
        </p:spPr>
        <p:txBody>
          <a:bodyPr wrap="square" lIns="0" rIns="0" tIns="0" bIns="0" anchor="t">
            <a:noAutofit/>
          </a:bodyPr>
          <a:lstStyle/>
          <a:p>
            <a:pPr algn="l"/>
            <a:r>
              <a:rPr sz="1400" b="0">
                <a:solidFill>
                  <a:srgbClr val="20242B"/>
                </a:solidFill>
                <a:latin typeface="Inter"/>
              </a:rPr>
              <a:t>Blended CAC</a:t>
            </a:r>
          </a:p>
        </p:txBody>
      </p:sp>
      <p:sp>
        <p:nvSpPr>
          <p:cNvPr id="13" name="tile94|card|"/>
          <p:cNvSpPr/>
          <p:nvPr/>
        </p:nvSpPr>
        <p:spPr>
          <a:xfrm>
            <a:off x="8092440" y="2779776"/>
            <a:ext cx="1682495" cy="1152144"/>
          </a:xfrm>
          <a:prstGeom prst="roundRect">
            <a:avLst>
              <a:gd name="adj" fmla="val 12698"/>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ile94|card|"/>
          <p:cNvSpPr txBox="1"/>
          <p:nvPr/>
        </p:nvSpPr>
        <p:spPr>
          <a:xfrm>
            <a:off x="8293608" y="2907792"/>
            <a:ext cx="1280160" cy="475488"/>
          </a:xfrm>
          <a:prstGeom prst="rect">
            <a:avLst/>
          </a:prstGeom>
          <a:noFill/>
        </p:spPr>
        <p:txBody>
          <a:bodyPr wrap="square" lIns="0" rIns="0" tIns="0" bIns="0" anchor="t">
            <a:noAutofit/>
          </a:bodyPr>
          <a:lstStyle/>
          <a:p>
            <a:pPr algn="l"/>
            <a:r>
              <a:rPr sz="2200" b="1">
                <a:solidFill>
                  <a:srgbClr val="C24E00"/>
                </a:solidFill>
                <a:latin typeface="Poppins"/>
              </a:rPr>
              <a:t>5.6x</a:t>
            </a:r>
          </a:p>
        </p:txBody>
      </p:sp>
      <p:sp>
        <p:nvSpPr>
          <p:cNvPr id="15" name="tile94|card|"/>
          <p:cNvSpPr txBox="1"/>
          <p:nvPr/>
        </p:nvSpPr>
        <p:spPr>
          <a:xfrm>
            <a:off x="8293608" y="3419856"/>
            <a:ext cx="1280160" cy="457200"/>
          </a:xfrm>
          <a:prstGeom prst="rect">
            <a:avLst/>
          </a:prstGeom>
          <a:noFill/>
        </p:spPr>
        <p:txBody>
          <a:bodyPr wrap="square" lIns="0" rIns="0" tIns="0" bIns="0" anchor="t">
            <a:noAutofit/>
          </a:bodyPr>
          <a:lstStyle/>
          <a:p>
            <a:pPr algn="l"/>
            <a:r>
              <a:rPr sz="1400" b="0">
                <a:solidFill>
                  <a:srgbClr val="20242B"/>
                </a:solidFill>
                <a:latin typeface="Inter"/>
              </a:rPr>
              <a:t>LTV:CAC</a:t>
            </a:r>
          </a:p>
        </p:txBody>
      </p:sp>
      <p:sp>
        <p:nvSpPr>
          <p:cNvPr id="16" name="tile95|card|"/>
          <p:cNvSpPr/>
          <p:nvPr/>
        </p:nvSpPr>
        <p:spPr>
          <a:xfrm>
            <a:off x="9957816" y="2779776"/>
            <a:ext cx="1682495" cy="1152144"/>
          </a:xfrm>
          <a:prstGeom prst="roundRect">
            <a:avLst>
              <a:gd name="adj" fmla="val 12698"/>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ile95|card|"/>
          <p:cNvSpPr txBox="1"/>
          <p:nvPr/>
        </p:nvSpPr>
        <p:spPr>
          <a:xfrm>
            <a:off x="10158984" y="2907792"/>
            <a:ext cx="1280160" cy="475488"/>
          </a:xfrm>
          <a:prstGeom prst="rect">
            <a:avLst/>
          </a:prstGeom>
          <a:noFill/>
        </p:spPr>
        <p:txBody>
          <a:bodyPr wrap="square" lIns="0" rIns="0" tIns="0" bIns="0" anchor="t">
            <a:noAutofit/>
          </a:bodyPr>
          <a:lstStyle/>
          <a:p>
            <a:pPr algn="l"/>
            <a:r>
              <a:rPr sz="2200" b="1">
                <a:solidFill>
                  <a:srgbClr val="C24E00"/>
                </a:solidFill>
                <a:latin typeface="Poppins"/>
              </a:rPr>
              <a:t>3.8 mo</a:t>
            </a:r>
          </a:p>
        </p:txBody>
      </p:sp>
      <p:sp>
        <p:nvSpPr>
          <p:cNvPr id="18" name="tile95|card|"/>
          <p:cNvSpPr txBox="1"/>
          <p:nvPr/>
        </p:nvSpPr>
        <p:spPr>
          <a:xfrm>
            <a:off x="10158984" y="3419856"/>
            <a:ext cx="1280160" cy="457200"/>
          </a:xfrm>
          <a:prstGeom prst="rect">
            <a:avLst/>
          </a:prstGeom>
          <a:noFill/>
        </p:spPr>
        <p:txBody>
          <a:bodyPr wrap="square" lIns="0" rIns="0" tIns="0" bIns="0" anchor="t">
            <a:noAutofit/>
          </a:bodyPr>
          <a:lstStyle/>
          <a:p>
            <a:pPr algn="l"/>
            <a:r>
              <a:rPr sz="1400" b="0">
                <a:solidFill>
                  <a:srgbClr val="20242B"/>
                </a:solidFill>
                <a:latin typeface="Inter"/>
              </a:rPr>
              <a:t>CAC payback</a:t>
            </a:r>
          </a:p>
        </p:txBody>
      </p:sp>
      <p:graphicFrame>
        <p:nvGraphicFramePr>
          <p:cNvPr id="19" name="g96|table|ue-trend"/>
          <p:cNvGraphicFramePr>
            <a:graphicFrameLocks noGrp="1"/>
          </p:cNvGraphicFramePr>
          <p:nvPr/>
        </p:nvGraphicFramePr>
        <p:xfrm>
          <a:off x="8092440" y="4224528"/>
          <a:ext cx="3547872" cy="1828800"/>
        </p:xfrm>
        <a:graphic>
          <a:graphicData uri="http://schemas.openxmlformats.org/drawingml/2006/table">
            <a:tbl>
              <a:tblPr firstRow="0" bandRow="0"/>
              <a:tblGrid>
                <a:gridCol w="1463040"/>
                <a:gridCol w="694944"/>
                <a:gridCol w="694944"/>
                <a:gridCol w="694944"/>
              </a:tblGrid>
              <a:tr h="457200">
                <a:tc>
                  <a:txBody>
                    <a:bodyPr wrap="square"/>
                    <a:lstStyle/>
                    <a:p>
                      <a:pPr algn="l"/>
                      <a:r>
                        <a:rPr sz="1400" b="1">
                          <a:solidFill>
                            <a:srgbClr val="FFFFFF"/>
                          </a:solidFill>
                          <a:latin typeface="Poppins"/>
                        </a:rPr>
                        <a:t>Blended</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FY1</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FY3</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FY5</a:t>
                      </a:r>
                    </a:p>
                  </a:txBody>
                  <a:tcPr marL="109728" marR="109728" marT="36576" marB="36576" anchor="ctr">
                    <a:lnL w="0">
                      <a:noFill/>
                    </a:lnL>
                    <a:lnR w="0">
                      <a:noFill/>
                    </a:lnR>
                    <a:lnT w="0">
                      <a:noFill/>
                    </a:lnT>
                    <a:lnB w="0">
                      <a:noFill/>
                    </a:lnB>
                    <a:solidFill>
                      <a:srgbClr val="0F1419"/>
                    </a:solidFill>
                  </a:tcPr>
                </a:tc>
              </a:tr>
              <a:tr h="457200">
                <a:tc>
                  <a:txBody>
                    <a:bodyPr wrap="square"/>
                    <a:lstStyle/>
                    <a:p>
                      <a:pPr algn="l"/>
                      <a:r>
                        <a:rPr sz="1400" b="1">
                          <a:solidFill>
                            <a:srgbClr val="20242B"/>
                          </a:solidFill>
                          <a:latin typeface="Inter"/>
                        </a:rPr>
                        <a:t>LTV:CAC</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2.8x</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5.6x</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6.3x</a:t>
                      </a:r>
                    </a:p>
                  </a:txBody>
                  <a:tcPr marL="109728" marR="109728" marT="36576" marB="36576" anchor="ctr">
                    <a:lnL w="0">
                      <a:noFill/>
                    </a:lnL>
                    <a:lnR w="0">
                      <a:noFill/>
                    </a:lnR>
                    <a:lnT w="0">
                      <a:noFill/>
                    </a:lnT>
                    <a:lnB w="12700">
                      <a:solidFill>
                        <a:srgbClr val="E3E6EA"/>
                      </a:solidFill>
                    </a:lnB>
                    <a:solidFill>
                      <a:srgbClr val="FFFFFF"/>
                    </a:solidFill>
                  </a:tcPr>
                </a:tc>
              </a:tr>
              <a:tr h="457200">
                <a:tc>
                  <a:txBody>
                    <a:bodyPr wrap="square"/>
                    <a:lstStyle/>
                    <a:p>
                      <a:pPr algn="l"/>
                      <a:r>
                        <a:rPr sz="1400" b="1">
                          <a:solidFill>
                            <a:srgbClr val="20242B"/>
                          </a:solidFill>
                          <a:latin typeface="Inter"/>
                        </a:rPr>
                        <a:t>Payback (mo)</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7.8</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3.8</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3.6</a:t>
                      </a:r>
                    </a:p>
                  </a:txBody>
                  <a:tcPr marL="109728" marR="109728" marT="36576" marB="36576" anchor="ctr">
                    <a:lnL w="0">
                      <a:noFill/>
                    </a:lnL>
                    <a:lnR w="0">
                      <a:noFill/>
                    </a:lnR>
                    <a:lnT w="0">
                      <a:noFill/>
                    </a:lnT>
                    <a:lnB w="12700">
                      <a:solidFill>
                        <a:srgbClr val="E3E6EA"/>
                      </a:solidFill>
                    </a:lnB>
                    <a:solidFill>
                      <a:srgbClr val="FFFFFF"/>
                    </a:solidFill>
                  </a:tcPr>
                </a:tc>
              </a:tr>
              <a:tr h="457200">
                <a:tc>
                  <a:txBody>
                    <a:bodyPr wrap="square"/>
                    <a:lstStyle/>
                    <a:p>
                      <a:pPr algn="l"/>
                      <a:r>
                        <a:rPr sz="1400" b="1">
                          <a:solidFill>
                            <a:srgbClr val="20242B"/>
                          </a:solidFill>
                          <a:latin typeface="Inter"/>
                        </a:rPr>
                        <a:t>Software GM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50%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77%</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81%</a:t>
                      </a:r>
                    </a:p>
                  </a:txBody>
                  <a:tcPr marL="109728" marR="109728" marT="36576" marB="36576" anchor="ctr">
                    <a:lnL w="0">
                      <a:noFill/>
                    </a:lnL>
                    <a:lnR w="0">
                      <a:noFill/>
                    </a:lnR>
                    <a:lnT w="0">
                      <a:noFill/>
                    </a:lnT>
                    <a:lnB w="12700">
                      <a:solidFill>
                        <a:srgbClr val="E3E6EA"/>
                      </a:solidFill>
                    </a:lnB>
                    <a:solidFill>
                      <a:srgbClr val="FFFFFF"/>
                    </a:solidFill>
                  </a:tcPr>
                </a:tc>
              </a:tr>
            </a:tbl>
          </a:graphicData>
        </a:graphic>
      </p:graphicFrame>
      <p:sp>
        <p:nvSpPr>
          <p:cNvPr id="20" name="g97|caption|"/>
          <p:cNvSpPr txBox="1"/>
          <p:nvPr/>
        </p:nvSpPr>
        <p:spPr>
          <a:xfrm>
            <a:off x="8092440" y="6108192"/>
            <a:ext cx="3547872" cy="274320"/>
          </a:xfrm>
          <a:prstGeom prst="rect">
            <a:avLst/>
          </a:prstGeom>
          <a:noFill/>
        </p:spPr>
        <p:txBody>
          <a:bodyPr wrap="square" lIns="0" rIns="0" tIns="0" bIns="0" anchor="t">
            <a:noAutofit/>
          </a:bodyPr>
          <a:lstStyle/>
          <a:p>
            <a:pPr algn="l"/>
            <a:r>
              <a:rPr sz="1100" b="0">
                <a:solidFill>
                  <a:srgbClr val="5B6670"/>
                </a:solidFill>
                <a:latin typeface="Inter"/>
              </a:rPr>
              <a:t>LTV = ARPA × software GM (76.8%) ÷ churn</a:t>
            </a:r>
          </a:p>
        </p:txBody>
      </p:sp>
      <p:sp>
        <p:nvSpPr>
          <p:cNvPr id="21"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Confidential</a:t>
            </a:r>
          </a:p>
        </p:txBody>
      </p:sp>
      <p:sp>
        <p:nvSpPr>
          <p:cNvPr id="22"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11</a:t>
            </a:fld>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98|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FINANCIAL PROJECTIONS · PROJECTION (MODEL V2, BASE CASE)</a:t>
            </a:r>
          </a:p>
        </p:txBody>
      </p:sp>
      <p:sp>
        <p:nvSpPr>
          <p:cNvPr id="3" name="hdr98|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FY5: R238.0M revenue, 27.9% EBITDA margin</a:t>
            </a:r>
          </a:p>
        </p:txBody>
      </p:sp>
      <p:pic>
        <p:nvPicPr>
          <p:cNvPr id="4" name="g99|img|charts/revenue_by_stream_fy1_fy5_16x9.png" descr="Revenue by stream FY1 to FY5, base case"/>
          <p:cNvPicPr>
            <a:picLocks noChangeAspect="1"/>
          </p:cNvPicPr>
          <p:nvPr/>
        </p:nvPicPr>
        <p:blipFill>
          <a:blip r:embed="rId2"/>
          <a:srcRect t="14500" b="5000"/>
          <a:stretch>
            <a:fillRect/>
          </a:stretch>
        </p:blipFill>
        <p:spPr>
          <a:xfrm>
            <a:off x="548640" y="1481328"/>
            <a:ext cx="5669280" cy="2567120"/>
          </a:xfrm>
          <a:prstGeom prst="rect">
            <a:avLst/>
          </a:prstGeom>
        </p:spPr>
      </p:pic>
      <p:sp>
        <p:nvSpPr>
          <p:cNvPr id="5" name="tile100|card|"/>
          <p:cNvSpPr/>
          <p:nvPr/>
        </p:nvSpPr>
        <p:spPr>
          <a:xfrm>
            <a:off x="6446520" y="1481328"/>
            <a:ext cx="1639824" cy="2578608"/>
          </a:xfrm>
          <a:prstGeom prst="roundRect">
            <a:avLst>
              <a:gd name="adj" fmla="val 8921"/>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ile100|card|"/>
          <p:cNvSpPr txBox="1"/>
          <p:nvPr/>
        </p:nvSpPr>
        <p:spPr>
          <a:xfrm>
            <a:off x="6647688" y="1609344"/>
            <a:ext cx="1237488" cy="475488"/>
          </a:xfrm>
          <a:prstGeom prst="rect">
            <a:avLst/>
          </a:prstGeom>
          <a:noFill/>
        </p:spPr>
        <p:txBody>
          <a:bodyPr wrap="square" lIns="0" rIns="0" tIns="0" bIns="0" anchor="t">
            <a:noAutofit/>
          </a:bodyPr>
          <a:lstStyle/>
          <a:p>
            <a:pPr algn="l"/>
            <a:r>
              <a:rPr sz="1900" b="1">
                <a:solidFill>
                  <a:srgbClr val="C24E00"/>
                </a:solidFill>
                <a:latin typeface="Poppins"/>
              </a:rPr>
              <a:t>R238.0M</a:t>
            </a:r>
          </a:p>
        </p:txBody>
      </p:sp>
      <p:sp>
        <p:nvSpPr>
          <p:cNvPr id="7" name="tile100|card|"/>
          <p:cNvSpPr txBox="1"/>
          <p:nvPr/>
        </p:nvSpPr>
        <p:spPr>
          <a:xfrm>
            <a:off x="6647688" y="2121408"/>
            <a:ext cx="1237488" cy="493776"/>
          </a:xfrm>
          <a:prstGeom prst="rect">
            <a:avLst/>
          </a:prstGeom>
          <a:noFill/>
        </p:spPr>
        <p:txBody>
          <a:bodyPr wrap="square" lIns="0" rIns="0" tIns="0" bIns="0" anchor="t">
            <a:noAutofit/>
          </a:bodyPr>
          <a:lstStyle/>
          <a:p>
            <a:pPr algn="l"/>
            <a:r>
              <a:rPr sz="1400" b="0">
                <a:solidFill>
                  <a:srgbClr val="20242B"/>
                </a:solidFill>
                <a:latin typeface="Inter"/>
              </a:rPr>
              <a:t>FY5 revenue</a:t>
            </a:r>
          </a:p>
        </p:txBody>
      </p:sp>
      <p:sp>
        <p:nvSpPr>
          <p:cNvPr id="8" name="tile100|caption|"/>
          <p:cNvSpPr txBox="1"/>
          <p:nvPr/>
        </p:nvSpPr>
        <p:spPr>
          <a:xfrm>
            <a:off x="6647688" y="2670048"/>
            <a:ext cx="1237488" cy="1252728"/>
          </a:xfrm>
          <a:prstGeom prst="rect">
            <a:avLst/>
          </a:prstGeom>
          <a:noFill/>
        </p:spPr>
        <p:txBody>
          <a:bodyPr wrap="square" lIns="0" rIns="0" tIns="0" bIns="0" anchor="t">
            <a:noAutofit/>
          </a:bodyPr>
          <a:lstStyle/>
          <a:p>
            <a:pPr algn="l"/>
            <a:r>
              <a:rPr sz="1200" b="0">
                <a:solidFill>
                  <a:srgbClr val="5B6670"/>
                </a:solidFill>
                <a:latin typeface="Inter"/>
              </a:rPr>
              <a:t>≈US$12.86M</a:t>
            </a:r>
          </a:p>
        </p:txBody>
      </p:sp>
      <p:sp>
        <p:nvSpPr>
          <p:cNvPr id="9" name="tile101|card|"/>
          <p:cNvSpPr/>
          <p:nvPr/>
        </p:nvSpPr>
        <p:spPr>
          <a:xfrm>
            <a:off x="8223503" y="1481328"/>
            <a:ext cx="1639824" cy="2578608"/>
          </a:xfrm>
          <a:prstGeom prst="roundRect">
            <a:avLst>
              <a:gd name="adj" fmla="val 8921"/>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ile101|card|"/>
          <p:cNvSpPr txBox="1"/>
          <p:nvPr/>
        </p:nvSpPr>
        <p:spPr>
          <a:xfrm>
            <a:off x="8424672" y="1609344"/>
            <a:ext cx="1237488" cy="475488"/>
          </a:xfrm>
          <a:prstGeom prst="rect">
            <a:avLst/>
          </a:prstGeom>
          <a:noFill/>
        </p:spPr>
        <p:txBody>
          <a:bodyPr wrap="square" lIns="0" rIns="0" tIns="0" bIns="0" anchor="t">
            <a:noAutofit/>
          </a:bodyPr>
          <a:lstStyle/>
          <a:p>
            <a:pPr algn="l"/>
            <a:r>
              <a:rPr sz="1900" b="1">
                <a:solidFill>
                  <a:srgbClr val="C24E00"/>
                </a:solidFill>
                <a:latin typeface="Poppins"/>
              </a:rPr>
              <a:t>R66.3M</a:t>
            </a:r>
          </a:p>
        </p:txBody>
      </p:sp>
      <p:sp>
        <p:nvSpPr>
          <p:cNvPr id="11" name="tile101|card|"/>
          <p:cNvSpPr txBox="1"/>
          <p:nvPr/>
        </p:nvSpPr>
        <p:spPr>
          <a:xfrm>
            <a:off x="8424672" y="2121408"/>
            <a:ext cx="1237488" cy="493776"/>
          </a:xfrm>
          <a:prstGeom prst="rect">
            <a:avLst/>
          </a:prstGeom>
          <a:noFill/>
        </p:spPr>
        <p:txBody>
          <a:bodyPr wrap="square" lIns="0" rIns="0" tIns="0" bIns="0" anchor="t">
            <a:noAutofit/>
          </a:bodyPr>
          <a:lstStyle/>
          <a:p>
            <a:pPr algn="l"/>
            <a:r>
              <a:rPr sz="1400" b="0">
                <a:solidFill>
                  <a:srgbClr val="20242B"/>
                </a:solidFill>
                <a:latin typeface="Inter"/>
              </a:rPr>
              <a:t>FY5 EBITDA</a:t>
            </a:r>
          </a:p>
        </p:txBody>
      </p:sp>
      <p:sp>
        <p:nvSpPr>
          <p:cNvPr id="12" name="tile101|caption|"/>
          <p:cNvSpPr txBox="1"/>
          <p:nvPr/>
        </p:nvSpPr>
        <p:spPr>
          <a:xfrm>
            <a:off x="8424672" y="2670048"/>
            <a:ext cx="1237488" cy="1252728"/>
          </a:xfrm>
          <a:prstGeom prst="rect">
            <a:avLst/>
          </a:prstGeom>
          <a:noFill/>
        </p:spPr>
        <p:txBody>
          <a:bodyPr wrap="square" lIns="0" rIns="0" tIns="0" bIns="0" anchor="t">
            <a:noAutofit/>
          </a:bodyPr>
          <a:lstStyle/>
          <a:p>
            <a:pPr algn="l"/>
            <a:r>
              <a:rPr sz="1200" b="0">
                <a:solidFill>
                  <a:srgbClr val="5B6670"/>
                </a:solidFill>
                <a:latin typeface="Inter"/>
              </a:rPr>
              <a:t>27.9% margin</a:t>
            </a:r>
          </a:p>
        </p:txBody>
      </p:sp>
      <p:sp>
        <p:nvSpPr>
          <p:cNvPr id="13" name="tile102|card|"/>
          <p:cNvSpPr/>
          <p:nvPr/>
        </p:nvSpPr>
        <p:spPr>
          <a:xfrm>
            <a:off x="10000488" y="1481328"/>
            <a:ext cx="1639824" cy="2578608"/>
          </a:xfrm>
          <a:prstGeom prst="roundRect">
            <a:avLst>
              <a:gd name="adj" fmla="val 8921"/>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ile102|card|"/>
          <p:cNvSpPr txBox="1"/>
          <p:nvPr/>
        </p:nvSpPr>
        <p:spPr>
          <a:xfrm>
            <a:off x="10201656" y="1609344"/>
            <a:ext cx="1237488" cy="475488"/>
          </a:xfrm>
          <a:prstGeom prst="rect">
            <a:avLst/>
          </a:prstGeom>
          <a:noFill/>
        </p:spPr>
        <p:txBody>
          <a:bodyPr wrap="square" lIns="0" rIns="0" tIns="0" bIns="0" anchor="t">
            <a:noAutofit/>
          </a:bodyPr>
          <a:lstStyle/>
          <a:p>
            <a:pPr algn="l"/>
            <a:r>
              <a:rPr sz="1900" b="1">
                <a:solidFill>
                  <a:srgbClr val="C24E00"/>
                </a:solidFill>
                <a:latin typeface="Poppins"/>
              </a:rPr>
              <a:t>8,816</a:t>
            </a:r>
          </a:p>
        </p:txBody>
      </p:sp>
      <p:sp>
        <p:nvSpPr>
          <p:cNvPr id="15" name="tile102|card|"/>
          <p:cNvSpPr txBox="1"/>
          <p:nvPr/>
        </p:nvSpPr>
        <p:spPr>
          <a:xfrm>
            <a:off x="10201656" y="2121408"/>
            <a:ext cx="1237488" cy="493776"/>
          </a:xfrm>
          <a:prstGeom prst="rect">
            <a:avLst/>
          </a:prstGeom>
          <a:noFill/>
        </p:spPr>
        <p:txBody>
          <a:bodyPr wrap="square" lIns="0" rIns="0" tIns="0" bIns="0" anchor="t">
            <a:noAutofit/>
          </a:bodyPr>
          <a:lstStyle/>
          <a:p>
            <a:pPr algn="l"/>
            <a:r>
              <a:rPr sz="1400" b="0">
                <a:solidFill>
                  <a:srgbClr val="20242B"/>
                </a:solidFill>
                <a:latin typeface="Inter"/>
              </a:rPr>
              <a:t>paying workspaces</a:t>
            </a:r>
          </a:p>
        </p:txBody>
      </p:sp>
      <p:sp>
        <p:nvSpPr>
          <p:cNvPr id="16" name="tile102|caption|"/>
          <p:cNvSpPr txBox="1"/>
          <p:nvPr/>
        </p:nvSpPr>
        <p:spPr>
          <a:xfrm>
            <a:off x="10201656" y="2670048"/>
            <a:ext cx="1237488" cy="1252728"/>
          </a:xfrm>
          <a:prstGeom prst="rect">
            <a:avLst/>
          </a:prstGeom>
          <a:noFill/>
        </p:spPr>
        <p:txBody>
          <a:bodyPr wrap="square" lIns="0" rIns="0" tIns="0" bIns="0" anchor="t">
            <a:noAutofit/>
          </a:bodyPr>
          <a:lstStyle/>
          <a:p>
            <a:pPr algn="l"/>
            <a:r>
              <a:rPr sz="1200" b="0">
                <a:solidFill>
                  <a:srgbClr val="5B6670"/>
                </a:solidFill>
                <a:latin typeface="Inter"/>
              </a:rPr>
              <a:t>135 people in FY5</a:t>
            </a:r>
          </a:p>
        </p:txBody>
      </p:sp>
      <p:graphicFrame>
        <p:nvGraphicFramePr>
          <p:cNvPr id="17" name="g103|table|pnl"/>
          <p:cNvGraphicFramePr>
            <a:graphicFrameLocks noGrp="1"/>
          </p:cNvGraphicFramePr>
          <p:nvPr/>
        </p:nvGraphicFramePr>
        <p:xfrm>
          <a:off x="548640" y="4133087"/>
          <a:ext cx="11091672" cy="2231136"/>
        </p:xfrm>
        <a:graphic>
          <a:graphicData uri="http://schemas.openxmlformats.org/drawingml/2006/table">
            <a:tbl>
              <a:tblPr firstRow="0" bandRow="0"/>
              <a:tblGrid>
                <a:gridCol w="2679192"/>
                <a:gridCol w="1682496"/>
                <a:gridCol w="1682496"/>
                <a:gridCol w="1682496"/>
                <a:gridCol w="1682496"/>
                <a:gridCol w="1682496"/>
              </a:tblGrid>
              <a:tr h="365760">
                <a:tc>
                  <a:txBody>
                    <a:bodyPr wrap="square"/>
                    <a:lstStyle/>
                    <a:p>
                      <a:pPr algn="l"/>
                      <a:r>
                        <a:rPr sz="1400" b="1">
                          <a:solidFill>
                            <a:srgbClr val="FFFFFF"/>
                          </a:solidFill>
                          <a:latin typeface="Poppins"/>
                        </a:rPr>
                        <a:t>Base case (FY = Oct–Sep)</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FY1</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FY2</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FY3</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FY4</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FY5</a:t>
                      </a:r>
                    </a:p>
                  </a:txBody>
                  <a:tcPr marL="109728" marR="109728" marT="36576" marB="36576" anchor="ctr">
                    <a:lnL w="0">
                      <a:noFill/>
                    </a:lnL>
                    <a:lnR w="0">
                      <a:noFill/>
                    </a:lnR>
                    <a:lnT w="0">
                      <a:noFill/>
                    </a:lnT>
                    <a:lnB w="0">
                      <a:noFill/>
                    </a:lnB>
                    <a:solidFill>
                      <a:srgbClr val="0F1419"/>
                    </a:solidFill>
                  </a:tcPr>
                </a:tc>
              </a:tr>
              <a:tr h="310896">
                <a:tc>
                  <a:txBody>
                    <a:bodyPr wrap="square"/>
                    <a:lstStyle/>
                    <a:p>
                      <a:pPr algn="l"/>
                      <a:r>
                        <a:rPr sz="1400" b="1">
                          <a:solidFill>
                            <a:srgbClr val="20242B"/>
                          </a:solidFill>
                          <a:latin typeface="Inter"/>
                        </a:rPr>
                        <a:t>Revenue</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20242B"/>
                          </a:solidFill>
                          <a:latin typeface="Inter"/>
                        </a:rPr>
                        <a:t>R3.4M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20242B"/>
                          </a:solidFill>
                          <a:latin typeface="Inter"/>
                        </a:rPr>
                        <a:t>R24.9M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20242B"/>
                          </a:solidFill>
                          <a:latin typeface="Inter"/>
                        </a:rPr>
                        <a:t>R73.1M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20242B"/>
                          </a:solidFill>
                          <a:latin typeface="Inter"/>
                        </a:rPr>
                        <a:t>R144.9M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20242B"/>
                          </a:solidFill>
                          <a:latin typeface="Inter"/>
                        </a:rPr>
                        <a:t>R238.0M</a:t>
                      </a:r>
                    </a:p>
                  </a:txBody>
                  <a:tcPr marL="109728" marR="109728" marT="36576" marB="36576" anchor="ctr">
                    <a:lnL w="0">
                      <a:noFill/>
                    </a:lnL>
                    <a:lnR w="0">
                      <a:noFill/>
                    </a:lnR>
                    <a:lnT w="0">
                      <a:noFill/>
                    </a:lnT>
                    <a:lnB w="12700">
                      <a:solidFill>
                        <a:srgbClr val="E3E6EA"/>
                      </a:solidFill>
                    </a:lnB>
                    <a:solidFill>
                      <a:srgbClr val="FFFFFF"/>
                    </a:solidFill>
                  </a:tcPr>
                </a:tc>
              </a:tr>
              <a:tr h="310896">
                <a:tc>
                  <a:txBody>
                    <a:bodyPr wrap="square"/>
                    <a:lstStyle/>
                    <a:p>
                      <a:pPr algn="l"/>
                      <a:r>
                        <a:rPr sz="1400" b="1">
                          <a:solidFill>
                            <a:srgbClr val="20242B"/>
                          </a:solidFill>
                          <a:latin typeface="Inter"/>
                        </a:rPr>
                        <a:t>Gross margin</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47%</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67%</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72%</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75%</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76%</a:t>
                      </a:r>
                    </a:p>
                  </a:txBody>
                  <a:tcPr marL="109728" marR="109728" marT="36576" marB="36576" anchor="ctr">
                    <a:lnL w="0">
                      <a:noFill/>
                    </a:lnL>
                    <a:lnR w="0">
                      <a:noFill/>
                    </a:lnR>
                    <a:lnT w="0">
                      <a:noFill/>
                    </a:lnT>
                    <a:lnB w="12700">
                      <a:solidFill>
                        <a:srgbClr val="E3E6EA"/>
                      </a:solidFill>
                    </a:lnB>
                    <a:solidFill>
                      <a:srgbClr val="FFFFFF"/>
                    </a:solidFill>
                  </a:tcPr>
                </a:tc>
              </a:tr>
              <a:tr h="310896">
                <a:tc>
                  <a:txBody>
                    <a:bodyPr wrap="square"/>
                    <a:lstStyle/>
                    <a:p>
                      <a:pPr algn="l"/>
                      <a:r>
                        <a:rPr sz="1400" b="1">
                          <a:solidFill>
                            <a:srgbClr val="20242B"/>
                          </a:solidFill>
                          <a:latin typeface="Inter"/>
                        </a:rPr>
                        <a:t>EBITDA</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20242B"/>
                          </a:solidFill>
                          <a:latin typeface="Inter"/>
                        </a:rPr>
                        <a:t>−R7.1M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20242B"/>
                          </a:solidFill>
                          <a:latin typeface="Inter"/>
                        </a:rPr>
                        <a:t>−R13.7M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C24E00"/>
                          </a:solidFill>
                          <a:latin typeface="Inter"/>
                        </a:rPr>
                        <a:t>R0.5M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C24E00"/>
                          </a:solidFill>
                          <a:latin typeface="Inter"/>
                        </a:rPr>
                        <a:t>R31.5M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C24E00"/>
                          </a:solidFill>
                          <a:latin typeface="Inter"/>
                        </a:rPr>
                        <a:t>R66.3M</a:t>
                      </a:r>
                    </a:p>
                  </a:txBody>
                  <a:tcPr marL="109728" marR="109728" marT="36576" marB="36576" anchor="ctr">
                    <a:lnL w="0">
                      <a:noFill/>
                    </a:lnL>
                    <a:lnR w="0">
                      <a:noFill/>
                    </a:lnR>
                    <a:lnT w="0">
                      <a:noFill/>
                    </a:lnT>
                    <a:lnB w="12700">
                      <a:solidFill>
                        <a:srgbClr val="E3E6EA"/>
                      </a:solidFill>
                    </a:lnB>
                    <a:solidFill>
                      <a:srgbClr val="FFFFFF"/>
                    </a:solidFill>
                  </a:tcPr>
                </a:tc>
              </a:tr>
              <a:tr h="310896">
                <a:tc>
                  <a:txBody>
                    <a:bodyPr wrap="square"/>
                    <a:lstStyle/>
                    <a:p>
                      <a:pPr algn="l"/>
                      <a:r>
                        <a:rPr sz="1400" b="1">
                          <a:solidFill>
                            <a:srgbClr val="20242B"/>
                          </a:solidFill>
                          <a:latin typeface="Inter"/>
                        </a:rPr>
                        <a:t>EBITDA margin</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n/m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−55%</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1%</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22%</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28%</a:t>
                      </a:r>
                    </a:p>
                  </a:txBody>
                  <a:tcPr marL="109728" marR="109728" marT="36576" marB="36576" anchor="ctr">
                    <a:lnL w="0">
                      <a:noFill/>
                    </a:lnL>
                    <a:lnR w="0">
                      <a:noFill/>
                    </a:lnR>
                    <a:lnT w="0">
                      <a:noFill/>
                    </a:lnT>
                    <a:lnB w="12700">
                      <a:solidFill>
                        <a:srgbClr val="E3E6EA"/>
                      </a:solidFill>
                    </a:lnB>
                    <a:solidFill>
                      <a:srgbClr val="FFFFFF"/>
                    </a:solidFill>
                  </a:tcPr>
                </a:tc>
              </a:tr>
              <a:tr h="310896">
                <a:tc>
                  <a:txBody>
                    <a:bodyPr wrap="square"/>
                    <a:lstStyle/>
                    <a:p>
                      <a:pPr algn="l"/>
                      <a:r>
                        <a:rPr sz="1400" b="1">
                          <a:solidFill>
                            <a:srgbClr val="20242B"/>
                          </a:solidFill>
                          <a:latin typeface="Inter"/>
                        </a:rPr>
                        <a:t>Paying workspaces (Sep)</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421</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1,759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3,820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6,261</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8,816</a:t>
                      </a:r>
                    </a:p>
                  </a:txBody>
                  <a:tcPr marL="109728" marR="109728" marT="36576" marB="36576" anchor="ctr">
                    <a:lnL w="0">
                      <a:noFill/>
                    </a:lnL>
                    <a:lnR w="0">
                      <a:noFill/>
                    </a:lnR>
                    <a:lnT w="0">
                      <a:noFill/>
                    </a:lnT>
                    <a:lnB w="12700">
                      <a:solidFill>
                        <a:srgbClr val="E3E6EA"/>
                      </a:solidFill>
                    </a:lnB>
                    <a:solidFill>
                      <a:srgbClr val="FFFFFF"/>
                    </a:solidFill>
                  </a:tcPr>
                </a:tc>
              </a:tr>
              <a:tr h="310896">
                <a:tc>
                  <a:txBody>
                    <a:bodyPr wrap="square"/>
                    <a:lstStyle/>
                    <a:p>
                      <a:pPr algn="l"/>
                      <a:r>
                        <a:rPr sz="1400" b="1">
                          <a:solidFill>
                            <a:srgbClr val="20242B"/>
                          </a:solidFill>
                          <a:latin typeface="Inter"/>
                        </a:rPr>
                        <a:t>Subscription ARR</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R8.1M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R36.9M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R89.1M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R162.6M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R249.3M</a:t>
                      </a:r>
                    </a:p>
                  </a:txBody>
                  <a:tcPr marL="109728" marR="109728" marT="36576" marB="36576" anchor="ctr">
                    <a:lnL w="0">
                      <a:noFill/>
                    </a:lnL>
                    <a:lnR w="0">
                      <a:noFill/>
                    </a:lnR>
                    <a:lnT w="0">
                      <a:noFill/>
                    </a:lnT>
                    <a:lnB w="12700">
                      <a:solidFill>
                        <a:srgbClr val="E3E6EA"/>
                      </a:solidFill>
                    </a:lnB>
                    <a:solidFill>
                      <a:srgbClr val="FFFFFF"/>
                    </a:solidFill>
                  </a:tcPr>
                </a:tc>
              </a:tr>
            </a:tbl>
          </a:graphicData>
        </a:graphic>
      </p:graphicFrame>
      <p:sp>
        <p:nvSpPr>
          <p:cNvPr id="18"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Confidential</a:t>
            </a:r>
          </a:p>
        </p:txBody>
      </p:sp>
      <p:sp>
        <p:nvSpPr>
          <p:cNvPr id="19"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12</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04|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PATH TO PROFITABILITY · PROJECTION (MODEL V2, BASE CASE)</a:t>
            </a:r>
          </a:p>
        </p:txBody>
      </p:sp>
      <p:sp>
        <p:nvSpPr>
          <p:cNvPr id="3" name="hdr104|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Profitable on the R25M seed, no Series A</a:t>
            </a:r>
          </a:p>
        </p:txBody>
      </p:sp>
      <p:pic>
        <p:nvPicPr>
          <p:cNvPr id="4" name="g105|img|charts/cash_runway_r25m_16x9.png" descr="Monthly closing cash on the R25M seed vs the R3.0M buffer, Oct 2026 to Sep 2030"/>
          <p:cNvPicPr>
            <a:picLocks noChangeAspect="1"/>
          </p:cNvPicPr>
          <p:nvPr/>
        </p:nvPicPr>
        <p:blipFill>
          <a:blip r:embed="rId2"/>
          <a:srcRect t="14500" b="5000"/>
          <a:stretch>
            <a:fillRect/>
          </a:stretch>
        </p:blipFill>
        <p:spPr>
          <a:xfrm>
            <a:off x="551164" y="1481328"/>
            <a:ext cx="7310151" cy="3310128"/>
          </a:xfrm>
          <a:prstGeom prst="rect">
            <a:avLst/>
          </a:prstGeom>
        </p:spPr>
      </p:pic>
      <p:sp>
        <p:nvSpPr>
          <p:cNvPr id="5" name="tile106|card|"/>
          <p:cNvSpPr/>
          <p:nvPr/>
        </p:nvSpPr>
        <p:spPr>
          <a:xfrm>
            <a:off x="8092440" y="1481328"/>
            <a:ext cx="3547872" cy="1143000"/>
          </a:xfrm>
          <a:prstGeom prst="roundRect">
            <a:avLst>
              <a:gd name="adj" fmla="val 12800"/>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ile106|card|"/>
          <p:cNvSpPr txBox="1"/>
          <p:nvPr/>
        </p:nvSpPr>
        <p:spPr>
          <a:xfrm>
            <a:off x="8293608" y="1609344"/>
            <a:ext cx="3145536" cy="475488"/>
          </a:xfrm>
          <a:prstGeom prst="rect">
            <a:avLst/>
          </a:prstGeom>
          <a:noFill/>
        </p:spPr>
        <p:txBody>
          <a:bodyPr wrap="square" lIns="0" rIns="0" tIns="0" bIns="0" anchor="t">
            <a:noAutofit/>
          </a:bodyPr>
          <a:lstStyle/>
          <a:p>
            <a:pPr algn="l"/>
            <a:r>
              <a:rPr sz="2000" b="1">
                <a:solidFill>
                  <a:srgbClr val="C24E00"/>
                </a:solidFill>
                <a:latin typeface="Poppins"/>
              </a:rPr>
              <a:t>Mar 2029</a:t>
            </a:r>
          </a:p>
        </p:txBody>
      </p:sp>
      <p:sp>
        <p:nvSpPr>
          <p:cNvPr id="7" name="tile106|card|"/>
          <p:cNvSpPr txBox="1"/>
          <p:nvPr/>
        </p:nvSpPr>
        <p:spPr>
          <a:xfrm>
            <a:off x="8293608" y="2121408"/>
            <a:ext cx="3145536" cy="448056"/>
          </a:xfrm>
          <a:prstGeom prst="rect">
            <a:avLst/>
          </a:prstGeom>
          <a:noFill/>
        </p:spPr>
        <p:txBody>
          <a:bodyPr wrap="square" lIns="0" rIns="0" tIns="0" bIns="0" anchor="t">
            <a:noAutofit/>
          </a:bodyPr>
          <a:lstStyle/>
          <a:p>
            <a:pPr algn="l"/>
            <a:r>
              <a:rPr sz="1400" b="0">
                <a:solidFill>
                  <a:srgbClr val="20242B"/>
                </a:solidFill>
                <a:latin typeface="Inter"/>
              </a:rPr>
              <a:t>EBITDA break-even; sustained from Jun 2029</a:t>
            </a:r>
          </a:p>
        </p:txBody>
      </p:sp>
      <p:sp>
        <p:nvSpPr>
          <p:cNvPr id="8" name="tile107|card|"/>
          <p:cNvSpPr/>
          <p:nvPr/>
        </p:nvSpPr>
        <p:spPr>
          <a:xfrm>
            <a:off x="8092440" y="2670048"/>
            <a:ext cx="3547872" cy="1143000"/>
          </a:xfrm>
          <a:prstGeom prst="roundRect">
            <a:avLst>
              <a:gd name="adj" fmla="val 12800"/>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ile107|card|"/>
          <p:cNvSpPr txBox="1"/>
          <p:nvPr/>
        </p:nvSpPr>
        <p:spPr>
          <a:xfrm>
            <a:off x="8293608" y="2798064"/>
            <a:ext cx="3145536" cy="475488"/>
          </a:xfrm>
          <a:prstGeom prst="rect">
            <a:avLst/>
          </a:prstGeom>
          <a:noFill/>
        </p:spPr>
        <p:txBody>
          <a:bodyPr wrap="square" lIns="0" rIns="0" tIns="0" bIns="0" anchor="t">
            <a:noAutofit/>
          </a:bodyPr>
          <a:lstStyle/>
          <a:p>
            <a:pPr algn="l"/>
            <a:r>
              <a:rPr sz="2000" b="1">
                <a:solidFill>
                  <a:srgbClr val="C24E00"/>
                </a:solidFill>
                <a:latin typeface="Poppins"/>
              </a:rPr>
              <a:t>Oct 2028</a:t>
            </a:r>
          </a:p>
        </p:txBody>
      </p:sp>
      <p:sp>
        <p:nvSpPr>
          <p:cNvPr id="10" name="tile107|card|"/>
          <p:cNvSpPr txBox="1"/>
          <p:nvPr/>
        </p:nvSpPr>
        <p:spPr>
          <a:xfrm>
            <a:off x="8293608" y="3310128"/>
            <a:ext cx="3145536" cy="448056"/>
          </a:xfrm>
          <a:prstGeom prst="rect">
            <a:avLst/>
          </a:prstGeom>
          <a:noFill/>
        </p:spPr>
        <p:txBody>
          <a:bodyPr wrap="square" lIns="0" rIns="0" tIns="0" bIns="0" anchor="t">
            <a:noAutofit/>
          </a:bodyPr>
          <a:lstStyle/>
          <a:p>
            <a:pPr algn="l"/>
            <a:r>
              <a:rPr sz="1400" b="0">
                <a:solidFill>
                  <a:srgbClr val="20242B"/>
                </a:solidFill>
                <a:latin typeface="Inter"/>
              </a:rPr>
              <a:t>Operating cash flow positive; sustained May 2029</a:t>
            </a:r>
          </a:p>
        </p:txBody>
      </p:sp>
      <p:sp>
        <p:nvSpPr>
          <p:cNvPr id="11" name="tile108|card|"/>
          <p:cNvSpPr/>
          <p:nvPr/>
        </p:nvSpPr>
        <p:spPr>
          <a:xfrm>
            <a:off x="8092440" y="3858768"/>
            <a:ext cx="3547872" cy="1143000"/>
          </a:xfrm>
          <a:prstGeom prst="roundRect">
            <a:avLst>
              <a:gd name="adj" fmla="val 12800"/>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ile108|card|"/>
          <p:cNvSpPr txBox="1"/>
          <p:nvPr/>
        </p:nvSpPr>
        <p:spPr>
          <a:xfrm>
            <a:off x="8293608" y="3986784"/>
            <a:ext cx="3145536" cy="475488"/>
          </a:xfrm>
          <a:prstGeom prst="rect">
            <a:avLst/>
          </a:prstGeom>
          <a:noFill/>
        </p:spPr>
        <p:txBody>
          <a:bodyPr wrap="square" lIns="0" rIns="0" tIns="0" bIns="0" anchor="t">
            <a:noAutofit/>
          </a:bodyPr>
          <a:lstStyle/>
          <a:p>
            <a:pPr algn="l"/>
            <a:r>
              <a:rPr sz="2000" b="1">
                <a:solidFill>
                  <a:srgbClr val="C24E00"/>
                </a:solidFill>
                <a:latin typeface="Poppins"/>
              </a:rPr>
              <a:t>R7.96M</a:t>
            </a:r>
          </a:p>
        </p:txBody>
      </p:sp>
      <p:sp>
        <p:nvSpPr>
          <p:cNvPr id="13" name="tile108|card|"/>
          <p:cNvSpPr txBox="1"/>
          <p:nvPr/>
        </p:nvSpPr>
        <p:spPr>
          <a:xfrm>
            <a:off x="8293608" y="4498848"/>
            <a:ext cx="3145536" cy="448056"/>
          </a:xfrm>
          <a:prstGeom prst="rect">
            <a:avLst/>
          </a:prstGeom>
          <a:noFill/>
        </p:spPr>
        <p:txBody>
          <a:bodyPr wrap="square" lIns="0" rIns="0" tIns="0" bIns="0" anchor="t">
            <a:noAutofit/>
          </a:bodyPr>
          <a:lstStyle/>
          <a:p>
            <a:pPr algn="l"/>
            <a:r>
              <a:rPr sz="1400" b="0">
                <a:solidFill>
                  <a:srgbClr val="20242B"/>
                </a:solidFill>
                <a:latin typeface="Inter"/>
              </a:rPr>
              <a:t>Cash low (Sep 2028) vs R3.0M buffer</a:t>
            </a:r>
          </a:p>
        </p:txBody>
      </p:sp>
      <p:sp>
        <p:nvSpPr>
          <p:cNvPr id="14" name="tile109|card|"/>
          <p:cNvSpPr/>
          <p:nvPr/>
        </p:nvSpPr>
        <p:spPr>
          <a:xfrm>
            <a:off x="8092440" y="5047488"/>
            <a:ext cx="3547872" cy="1143000"/>
          </a:xfrm>
          <a:prstGeom prst="roundRect">
            <a:avLst>
              <a:gd name="adj" fmla="val 12800"/>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ile109|card|"/>
          <p:cNvSpPr txBox="1"/>
          <p:nvPr/>
        </p:nvSpPr>
        <p:spPr>
          <a:xfrm>
            <a:off x="8293608" y="5175504"/>
            <a:ext cx="3145536" cy="475488"/>
          </a:xfrm>
          <a:prstGeom prst="rect">
            <a:avLst/>
          </a:prstGeom>
          <a:noFill/>
        </p:spPr>
        <p:txBody>
          <a:bodyPr wrap="square" lIns="0" rIns="0" tIns="0" bIns="0" anchor="t">
            <a:noAutofit/>
          </a:bodyPr>
          <a:lstStyle/>
          <a:p>
            <a:pPr algn="l"/>
            <a:r>
              <a:rPr sz="2000" b="1">
                <a:solidFill>
                  <a:srgbClr val="C24E00"/>
                </a:solidFill>
                <a:latin typeface="Poppins"/>
              </a:rPr>
              <a:t>No Series A</a:t>
            </a:r>
          </a:p>
        </p:txBody>
      </p:sp>
      <p:sp>
        <p:nvSpPr>
          <p:cNvPr id="16" name="tile109|card|"/>
          <p:cNvSpPr txBox="1"/>
          <p:nvPr/>
        </p:nvSpPr>
        <p:spPr>
          <a:xfrm>
            <a:off x="8293608" y="5687568"/>
            <a:ext cx="3145536" cy="448056"/>
          </a:xfrm>
          <a:prstGeom prst="rect">
            <a:avLst/>
          </a:prstGeom>
          <a:noFill/>
        </p:spPr>
        <p:txBody>
          <a:bodyPr wrap="square" lIns="0" rIns="0" tIns="0" bIns="0" anchor="t">
            <a:noAutofit/>
          </a:bodyPr>
          <a:lstStyle/>
          <a:p>
            <a:pPr algn="l"/>
            <a:r>
              <a:rPr sz="1400" b="0">
                <a:solidFill>
                  <a:srgbClr val="20242B"/>
                </a:solidFill>
                <a:latin typeface="Inter"/>
              </a:rPr>
              <a:t>Profitable on R25M alone: Conservative, Base and Upside</a:t>
            </a:r>
          </a:p>
        </p:txBody>
      </p:sp>
      <p:sp>
        <p:nvSpPr>
          <p:cNvPr id="17" name="g110|eyebrow|"/>
          <p:cNvSpPr txBox="1"/>
          <p:nvPr/>
        </p:nvSpPr>
        <p:spPr>
          <a:xfrm>
            <a:off x="548640" y="4956048"/>
            <a:ext cx="7315200" cy="256032"/>
          </a:xfrm>
          <a:prstGeom prst="rect">
            <a:avLst/>
          </a:prstGeom>
          <a:noFill/>
        </p:spPr>
        <p:txBody>
          <a:bodyPr wrap="square" lIns="0" rIns="0" tIns="0" bIns="0" anchor="t">
            <a:noAutofit/>
          </a:bodyPr>
          <a:lstStyle/>
          <a:p>
            <a:pPr algn="l"/>
            <a:r>
              <a:rPr sz="1200" b="1" spc="150">
                <a:solidFill>
                  <a:srgbClr val="C24E00"/>
                </a:solidFill>
                <a:latin typeface="Inter"/>
              </a:rPr>
              <a:t>MILESTONE GATING PROTECTS THE BUFFER</a:t>
            </a:r>
          </a:p>
        </p:txBody>
      </p:sp>
      <p:sp>
        <p:nvSpPr>
          <p:cNvPr id="18" name="g111|chip|"/>
          <p:cNvSpPr/>
          <p:nvPr/>
        </p:nvSpPr>
        <p:spPr>
          <a:xfrm>
            <a:off x="548640" y="5303520"/>
            <a:ext cx="2346960" cy="777240"/>
          </a:xfrm>
          <a:prstGeom prst="roundRect">
            <a:avLst>
              <a:gd name="adj" fmla="val 18823"/>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g111|chip|"/>
          <p:cNvSpPr txBox="1"/>
          <p:nvPr/>
        </p:nvSpPr>
        <p:spPr>
          <a:xfrm>
            <a:off x="685800" y="5303520"/>
            <a:ext cx="2072640" cy="777240"/>
          </a:xfrm>
          <a:prstGeom prst="rect">
            <a:avLst/>
          </a:prstGeom>
          <a:noFill/>
        </p:spPr>
        <p:txBody>
          <a:bodyPr wrap="square" lIns="0" rIns="0" tIns="0" bIns="0" anchor="ctr">
            <a:noAutofit/>
          </a:bodyPr>
          <a:lstStyle/>
          <a:p>
            <a:pPr algn="l"/>
            <a:r>
              <a:rPr sz="1400" b="1">
                <a:solidFill>
                  <a:srgbClr val="20242B"/>
                </a:solidFill>
                <a:latin typeface="Inter"/>
              </a:rPr>
              <a:t>Every hire waits for its MRR milestone</a:t>
            </a:r>
          </a:p>
        </p:txBody>
      </p:sp>
      <p:sp>
        <p:nvSpPr>
          <p:cNvPr id="20" name="g112|chip|"/>
          <p:cNvSpPr/>
          <p:nvPr/>
        </p:nvSpPr>
        <p:spPr>
          <a:xfrm>
            <a:off x="3032760" y="5303520"/>
            <a:ext cx="2346960" cy="777240"/>
          </a:xfrm>
          <a:prstGeom prst="roundRect">
            <a:avLst>
              <a:gd name="adj" fmla="val 18823"/>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g112|chip|"/>
          <p:cNvSpPr txBox="1"/>
          <p:nvPr/>
        </p:nvSpPr>
        <p:spPr>
          <a:xfrm>
            <a:off x="3169920" y="5303520"/>
            <a:ext cx="2072640" cy="777240"/>
          </a:xfrm>
          <a:prstGeom prst="rect">
            <a:avLst/>
          </a:prstGeom>
          <a:noFill/>
        </p:spPr>
        <p:txBody>
          <a:bodyPr wrap="square" lIns="0" rIns="0" tIns="0" bIns="0" anchor="ctr">
            <a:noAutofit/>
          </a:bodyPr>
          <a:lstStyle/>
          <a:p>
            <a:pPr algn="l"/>
            <a:r>
              <a:rPr sz="1400" b="1">
                <a:solidFill>
                  <a:srgbClr val="20242B"/>
                </a:solidFill>
                <a:latin typeface="Inter"/>
              </a:rPr>
              <a:t>NG / KE / GH launch at R0.9M / R1.2M / R1.5M MRR</a:t>
            </a:r>
          </a:p>
        </p:txBody>
      </p:sp>
      <p:sp>
        <p:nvSpPr>
          <p:cNvPr id="22" name="g113|chip|"/>
          <p:cNvSpPr/>
          <p:nvPr/>
        </p:nvSpPr>
        <p:spPr>
          <a:xfrm>
            <a:off x="5516880" y="5303520"/>
            <a:ext cx="2346960" cy="777240"/>
          </a:xfrm>
          <a:prstGeom prst="roundRect">
            <a:avLst>
              <a:gd name="adj" fmla="val 18823"/>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g113|chip|"/>
          <p:cNvSpPr txBox="1"/>
          <p:nvPr/>
        </p:nvSpPr>
        <p:spPr>
          <a:xfrm>
            <a:off x="5654040" y="5303520"/>
            <a:ext cx="2072640" cy="777240"/>
          </a:xfrm>
          <a:prstGeom prst="rect">
            <a:avLst/>
          </a:prstGeom>
          <a:noFill/>
        </p:spPr>
        <p:txBody>
          <a:bodyPr wrap="square" lIns="0" rIns="0" tIns="0" bIns="0" anchor="ctr">
            <a:noAutofit/>
          </a:bodyPr>
          <a:lstStyle/>
          <a:p>
            <a:pPr algn="l"/>
            <a:r>
              <a:rPr sz="1400" b="1">
                <a:solidFill>
                  <a:srgbClr val="20242B"/>
                </a:solidFill>
                <a:latin typeface="Inter"/>
              </a:rPr>
              <a:t>Paid spend capped at R40k + 35% of MRR</a:t>
            </a:r>
          </a:p>
        </p:txBody>
      </p:sp>
      <p:sp>
        <p:nvSpPr>
          <p:cNvPr id="24"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Confidential</a:t>
            </a:r>
          </a:p>
        </p:txBody>
      </p:sp>
      <p:sp>
        <p:nvSpPr>
          <p:cNvPr id="25"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13</a:t>
            </a:fld>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14|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SCENARIOS &amp; SENSITIVITIES · MODEL V2</a:t>
            </a:r>
          </a:p>
        </p:txBody>
      </p:sp>
      <p:sp>
        <p:nvSpPr>
          <p:cNvPr id="3" name="hdr114|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Profitable on R25M in all three scenarios</a:t>
            </a:r>
          </a:p>
        </p:txBody>
      </p:sp>
      <p:pic>
        <p:nvPicPr>
          <p:cNvPr id="4" name="g115|img|charts/scenarios_16x9.png" descr="FY5 revenue and EBITDA by scenario"/>
          <p:cNvPicPr>
            <a:picLocks noChangeAspect="1"/>
          </p:cNvPicPr>
          <p:nvPr/>
        </p:nvPicPr>
        <p:blipFill>
          <a:blip r:embed="rId2"/>
          <a:srcRect t="14500" b="5000"/>
          <a:stretch>
            <a:fillRect/>
          </a:stretch>
        </p:blipFill>
        <p:spPr>
          <a:xfrm>
            <a:off x="548640" y="1481328"/>
            <a:ext cx="6035040" cy="2732741"/>
          </a:xfrm>
          <a:prstGeom prst="rect">
            <a:avLst/>
          </a:prstGeom>
        </p:spPr>
      </p:pic>
      <p:graphicFrame>
        <p:nvGraphicFramePr>
          <p:cNvPr id="5" name="g116|table|scen"/>
          <p:cNvGraphicFramePr>
            <a:graphicFrameLocks noGrp="1"/>
          </p:cNvGraphicFramePr>
          <p:nvPr/>
        </p:nvGraphicFramePr>
        <p:xfrm>
          <a:off x="6858000" y="1481328"/>
          <a:ext cx="4782312" cy="2560320"/>
        </p:xfrm>
        <a:graphic>
          <a:graphicData uri="http://schemas.openxmlformats.org/drawingml/2006/table">
            <a:tbl>
              <a:tblPr firstRow="0" bandRow="0"/>
              <a:tblGrid>
                <a:gridCol w="1517904"/>
                <a:gridCol w="1097280"/>
                <a:gridCol w="1097280"/>
                <a:gridCol w="1069848"/>
              </a:tblGrid>
              <a:tr h="914400">
                <a:tc>
                  <a:txBody>
                    <a:bodyPr wrap="square"/>
                    <a:lstStyle/>
                    <a:p>
                      <a:pPr algn="l"/>
                      <a:r>
                        <a:rPr sz="1400" b="1">
                          <a:solidFill>
                            <a:srgbClr val="FFFFFF"/>
                          </a:solidFill>
                          <a:latin typeface="Poppins"/>
                        </a:rPr>
                        <a:t>Scenario</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FY5 revenue</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FY5 EBITDA</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Cash low</a:t>
                      </a:r>
                    </a:p>
                  </a:txBody>
                  <a:tcPr marL="109728" marR="109728" marT="36576" marB="36576" anchor="ctr">
                    <a:lnL w="0">
                      <a:noFill/>
                    </a:lnL>
                    <a:lnR w="0">
                      <a:noFill/>
                    </a:lnR>
                    <a:lnT w="0">
                      <a:noFill/>
                    </a:lnT>
                    <a:lnB w="0">
                      <a:noFill/>
                    </a:lnB>
                    <a:solidFill>
                      <a:srgbClr val="0F1419"/>
                    </a:solidFill>
                  </a:tcPr>
                </a:tc>
              </a:tr>
              <a:tr h="548640">
                <a:tc>
                  <a:txBody>
                    <a:bodyPr wrap="square"/>
                    <a:lstStyle/>
                    <a:p>
                      <a:pPr algn="l"/>
                      <a:r>
                        <a:rPr sz="1400" b="1">
                          <a:solidFill>
                            <a:srgbClr val="20242B"/>
                          </a:solidFill>
                          <a:latin typeface="Inter"/>
                        </a:rPr>
                        <a:t>Conservative</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R116.0M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R24.7M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R4.27M</a:t>
                      </a:r>
                    </a:p>
                  </a:txBody>
                  <a:tcPr marL="109728" marR="109728" marT="36576" marB="36576" anchor="ctr">
                    <a:lnL w="0">
                      <a:noFill/>
                    </a:lnL>
                    <a:lnR w="0">
                      <a:noFill/>
                    </a:lnR>
                    <a:lnT w="0">
                      <a:noFill/>
                    </a:lnT>
                    <a:lnB w="12700">
                      <a:solidFill>
                        <a:srgbClr val="E3E6EA"/>
                      </a:solidFill>
                    </a:lnB>
                    <a:solidFill>
                      <a:srgbClr val="FFFFFF"/>
                    </a:solidFill>
                  </a:tcPr>
                </a:tc>
              </a:tr>
              <a:tr h="548640">
                <a:tc>
                  <a:txBody>
                    <a:bodyPr wrap="square"/>
                    <a:lstStyle/>
                    <a:p>
                      <a:pPr algn="l"/>
                      <a:r>
                        <a:rPr sz="1400" b="1">
                          <a:solidFill>
                            <a:srgbClr val="20242B"/>
                          </a:solidFill>
                          <a:latin typeface="Inter"/>
                        </a:rPr>
                        <a:t>Base</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400" b="0">
                          <a:solidFill>
                            <a:srgbClr val="20242B"/>
                          </a:solidFill>
                          <a:latin typeface="Inter"/>
                        </a:rPr>
                        <a:t>R238.0M</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400" b="0">
                          <a:solidFill>
                            <a:srgbClr val="20242B"/>
                          </a:solidFill>
                          <a:latin typeface="Inter"/>
                        </a:rPr>
                        <a:t>R66.3M</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400" b="0">
                          <a:solidFill>
                            <a:srgbClr val="20242B"/>
                          </a:solidFill>
                          <a:latin typeface="Inter"/>
                        </a:rPr>
                        <a:t>R7.96M</a:t>
                      </a:r>
                    </a:p>
                  </a:txBody>
                  <a:tcPr marL="109728" marR="109728" marT="36576" marB="36576" anchor="ctr">
                    <a:lnL w="0">
                      <a:noFill/>
                    </a:lnL>
                    <a:lnR w="0">
                      <a:noFill/>
                    </a:lnR>
                    <a:lnT w="0">
                      <a:noFill/>
                    </a:lnT>
                    <a:lnB w="12700">
                      <a:solidFill>
                        <a:srgbClr val="E3E6EA"/>
                      </a:solidFill>
                    </a:lnB>
                    <a:solidFill>
                      <a:srgbClr val="FFF4EB"/>
                    </a:solidFill>
                  </a:tcPr>
                </a:tc>
              </a:tr>
              <a:tr h="548640">
                <a:tc>
                  <a:txBody>
                    <a:bodyPr wrap="square"/>
                    <a:lstStyle/>
                    <a:p>
                      <a:pPr algn="l"/>
                      <a:r>
                        <a:rPr sz="1400" b="1">
                          <a:solidFill>
                            <a:srgbClr val="20242B"/>
                          </a:solidFill>
                          <a:latin typeface="Inter"/>
                        </a:rPr>
                        <a:t>Upside</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R450.9M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R223.4M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R15.08M</a:t>
                      </a:r>
                    </a:p>
                  </a:txBody>
                  <a:tcPr marL="109728" marR="109728" marT="36576" marB="36576" anchor="ctr">
                    <a:lnL w="0">
                      <a:noFill/>
                    </a:lnL>
                    <a:lnR w="0">
                      <a:noFill/>
                    </a:lnR>
                    <a:lnT w="0">
                      <a:noFill/>
                    </a:lnT>
                    <a:lnB w="12700">
                      <a:solidFill>
                        <a:srgbClr val="E3E6EA"/>
                      </a:solidFill>
                    </a:lnB>
                    <a:solidFill>
                      <a:srgbClr val="FFFFFF"/>
                    </a:solidFill>
                  </a:tcPr>
                </a:tc>
              </a:tr>
            </a:tbl>
          </a:graphicData>
        </a:graphic>
      </p:graphicFrame>
      <p:sp>
        <p:nvSpPr>
          <p:cNvPr id="6" name="g117|body|"/>
          <p:cNvSpPr txBox="1"/>
          <p:nvPr/>
        </p:nvSpPr>
        <p:spPr>
          <a:xfrm>
            <a:off x="6858000" y="4114800"/>
            <a:ext cx="4782312" cy="713232"/>
          </a:xfrm>
          <a:prstGeom prst="rect">
            <a:avLst/>
          </a:prstGeom>
          <a:noFill/>
        </p:spPr>
        <p:txBody>
          <a:bodyPr wrap="square" lIns="0" rIns="0" tIns="0" bIns="0" anchor="t">
            <a:noAutofit/>
          </a:bodyPr>
          <a:lstStyle/>
          <a:p>
            <a:pPr algn="l"/>
            <a:r>
              <a:rPr sz="1400" b="0">
                <a:solidFill>
                  <a:srgbClr val="20242B"/>
                </a:solidFill>
                <a:latin typeface="Inter"/>
              </a:rPr>
              <a:t>Sustained EBITDA break-even: Mar 2030 · Jun 2029 · Jun 2028. Cash stays above the R3.0M buffer every month.</a:t>
            </a:r>
          </a:p>
        </p:txBody>
      </p:sp>
      <p:sp>
        <p:nvSpPr>
          <p:cNvPr id="7" name="sens118|card|"/>
          <p:cNvSpPr/>
          <p:nvPr/>
        </p:nvSpPr>
        <p:spPr>
          <a:xfrm>
            <a:off x="548640" y="4864608"/>
            <a:ext cx="5440680" cy="1261872"/>
          </a:xfrm>
          <a:prstGeom prst="roundRect">
            <a:avLst>
              <a:gd name="adj" fmla="val 13043"/>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sens118|eyebrow|"/>
          <p:cNvSpPr txBox="1"/>
          <p:nvPr/>
        </p:nvSpPr>
        <p:spPr>
          <a:xfrm>
            <a:off x="822959" y="4974336"/>
            <a:ext cx="4892040" cy="256032"/>
          </a:xfrm>
          <a:prstGeom prst="rect">
            <a:avLst/>
          </a:prstGeom>
          <a:noFill/>
        </p:spPr>
        <p:txBody>
          <a:bodyPr wrap="square" lIns="0" rIns="0" tIns="0" bIns="0" anchor="t">
            <a:noAutofit/>
          </a:bodyPr>
          <a:lstStyle/>
          <a:p>
            <a:pPr algn="l"/>
            <a:r>
              <a:rPr sz="1200" b="1" spc="120">
                <a:solidFill>
                  <a:srgbClr val="C24E00"/>
                </a:solidFill>
                <a:latin typeface="Inter"/>
              </a:rPr>
              <a:t>FX SHOCK · ZAR 15% STRONGER</a:t>
            </a:r>
          </a:p>
        </p:txBody>
      </p:sp>
      <p:sp>
        <p:nvSpPr>
          <p:cNvPr id="9" name="sens118|card|"/>
          <p:cNvSpPr txBox="1"/>
          <p:nvPr/>
        </p:nvSpPr>
        <p:spPr>
          <a:xfrm>
            <a:off x="822959" y="5266944"/>
            <a:ext cx="4892040" cy="804672"/>
          </a:xfrm>
          <a:prstGeom prst="rect">
            <a:avLst/>
          </a:prstGeom>
          <a:noFill/>
        </p:spPr>
        <p:txBody>
          <a:bodyPr wrap="square" lIns="0" rIns="0" tIns="0" bIns="0" anchor="t">
            <a:noAutofit/>
          </a:bodyPr>
          <a:lstStyle/>
          <a:p>
            <a:pPr algn="l"/>
            <a:r>
              <a:rPr sz="1400" b="0">
                <a:solidFill>
                  <a:srgbClr val="20242B"/>
                </a:solidFill>
                <a:latin typeface="Inter"/>
              </a:rPr>
              <a:t>With quarterly repricing: cash low R7.55M, FY5 EBITDA R66.8M. Without it: FY5 EBITDA −R9.9M vs base, cash low R6.79M. Still profitable on R25M.</a:t>
            </a:r>
          </a:p>
        </p:txBody>
      </p:sp>
      <p:sp>
        <p:nvSpPr>
          <p:cNvPr id="10" name="sens119|card|"/>
          <p:cNvSpPr/>
          <p:nvPr/>
        </p:nvSpPr>
        <p:spPr>
          <a:xfrm>
            <a:off x="6202375" y="4864608"/>
            <a:ext cx="5440680" cy="1261872"/>
          </a:xfrm>
          <a:prstGeom prst="roundRect">
            <a:avLst>
              <a:gd name="adj" fmla="val 13043"/>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ens119|eyebrow|"/>
          <p:cNvSpPr txBox="1"/>
          <p:nvPr/>
        </p:nvSpPr>
        <p:spPr>
          <a:xfrm>
            <a:off x="6476695" y="4974336"/>
            <a:ext cx="4892040" cy="256032"/>
          </a:xfrm>
          <a:prstGeom prst="rect">
            <a:avLst/>
          </a:prstGeom>
          <a:noFill/>
        </p:spPr>
        <p:txBody>
          <a:bodyPr wrap="square" lIns="0" rIns="0" tIns="0" bIns="0" anchor="t">
            <a:noAutofit/>
          </a:bodyPr>
          <a:lstStyle/>
          <a:p>
            <a:pPr algn="l"/>
            <a:r>
              <a:rPr sz="1200" b="1" spc="120">
                <a:solidFill>
                  <a:srgbClr val="C24E00"/>
                </a:solidFill>
                <a:latin typeface="Inter"/>
              </a:rPr>
              <a:t>TRIAL VOLUME 30% BELOW PLAN</a:t>
            </a:r>
          </a:p>
        </p:txBody>
      </p:sp>
      <p:sp>
        <p:nvSpPr>
          <p:cNvPr id="12" name="sens119|card|"/>
          <p:cNvSpPr txBox="1"/>
          <p:nvPr/>
        </p:nvSpPr>
        <p:spPr>
          <a:xfrm>
            <a:off x="6476695" y="5266944"/>
            <a:ext cx="4892040" cy="804672"/>
          </a:xfrm>
          <a:prstGeom prst="rect">
            <a:avLst/>
          </a:prstGeom>
          <a:noFill/>
        </p:spPr>
        <p:txBody>
          <a:bodyPr wrap="square" lIns="0" rIns="0" tIns="0" bIns="0" anchor="t">
            <a:noAutofit/>
          </a:bodyPr>
          <a:lstStyle/>
          <a:p>
            <a:pPr algn="l"/>
            <a:r>
              <a:rPr sz="1400" b="0">
                <a:solidFill>
                  <a:srgbClr val="20242B"/>
                </a:solidFill>
                <a:latin typeface="Inter"/>
              </a:rPr>
              <a:t>Cash low falls to R0.98M, below the R3.0M buffer. Response: raise the hiring gates early, as Conservative does at 1.40x (low R4.27M).</a:t>
            </a:r>
          </a:p>
        </p:txBody>
      </p:sp>
      <p:sp>
        <p:nvSpPr>
          <p:cNvPr id="13"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Confidential</a:t>
            </a:r>
          </a:p>
        </p:txBody>
      </p:sp>
      <p:sp>
        <p:nvSpPr>
          <p:cNvPr id="14"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14</a:t>
            </a:fld>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20|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KEY RISKS</a:t>
            </a:r>
          </a:p>
        </p:txBody>
      </p:sp>
      <p:sp>
        <p:nvSpPr>
          <p:cNvPr id="3" name="hdr120|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What could go wrong, and how we manage it</a:t>
            </a:r>
          </a:p>
        </p:txBody>
      </p:sp>
      <p:sp>
        <p:nvSpPr>
          <p:cNvPr id="4" name="risk121|card|"/>
          <p:cNvSpPr/>
          <p:nvPr/>
        </p:nvSpPr>
        <p:spPr>
          <a:xfrm>
            <a:off x="548640" y="1481328"/>
            <a:ext cx="3511296"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isk121|deco|"/>
          <p:cNvSpPr/>
          <p:nvPr/>
        </p:nvSpPr>
        <p:spPr>
          <a:xfrm>
            <a:off x="786383" y="1673352"/>
            <a:ext cx="530352" cy="53035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risk121|icon|target_deep.png" descr="target_deep"/>
          <p:cNvPicPr>
            <a:picLocks noChangeAspect="1"/>
          </p:cNvPicPr>
          <p:nvPr/>
        </p:nvPicPr>
        <p:blipFill>
          <a:blip r:embed="rId2"/>
          <a:srcRect/>
          <a:stretch>
            <a:fillRect/>
          </a:stretch>
        </p:blipFill>
        <p:spPr>
          <a:xfrm>
            <a:off x="903061" y="1790029"/>
            <a:ext cx="296997" cy="296997"/>
          </a:xfrm>
          <a:prstGeom prst="rect">
            <a:avLst/>
          </a:prstGeom>
        </p:spPr>
      </p:pic>
      <p:sp>
        <p:nvSpPr>
          <p:cNvPr id="7" name="risk121|card|"/>
          <p:cNvSpPr txBox="1"/>
          <p:nvPr/>
        </p:nvSpPr>
        <p:spPr>
          <a:xfrm>
            <a:off x="1444752" y="1700784"/>
            <a:ext cx="2414015" cy="475488"/>
          </a:xfrm>
          <a:prstGeom prst="rect">
            <a:avLst/>
          </a:prstGeom>
          <a:noFill/>
        </p:spPr>
        <p:txBody>
          <a:bodyPr wrap="square" lIns="0" rIns="0" tIns="0" bIns="0" anchor="ctr">
            <a:noAutofit/>
          </a:bodyPr>
          <a:lstStyle/>
          <a:p>
            <a:pPr algn="l"/>
            <a:r>
              <a:rPr sz="1700" b="1">
                <a:solidFill>
                  <a:srgbClr val="20242B"/>
                </a:solidFill>
                <a:latin typeface="Poppins"/>
              </a:rPr>
              <a:t>Trial volume</a:t>
            </a:r>
          </a:p>
        </p:txBody>
      </p:sp>
      <p:sp>
        <p:nvSpPr>
          <p:cNvPr id="8" name="risk121|card|"/>
          <p:cNvSpPr txBox="1"/>
          <p:nvPr/>
        </p:nvSpPr>
        <p:spPr>
          <a:xfrm>
            <a:off x="822959" y="2304288"/>
            <a:ext cx="2962656" cy="502920"/>
          </a:xfrm>
          <a:prstGeom prst="rect">
            <a:avLst/>
          </a:prstGeom>
          <a:noFill/>
        </p:spPr>
        <p:txBody>
          <a:bodyPr wrap="square" lIns="0" rIns="0" tIns="0" bIns="0" anchor="t">
            <a:noAutofit/>
          </a:bodyPr>
          <a:lstStyle/>
          <a:p>
            <a:pPr algn="l"/>
            <a:r>
              <a:rPr sz="1400" b="0">
                <a:solidFill>
                  <a:srgbClr val="5B6670"/>
                </a:solidFill>
                <a:latin typeface="Inter"/>
              </a:rPr>
              <a:t>30% fewer trials would take the cash low to R0.98M.</a:t>
            </a:r>
          </a:p>
        </p:txBody>
      </p:sp>
      <p:sp>
        <p:nvSpPr>
          <p:cNvPr id="9" name="risk121|card|"/>
          <p:cNvSpPr txBox="1"/>
          <p:nvPr/>
        </p:nvSpPr>
        <p:spPr>
          <a:xfrm>
            <a:off x="822959" y="2852928"/>
            <a:ext cx="2962656" cy="777240"/>
          </a:xfrm>
          <a:prstGeom prst="rect">
            <a:avLst/>
          </a:prstGeom>
          <a:noFill/>
        </p:spPr>
        <p:txBody>
          <a:bodyPr wrap="square" lIns="0" rIns="0" tIns="0" bIns="0" anchor="t">
            <a:noAutofit/>
          </a:bodyPr>
          <a:lstStyle/>
          <a:p>
            <a:pPr algn="l"/>
            <a:r>
              <a:rPr sz="1400" b="1">
                <a:solidFill>
                  <a:srgbClr val="20242B"/>
                </a:solidFill>
                <a:latin typeface="Inter"/>
              </a:rPr>
              <a:t>Pilot data first; if trials run 20% below plan, raise hiring gates early.</a:t>
            </a:r>
          </a:p>
        </p:txBody>
      </p:sp>
      <p:sp>
        <p:nvSpPr>
          <p:cNvPr id="10" name="risk122|card|"/>
          <p:cNvSpPr/>
          <p:nvPr/>
        </p:nvSpPr>
        <p:spPr>
          <a:xfrm>
            <a:off x="4340199" y="1481328"/>
            <a:ext cx="3511296"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isk122|deco|"/>
          <p:cNvSpPr/>
          <p:nvPr/>
        </p:nvSpPr>
        <p:spPr>
          <a:xfrm>
            <a:off x="4577943" y="1673352"/>
            <a:ext cx="530352" cy="53035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risk122|icon|globe_deep.png" descr="globe_deep"/>
          <p:cNvPicPr>
            <a:picLocks noChangeAspect="1"/>
          </p:cNvPicPr>
          <p:nvPr/>
        </p:nvPicPr>
        <p:blipFill>
          <a:blip r:embed="rId3"/>
          <a:srcRect/>
          <a:stretch>
            <a:fillRect/>
          </a:stretch>
        </p:blipFill>
        <p:spPr>
          <a:xfrm>
            <a:off x="4694621" y="1790029"/>
            <a:ext cx="296997" cy="296997"/>
          </a:xfrm>
          <a:prstGeom prst="rect">
            <a:avLst/>
          </a:prstGeom>
        </p:spPr>
      </p:pic>
      <p:sp>
        <p:nvSpPr>
          <p:cNvPr id="13" name="risk122|card|"/>
          <p:cNvSpPr txBox="1"/>
          <p:nvPr/>
        </p:nvSpPr>
        <p:spPr>
          <a:xfrm>
            <a:off x="5236311" y="1700784"/>
            <a:ext cx="2414015" cy="475488"/>
          </a:xfrm>
          <a:prstGeom prst="rect">
            <a:avLst/>
          </a:prstGeom>
          <a:noFill/>
        </p:spPr>
        <p:txBody>
          <a:bodyPr wrap="square" lIns="0" rIns="0" tIns="0" bIns="0" anchor="ctr">
            <a:noAutofit/>
          </a:bodyPr>
          <a:lstStyle/>
          <a:p>
            <a:pPr algn="l"/>
            <a:r>
              <a:rPr sz="1700" b="1">
                <a:solidFill>
                  <a:srgbClr val="20242B"/>
                </a:solidFill>
                <a:latin typeface="Poppins"/>
              </a:rPr>
              <a:t>FX</a:t>
            </a:r>
          </a:p>
        </p:txBody>
      </p:sp>
      <p:sp>
        <p:nvSpPr>
          <p:cNvPr id="14" name="risk122|card|"/>
          <p:cNvSpPr txBox="1"/>
          <p:nvPr/>
        </p:nvSpPr>
        <p:spPr>
          <a:xfrm>
            <a:off x="4614519" y="2304288"/>
            <a:ext cx="2962656" cy="502920"/>
          </a:xfrm>
          <a:prstGeom prst="rect">
            <a:avLst/>
          </a:prstGeom>
          <a:noFill/>
        </p:spPr>
        <p:txBody>
          <a:bodyPr wrap="square" lIns="0" rIns="0" tIns="0" bIns="0" anchor="t">
            <a:noAutofit/>
          </a:bodyPr>
          <a:lstStyle/>
          <a:p>
            <a:pPr algn="l"/>
            <a:r>
              <a:rPr sz="1400" b="0">
                <a:solidFill>
                  <a:srgbClr val="5B6670"/>
                </a:solidFill>
                <a:latin typeface="Inter"/>
              </a:rPr>
              <a:t>NGN, KES and GHS can weaken against the rand.</a:t>
            </a:r>
          </a:p>
        </p:txBody>
      </p:sp>
      <p:sp>
        <p:nvSpPr>
          <p:cNvPr id="15" name="risk122|card|"/>
          <p:cNvSpPr txBox="1"/>
          <p:nvPr/>
        </p:nvSpPr>
        <p:spPr>
          <a:xfrm>
            <a:off x="4614519" y="2852928"/>
            <a:ext cx="2962656" cy="777240"/>
          </a:xfrm>
          <a:prstGeom prst="rect">
            <a:avLst/>
          </a:prstGeom>
          <a:noFill/>
        </p:spPr>
        <p:txBody>
          <a:bodyPr wrap="square" lIns="0" rIns="0" tIns="0" bIns="0" anchor="t">
            <a:noAutofit/>
          </a:bodyPr>
          <a:lstStyle/>
          <a:p>
            <a:pPr algn="l"/>
            <a:r>
              <a:rPr sz="1400" b="1">
                <a:solidFill>
                  <a:srgbClr val="20242B"/>
                </a:solidFill>
                <a:latin typeface="Inter"/>
              </a:rPr>
              <a:t>Fixed local prices reviewed quarterly; a ZAR +15% shock still passes.</a:t>
            </a:r>
          </a:p>
        </p:txBody>
      </p:sp>
      <p:sp>
        <p:nvSpPr>
          <p:cNvPr id="16" name="risk123|card|"/>
          <p:cNvSpPr/>
          <p:nvPr/>
        </p:nvSpPr>
        <p:spPr>
          <a:xfrm>
            <a:off x="8131759" y="1481328"/>
            <a:ext cx="3511296"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isk123|deco|"/>
          <p:cNvSpPr/>
          <p:nvPr/>
        </p:nvSpPr>
        <p:spPr>
          <a:xfrm>
            <a:off x="8369503" y="1673352"/>
            <a:ext cx="530352" cy="53035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risk123|icon|shield_deep.png" descr="shield_deep"/>
          <p:cNvPicPr>
            <a:picLocks noChangeAspect="1"/>
          </p:cNvPicPr>
          <p:nvPr/>
        </p:nvPicPr>
        <p:blipFill>
          <a:blip r:embed="rId4"/>
          <a:srcRect/>
          <a:stretch>
            <a:fillRect/>
          </a:stretch>
        </p:blipFill>
        <p:spPr>
          <a:xfrm>
            <a:off x="8486180" y="1790029"/>
            <a:ext cx="296997" cy="296997"/>
          </a:xfrm>
          <a:prstGeom prst="rect">
            <a:avLst/>
          </a:prstGeom>
        </p:spPr>
      </p:pic>
      <p:sp>
        <p:nvSpPr>
          <p:cNvPr id="19" name="risk123|card|"/>
          <p:cNvSpPr txBox="1"/>
          <p:nvPr/>
        </p:nvSpPr>
        <p:spPr>
          <a:xfrm>
            <a:off x="9027871" y="1700784"/>
            <a:ext cx="2414015" cy="475488"/>
          </a:xfrm>
          <a:prstGeom prst="rect">
            <a:avLst/>
          </a:prstGeom>
          <a:noFill/>
        </p:spPr>
        <p:txBody>
          <a:bodyPr wrap="square" lIns="0" rIns="0" tIns="0" bIns="0" anchor="ctr">
            <a:noAutofit/>
          </a:bodyPr>
          <a:lstStyle/>
          <a:p>
            <a:pPr algn="l"/>
            <a:r>
              <a:rPr sz="1700" b="1">
                <a:solidFill>
                  <a:srgbClr val="20242B"/>
                </a:solidFill>
                <a:latin typeface="Poppins"/>
              </a:rPr>
              <a:t>Meta dependency</a:t>
            </a:r>
          </a:p>
        </p:txBody>
      </p:sp>
      <p:sp>
        <p:nvSpPr>
          <p:cNvPr id="20" name="risk123|card|"/>
          <p:cNvSpPr txBox="1"/>
          <p:nvPr/>
        </p:nvSpPr>
        <p:spPr>
          <a:xfrm>
            <a:off x="8406079" y="2304288"/>
            <a:ext cx="2962656" cy="502920"/>
          </a:xfrm>
          <a:prstGeom prst="rect">
            <a:avLst/>
          </a:prstGeom>
          <a:noFill/>
        </p:spPr>
        <p:txBody>
          <a:bodyPr wrap="square" lIns="0" rIns="0" tIns="0" bIns="0" anchor="t">
            <a:noAutofit/>
          </a:bodyPr>
          <a:lstStyle/>
          <a:p>
            <a:pPr algn="l"/>
            <a:r>
              <a:rPr sz="1400" b="0">
                <a:solidFill>
                  <a:srgbClr val="5B6670"/>
                </a:solidFill>
                <a:latin typeface="Inter"/>
              </a:rPr>
              <a:t>WhatsApp and Pages run on Meta; Instagram is in App Review.</a:t>
            </a:r>
          </a:p>
        </p:txBody>
      </p:sp>
      <p:sp>
        <p:nvSpPr>
          <p:cNvPr id="21" name="risk123|card|"/>
          <p:cNvSpPr txBox="1"/>
          <p:nvPr/>
        </p:nvSpPr>
        <p:spPr>
          <a:xfrm>
            <a:off x="8406079" y="2852928"/>
            <a:ext cx="2962656" cy="777240"/>
          </a:xfrm>
          <a:prstGeom prst="rect">
            <a:avLst/>
          </a:prstGeom>
          <a:noFill/>
        </p:spPr>
        <p:txBody>
          <a:bodyPr wrap="square" lIns="0" rIns="0" tIns="0" bIns="0" anchor="t">
            <a:noAutofit/>
          </a:bodyPr>
          <a:lstStyle/>
          <a:p>
            <a:pPr algn="l"/>
            <a:r>
              <a:rPr sz="1400" b="1">
                <a:solidFill>
                  <a:srgbClr val="20242B"/>
                </a:solidFill>
                <a:latin typeface="Inter"/>
              </a:rPr>
              <a:t>Verified Tech Provider on the official Cloud API; email, SMS, USSD and web chat too.</a:t>
            </a:r>
          </a:p>
        </p:txBody>
      </p:sp>
      <p:sp>
        <p:nvSpPr>
          <p:cNvPr id="22" name="risk124|card|"/>
          <p:cNvSpPr/>
          <p:nvPr/>
        </p:nvSpPr>
        <p:spPr>
          <a:xfrm>
            <a:off x="548640" y="3886200"/>
            <a:ext cx="3511296"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isk124|deco|"/>
          <p:cNvSpPr/>
          <p:nvPr/>
        </p:nvSpPr>
        <p:spPr>
          <a:xfrm>
            <a:off x="786383" y="4078224"/>
            <a:ext cx="530352" cy="53035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risk124|icon|card_deep.png" descr="card_deep"/>
          <p:cNvPicPr>
            <a:picLocks noChangeAspect="1"/>
          </p:cNvPicPr>
          <p:nvPr/>
        </p:nvPicPr>
        <p:blipFill>
          <a:blip r:embed="rId5"/>
          <a:srcRect/>
          <a:stretch>
            <a:fillRect/>
          </a:stretch>
        </p:blipFill>
        <p:spPr>
          <a:xfrm>
            <a:off x="903061" y="4194901"/>
            <a:ext cx="296997" cy="296997"/>
          </a:xfrm>
          <a:prstGeom prst="rect">
            <a:avLst/>
          </a:prstGeom>
        </p:spPr>
      </p:pic>
      <p:sp>
        <p:nvSpPr>
          <p:cNvPr id="25" name="risk124|card|"/>
          <p:cNvSpPr txBox="1"/>
          <p:nvPr/>
        </p:nvSpPr>
        <p:spPr>
          <a:xfrm>
            <a:off x="1444752" y="4105656"/>
            <a:ext cx="2414015" cy="475488"/>
          </a:xfrm>
          <a:prstGeom prst="rect">
            <a:avLst/>
          </a:prstGeom>
          <a:noFill/>
        </p:spPr>
        <p:txBody>
          <a:bodyPr wrap="square" lIns="0" rIns="0" tIns="0" bIns="0" anchor="ctr">
            <a:noAutofit/>
          </a:bodyPr>
          <a:lstStyle/>
          <a:p>
            <a:pPr algn="l"/>
            <a:r>
              <a:rPr sz="1700" b="1">
                <a:solidFill>
                  <a:srgbClr val="20242B"/>
                </a:solidFill>
                <a:latin typeface="Poppins"/>
              </a:rPr>
              <a:t>Rail concentration</a:t>
            </a:r>
          </a:p>
        </p:txBody>
      </p:sp>
      <p:sp>
        <p:nvSpPr>
          <p:cNvPr id="26" name="risk124|card|"/>
          <p:cNvSpPr txBox="1"/>
          <p:nvPr/>
        </p:nvSpPr>
        <p:spPr>
          <a:xfrm>
            <a:off x="822959" y="4709160"/>
            <a:ext cx="2962656" cy="502920"/>
          </a:xfrm>
          <a:prstGeom prst="rect">
            <a:avLst/>
          </a:prstGeom>
          <a:noFill/>
        </p:spPr>
        <p:txBody>
          <a:bodyPr wrap="square" lIns="0" rIns="0" tIns="0" bIns="0" anchor="t">
            <a:noAutofit/>
          </a:bodyPr>
          <a:lstStyle/>
          <a:p>
            <a:pPr algn="l"/>
            <a:r>
              <a:rPr sz="1400" b="0">
                <a:solidFill>
                  <a:srgbClr val="5B6670"/>
                </a:solidFill>
                <a:latin typeface="Inter"/>
              </a:rPr>
              <a:t>A rail outage or contract change hits checkout.</a:t>
            </a:r>
          </a:p>
        </p:txBody>
      </p:sp>
      <p:sp>
        <p:nvSpPr>
          <p:cNvPr id="27" name="risk124|card|"/>
          <p:cNvSpPr txBox="1"/>
          <p:nvPr/>
        </p:nvSpPr>
        <p:spPr>
          <a:xfrm>
            <a:off x="822959" y="5257800"/>
            <a:ext cx="2962656" cy="777240"/>
          </a:xfrm>
          <a:prstGeom prst="rect">
            <a:avLst/>
          </a:prstGeom>
          <a:noFill/>
        </p:spPr>
        <p:txBody>
          <a:bodyPr wrap="square" lIns="0" rIns="0" tIns="0" bIns="0" anchor="t">
            <a:noAutofit/>
          </a:bodyPr>
          <a:lstStyle/>
          <a:p>
            <a:pPr algn="l"/>
            <a:r>
              <a:rPr sz="1400" b="1">
                <a:solidFill>
                  <a:srgbClr val="20242B"/>
                </a:solidFill>
                <a:latin typeface="Inter"/>
              </a:rPr>
              <a:t>Five rails: four in South Africa, three each in Nigeria, Kenya and Ghana.</a:t>
            </a:r>
          </a:p>
        </p:txBody>
      </p:sp>
      <p:sp>
        <p:nvSpPr>
          <p:cNvPr id="28" name="risk125|card|"/>
          <p:cNvSpPr/>
          <p:nvPr/>
        </p:nvSpPr>
        <p:spPr>
          <a:xfrm>
            <a:off x="4340199" y="3886200"/>
            <a:ext cx="3511296"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isk125|deco|"/>
          <p:cNvSpPr/>
          <p:nvPr/>
        </p:nvSpPr>
        <p:spPr>
          <a:xfrm>
            <a:off x="4577943" y="4078224"/>
            <a:ext cx="530352" cy="53035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risk125|icon|users_deep.png" descr="users_deep"/>
          <p:cNvPicPr>
            <a:picLocks noChangeAspect="1"/>
          </p:cNvPicPr>
          <p:nvPr/>
        </p:nvPicPr>
        <p:blipFill>
          <a:blip r:embed="rId6"/>
          <a:srcRect/>
          <a:stretch>
            <a:fillRect/>
          </a:stretch>
        </p:blipFill>
        <p:spPr>
          <a:xfrm>
            <a:off x="4694621" y="4194901"/>
            <a:ext cx="296997" cy="296997"/>
          </a:xfrm>
          <a:prstGeom prst="rect">
            <a:avLst/>
          </a:prstGeom>
        </p:spPr>
      </p:pic>
      <p:sp>
        <p:nvSpPr>
          <p:cNvPr id="31" name="risk125|card|"/>
          <p:cNvSpPr txBox="1"/>
          <p:nvPr/>
        </p:nvSpPr>
        <p:spPr>
          <a:xfrm>
            <a:off x="5236311" y="4105656"/>
            <a:ext cx="2414015" cy="475488"/>
          </a:xfrm>
          <a:prstGeom prst="rect">
            <a:avLst/>
          </a:prstGeom>
          <a:noFill/>
        </p:spPr>
        <p:txBody>
          <a:bodyPr wrap="square" lIns="0" rIns="0" tIns="0" bIns="0" anchor="ctr">
            <a:noAutofit/>
          </a:bodyPr>
          <a:lstStyle/>
          <a:p>
            <a:pPr algn="l"/>
            <a:r>
              <a:rPr sz="1700" b="1">
                <a:solidFill>
                  <a:srgbClr val="20242B"/>
                </a:solidFill>
                <a:latin typeface="Poppins"/>
              </a:rPr>
              <a:t>Competition</a:t>
            </a:r>
          </a:p>
        </p:txBody>
      </p:sp>
      <p:sp>
        <p:nvSpPr>
          <p:cNvPr id="32" name="risk125|card|"/>
          <p:cNvSpPr txBox="1"/>
          <p:nvPr/>
        </p:nvSpPr>
        <p:spPr>
          <a:xfrm>
            <a:off x="4614519" y="4709160"/>
            <a:ext cx="2962656" cy="502920"/>
          </a:xfrm>
          <a:prstGeom prst="rect">
            <a:avLst/>
          </a:prstGeom>
          <a:noFill/>
        </p:spPr>
        <p:txBody>
          <a:bodyPr wrap="square" lIns="0" rIns="0" tIns="0" bIns="0" anchor="t">
            <a:noAutofit/>
          </a:bodyPr>
          <a:lstStyle/>
          <a:p>
            <a:pPr algn="l"/>
            <a:r>
              <a:rPr sz="1400" b="0">
                <a:solidFill>
                  <a:srgbClr val="5B6670"/>
                </a:solidFill>
                <a:latin typeface="Inter"/>
              </a:rPr>
              <a:t>Larger platforms could add local features.</a:t>
            </a:r>
          </a:p>
        </p:txBody>
      </p:sp>
      <p:sp>
        <p:nvSpPr>
          <p:cNvPr id="33" name="risk125|card|"/>
          <p:cNvSpPr txBox="1"/>
          <p:nvPr/>
        </p:nvSpPr>
        <p:spPr>
          <a:xfrm>
            <a:off x="4614519" y="5257800"/>
            <a:ext cx="2962656" cy="777240"/>
          </a:xfrm>
          <a:prstGeom prst="rect">
            <a:avLst/>
          </a:prstGeom>
          <a:noFill/>
        </p:spPr>
        <p:txBody>
          <a:bodyPr wrap="square" lIns="0" rIns="0" tIns="0" bIns="0" anchor="t">
            <a:noAutofit/>
          </a:bodyPr>
          <a:lstStyle/>
          <a:p>
            <a:pPr algn="l"/>
            <a:r>
              <a:rPr sz="1400" b="1">
                <a:solidFill>
                  <a:srgbClr val="20242B"/>
                </a:solidFill>
                <a:latin typeface="Inter"/>
              </a:rPr>
              <a:t>One product for AI marketing, chat checkout and local pricing; agencies as partners.</a:t>
            </a:r>
          </a:p>
        </p:txBody>
      </p:sp>
      <p:sp>
        <p:nvSpPr>
          <p:cNvPr id="34" name="risk126|card|"/>
          <p:cNvSpPr/>
          <p:nvPr/>
        </p:nvSpPr>
        <p:spPr>
          <a:xfrm>
            <a:off x="8131759" y="3886200"/>
            <a:ext cx="3511296"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isk126|deco|"/>
          <p:cNvSpPr/>
          <p:nvPr/>
        </p:nvSpPr>
        <p:spPr>
          <a:xfrm>
            <a:off x="8369503" y="4078224"/>
            <a:ext cx="530352" cy="53035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risk126|icon|briefcase_deep.png" descr="briefcase_deep"/>
          <p:cNvPicPr>
            <a:picLocks noChangeAspect="1"/>
          </p:cNvPicPr>
          <p:nvPr/>
        </p:nvPicPr>
        <p:blipFill>
          <a:blip r:embed="rId7"/>
          <a:srcRect/>
          <a:stretch>
            <a:fillRect/>
          </a:stretch>
        </p:blipFill>
        <p:spPr>
          <a:xfrm>
            <a:off x="8486180" y="4194901"/>
            <a:ext cx="296997" cy="296997"/>
          </a:xfrm>
          <a:prstGeom prst="rect">
            <a:avLst/>
          </a:prstGeom>
        </p:spPr>
      </p:pic>
      <p:sp>
        <p:nvSpPr>
          <p:cNvPr id="37" name="risk126|card|"/>
          <p:cNvSpPr txBox="1"/>
          <p:nvPr/>
        </p:nvSpPr>
        <p:spPr>
          <a:xfrm>
            <a:off x="9027871" y="4105656"/>
            <a:ext cx="2414015" cy="475488"/>
          </a:xfrm>
          <a:prstGeom prst="rect">
            <a:avLst/>
          </a:prstGeom>
          <a:noFill/>
        </p:spPr>
        <p:txBody>
          <a:bodyPr wrap="square" lIns="0" rIns="0" tIns="0" bIns="0" anchor="ctr">
            <a:noAutofit/>
          </a:bodyPr>
          <a:lstStyle/>
          <a:p>
            <a:pPr algn="l"/>
            <a:r>
              <a:rPr sz="1700" b="1">
                <a:solidFill>
                  <a:srgbClr val="20242B"/>
                </a:solidFill>
                <a:latin typeface="Poppins"/>
              </a:rPr>
              <a:t>Execution &amp; hiring</a:t>
            </a:r>
          </a:p>
        </p:txBody>
      </p:sp>
      <p:sp>
        <p:nvSpPr>
          <p:cNvPr id="38" name="risk126|card|"/>
          <p:cNvSpPr txBox="1"/>
          <p:nvPr/>
        </p:nvSpPr>
        <p:spPr>
          <a:xfrm>
            <a:off x="8406079" y="4709160"/>
            <a:ext cx="2962656" cy="502920"/>
          </a:xfrm>
          <a:prstGeom prst="rect">
            <a:avLst/>
          </a:prstGeom>
          <a:noFill/>
        </p:spPr>
        <p:txBody>
          <a:bodyPr wrap="square" lIns="0" rIns="0" tIns="0" bIns="0" anchor="t">
            <a:noAutofit/>
          </a:bodyPr>
          <a:lstStyle/>
          <a:p>
            <a:pPr algn="l"/>
            <a:r>
              <a:rPr sz="1400" b="0">
                <a:solidFill>
                  <a:srgbClr val="5B6670"/>
                </a:solidFill>
                <a:latin typeface="Inter"/>
              </a:rPr>
              <a:t>From 2 founders to 41 people by the end of FY2.</a:t>
            </a:r>
          </a:p>
        </p:txBody>
      </p:sp>
      <p:sp>
        <p:nvSpPr>
          <p:cNvPr id="39" name="risk126|card|"/>
          <p:cNvSpPr txBox="1"/>
          <p:nvPr/>
        </p:nvSpPr>
        <p:spPr>
          <a:xfrm>
            <a:off x="8406079" y="5257800"/>
            <a:ext cx="2962656" cy="777240"/>
          </a:xfrm>
          <a:prstGeom prst="rect">
            <a:avLst/>
          </a:prstGeom>
          <a:noFill/>
        </p:spPr>
        <p:txBody>
          <a:bodyPr wrap="square" lIns="0" rIns="0" tIns="0" bIns="0" anchor="t">
            <a:noAutofit/>
          </a:bodyPr>
          <a:lstStyle/>
          <a:p>
            <a:pPr algn="l"/>
            <a:r>
              <a:rPr sz="1400" b="1">
                <a:solidFill>
                  <a:srgbClr val="20242B"/>
                </a:solidFill>
                <a:latin typeface="Inter"/>
              </a:rPr>
              <a:t>Every hire waits for an MRR milestone; country leads only once SA carries them.</a:t>
            </a:r>
          </a:p>
        </p:txBody>
      </p:sp>
      <p:sp>
        <p:nvSpPr>
          <p:cNvPr id="40"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Confidential</a:t>
            </a:r>
          </a:p>
        </p:txBody>
      </p:sp>
      <p:sp>
        <p:nvSpPr>
          <p:cNvPr id="41"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15</a:t>
            </a:fld>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27|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THE ASK</a:t>
            </a:r>
          </a:p>
        </p:txBody>
      </p:sp>
      <p:sp>
        <p:nvSpPr>
          <p:cNvPr id="3" name="hdr127|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R25M seed to reach profitability</a:t>
            </a:r>
          </a:p>
        </p:txBody>
      </p:sp>
      <p:sp>
        <p:nvSpPr>
          <p:cNvPr id="4" name="ask128|card|"/>
          <p:cNvSpPr/>
          <p:nvPr/>
        </p:nvSpPr>
        <p:spPr>
          <a:xfrm>
            <a:off x="548640" y="1481328"/>
            <a:ext cx="4023360" cy="2377440"/>
          </a:xfrm>
          <a:prstGeom prst="roundRect">
            <a:avLst>
              <a:gd name="adj" fmla="val 7692"/>
            </a:avLst>
          </a:prstGeom>
          <a:solidFill>
            <a:srgbClr val="0F14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ask128|card|"/>
          <p:cNvSpPr txBox="1"/>
          <p:nvPr/>
        </p:nvSpPr>
        <p:spPr>
          <a:xfrm>
            <a:off x="868680" y="1554480"/>
            <a:ext cx="3383280" cy="1097280"/>
          </a:xfrm>
          <a:prstGeom prst="rect">
            <a:avLst/>
          </a:prstGeom>
          <a:noFill/>
        </p:spPr>
        <p:txBody>
          <a:bodyPr wrap="square" lIns="0" rIns="0" tIns="0" bIns="0" anchor="t">
            <a:noAutofit/>
          </a:bodyPr>
          <a:lstStyle/>
          <a:p>
            <a:pPr algn="l"/>
            <a:r>
              <a:rPr sz="5400" b="1">
                <a:solidFill>
                  <a:srgbClr val="FF6A00"/>
                </a:solidFill>
                <a:latin typeface="Poppins"/>
              </a:rPr>
              <a:t>R25M</a:t>
            </a:r>
          </a:p>
        </p:txBody>
      </p:sp>
      <p:sp>
        <p:nvSpPr>
          <p:cNvPr id="6" name="ask128|card|"/>
          <p:cNvSpPr txBox="1"/>
          <p:nvPr/>
        </p:nvSpPr>
        <p:spPr>
          <a:xfrm>
            <a:off x="868680" y="2688336"/>
            <a:ext cx="3383280" cy="310896"/>
          </a:xfrm>
          <a:prstGeom prst="rect">
            <a:avLst/>
          </a:prstGeom>
          <a:noFill/>
        </p:spPr>
        <p:txBody>
          <a:bodyPr wrap="square" lIns="0" rIns="0" tIns="0" bIns="0" anchor="t">
            <a:noAutofit/>
          </a:bodyPr>
          <a:lstStyle/>
          <a:p>
            <a:pPr algn="l"/>
            <a:r>
              <a:rPr sz="1600" b="1">
                <a:solidFill>
                  <a:srgbClr val="FFFFFF"/>
                </a:solidFill>
                <a:latin typeface="Inter"/>
              </a:rPr>
              <a:t>Seed round · ≈US$1.35M</a:t>
            </a:r>
          </a:p>
        </p:txBody>
      </p:sp>
      <p:sp>
        <p:nvSpPr>
          <p:cNvPr id="7" name="ask128|placeholder|"/>
          <p:cNvSpPr txBox="1"/>
          <p:nvPr/>
        </p:nvSpPr>
        <p:spPr>
          <a:xfrm>
            <a:off x="868680" y="3035808"/>
            <a:ext cx="3383280" cy="310896"/>
          </a:xfrm>
          <a:prstGeom prst="rect">
            <a:avLst/>
          </a:prstGeom>
          <a:noFill/>
        </p:spPr>
        <p:txBody>
          <a:bodyPr wrap="square" lIns="0" rIns="0" tIns="0" bIns="0" anchor="t">
            <a:noAutofit/>
          </a:bodyPr>
          <a:lstStyle/>
          <a:p>
            <a:pPr algn="l"/>
            <a:r>
              <a:rPr sz="1400" b="0">
                <a:solidFill>
                  <a:srgbClr val="FFFFFF"/>
                </a:solidFill>
                <a:latin typeface="Inter"/>
              </a:rPr>
              <a:t>Instrument [[TBC]] · valuation [[TBC]]</a:t>
            </a:r>
          </a:p>
        </p:txBody>
      </p:sp>
      <p:sp>
        <p:nvSpPr>
          <p:cNvPr id="8" name="ask128|card|"/>
          <p:cNvSpPr txBox="1"/>
          <p:nvPr/>
        </p:nvSpPr>
        <p:spPr>
          <a:xfrm>
            <a:off x="868680" y="3364992"/>
            <a:ext cx="3383280" cy="457200"/>
          </a:xfrm>
          <a:prstGeom prst="rect">
            <a:avLst/>
          </a:prstGeom>
          <a:noFill/>
        </p:spPr>
        <p:txBody>
          <a:bodyPr wrap="square" lIns="0" rIns="0" tIns="0" bIns="0" anchor="t">
            <a:noAutofit/>
          </a:bodyPr>
          <a:lstStyle/>
          <a:p>
            <a:pPr algn="l"/>
            <a:r>
              <a:rPr sz="1400" b="0">
                <a:solidFill>
                  <a:srgbClr val="A7B0B8"/>
                </a:solidFill>
                <a:latin typeface="Inter"/>
              </a:rPr>
              <a:t>Close Feb 2027 · pre-seed bridge R57.5k</a:t>
            </a:r>
          </a:p>
        </p:txBody>
      </p:sp>
      <p:sp>
        <p:nvSpPr>
          <p:cNvPr id="9" name="rec129|card|"/>
          <p:cNvSpPr/>
          <p:nvPr/>
        </p:nvSpPr>
        <p:spPr>
          <a:xfrm>
            <a:off x="548640" y="4023360"/>
            <a:ext cx="4023360" cy="2286000"/>
          </a:xfrm>
          <a:prstGeom prst="roundRect">
            <a:avLst>
              <a:gd name="adj" fmla="val 8000"/>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129|eyebrow|"/>
          <p:cNvSpPr txBox="1"/>
          <p:nvPr/>
        </p:nvSpPr>
        <p:spPr>
          <a:xfrm>
            <a:off x="822959" y="4169663"/>
            <a:ext cx="3474720" cy="256032"/>
          </a:xfrm>
          <a:prstGeom prst="rect">
            <a:avLst/>
          </a:prstGeom>
          <a:noFill/>
        </p:spPr>
        <p:txBody>
          <a:bodyPr wrap="square" lIns="0" rIns="0" tIns="0" bIns="0" anchor="t">
            <a:noAutofit/>
          </a:bodyPr>
          <a:lstStyle/>
          <a:p>
            <a:pPr algn="l"/>
            <a:r>
              <a:rPr sz="1200" b="1" spc="120">
                <a:solidFill>
                  <a:srgbClr val="C24E00"/>
                </a:solidFill>
                <a:latin typeface="Inter"/>
              </a:rPr>
              <a:t>MODELLED SPEND VS ALLOCATION</a:t>
            </a:r>
          </a:p>
        </p:txBody>
      </p:sp>
      <p:sp>
        <p:nvSpPr>
          <p:cNvPr id="11" name="rec129|card|"/>
          <p:cNvSpPr txBox="1"/>
          <p:nvPr/>
        </p:nvSpPr>
        <p:spPr>
          <a:xfrm>
            <a:off x="822959" y="4462272"/>
            <a:ext cx="3474720" cy="1737360"/>
          </a:xfrm>
          <a:prstGeom prst="rect">
            <a:avLst/>
          </a:prstGeom>
          <a:noFill/>
        </p:spPr>
        <p:txBody>
          <a:bodyPr wrap="square" lIns="0" rIns="0" tIns="0" bIns="0" anchor="t">
            <a:noAutofit/>
          </a:bodyPr>
          <a:lstStyle/>
          <a:p>
            <a:pPr algn="l"/>
            <a:r>
              <a:rPr sz="1400" b="0">
                <a:solidFill>
                  <a:srgbClr val="20242B"/>
                </a:solidFill>
                <a:latin typeface="Inter"/>
              </a:rPr>
              <a:t>The seed funds net burn: R16.93M is used in the first 24 months, leaving R8.07M unspent as a downside reserve if trial volume underperforms. Expansion runs at 9.7% of spend, operations at 21.6%.</a:t>
            </a:r>
          </a:p>
        </p:txBody>
      </p:sp>
      <p:pic>
        <p:nvPicPr>
          <p:cNvPr id="12" name="g130|img|charts/use_of_funds_16x9.png" descr="Use of funds: R10.0M product and engineering, R7.5M sales and marketing, R3.75M operations, R3.75M market expansion"/>
          <p:cNvPicPr>
            <a:picLocks noChangeAspect="1"/>
          </p:cNvPicPr>
          <p:nvPr/>
        </p:nvPicPr>
        <p:blipFill>
          <a:blip r:embed="rId2"/>
          <a:srcRect l="12000" t="16000" r="8000" b="10000"/>
          <a:stretch>
            <a:fillRect/>
          </a:stretch>
        </p:blipFill>
        <p:spPr>
          <a:xfrm>
            <a:off x="5299661" y="1481328"/>
            <a:ext cx="5887308" cy="3063240"/>
          </a:xfrm>
          <a:prstGeom prst="rect">
            <a:avLst/>
          </a:prstGeom>
        </p:spPr>
      </p:pic>
      <p:sp>
        <p:nvSpPr>
          <p:cNvPr id="13" name="buy131|card|"/>
          <p:cNvSpPr/>
          <p:nvPr/>
        </p:nvSpPr>
        <p:spPr>
          <a:xfrm>
            <a:off x="4846320" y="4663440"/>
            <a:ext cx="3328415" cy="768096"/>
          </a:xfrm>
          <a:prstGeom prst="roundRect">
            <a:avLst>
              <a:gd name="adj" fmla="val 1666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buy131|card|"/>
          <p:cNvSpPr txBox="1"/>
          <p:nvPr/>
        </p:nvSpPr>
        <p:spPr>
          <a:xfrm>
            <a:off x="4983480" y="4690872"/>
            <a:ext cx="3054096" cy="713232"/>
          </a:xfrm>
          <a:prstGeom prst="rect">
            <a:avLst/>
          </a:prstGeom>
          <a:noFill/>
        </p:spPr>
        <p:txBody>
          <a:bodyPr wrap="square" lIns="0" rIns="0" tIns="0" bIns="0" anchor="ctr">
            <a:noAutofit/>
          </a:bodyPr>
          <a:lstStyle/>
          <a:p>
            <a:pPr algn="l"/>
            <a:r>
              <a:rPr sz="1400" b="1">
                <a:solidFill>
                  <a:srgbClr val="C24E00"/>
                </a:solidFill>
                <a:latin typeface="Inter"/>
              </a:rPr>
              <a:t>R10.0M product &amp; engineering: </a:t>
            </a:r>
            <a:r>
              <a:rPr sz="1400" b="0">
                <a:solidFill>
                  <a:srgbClr val="20242B"/>
                </a:solidFill>
                <a:latin typeface="Inter"/>
              </a:rPr>
              <a:t>engineers, AI/ML, design, integrations, hosting</a:t>
            </a:r>
          </a:p>
        </p:txBody>
      </p:sp>
      <p:sp>
        <p:nvSpPr>
          <p:cNvPr id="15" name="buy132|card|"/>
          <p:cNvSpPr/>
          <p:nvPr/>
        </p:nvSpPr>
        <p:spPr>
          <a:xfrm>
            <a:off x="8311896" y="4663440"/>
            <a:ext cx="3328415" cy="768096"/>
          </a:xfrm>
          <a:prstGeom prst="roundRect">
            <a:avLst>
              <a:gd name="adj" fmla="val 1666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uy132|card|"/>
          <p:cNvSpPr txBox="1"/>
          <p:nvPr/>
        </p:nvSpPr>
        <p:spPr>
          <a:xfrm>
            <a:off x="8449056" y="4690872"/>
            <a:ext cx="3054096" cy="713232"/>
          </a:xfrm>
          <a:prstGeom prst="rect">
            <a:avLst/>
          </a:prstGeom>
          <a:noFill/>
        </p:spPr>
        <p:txBody>
          <a:bodyPr wrap="square" lIns="0" rIns="0" tIns="0" bIns="0" anchor="ctr">
            <a:noAutofit/>
          </a:bodyPr>
          <a:lstStyle/>
          <a:p>
            <a:pPr algn="l"/>
            <a:r>
              <a:rPr sz="1400" b="1">
                <a:solidFill>
                  <a:srgbClr val="C24E00"/>
                </a:solidFill>
                <a:latin typeface="Inter"/>
              </a:rPr>
              <a:t>R7.5M sales &amp; marketing: </a:t>
            </a:r>
            <a:r>
              <a:rPr sz="1400" b="0">
                <a:solidFill>
                  <a:srgbClr val="20242B"/>
                </a:solidFill>
                <a:latin typeface="Inter"/>
              </a:rPr>
              <a:t>growth team, partnerships, capped paid acquisition</a:t>
            </a:r>
          </a:p>
        </p:txBody>
      </p:sp>
      <p:sp>
        <p:nvSpPr>
          <p:cNvPr id="17" name="buy133|card|"/>
          <p:cNvSpPr/>
          <p:nvPr/>
        </p:nvSpPr>
        <p:spPr>
          <a:xfrm>
            <a:off x="4846320" y="5486400"/>
            <a:ext cx="3328415" cy="768096"/>
          </a:xfrm>
          <a:prstGeom prst="roundRect">
            <a:avLst>
              <a:gd name="adj" fmla="val 1666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uy133|card|"/>
          <p:cNvSpPr txBox="1"/>
          <p:nvPr/>
        </p:nvSpPr>
        <p:spPr>
          <a:xfrm>
            <a:off x="4983480" y="5513832"/>
            <a:ext cx="3054096" cy="713232"/>
          </a:xfrm>
          <a:prstGeom prst="rect">
            <a:avLst/>
          </a:prstGeom>
          <a:noFill/>
        </p:spPr>
        <p:txBody>
          <a:bodyPr wrap="square" lIns="0" rIns="0" tIns="0" bIns="0" anchor="ctr">
            <a:noAutofit/>
          </a:bodyPr>
          <a:lstStyle/>
          <a:p>
            <a:pPr algn="l"/>
            <a:r>
              <a:rPr sz="1400" b="1">
                <a:solidFill>
                  <a:srgbClr val="C24E00"/>
                </a:solidFill>
                <a:latin typeface="Inter"/>
              </a:rPr>
              <a:t>R3.75M expansion: </a:t>
            </a:r>
            <a:r>
              <a:rPr sz="1400" b="0">
                <a:solidFill>
                  <a:srgbClr val="20242B"/>
                </a:solidFill>
                <a:latin typeface="Inter"/>
              </a:rPr>
              <a:t>NG/KE/GH country teams, compliance, launches</a:t>
            </a:r>
          </a:p>
        </p:txBody>
      </p:sp>
      <p:sp>
        <p:nvSpPr>
          <p:cNvPr id="19" name="buy134|card|"/>
          <p:cNvSpPr/>
          <p:nvPr/>
        </p:nvSpPr>
        <p:spPr>
          <a:xfrm>
            <a:off x="8311896" y="5486400"/>
            <a:ext cx="3328415" cy="768096"/>
          </a:xfrm>
          <a:prstGeom prst="roundRect">
            <a:avLst>
              <a:gd name="adj" fmla="val 1666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uy134|card|"/>
          <p:cNvSpPr txBox="1"/>
          <p:nvPr/>
        </p:nvSpPr>
        <p:spPr>
          <a:xfrm>
            <a:off x="8449056" y="5513832"/>
            <a:ext cx="3054096" cy="713232"/>
          </a:xfrm>
          <a:prstGeom prst="rect">
            <a:avLst/>
          </a:prstGeom>
          <a:noFill/>
        </p:spPr>
        <p:txBody>
          <a:bodyPr wrap="square" lIns="0" rIns="0" tIns="0" bIns="0" anchor="ctr">
            <a:noAutofit/>
          </a:bodyPr>
          <a:lstStyle/>
          <a:p>
            <a:pPr algn="l"/>
            <a:r>
              <a:rPr sz="1400" b="1">
                <a:solidFill>
                  <a:srgbClr val="C24E00"/>
                </a:solidFill>
                <a:latin typeface="Inter"/>
              </a:rPr>
              <a:t>R3.75M operations: </a:t>
            </a:r>
            <a:r>
              <a:rPr sz="1400" b="0">
                <a:solidFill>
                  <a:srgbClr val="20242B"/>
                </a:solidFill>
                <a:latin typeface="Inter"/>
              </a:rPr>
              <a:t>customer success, finance, processing, cash buffer</a:t>
            </a:r>
          </a:p>
        </p:txBody>
      </p:sp>
      <p:sp>
        <p:nvSpPr>
          <p:cNvPr id="21"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Confidential</a:t>
            </a:r>
          </a:p>
        </p:txBody>
      </p:sp>
      <p:sp>
        <p:nvSpPr>
          <p:cNvPr id="22"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16</a:t>
            </a:fld>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35|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MILESTONES THIS ROUND BUYS</a:t>
            </a:r>
          </a:p>
        </p:txBody>
      </p:sp>
      <p:sp>
        <p:nvSpPr>
          <p:cNvPr id="3" name="hdr135|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From pilot to break-even</a:t>
            </a:r>
          </a:p>
        </p:txBody>
      </p:sp>
      <p:sp>
        <p:nvSpPr>
          <p:cNvPr id="4" name="g136|deco|"/>
          <p:cNvSpPr/>
          <p:nvPr/>
        </p:nvSpPr>
        <p:spPr>
          <a:xfrm>
            <a:off x="1599559" y="1682496"/>
            <a:ext cx="8992575" cy="36576"/>
          </a:xfrm>
          <a:prstGeom prst="rect">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ms137|deco|"/>
          <p:cNvSpPr/>
          <p:nvPr/>
        </p:nvSpPr>
        <p:spPr>
          <a:xfrm>
            <a:off x="1498975" y="1600200"/>
            <a:ext cx="201168" cy="201168"/>
          </a:xfrm>
          <a:prstGeom prst="ellipse">
            <a:avLst/>
          </a:prstGeom>
          <a:solidFill>
            <a:srgbClr val="FFFFFF"/>
          </a:solidFill>
          <a:ln w="25400">
            <a:solidFill>
              <a:srgbClr val="FF6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ms137|card|"/>
          <p:cNvSpPr/>
          <p:nvPr/>
        </p:nvSpPr>
        <p:spPr>
          <a:xfrm>
            <a:off x="548640" y="1929384"/>
            <a:ext cx="2101839" cy="1783080"/>
          </a:xfrm>
          <a:prstGeom prst="roundRect">
            <a:avLst>
              <a:gd name="adj" fmla="val 8205"/>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ms137|card|"/>
          <p:cNvSpPr txBox="1"/>
          <p:nvPr/>
        </p:nvSpPr>
        <p:spPr>
          <a:xfrm>
            <a:off x="731520" y="2084832"/>
            <a:ext cx="1736079" cy="365760"/>
          </a:xfrm>
          <a:prstGeom prst="rect">
            <a:avLst/>
          </a:prstGeom>
          <a:noFill/>
        </p:spPr>
        <p:txBody>
          <a:bodyPr wrap="square" lIns="0" rIns="0" tIns="0" bIns="0" anchor="t">
            <a:noAutofit/>
          </a:bodyPr>
          <a:lstStyle/>
          <a:p>
            <a:pPr algn="l"/>
            <a:r>
              <a:rPr sz="1600" b="1">
                <a:solidFill>
                  <a:srgbClr val="C24E00"/>
                </a:solidFill>
                <a:latin typeface="Poppins"/>
              </a:rPr>
              <a:t>Sept 2026</a:t>
            </a:r>
          </a:p>
        </p:txBody>
      </p:sp>
      <p:sp>
        <p:nvSpPr>
          <p:cNvPr id="8" name="ms137|card|"/>
          <p:cNvSpPr txBox="1"/>
          <p:nvPr/>
        </p:nvSpPr>
        <p:spPr>
          <a:xfrm>
            <a:off x="731520" y="2487168"/>
            <a:ext cx="1736079" cy="1143000"/>
          </a:xfrm>
          <a:prstGeom prst="rect">
            <a:avLst/>
          </a:prstGeom>
          <a:noFill/>
        </p:spPr>
        <p:txBody>
          <a:bodyPr wrap="square" lIns="0" rIns="0" tIns="0" bIns="0" anchor="t">
            <a:noAutofit/>
          </a:bodyPr>
          <a:lstStyle/>
          <a:p>
            <a:pPr algn="l"/>
            <a:r>
              <a:rPr sz="1400" b="0">
                <a:solidFill>
                  <a:srgbClr val="20242B"/>
                </a:solidFill>
                <a:latin typeface="Inter"/>
              </a:rPr>
              <a:t>All 5 payment rails live, 23 countries</a:t>
            </a:r>
          </a:p>
        </p:txBody>
      </p:sp>
      <p:sp>
        <p:nvSpPr>
          <p:cNvPr id="9" name="ms138|deco|"/>
          <p:cNvSpPr/>
          <p:nvPr/>
        </p:nvSpPr>
        <p:spPr>
          <a:xfrm>
            <a:off x="3747119" y="1600200"/>
            <a:ext cx="201168" cy="201168"/>
          </a:xfrm>
          <a:prstGeom prst="ellipse">
            <a:avLst/>
          </a:prstGeom>
          <a:solidFill>
            <a:srgbClr val="FFFFFF"/>
          </a:solidFill>
          <a:ln w="25400">
            <a:solidFill>
              <a:srgbClr val="FF6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ms138|card|"/>
          <p:cNvSpPr/>
          <p:nvPr/>
        </p:nvSpPr>
        <p:spPr>
          <a:xfrm>
            <a:off x="2796783" y="1929384"/>
            <a:ext cx="2101839" cy="1783080"/>
          </a:xfrm>
          <a:prstGeom prst="roundRect">
            <a:avLst>
              <a:gd name="adj" fmla="val 8205"/>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s138|card|"/>
          <p:cNvSpPr txBox="1"/>
          <p:nvPr/>
        </p:nvSpPr>
        <p:spPr>
          <a:xfrm>
            <a:off x="2979663" y="2084832"/>
            <a:ext cx="1736079" cy="365760"/>
          </a:xfrm>
          <a:prstGeom prst="rect">
            <a:avLst/>
          </a:prstGeom>
          <a:noFill/>
        </p:spPr>
        <p:txBody>
          <a:bodyPr wrap="square" lIns="0" rIns="0" tIns="0" bIns="0" anchor="t">
            <a:noAutofit/>
          </a:bodyPr>
          <a:lstStyle/>
          <a:p>
            <a:pPr algn="l"/>
            <a:r>
              <a:rPr sz="1600" b="1">
                <a:solidFill>
                  <a:srgbClr val="C24E00"/>
                </a:solidFill>
                <a:latin typeface="Poppins"/>
              </a:rPr>
              <a:t>Q4 2026</a:t>
            </a:r>
          </a:p>
        </p:txBody>
      </p:sp>
      <p:sp>
        <p:nvSpPr>
          <p:cNvPr id="12" name="ms138|card|"/>
          <p:cNvSpPr txBox="1"/>
          <p:nvPr/>
        </p:nvSpPr>
        <p:spPr>
          <a:xfrm>
            <a:off x="2979663" y="2487168"/>
            <a:ext cx="1736079" cy="1143000"/>
          </a:xfrm>
          <a:prstGeom prst="rect">
            <a:avLst/>
          </a:prstGeom>
          <a:noFill/>
        </p:spPr>
        <p:txBody>
          <a:bodyPr wrap="square" lIns="0" rIns="0" tIns="0" bIns="0" anchor="t">
            <a:noAutofit/>
          </a:bodyPr>
          <a:lstStyle/>
          <a:p>
            <a:pPr algn="l"/>
            <a:r>
              <a:rPr sz="1400" b="0">
                <a:solidFill>
                  <a:srgbClr val="20242B"/>
                </a:solidFill>
                <a:latin typeface="Inter"/>
              </a:rPr>
              <a:t>Meta permissions incl. Instagram (target)</a:t>
            </a:r>
          </a:p>
        </p:txBody>
      </p:sp>
      <p:sp>
        <p:nvSpPr>
          <p:cNvPr id="13" name="ms139|deco|"/>
          <p:cNvSpPr/>
          <p:nvPr/>
        </p:nvSpPr>
        <p:spPr>
          <a:xfrm>
            <a:off x="5995263" y="1600200"/>
            <a:ext cx="201168" cy="201168"/>
          </a:xfrm>
          <a:prstGeom prst="ellipse">
            <a:avLst/>
          </a:prstGeom>
          <a:solidFill>
            <a:srgbClr val="FFFFFF"/>
          </a:solidFill>
          <a:ln w="25400">
            <a:solidFill>
              <a:srgbClr val="FF6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s139|card|"/>
          <p:cNvSpPr/>
          <p:nvPr/>
        </p:nvSpPr>
        <p:spPr>
          <a:xfrm>
            <a:off x="5044927" y="1929384"/>
            <a:ext cx="2101839" cy="1783080"/>
          </a:xfrm>
          <a:prstGeom prst="roundRect">
            <a:avLst>
              <a:gd name="adj" fmla="val 8205"/>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ms139|card|"/>
          <p:cNvSpPr txBox="1"/>
          <p:nvPr/>
        </p:nvSpPr>
        <p:spPr>
          <a:xfrm>
            <a:off x="5227807" y="2084832"/>
            <a:ext cx="1736079" cy="365760"/>
          </a:xfrm>
          <a:prstGeom prst="rect">
            <a:avLst/>
          </a:prstGeom>
          <a:noFill/>
        </p:spPr>
        <p:txBody>
          <a:bodyPr wrap="square" lIns="0" rIns="0" tIns="0" bIns="0" anchor="t">
            <a:noAutofit/>
          </a:bodyPr>
          <a:lstStyle/>
          <a:p>
            <a:pPr algn="l"/>
            <a:r>
              <a:rPr sz="1600" b="1">
                <a:solidFill>
                  <a:srgbClr val="C24E00"/>
                </a:solidFill>
                <a:latin typeface="Poppins"/>
              </a:rPr>
              <a:t>Dec 2026</a:t>
            </a:r>
          </a:p>
        </p:txBody>
      </p:sp>
      <p:sp>
        <p:nvSpPr>
          <p:cNvPr id="16" name="ms139|card|"/>
          <p:cNvSpPr txBox="1"/>
          <p:nvPr/>
        </p:nvSpPr>
        <p:spPr>
          <a:xfrm>
            <a:off x="5227807" y="2487168"/>
            <a:ext cx="1736079" cy="1143000"/>
          </a:xfrm>
          <a:prstGeom prst="rect">
            <a:avLst/>
          </a:prstGeom>
          <a:noFill/>
        </p:spPr>
        <p:txBody>
          <a:bodyPr wrap="square" lIns="0" rIns="0" tIns="0" bIns="0" anchor="t">
            <a:noAutofit/>
          </a:bodyPr>
          <a:lstStyle/>
          <a:p>
            <a:pPr algn="l"/>
            <a:r>
              <a:rPr sz="1400" b="0">
                <a:solidFill>
                  <a:srgbClr val="20242B"/>
                </a:solidFill>
                <a:latin typeface="Inter"/>
              </a:rPr>
              <a:t>Pilot ends 30 Nov; results and case studies</a:t>
            </a:r>
          </a:p>
        </p:txBody>
      </p:sp>
      <p:sp>
        <p:nvSpPr>
          <p:cNvPr id="17" name="ms140|deco|"/>
          <p:cNvSpPr/>
          <p:nvPr/>
        </p:nvSpPr>
        <p:spPr>
          <a:xfrm>
            <a:off x="8243407" y="1600200"/>
            <a:ext cx="201168" cy="201168"/>
          </a:xfrm>
          <a:prstGeom prst="ellipse">
            <a:avLst/>
          </a:prstGeom>
          <a:solidFill>
            <a:srgbClr val="FFFFFF"/>
          </a:solidFill>
          <a:ln w="25400">
            <a:solidFill>
              <a:srgbClr val="FF6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ms140|card|"/>
          <p:cNvSpPr/>
          <p:nvPr/>
        </p:nvSpPr>
        <p:spPr>
          <a:xfrm>
            <a:off x="7293071" y="1929384"/>
            <a:ext cx="2101839" cy="1783080"/>
          </a:xfrm>
          <a:prstGeom prst="roundRect">
            <a:avLst>
              <a:gd name="adj" fmla="val 8205"/>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ms140|card|"/>
          <p:cNvSpPr txBox="1"/>
          <p:nvPr/>
        </p:nvSpPr>
        <p:spPr>
          <a:xfrm>
            <a:off x="7475951" y="2084832"/>
            <a:ext cx="1736079" cy="365760"/>
          </a:xfrm>
          <a:prstGeom prst="rect">
            <a:avLst/>
          </a:prstGeom>
          <a:noFill/>
        </p:spPr>
        <p:txBody>
          <a:bodyPr wrap="square" lIns="0" rIns="0" tIns="0" bIns="0" anchor="t">
            <a:noAutofit/>
          </a:bodyPr>
          <a:lstStyle/>
          <a:p>
            <a:pPr algn="l"/>
            <a:r>
              <a:rPr sz="1600" b="1">
                <a:solidFill>
                  <a:srgbClr val="C24E00"/>
                </a:solidFill>
                <a:latin typeface="Poppins"/>
              </a:rPr>
              <a:t>1 Dec 2026</a:t>
            </a:r>
          </a:p>
        </p:txBody>
      </p:sp>
      <p:sp>
        <p:nvSpPr>
          <p:cNvPr id="20" name="ms140|card|"/>
          <p:cNvSpPr txBox="1"/>
          <p:nvPr/>
        </p:nvSpPr>
        <p:spPr>
          <a:xfrm>
            <a:off x="7475951" y="2487168"/>
            <a:ext cx="1736079" cy="1143000"/>
          </a:xfrm>
          <a:prstGeom prst="rect">
            <a:avLst/>
          </a:prstGeom>
          <a:noFill/>
        </p:spPr>
        <p:txBody>
          <a:bodyPr wrap="square" lIns="0" rIns="0" tIns="0" bIns="0" anchor="t">
            <a:noAutofit/>
          </a:bodyPr>
          <a:lstStyle/>
          <a:p>
            <a:pPr algn="l"/>
            <a:r>
              <a:rPr sz="1400" b="0">
                <a:solidFill>
                  <a:srgbClr val="20242B"/>
                </a:solidFill>
                <a:latin typeface="Inter"/>
              </a:rPr>
              <a:t>SA launch; Founding Member to 31 Jan 2027</a:t>
            </a:r>
          </a:p>
        </p:txBody>
      </p:sp>
      <p:sp>
        <p:nvSpPr>
          <p:cNvPr id="21" name="ms141|deco|"/>
          <p:cNvSpPr/>
          <p:nvPr/>
        </p:nvSpPr>
        <p:spPr>
          <a:xfrm>
            <a:off x="10491551" y="1600200"/>
            <a:ext cx="201168" cy="201168"/>
          </a:xfrm>
          <a:prstGeom prst="ellipse">
            <a:avLst/>
          </a:prstGeom>
          <a:solidFill>
            <a:srgbClr val="FFFFFF"/>
          </a:solidFill>
          <a:ln w="25400">
            <a:solidFill>
              <a:srgbClr val="FF6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ms141|card|"/>
          <p:cNvSpPr/>
          <p:nvPr/>
        </p:nvSpPr>
        <p:spPr>
          <a:xfrm>
            <a:off x="9541215" y="1929384"/>
            <a:ext cx="2101839" cy="1783080"/>
          </a:xfrm>
          <a:prstGeom prst="roundRect">
            <a:avLst>
              <a:gd name="adj" fmla="val 8205"/>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s141|card|"/>
          <p:cNvSpPr txBox="1"/>
          <p:nvPr/>
        </p:nvSpPr>
        <p:spPr>
          <a:xfrm>
            <a:off x="9724095" y="2084832"/>
            <a:ext cx="1736079" cy="365760"/>
          </a:xfrm>
          <a:prstGeom prst="rect">
            <a:avLst/>
          </a:prstGeom>
          <a:noFill/>
        </p:spPr>
        <p:txBody>
          <a:bodyPr wrap="square" lIns="0" rIns="0" tIns="0" bIns="0" anchor="t">
            <a:noAutofit/>
          </a:bodyPr>
          <a:lstStyle/>
          <a:p>
            <a:pPr algn="l"/>
            <a:r>
              <a:rPr sz="1600" b="1">
                <a:solidFill>
                  <a:srgbClr val="C24E00"/>
                </a:solidFill>
                <a:latin typeface="Poppins"/>
              </a:rPr>
              <a:t>Feb 2027</a:t>
            </a:r>
          </a:p>
        </p:txBody>
      </p:sp>
      <p:sp>
        <p:nvSpPr>
          <p:cNvPr id="24" name="ms141|card|"/>
          <p:cNvSpPr txBox="1"/>
          <p:nvPr/>
        </p:nvSpPr>
        <p:spPr>
          <a:xfrm>
            <a:off x="9724095" y="2487168"/>
            <a:ext cx="1736079" cy="1143000"/>
          </a:xfrm>
          <a:prstGeom prst="rect">
            <a:avLst/>
          </a:prstGeom>
          <a:noFill/>
        </p:spPr>
        <p:txBody>
          <a:bodyPr wrap="square" lIns="0" rIns="0" tIns="0" bIns="0" anchor="t">
            <a:noAutofit/>
          </a:bodyPr>
          <a:lstStyle/>
          <a:p>
            <a:pPr algn="l"/>
            <a:r>
              <a:rPr sz="1400" b="0">
                <a:solidFill>
                  <a:srgbClr val="20242B"/>
                </a:solidFill>
                <a:latin typeface="Inter"/>
              </a:rPr>
              <a:t>Seed closes (model input); first hires</a:t>
            </a:r>
          </a:p>
        </p:txBody>
      </p:sp>
      <p:sp>
        <p:nvSpPr>
          <p:cNvPr id="25" name="g142|deco|"/>
          <p:cNvSpPr/>
          <p:nvPr/>
        </p:nvSpPr>
        <p:spPr>
          <a:xfrm>
            <a:off x="1599559" y="3968496"/>
            <a:ext cx="8992575" cy="36576"/>
          </a:xfrm>
          <a:prstGeom prst="rect">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s143|deco|"/>
          <p:cNvSpPr/>
          <p:nvPr/>
        </p:nvSpPr>
        <p:spPr>
          <a:xfrm>
            <a:off x="1498975" y="3886200"/>
            <a:ext cx="201168" cy="201168"/>
          </a:xfrm>
          <a:prstGeom prst="ellipse">
            <a:avLst/>
          </a:prstGeom>
          <a:solidFill>
            <a:srgbClr val="FFFFFF"/>
          </a:solidFill>
          <a:ln w="25400">
            <a:solidFill>
              <a:srgbClr val="FF6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ms143|card|"/>
          <p:cNvSpPr/>
          <p:nvPr/>
        </p:nvSpPr>
        <p:spPr>
          <a:xfrm>
            <a:off x="548640" y="4215384"/>
            <a:ext cx="2101839" cy="1783080"/>
          </a:xfrm>
          <a:prstGeom prst="roundRect">
            <a:avLst>
              <a:gd name="adj" fmla="val 8205"/>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ms143|card|"/>
          <p:cNvSpPr txBox="1"/>
          <p:nvPr/>
        </p:nvSpPr>
        <p:spPr>
          <a:xfrm>
            <a:off x="731520" y="4370832"/>
            <a:ext cx="1736079" cy="365760"/>
          </a:xfrm>
          <a:prstGeom prst="rect">
            <a:avLst/>
          </a:prstGeom>
          <a:noFill/>
        </p:spPr>
        <p:txBody>
          <a:bodyPr wrap="square" lIns="0" rIns="0" tIns="0" bIns="0" anchor="t">
            <a:noAutofit/>
          </a:bodyPr>
          <a:lstStyle/>
          <a:p>
            <a:pPr algn="l"/>
            <a:r>
              <a:rPr sz="1600" b="1">
                <a:solidFill>
                  <a:srgbClr val="C24E00"/>
                </a:solidFill>
                <a:latin typeface="Poppins"/>
              </a:rPr>
              <a:t>2027 onward</a:t>
            </a:r>
          </a:p>
        </p:txBody>
      </p:sp>
      <p:sp>
        <p:nvSpPr>
          <p:cNvPr id="29" name="ms143|card|"/>
          <p:cNvSpPr txBox="1"/>
          <p:nvPr/>
        </p:nvSpPr>
        <p:spPr>
          <a:xfrm>
            <a:off x="731520" y="4773168"/>
            <a:ext cx="1736079" cy="1143000"/>
          </a:xfrm>
          <a:prstGeom prst="rect">
            <a:avLst/>
          </a:prstGeom>
          <a:noFill/>
        </p:spPr>
        <p:txBody>
          <a:bodyPr wrap="square" lIns="0" rIns="0" tIns="0" bIns="0" anchor="t">
            <a:noAutofit/>
          </a:bodyPr>
          <a:lstStyle/>
          <a:p>
            <a:pPr algn="l"/>
            <a:r>
              <a:rPr sz="1400" b="0">
                <a:solidFill>
                  <a:srgbClr val="20242B"/>
                </a:solidFill>
                <a:latin typeface="Inter"/>
              </a:rPr>
              <a:t>Social adapters, integrations, Flux_Partner (indicative)</a:t>
            </a:r>
          </a:p>
        </p:txBody>
      </p:sp>
      <p:sp>
        <p:nvSpPr>
          <p:cNvPr id="30" name="ms144|deco|"/>
          <p:cNvSpPr/>
          <p:nvPr/>
        </p:nvSpPr>
        <p:spPr>
          <a:xfrm>
            <a:off x="3747119" y="3886200"/>
            <a:ext cx="201168" cy="201168"/>
          </a:xfrm>
          <a:prstGeom prst="ellipse">
            <a:avLst/>
          </a:prstGeom>
          <a:solidFill>
            <a:srgbClr val="FF6A00"/>
          </a:solidFill>
          <a:ln w="25400">
            <a:solidFill>
              <a:srgbClr val="FF6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ms144|card|"/>
          <p:cNvSpPr/>
          <p:nvPr/>
        </p:nvSpPr>
        <p:spPr>
          <a:xfrm>
            <a:off x="2796783" y="4215384"/>
            <a:ext cx="2101839" cy="1783080"/>
          </a:xfrm>
          <a:prstGeom prst="roundRect">
            <a:avLst>
              <a:gd name="adj" fmla="val 8205"/>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s144|card|"/>
          <p:cNvSpPr txBox="1"/>
          <p:nvPr/>
        </p:nvSpPr>
        <p:spPr>
          <a:xfrm>
            <a:off x="2979663" y="4370832"/>
            <a:ext cx="1736079" cy="365760"/>
          </a:xfrm>
          <a:prstGeom prst="rect">
            <a:avLst/>
          </a:prstGeom>
          <a:noFill/>
        </p:spPr>
        <p:txBody>
          <a:bodyPr wrap="square" lIns="0" rIns="0" tIns="0" bIns="0" anchor="t">
            <a:noAutofit/>
          </a:bodyPr>
          <a:lstStyle/>
          <a:p>
            <a:pPr algn="l"/>
            <a:r>
              <a:rPr sz="1600" b="1">
                <a:solidFill>
                  <a:srgbClr val="C24E00"/>
                </a:solidFill>
                <a:latin typeface="Poppins"/>
              </a:rPr>
              <a:t>Feb–Jun 2028</a:t>
            </a:r>
          </a:p>
        </p:txBody>
      </p:sp>
      <p:sp>
        <p:nvSpPr>
          <p:cNvPr id="33" name="ms144|card|"/>
          <p:cNvSpPr txBox="1"/>
          <p:nvPr/>
        </p:nvSpPr>
        <p:spPr>
          <a:xfrm>
            <a:off x="2979663" y="4773168"/>
            <a:ext cx="1736079" cy="1143000"/>
          </a:xfrm>
          <a:prstGeom prst="rect">
            <a:avLst/>
          </a:prstGeom>
          <a:noFill/>
        </p:spPr>
        <p:txBody>
          <a:bodyPr wrap="square" lIns="0" rIns="0" tIns="0" bIns="0" anchor="t">
            <a:noAutofit/>
          </a:bodyPr>
          <a:lstStyle/>
          <a:p>
            <a:pPr algn="l"/>
            <a:r>
              <a:rPr sz="1400" b="0">
                <a:solidFill>
                  <a:srgbClr val="20242B"/>
                </a:solidFill>
                <a:latin typeface="Inter"/>
              </a:rPr>
              <a:t>Nigeria, Kenya and Ghana launch (MRR-gated)</a:t>
            </a:r>
          </a:p>
        </p:txBody>
      </p:sp>
      <p:sp>
        <p:nvSpPr>
          <p:cNvPr id="34" name="ms145|deco|"/>
          <p:cNvSpPr/>
          <p:nvPr/>
        </p:nvSpPr>
        <p:spPr>
          <a:xfrm>
            <a:off x="5995263" y="3886200"/>
            <a:ext cx="201168" cy="201168"/>
          </a:xfrm>
          <a:prstGeom prst="ellipse">
            <a:avLst/>
          </a:prstGeom>
          <a:solidFill>
            <a:srgbClr val="FF6A00"/>
          </a:solidFill>
          <a:ln w="25400">
            <a:solidFill>
              <a:srgbClr val="FF6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s145|card|"/>
          <p:cNvSpPr/>
          <p:nvPr/>
        </p:nvSpPr>
        <p:spPr>
          <a:xfrm>
            <a:off x="5044927" y="4215384"/>
            <a:ext cx="2101839" cy="1783080"/>
          </a:xfrm>
          <a:prstGeom prst="roundRect">
            <a:avLst>
              <a:gd name="adj" fmla="val 8205"/>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ms145|card|"/>
          <p:cNvSpPr txBox="1"/>
          <p:nvPr/>
        </p:nvSpPr>
        <p:spPr>
          <a:xfrm>
            <a:off x="5227807" y="4370832"/>
            <a:ext cx="1736079" cy="365760"/>
          </a:xfrm>
          <a:prstGeom prst="rect">
            <a:avLst/>
          </a:prstGeom>
          <a:noFill/>
        </p:spPr>
        <p:txBody>
          <a:bodyPr wrap="square" lIns="0" rIns="0" tIns="0" bIns="0" anchor="t">
            <a:noAutofit/>
          </a:bodyPr>
          <a:lstStyle/>
          <a:p>
            <a:pPr algn="l"/>
            <a:r>
              <a:rPr sz="1600" b="1">
                <a:solidFill>
                  <a:srgbClr val="C24E00"/>
                </a:solidFill>
                <a:latin typeface="Poppins"/>
              </a:rPr>
              <a:t>Oct 2028</a:t>
            </a:r>
          </a:p>
        </p:txBody>
      </p:sp>
      <p:sp>
        <p:nvSpPr>
          <p:cNvPr id="37" name="ms145|card|"/>
          <p:cNvSpPr txBox="1"/>
          <p:nvPr/>
        </p:nvSpPr>
        <p:spPr>
          <a:xfrm>
            <a:off x="5227807" y="4773168"/>
            <a:ext cx="1736079" cy="1143000"/>
          </a:xfrm>
          <a:prstGeom prst="rect">
            <a:avLst/>
          </a:prstGeom>
          <a:noFill/>
        </p:spPr>
        <p:txBody>
          <a:bodyPr wrap="square" lIns="0" rIns="0" tIns="0" bIns="0" anchor="t">
            <a:noAutofit/>
          </a:bodyPr>
          <a:lstStyle/>
          <a:p>
            <a:pPr algn="l"/>
            <a:r>
              <a:rPr sz="1400" b="0">
                <a:solidFill>
                  <a:srgbClr val="20242B"/>
                </a:solidFill>
                <a:latin typeface="Inter"/>
              </a:rPr>
              <a:t>Operating cash flow positive</a:t>
            </a:r>
          </a:p>
        </p:txBody>
      </p:sp>
      <p:sp>
        <p:nvSpPr>
          <p:cNvPr id="38" name="ms146|deco|"/>
          <p:cNvSpPr/>
          <p:nvPr/>
        </p:nvSpPr>
        <p:spPr>
          <a:xfrm>
            <a:off x="8243407" y="3886200"/>
            <a:ext cx="201168" cy="201168"/>
          </a:xfrm>
          <a:prstGeom prst="ellipse">
            <a:avLst/>
          </a:prstGeom>
          <a:solidFill>
            <a:srgbClr val="FF6A00"/>
          </a:solidFill>
          <a:ln w="25400">
            <a:solidFill>
              <a:srgbClr val="FF6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ms146|card|"/>
          <p:cNvSpPr/>
          <p:nvPr/>
        </p:nvSpPr>
        <p:spPr>
          <a:xfrm>
            <a:off x="7293071" y="4215384"/>
            <a:ext cx="2101839" cy="1783080"/>
          </a:xfrm>
          <a:prstGeom prst="roundRect">
            <a:avLst>
              <a:gd name="adj" fmla="val 8205"/>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ms146|card|"/>
          <p:cNvSpPr txBox="1"/>
          <p:nvPr/>
        </p:nvSpPr>
        <p:spPr>
          <a:xfrm>
            <a:off x="7475951" y="4370832"/>
            <a:ext cx="1736079" cy="365760"/>
          </a:xfrm>
          <a:prstGeom prst="rect">
            <a:avLst/>
          </a:prstGeom>
          <a:noFill/>
        </p:spPr>
        <p:txBody>
          <a:bodyPr wrap="square" lIns="0" rIns="0" tIns="0" bIns="0" anchor="t">
            <a:noAutofit/>
          </a:bodyPr>
          <a:lstStyle/>
          <a:p>
            <a:pPr algn="l"/>
            <a:r>
              <a:rPr sz="1600" b="1">
                <a:solidFill>
                  <a:srgbClr val="C24E00"/>
                </a:solidFill>
                <a:latin typeface="Poppins"/>
              </a:rPr>
              <a:t>Nov 2028</a:t>
            </a:r>
          </a:p>
        </p:txBody>
      </p:sp>
      <p:sp>
        <p:nvSpPr>
          <p:cNvPr id="41" name="ms146|card|"/>
          <p:cNvSpPr txBox="1"/>
          <p:nvPr/>
        </p:nvSpPr>
        <p:spPr>
          <a:xfrm>
            <a:off x="7475951" y="4773168"/>
            <a:ext cx="1736079" cy="1143000"/>
          </a:xfrm>
          <a:prstGeom prst="rect">
            <a:avLst/>
          </a:prstGeom>
          <a:noFill/>
        </p:spPr>
        <p:txBody>
          <a:bodyPr wrap="square" lIns="0" rIns="0" tIns="0" bIns="0" anchor="t">
            <a:noAutofit/>
          </a:bodyPr>
          <a:lstStyle/>
          <a:p>
            <a:pPr algn="l"/>
            <a:r>
              <a:rPr sz="1400" b="0">
                <a:solidFill>
                  <a:srgbClr val="20242B"/>
                </a:solidFill>
                <a:latin typeface="Inter"/>
              </a:rPr>
              <a:t>19 USD markets open, self-serve</a:t>
            </a:r>
          </a:p>
        </p:txBody>
      </p:sp>
      <p:sp>
        <p:nvSpPr>
          <p:cNvPr id="42" name="ms147|deco|"/>
          <p:cNvSpPr/>
          <p:nvPr/>
        </p:nvSpPr>
        <p:spPr>
          <a:xfrm>
            <a:off x="10491551" y="3886200"/>
            <a:ext cx="201168" cy="201168"/>
          </a:xfrm>
          <a:prstGeom prst="ellipse">
            <a:avLst/>
          </a:prstGeom>
          <a:solidFill>
            <a:srgbClr val="FF6A00"/>
          </a:solidFill>
          <a:ln w="25400">
            <a:solidFill>
              <a:srgbClr val="FF6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ms147|card|"/>
          <p:cNvSpPr/>
          <p:nvPr/>
        </p:nvSpPr>
        <p:spPr>
          <a:xfrm>
            <a:off x="9541215" y="4215384"/>
            <a:ext cx="2101839" cy="1783080"/>
          </a:xfrm>
          <a:prstGeom prst="roundRect">
            <a:avLst>
              <a:gd name="adj" fmla="val 8205"/>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ms147|card|"/>
          <p:cNvSpPr txBox="1"/>
          <p:nvPr/>
        </p:nvSpPr>
        <p:spPr>
          <a:xfrm>
            <a:off x="9724095" y="4370832"/>
            <a:ext cx="1736079" cy="365760"/>
          </a:xfrm>
          <a:prstGeom prst="rect">
            <a:avLst/>
          </a:prstGeom>
          <a:noFill/>
        </p:spPr>
        <p:txBody>
          <a:bodyPr wrap="square" lIns="0" rIns="0" tIns="0" bIns="0" anchor="t">
            <a:noAutofit/>
          </a:bodyPr>
          <a:lstStyle/>
          <a:p>
            <a:pPr algn="l"/>
            <a:r>
              <a:rPr sz="1600" b="1">
                <a:solidFill>
                  <a:srgbClr val="C24E00"/>
                </a:solidFill>
                <a:latin typeface="Poppins"/>
              </a:rPr>
              <a:t>Mar 2029</a:t>
            </a:r>
          </a:p>
        </p:txBody>
      </p:sp>
      <p:sp>
        <p:nvSpPr>
          <p:cNvPr id="45" name="ms147|card|"/>
          <p:cNvSpPr txBox="1"/>
          <p:nvPr/>
        </p:nvSpPr>
        <p:spPr>
          <a:xfrm>
            <a:off x="9724095" y="4773168"/>
            <a:ext cx="1736079" cy="1143000"/>
          </a:xfrm>
          <a:prstGeom prst="rect">
            <a:avLst/>
          </a:prstGeom>
          <a:noFill/>
        </p:spPr>
        <p:txBody>
          <a:bodyPr wrap="square" lIns="0" rIns="0" tIns="0" bIns="0" anchor="t">
            <a:noAutofit/>
          </a:bodyPr>
          <a:lstStyle/>
          <a:p>
            <a:pPr algn="l"/>
            <a:r>
              <a:rPr sz="1400" b="0">
                <a:solidFill>
                  <a:srgbClr val="20242B"/>
                </a:solidFill>
                <a:latin typeface="Inter"/>
              </a:rPr>
              <a:t>EBITDA break-even; sustained Jun 2029</a:t>
            </a:r>
          </a:p>
        </p:txBody>
      </p:sp>
      <p:sp>
        <p:nvSpPr>
          <p:cNvPr id="46" name="g148|caption|"/>
          <p:cNvSpPr txBox="1"/>
          <p:nvPr/>
        </p:nvSpPr>
        <p:spPr>
          <a:xfrm>
            <a:off x="548640" y="6144768"/>
            <a:ext cx="11094415" cy="237744"/>
          </a:xfrm>
          <a:prstGeom prst="rect">
            <a:avLst/>
          </a:prstGeom>
          <a:noFill/>
        </p:spPr>
        <p:txBody>
          <a:bodyPr wrap="square" lIns="0" rIns="0" tIns="0" bIns="0" anchor="t">
            <a:noAutofit/>
          </a:bodyPr>
          <a:lstStyle/>
          <a:p>
            <a:pPr algn="l"/>
            <a:r>
              <a:rPr sz="1100" b="0">
                <a:solidFill>
                  <a:srgbClr val="5B6670"/>
                </a:solidFill>
                <a:latin typeface="Inter"/>
              </a:rPr>
              <a:t>Orange cards: projection (model v2, base case); launch dates move with MRR gates. Product order per the founder roadmap; 2027 items are indicative and undated.</a:t>
            </a:r>
          </a:p>
        </p:txBody>
      </p:sp>
      <p:sp>
        <p:nvSpPr>
          <p:cNvPr id="47"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Confidential</a:t>
            </a:r>
          </a:p>
        </p:txBody>
      </p:sp>
      <p:sp>
        <p:nvSpPr>
          <p:cNvPr id="48"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17</a:t>
            </a:fld>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49|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TEAM · HEADCOUNT 18 → 41 → 135 (FY1, FY2, FY5; MODEL V2)</a:t>
            </a:r>
          </a:p>
        </p:txBody>
      </p:sp>
      <p:sp>
        <p:nvSpPr>
          <p:cNvPr id="3" name="hdr149|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The team, and who the seed hires</a:t>
            </a:r>
          </a:p>
        </p:txBody>
      </p:sp>
      <p:sp>
        <p:nvSpPr>
          <p:cNvPr id="4" name="ppl150|card|"/>
          <p:cNvSpPr/>
          <p:nvPr/>
        </p:nvSpPr>
        <p:spPr>
          <a:xfrm>
            <a:off x="548640" y="1481328"/>
            <a:ext cx="3511296" cy="1554480"/>
          </a:xfrm>
          <a:prstGeom prst="roundRect">
            <a:avLst>
              <a:gd name="adj" fmla="val 10588"/>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ppl150|deco|"/>
          <p:cNvSpPr/>
          <p:nvPr/>
        </p:nvSpPr>
        <p:spPr>
          <a:xfrm>
            <a:off x="822959" y="1682496"/>
            <a:ext cx="804672" cy="804672"/>
          </a:xfrm>
          <a:prstGeom prst="ellipse">
            <a:avLst/>
          </a:prstGeom>
          <a:solidFill>
            <a:srgbClr val="FFFFFF"/>
          </a:solidFill>
          <a:ln w="15875">
            <a:solidFill>
              <a:srgbClr val="5B66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pl150|icon|users_deep.png" descr="users_deep"/>
          <p:cNvPicPr>
            <a:picLocks noChangeAspect="1"/>
          </p:cNvPicPr>
          <p:nvPr/>
        </p:nvPicPr>
        <p:blipFill>
          <a:blip r:embed="rId2"/>
          <a:srcRect/>
          <a:stretch>
            <a:fillRect/>
          </a:stretch>
        </p:blipFill>
        <p:spPr>
          <a:xfrm>
            <a:off x="1024127" y="1883663"/>
            <a:ext cx="402336" cy="402336"/>
          </a:xfrm>
          <a:prstGeom prst="rect">
            <a:avLst/>
          </a:prstGeom>
        </p:spPr>
      </p:pic>
      <p:sp>
        <p:nvSpPr>
          <p:cNvPr id="7" name="ppl150|placeholder|"/>
          <p:cNvSpPr txBox="1"/>
          <p:nvPr/>
        </p:nvSpPr>
        <p:spPr>
          <a:xfrm>
            <a:off x="1783080" y="1627632"/>
            <a:ext cx="2048255" cy="822960"/>
          </a:xfrm>
          <a:prstGeom prst="rect">
            <a:avLst/>
          </a:prstGeom>
          <a:noFill/>
        </p:spPr>
        <p:txBody>
          <a:bodyPr wrap="square" lIns="0" rIns="0" tIns="0" bIns="0" anchor="t">
            <a:noAutofit/>
          </a:bodyPr>
          <a:lstStyle/>
          <a:p>
            <a:pPr algn="l"/>
            <a:r>
              <a:rPr sz="1600" b="1">
                <a:solidFill>
                  <a:srgbClr val="20242B"/>
                </a:solidFill>
                <a:latin typeface="Poppins"/>
              </a:rPr>
              <a:t>[[FOUNDER NAME, TITLE, BIO]]</a:t>
            </a:r>
          </a:p>
        </p:txBody>
      </p:sp>
      <p:sp>
        <p:nvSpPr>
          <p:cNvPr id="8" name="ppl150|card|"/>
          <p:cNvSpPr txBox="1"/>
          <p:nvPr/>
        </p:nvSpPr>
        <p:spPr>
          <a:xfrm>
            <a:off x="1783080" y="2487168"/>
            <a:ext cx="2048255" cy="457200"/>
          </a:xfrm>
          <a:prstGeom prst="rect">
            <a:avLst/>
          </a:prstGeom>
          <a:noFill/>
        </p:spPr>
        <p:txBody>
          <a:bodyPr wrap="square" lIns="0" rIns="0" tIns="0" bIns="0" anchor="t">
            <a:noAutofit/>
          </a:bodyPr>
          <a:lstStyle/>
          <a:p>
            <a:pPr algn="l"/>
            <a:r>
              <a:rPr sz="1400" b="0">
                <a:solidFill>
                  <a:srgbClr val="5B6670"/>
                </a:solidFill>
                <a:latin typeface="Inter"/>
              </a:rPr>
              <a:t>Model role: Founder &amp; CEO</a:t>
            </a:r>
          </a:p>
        </p:txBody>
      </p:sp>
      <p:sp>
        <p:nvSpPr>
          <p:cNvPr id="9" name="ppl151|card|"/>
          <p:cNvSpPr/>
          <p:nvPr/>
        </p:nvSpPr>
        <p:spPr>
          <a:xfrm>
            <a:off x="4340199" y="1481328"/>
            <a:ext cx="3511296" cy="1554480"/>
          </a:xfrm>
          <a:prstGeom prst="roundRect">
            <a:avLst>
              <a:gd name="adj" fmla="val 10588"/>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pl151|deco|"/>
          <p:cNvSpPr/>
          <p:nvPr/>
        </p:nvSpPr>
        <p:spPr>
          <a:xfrm>
            <a:off x="4614519" y="1682496"/>
            <a:ext cx="804672" cy="804672"/>
          </a:xfrm>
          <a:prstGeom prst="ellipse">
            <a:avLst/>
          </a:prstGeom>
          <a:solidFill>
            <a:srgbClr val="FFFFFF"/>
          </a:solidFill>
          <a:ln w="15875">
            <a:solidFill>
              <a:srgbClr val="5B66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pl151|icon|users_deep.png" descr="users_deep"/>
          <p:cNvPicPr>
            <a:picLocks noChangeAspect="1"/>
          </p:cNvPicPr>
          <p:nvPr/>
        </p:nvPicPr>
        <p:blipFill>
          <a:blip r:embed="rId2"/>
          <a:srcRect/>
          <a:stretch>
            <a:fillRect/>
          </a:stretch>
        </p:blipFill>
        <p:spPr>
          <a:xfrm>
            <a:off x="4815687" y="1883663"/>
            <a:ext cx="402336" cy="402336"/>
          </a:xfrm>
          <a:prstGeom prst="rect">
            <a:avLst/>
          </a:prstGeom>
        </p:spPr>
      </p:pic>
      <p:sp>
        <p:nvSpPr>
          <p:cNvPr id="12" name="ppl151|placeholder|"/>
          <p:cNvSpPr txBox="1"/>
          <p:nvPr/>
        </p:nvSpPr>
        <p:spPr>
          <a:xfrm>
            <a:off x="5574639" y="1627632"/>
            <a:ext cx="2048255" cy="822960"/>
          </a:xfrm>
          <a:prstGeom prst="rect">
            <a:avLst/>
          </a:prstGeom>
          <a:noFill/>
        </p:spPr>
        <p:txBody>
          <a:bodyPr wrap="square" lIns="0" rIns="0" tIns="0" bIns="0" anchor="t">
            <a:noAutofit/>
          </a:bodyPr>
          <a:lstStyle/>
          <a:p>
            <a:pPr algn="l"/>
            <a:r>
              <a:rPr sz="1600" b="1">
                <a:solidFill>
                  <a:srgbClr val="20242B"/>
                </a:solidFill>
                <a:latin typeface="Poppins"/>
              </a:rPr>
              <a:t>[[CO-FOUNDER]]</a:t>
            </a:r>
          </a:p>
        </p:txBody>
      </p:sp>
      <p:sp>
        <p:nvSpPr>
          <p:cNvPr id="13" name="ppl151|card|"/>
          <p:cNvSpPr txBox="1"/>
          <p:nvPr/>
        </p:nvSpPr>
        <p:spPr>
          <a:xfrm>
            <a:off x="5574639" y="2487168"/>
            <a:ext cx="2048255" cy="457200"/>
          </a:xfrm>
          <a:prstGeom prst="rect">
            <a:avLst/>
          </a:prstGeom>
          <a:noFill/>
        </p:spPr>
        <p:txBody>
          <a:bodyPr wrap="square" lIns="0" rIns="0" tIns="0" bIns="0" anchor="t">
            <a:noAutofit/>
          </a:bodyPr>
          <a:lstStyle/>
          <a:p>
            <a:pPr algn="l"/>
            <a:r>
              <a:rPr sz="1400" b="0">
                <a:solidFill>
                  <a:srgbClr val="5B6670"/>
                </a:solidFill>
                <a:latin typeface="Inter"/>
              </a:rPr>
              <a:t>Model role: CTO / founding engineer</a:t>
            </a:r>
          </a:p>
        </p:txBody>
      </p:sp>
      <p:sp>
        <p:nvSpPr>
          <p:cNvPr id="14" name="ppl152|card|"/>
          <p:cNvSpPr/>
          <p:nvPr/>
        </p:nvSpPr>
        <p:spPr>
          <a:xfrm>
            <a:off x="8131759" y="1481328"/>
            <a:ext cx="3511296" cy="1554480"/>
          </a:xfrm>
          <a:prstGeom prst="roundRect">
            <a:avLst>
              <a:gd name="adj" fmla="val 10588"/>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pl152|deco|"/>
          <p:cNvSpPr/>
          <p:nvPr/>
        </p:nvSpPr>
        <p:spPr>
          <a:xfrm>
            <a:off x="8406079" y="1682496"/>
            <a:ext cx="804672" cy="804672"/>
          </a:xfrm>
          <a:prstGeom prst="ellipse">
            <a:avLst/>
          </a:prstGeom>
          <a:solidFill>
            <a:srgbClr val="FFFFFF"/>
          </a:solidFill>
          <a:ln w="15875">
            <a:solidFill>
              <a:srgbClr val="5B66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pl152|icon|users_deep.png" descr="users_deep"/>
          <p:cNvPicPr>
            <a:picLocks noChangeAspect="1"/>
          </p:cNvPicPr>
          <p:nvPr/>
        </p:nvPicPr>
        <p:blipFill>
          <a:blip r:embed="rId2"/>
          <a:srcRect/>
          <a:stretch>
            <a:fillRect/>
          </a:stretch>
        </p:blipFill>
        <p:spPr>
          <a:xfrm>
            <a:off x="8607247" y="1883663"/>
            <a:ext cx="402336" cy="402336"/>
          </a:xfrm>
          <a:prstGeom prst="rect">
            <a:avLst/>
          </a:prstGeom>
        </p:spPr>
      </p:pic>
      <p:sp>
        <p:nvSpPr>
          <p:cNvPr id="17" name="ppl152|placeholder|"/>
          <p:cNvSpPr txBox="1"/>
          <p:nvPr/>
        </p:nvSpPr>
        <p:spPr>
          <a:xfrm>
            <a:off x="9366199" y="1627632"/>
            <a:ext cx="2048255" cy="822960"/>
          </a:xfrm>
          <a:prstGeom prst="rect">
            <a:avLst/>
          </a:prstGeom>
          <a:noFill/>
        </p:spPr>
        <p:txBody>
          <a:bodyPr wrap="square" lIns="0" rIns="0" tIns="0" bIns="0" anchor="t">
            <a:noAutofit/>
          </a:bodyPr>
          <a:lstStyle/>
          <a:p>
            <a:pPr algn="l"/>
            <a:r>
              <a:rPr sz="1600" b="1">
                <a:solidFill>
                  <a:srgbClr val="20242B"/>
                </a:solidFill>
                <a:latin typeface="Poppins"/>
              </a:rPr>
              <a:t>[[ADVISORS]]</a:t>
            </a:r>
          </a:p>
        </p:txBody>
      </p:sp>
      <p:sp>
        <p:nvSpPr>
          <p:cNvPr id="18" name="ppl152|card|"/>
          <p:cNvSpPr txBox="1"/>
          <p:nvPr/>
        </p:nvSpPr>
        <p:spPr>
          <a:xfrm>
            <a:off x="9366199" y="2487168"/>
            <a:ext cx="2048255" cy="457200"/>
          </a:xfrm>
          <a:prstGeom prst="rect">
            <a:avLst/>
          </a:prstGeom>
          <a:noFill/>
        </p:spPr>
        <p:txBody>
          <a:bodyPr wrap="square" lIns="0" rIns="0" tIns="0" bIns="0" anchor="t">
            <a:noAutofit/>
          </a:bodyPr>
          <a:lstStyle/>
          <a:p>
            <a:pPr algn="l"/>
            <a:r>
              <a:rPr sz="1400" b="0">
                <a:solidFill>
                  <a:srgbClr val="5B6670"/>
                </a:solidFill>
                <a:latin typeface="Inter"/>
              </a:rPr>
              <a:t>Advisory board</a:t>
            </a:r>
          </a:p>
        </p:txBody>
      </p:sp>
      <p:graphicFrame>
        <p:nvGraphicFramePr>
          <p:cNvPr id="19" name="g153|table|hires"/>
          <p:cNvGraphicFramePr>
            <a:graphicFrameLocks noGrp="1"/>
          </p:cNvGraphicFramePr>
          <p:nvPr/>
        </p:nvGraphicFramePr>
        <p:xfrm>
          <a:off x="548640" y="3154680"/>
          <a:ext cx="11091672" cy="3200400"/>
        </p:xfrm>
        <a:graphic>
          <a:graphicData uri="http://schemas.openxmlformats.org/drawingml/2006/table">
            <a:tbl>
              <a:tblPr firstRow="0" bandRow="0"/>
              <a:tblGrid>
                <a:gridCol w="1828800"/>
                <a:gridCol w="6153912"/>
                <a:gridCol w="3108960"/>
              </a:tblGrid>
              <a:tr h="457200">
                <a:tc>
                  <a:txBody>
                    <a:bodyPr wrap="square"/>
                    <a:lstStyle/>
                    <a:p>
                      <a:pPr algn="l"/>
                      <a:r>
                        <a:rPr sz="1400" b="1">
                          <a:solidFill>
                            <a:srgbClr val="FFFFFF"/>
                          </a:solidFill>
                          <a:latin typeface="Poppins"/>
                        </a:rPr>
                        <a:t>Month (base)</a:t>
                      </a:r>
                    </a:p>
                  </a:txBody>
                  <a:tcPr marL="109728" marR="109728" marT="36576" marB="36576" anchor="ctr">
                    <a:lnL w="0">
                      <a:noFill/>
                    </a:lnL>
                    <a:lnR w="0">
                      <a:noFill/>
                    </a:lnR>
                    <a:lnT w="0">
                      <a:noFill/>
                    </a:lnT>
                    <a:lnB w="0">
                      <a:noFill/>
                    </a:lnB>
                    <a:solidFill>
                      <a:srgbClr val="0F1419"/>
                    </a:solidFill>
                  </a:tcPr>
                </a:tc>
                <a:tc>
                  <a:txBody>
                    <a:bodyPr wrap="square"/>
                    <a:lstStyle/>
                    <a:p>
                      <a:pPr algn="l"/>
                      <a:r>
                        <a:rPr sz="1400" b="1">
                          <a:solidFill>
                            <a:srgbClr val="FFFFFF"/>
                          </a:solidFill>
                          <a:latin typeface="Poppins"/>
                        </a:rPr>
                        <a:t>Key hires (MRR-gated)</a:t>
                      </a:r>
                    </a:p>
                  </a:txBody>
                  <a:tcPr marL="109728" marR="109728" marT="36576" marB="36576" anchor="ctr">
                    <a:lnL w="0">
                      <a:noFill/>
                    </a:lnL>
                    <a:lnR w="0">
                      <a:noFill/>
                    </a:lnR>
                    <a:lnT w="0">
                      <a:noFill/>
                    </a:lnT>
                    <a:lnB w="0">
                      <a:noFill/>
                    </a:lnB>
                    <a:solidFill>
                      <a:srgbClr val="0F1419"/>
                    </a:solidFill>
                  </a:tcPr>
                </a:tc>
                <a:tc>
                  <a:txBody>
                    <a:bodyPr wrap="square"/>
                    <a:lstStyle/>
                    <a:p>
                      <a:pPr algn="l"/>
                      <a:r>
                        <a:rPr sz="1400" b="1">
                          <a:solidFill>
                            <a:srgbClr val="FFFFFF"/>
                          </a:solidFill>
                          <a:latin typeface="Poppins"/>
                        </a:rPr>
                        <a:t>MRR gate (last month)</a:t>
                      </a:r>
                    </a:p>
                  </a:txBody>
                  <a:tcPr marL="109728" marR="109728" marT="36576" marB="36576" anchor="ctr">
                    <a:lnL w="0">
                      <a:noFill/>
                    </a:lnL>
                    <a:lnR w="0">
                      <a:noFill/>
                    </a:lnR>
                    <a:lnT w="0">
                      <a:noFill/>
                    </a:lnT>
                    <a:lnB w="0">
                      <a:noFill/>
                    </a:lnB>
                    <a:solidFill>
                      <a:srgbClr val="0F1419"/>
                    </a:solidFill>
                  </a:tcPr>
                </a:tc>
              </a:tr>
              <a:tr h="548640">
                <a:tc>
                  <a:txBody>
                    <a:bodyPr wrap="square"/>
                    <a:lstStyle/>
                    <a:p>
                      <a:pPr algn="l"/>
                      <a:r>
                        <a:rPr sz="1400" b="0">
                          <a:solidFill>
                            <a:srgbClr val="20242B"/>
                          </a:solidFill>
                          <a:latin typeface="Inter"/>
                        </a:rPr>
                        <a:t>Feb 2027</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400" b="0">
                          <a:solidFill>
                            <a:srgbClr val="20242B"/>
                          </a:solidFill>
                          <a:latin typeface="Inter"/>
                        </a:rPr>
                        <a:t>2 senior full-stack engineers, Head of Growth, partnerships manager, customer success lead</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400" b="0">
                          <a:solidFill>
                            <a:srgbClr val="20242B"/>
                          </a:solidFill>
                          <a:latin typeface="Inter"/>
                        </a:rPr>
                        <a:t>At seed close</a:t>
                      </a:r>
                    </a:p>
                  </a:txBody>
                  <a:tcPr marL="109728" marR="109728" marT="36576" marB="36576" anchor="ctr">
                    <a:lnL w="0">
                      <a:noFill/>
                    </a:lnL>
                    <a:lnR w="0">
                      <a:noFill/>
                    </a:lnR>
                    <a:lnT w="0">
                      <a:noFill/>
                    </a:lnT>
                    <a:lnB w="12700">
                      <a:solidFill>
                        <a:srgbClr val="E3E6EA"/>
                      </a:solidFill>
                    </a:lnB>
                    <a:solidFill>
                      <a:srgbClr val="FFFFFF"/>
                    </a:solidFill>
                  </a:tcPr>
                </a:tc>
              </a:tr>
              <a:tr h="548640">
                <a:tc>
                  <a:txBody>
                    <a:bodyPr wrap="square"/>
                    <a:lstStyle/>
                    <a:p>
                      <a:pPr algn="l"/>
                      <a:r>
                        <a:rPr sz="1400" b="0">
                          <a:solidFill>
                            <a:srgbClr val="20242B"/>
                          </a:solidFill>
                          <a:latin typeface="Inter"/>
                        </a:rPr>
                        <a:t>Mar 2027–May 2027</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400" b="0">
                          <a:solidFill>
                            <a:srgbClr val="20242B"/>
                          </a:solidFill>
                          <a:latin typeface="Inter"/>
                        </a:rPr>
                        <a:t>AI/ML engineer, performance marketer, product designer, finance &amp; compliance manager</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400" b="0">
                          <a:solidFill>
                            <a:srgbClr val="20242B"/>
                          </a:solidFill>
                          <a:latin typeface="Inter"/>
                        </a:rPr>
                        <a:t>Up to R0.15M</a:t>
                      </a:r>
                    </a:p>
                  </a:txBody>
                  <a:tcPr marL="109728" marR="109728" marT="36576" marB="36576" anchor="ctr">
                    <a:lnL w="0">
                      <a:noFill/>
                    </a:lnL>
                    <a:lnR w="0">
                      <a:noFill/>
                    </a:lnR>
                    <a:lnT w="0">
                      <a:noFill/>
                    </a:lnT>
                    <a:lnB w="12700">
                      <a:solidFill>
                        <a:srgbClr val="E3E6EA"/>
                      </a:solidFill>
                    </a:lnB>
                    <a:solidFill>
                      <a:srgbClr val="FFFFFF"/>
                    </a:solidFill>
                  </a:tcPr>
                </a:tc>
              </a:tr>
              <a:tr h="548640">
                <a:tc>
                  <a:txBody>
                    <a:bodyPr wrap="square"/>
                    <a:lstStyle/>
                    <a:p>
                      <a:pPr algn="l"/>
                      <a:r>
                        <a:rPr sz="1400" b="0">
                          <a:solidFill>
                            <a:srgbClr val="20242B"/>
                          </a:solidFill>
                          <a:latin typeface="Inter"/>
                        </a:rPr>
                        <a:t>Dec 2027–Apr 2028</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400" b="0">
                          <a:solidFill>
                            <a:srgbClr val="20242B"/>
                          </a:solidFill>
                          <a:latin typeface="Inter"/>
                        </a:rPr>
                        <a:t>Country leads for Nigeria, Kenya and Ghana, 2 months before each launch</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400" b="0">
                          <a:solidFill>
                            <a:srgbClr val="20242B"/>
                          </a:solidFill>
                          <a:latin typeface="Inter"/>
                        </a:rPr>
                        <a:t>Launch gates R0.9M–R1.5M</a:t>
                      </a:r>
                    </a:p>
                  </a:txBody>
                  <a:tcPr marL="109728" marR="109728" marT="36576" marB="36576" anchor="ctr">
                    <a:lnL w="0">
                      <a:noFill/>
                    </a:lnL>
                    <a:lnR w="0">
                      <a:noFill/>
                    </a:lnR>
                    <a:lnT w="0">
                      <a:noFill/>
                    </a:lnT>
                    <a:lnB w="12700">
                      <a:solidFill>
                        <a:srgbClr val="E3E6EA"/>
                      </a:solidFill>
                    </a:lnB>
                    <a:solidFill>
                      <a:srgbClr val="FFFFFF"/>
                    </a:solidFill>
                  </a:tcPr>
                </a:tc>
              </a:tr>
              <a:tr h="548640">
                <a:tc>
                  <a:txBody>
                    <a:bodyPr wrap="square"/>
                    <a:lstStyle/>
                    <a:p>
                      <a:pPr algn="l"/>
                      <a:r>
                        <a:rPr sz="1400" b="0">
                          <a:solidFill>
                            <a:srgbClr val="20242B"/>
                          </a:solidFill>
                          <a:latin typeface="Inter"/>
                        </a:rPr>
                        <a:t>Jan 2028</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400" b="0">
                          <a:solidFill>
                            <a:srgbClr val="20242B"/>
                          </a:solidFill>
                          <a:latin typeface="Inter"/>
                        </a:rPr>
                        <a:t>2 integrations engineers: social adapters, commerce, CRM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400" b="0">
                          <a:solidFill>
                            <a:srgbClr val="20242B"/>
                          </a:solidFill>
                          <a:latin typeface="Inter"/>
                        </a:rPr>
                        <a:t>R1.0M</a:t>
                      </a:r>
                    </a:p>
                  </a:txBody>
                  <a:tcPr marL="109728" marR="109728" marT="36576" marB="36576" anchor="ctr">
                    <a:lnL w="0">
                      <a:noFill/>
                    </a:lnL>
                    <a:lnR w="0">
                      <a:noFill/>
                    </a:lnR>
                    <a:lnT w="0">
                      <a:noFill/>
                    </a:lnT>
                    <a:lnB w="12700">
                      <a:solidFill>
                        <a:srgbClr val="E3E6EA"/>
                      </a:solidFill>
                    </a:lnB>
                    <a:solidFill>
                      <a:srgbClr val="FFFFFF"/>
                    </a:solidFill>
                  </a:tcPr>
                </a:tc>
              </a:tr>
              <a:tr h="548640">
                <a:tc>
                  <a:txBody>
                    <a:bodyPr wrap="square"/>
                    <a:lstStyle/>
                    <a:p>
                      <a:pPr algn="l"/>
                      <a:r>
                        <a:rPr sz="1400" b="0">
                          <a:solidFill>
                            <a:srgbClr val="20242B"/>
                          </a:solidFill>
                          <a:latin typeface="Inter"/>
                        </a:rPr>
                        <a:t>Apr 2029–Nov 2029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400" b="0">
                          <a:solidFill>
                            <a:srgbClr val="20242B"/>
                          </a:solidFill>
                          <a:latin typeface="Inter"/>
                        </a:rPr>
                        <a:t>Head of Sales &amp; Partnerships, VP Engineering, CFO</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400" b="0">
                          <a:solidFill>
                            <a:srgbClr val="20242B"/>
                          </a:solidFill>
                          <a:latin typeface="Inter"/>
                        </a:rPr>
                        <a:t>R5.0M to R8.0M</a:t>
                      </a:r>
                    </a:p>
                  </a:txBody>
                  <a:tcPr marL="109728" marR="109728" marT="36576" marB="36576" anchor="ctr">
                    <a:lnL w="0">
                      <a:noFill/>
                    </a:lnL>
                    <a:lnR w="0">
                      <a:noFill/>
                    </a:lnR>
                    <a:lnT w="0">
                      <a:noFill/>
                    </a:lnT>
                    <a:lnB w="12700">
                      <a:solidFill>
                        <a:srgbClr val="E3E6EA"/>
                      </a:solidFill>
                    </a:lnB>
                    <a:solidFill>
                      <a:srgbClr val="FFFFFF"/>
                    </a:solidFill>
                  </a:tcPr>
                </a:tc>
              </a:tr>
            </a:tbl>
          </a:graphicData>
        </a:graphic>
      </p:graphicFrame>
      <p:sp>
        <p:nvSpPr>
          <p:cNvPr id="20"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Confidential</a:t>
            </a:r>
          </a:p>
        </p:txBody>
      </p:sp>
      <p:sp>
        <p:nvSpPr>
          <p:cNvPr id="21"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18</a:t>
            </a:fld>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F1419"/>
        </a:solidFill>
        <a:effectLst/>
      </p:bgPr>
    </p:bg>
    <p:spTree>
      <p:nvGrpSpPr>
        <p:cNvPr id="1" name=""/>
        <p:cNvGrpSpPr/>
        <p:nvPr/>
      </p:nvGrpSpPr>
      <p:grpSpPr/>
      <p:pic>
        <p:nvPicPr>
          <p:cNvPr id="2" name="g154|img|brand/fluxmuse-logo-dark.png" descr="FluxMuse logo"/>
          <p:cNvPicPr>
            <a:picLocks noChangeAspect="1"/>
          </p:cNvPicPr>
          <p:nvPr/>
        </p:nvPicPr>
        <p:blipFill>
          <a:blip r:embed="rId2"/>
          <a:srcRect/>
          <a:stretch>
            <a:fillRect/>
          </a:stretch>
        </p:blipFill>
        <p:spPr>
          <a:xfrm>
            <a:off x="548640" y="502920"/>
            <a:ext cx="2377440" cy="789290"/>
          </a:xfrm>
          <a:prstGeom prst="rect">
            <a:avLst/>
          </a:prstGeom>
        </p:spPr>
      </p:pic>
      <p:sp>
        <p:nvSpPr>
          <p:cNvPr id="3" name="g155|eyebrow|"/>
          <p:cNvSpPr txBox="1"/>
          <p:nvPr/>
        </p:nvSpPr>
        <p:spPr>
          <a:xfrm>
            <a:off x="548640" y="1737360"/>
            <a:ext cx="6400800" cy="274320"/>
          </a:xfrm>
          <a:prstGeom prst="rect">
            <a:avLst/>
          </a:prstGeom>
          <a:noFill/>
        </p:spPr>
        <p:txBody>
          <a:bodyPr wrap="square" lIns="0" rIns="0" tIns="0" bIns="0" anchor="t">
            <a:noAutofit/>
          </a:bodyPr>
          <a:lstStyle/>
          <a:p>
            <a:pPr algn="l"/>
            <a:r>
              <a:rPr sz="1300" b="1" spc="150">
                <a:solidFill>
                  <a:srgbClr val="FF6A00"/>
                </a:solidFill>
                <a:latin typeface="Inter"/>
              </a:rPr>
              <a:t>THANK YOU</a:t>
            </a:r>
          </a:p>
        </p:txBody>
      </p:sp>
      <p:sp>
        <p:nvSpPr>
          <p:cNvPr id="4" name="g156|title|"/>
          <p:cNvSpPr txBox="1"/>
          <p:nvPr/>
        </p:nvSpPr>
        <p:spPr>
          <a:xfrm>
            <a:off x="548640" y="2057400"/>
            <a:ext cx="6400800" cy="1417320"/>
          </a:xfrm>
          <a:prstGeom prst="rect">
            <a:avLst/>
          </a:prstGeom>
          <a:noFill/>
        </p:spPr>
        <p:txBody>
          <a:bodyPr wrap="square" lIns="0" rIns="0" tIns="0" bIns="0" anchor="t">
            <a:noAutofit/>
          </a:bodyPr>
          <a:lstStyle/>
          <a:p>
            <a:pPr algn="l"/>
            <a:r>
              <a:rPr sz="3400" b="1">
                <a:solidFill>
                  <a:srgbClr val="FFFFFF"/>
                </a:solidFill>
                <a:latin typeface="Poppins"/>
              </a:rPr>
              <a:t>Join the FluxMuse seed round</a:t>
            </a:r>
          </a:p>
        </p:txBody>
      </p:sp>
      <p:sp>
        <p:nvSpPr>
          <p:cNvPr id="5" name="g157|body|"/>
          <p:cNvSpPr txBox="1"/>
          <p:nvPr/>
        </p:nvSpPr>
        <p:spPr>
          <a:xfrm>
            <a:off x="548640" y="3611880"/>
            <a:ext cx="6400800" cy="640080"/>
          </a:xfrm>
          <a:prstGeom prst="rect">
            <a:avLst/>
          </a:prstGeom>
          <a:noFill/>
        </p:spPr>
        <p:txBody>
          <a:bodyPr wrap="square" lIns="0" rIns="0" tIns="0" bIns="0" anchor="t">
            <a:noAutofit/>
          </a:bodyPr>
          <a:lstStyle/>
          <a:p>
            <a:pPr algn="l"/>
            <a:r>
              <a:rPr sz="1800" b="0">
                <a:solidFill>
                  <a:srgbClr val="D5DADF"/>
                </a:solidFill>
                <a:latin typeface="Inter"/>
              </a:rPr>
              <a:t>R25M to reach profitability on this round alone (projection (model v2, base case)).</a:t>
            </a:r>
          </a:p>
        </p:txBody>
      </p:sp>
      <p:sp>
        <p:nvSpPr>
          <p:cNvPr id="6" name="g158|deco|"/>
          <p:cNvSpPr/>
          <p:nvPr/>
        </p:nvSpPr>
        <p:spPr>
          <a:xfrm>
            <a:off x="566927" y="4389120"/>
            <a:ext cx="512064" cy="512064"/>
          </a:xfrm>
          <a:prstGeom prst="ellipse">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g158|icon|checkCircle_ink.png" descr="checkCircle_ink"/>
          <p:cNvPicPr>
            <a:picLocks noChangeAspect="1"/>
          </p:cNvPicPr>
          <p:nvPr/>
        </p:nvPicPr>
        <p:blipFill>
          <a:blip r:embed="rId3"/>
          <a:srcRect/>
          <a:stretch>
            <a:fillRect/>
          </a:stretch>
        </p:blipFill>
        <p:spPr>
          <a:xfrm>
            <a:off x="679582" y="4501774"/>
            <a:ext cx="286755" cy="286755"/>
          </a:xfrm>
          <a:prstGeom prst="rect">
            <a:avLst/>
          </a:prstGeom>
        </p:spPr>
      </p:pic>
      <p:sp>
        <p:nvSpPr>
          <p:cNvPr id="8" name="g158|body|"/>
          <p:cNvSpPr txBox="1"/>
          <p:nvPr/>
        </p:nvSpPr>
        <p:spPr>
          <a:xfrm>
            <a:off x="1280160" y="4389120"/>
            <a:ext cx="5486400" cy="512064"/>
          </a:xfrm>
          <a:prstGeom prst="rect">
            <a:avLst/>
          </a:prstGeom>
          <a:noFill/>
        </p:spPr>
        <p:txBody>
          <a:bodyPr wrap="square" lIns="0" rIns="0" tIns="0" bIns="0" anchor="ctr">
            <a:noAutofit/>
          </a:bodyPr>
          <a:lstStyle/>
          <a:p>
            <a:pPr algn="l"/>
            <a:r>
              <a:rPr sz="1700" b="0">
                <a:solidFill>
                  <a:srgbClr val="FFFFFF"/>
                </a:solidFill>
                <a:latin typeface="Inter"/>
              </a:rPr>
              <a:t>Verified Meta Tech Provider</a:t>
            </a:r>
          </a:p>
        </p:txBody>
      </p:sp>
      <p:sp>
        <p:nvSpPr>
          <p:cNvPr id="9" name="g159|deco|"/>
          <p:cNvSpPr/>
          <p:nvPr/>
        </p:nvSpPr>
        <p:spPr>
          <a:xfrm>
            <a:off x="566927" y="5010912"/>
            <a:ext cx="512064" cy="512064"/>
          </a:xfrm>
          <a:prstGeom prst="ellipse">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g159|icon|card_ink.png" descr="card_ink"/>
          <p:cNvPicPr>
            <a:picLocks noChangeAspect="1"/>
          </p:cNvPicPr>
          <p:nvPr/>
        </p:nvPicPr>
        <p:blipFill>
          <a:blip r:embed="rId4"/>
          <a:srcRect/>
          <a:stretch>
            <a:fillRect/>
          </a:stretch>
        </p:blipFill>
        <p:spPr>
          <a:xfrm>
            <a:off x="679582" y="5123566"/>
            <a:ext cx="286755" cy="286755"/>
          </a:xfrm>
          <a:prstGeom prst="rect">
            <a:avLst/>
          </a:prstGeom>
        </p:spPr>
      </p:pic>
      <p:sp>
        <p:nvSpPr>
          <p:cNvPr id="11" name="g159|body|"/>
          <p:cNvSpPr txBox="1"/>
          <p:nvPr/>
        </p:nvSpPr>
        <p:spPr>
          <a:xfrm>
            <a:off x="1280160" y="5010912"/>
            <a:ext cx="5486400" cy="512064"/>
          </a:xfrm>
          <a:prstGeom prst="rect">
            <a:avLst/>
          </a:prstGeom>
          <a:noFill/>
        </p:spPr>
        <p:txBody>
          <a:bodyPr wrap="square" lIns="0" rIns="0" tIns="0" bIns="0" anchor="ctr">
            <a:noAutofit/>
          </a:bodyPr>
          <a:lstStyle/>
          <a:p>
            <a:pPr algn="l"/>
            <a:r>
              <a:rPr sz="1700" b="0">
                <a:solidFill>
                  <a:srgbClr val="FFFFFF"/>
                </a:solidFill>
                <a:latin typeface="Inter"/>
              </a:rPr>
              <a:t>5 payment rails · 23 countries</a:t>
            </a:r>
          </a:p>
        </p:txBody>
      </p:sp>
      <p:sp>
        <p:nvSpPr>
          <p:cNvPr id="12" name="g160|deco|"/>
          <p:cNvSpPr/>
          <p:nvPr/>
        </p:nvSpPr>
        <p:spPr>
          <a:xfrm>
            <a:off x="566927" y="5632704"/>
            <a:ext cx="512064" cy="512064"/>
          </a:xfrm>
          <a:prstGeom prst="ellipse">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g160|icon|calendar_ink.png" descr="calendar_ink"/>
          <p:cNvPicPr>
            <a:picLocks noChangeAspect="1"/>
          </p:cNvPicPr>
          <p:nvPr/>
        </p:nvPicPr>
        <p:blipFill>
          <a:blip r:embed="rId5"/>
          <a:srcRect/>
          <a:stretch>
            <a:fillRect/>
          </a:stretch>
        </p:blipFill>
        <p:spPr>
          <a:xfrm>
            <a:off x="679582" y="5745358"/>
            <a:ext cx="286755" cy="286755"/>
          </a:xfrm>
          <a:prstGeom prst="rect">
            <a:avLst/>
          </a:prstGeom>
        </p:spPr>
      </p:pic>
      <p:sp>
        <p:nvSpPr>
          <p:cNvPr id="14" name="g160|body|"/>
          <p:cNvSpPr txBox="1"/>
          <p:nvPr/>
        </p:nvSpPr>
        <p:spPr>
          <a:xfrm>
            <a:off x="1280160" y="5632704"/>
            <a:ext cx="5486400" cy="512064"/>
          </a:xfrm>
          <a:prstGeom prst="rect">
            <a:avLst/>
          </a:prstGeom>
          <a:noFill/>
        </p:spPr>
        <p:txBody>
          <a:bodyPr wrap="square" lIns="0" rIns="0" tIns="0" bIns="0" anchor="ctr">
            <a:noAutofit/>
          </a:bodyPr>
          <a:lstStyle/>
          <a:p>
            <a:pPr algn="l"/>
            <a:r>
              <a:rPr sz="1700" b="0">
                <a:solidFill>
                  <a:srgbClr val="FFFFFF"/>
                </a:solidFill>
                <a:latin typeface="Inter"/>
              </a:rPr>
              <a:t>Gauteng pilot results: December 2026</a:t>
            </a:r>
          </a:p>
        </p:txBody>
      </p:sp>
      <p:sp>
        <p:nvSpPr>
          <p:cNvPr id="15" name="contact161|card|"/>
          <p:cNvSpPr/>
          <p:nvPr/>
        </p:nvSpPr>
        <p:spPr>
          <a:xfrm>
            <a:off x="7498079" y="2057400"/>
            <a:ext cx="4142232" cy="3291840"/>
          </a:xfrm>
          <a:prstGeom prst="roundRect">
            <a:avLst>
              <a:gd name="adj" fmla="val 5555"/>
            </a:avLst>
          </a:prstGeom>
          <a:solidFill>
            <a:srgbClr val="1B23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ontact161|eyebrow|"/>
          <p:cNvSpPr txBox="1"/>
          <p:nvPr/>
        </p:nvSpPr>
        <p:spPr>
          <a:xfrm>
            <a:off x="7818120" y="2331720"/>
            <a:ext cx="3520440" cy="274320"/>
          </a:xfrm>
          <a:prstGeom prst="rect">
            <a:avLst/>
          </a:prstGeom>
          <a:noFill/>
        </p:spPr>
        <p:txBody>
          <a:bodyPr wrap="square" lIns="0" rIns="0" tIns="0" bIns="0" anchor="t">
            <a:noAutofit/>
          </a:bodyPr>
          <a:lstStyle/>
          <a:p>
            <a:pPr algn="l"/>
            <a:r>
              <a:rPr sz="1200" b="1" spc="150">
                <a:solidFill>
                  <a:srgbClr val="FF6A00"/>
                </a:solidFill>
                <a:latin typeface="Inter"/>
              </a:rPr>
              <a:t>CONTACT</a:t>
            </a:r>
          </a:p>
        </p:txBody>
      </p:sp>
      <p:sp>
        <p:nvSpPr>
          <p:cNvPr id="17" name="contact161|placeholder|"/>
          <p:cNvSpPr txBox="1"/>
          <p:nvPr/>
        </p:nvSpPr>
        <p:spPr>
          <a:xfrm>
            <a:off x="7818120" y="2697480"/>
            <a:ext cx="3520440" cy="2377440"/>
          </a:xfrm>
          <a:prstGeom prst="rect">
            <a:avLst/>
          </a:prstGeom>
          <a:noFill/>
        </p:spPr>
        <p:txBody>
          <a:bodyPr wrap="square" lIns="0" rIns="0" tIns="0" bIns="0" anchor="t">
            <a:noAutofit/>
          </a:bodyPr>
          <a:lstStyle/>
          <a:p>
            <a:pPr algn="l">
              <a:spcAft>
                <a:spcPts val="1200"/>
              </a:spcAft>
            </a:pPr>
            <a:r>
              <a:rPr sz="1800" b="1">
                <a:solidFill>
                  <a:srgbClr val="FFFFFF"/>
                </a:solidFill>
                <a:latin typeface="Inter"/>
              </a:rPr>
              <a:t>[[EMAIL]]</a:t>
            </a:r>
          </a:p>
          <a:p>
            <a:pPr algn="l">
              <a:spcAft>
                <a:spcPts val="1200"/>
              </a:spcAft>
            </a:pPr>
            <a:r>
              <a:rPr sz="1800" b="0">
                <a:solidFill>
                  <a:srgbClr val="D5DADF"/>
                </a:solidFill>
                <a:latin typeface="Inter"/>
              </a:rPr>
              <a:t>[[PHONE]]</a:t>
            </a:r>
          </a:p>
          <a:p>
            <a:pPr algn="l"/>
            <a:r>
              <a:rPr sz="1800" b="0">
                <a:solidFill>
                  <a:srgbClr val="A7B0B8"/>
                </a:solidFill>
                <a:latin typeface="Inter"/>
              </a:rPr>
              <a:t>Data room: </a:t>
            </a:r>
            <a:r>
              <a:rPr sz="1800" b="1">
                <a:solidFill>
                  <a:srgbClr val="FFFFFF"/>
                </a:solidFill>
                <a:latin typeface="Inter"/>
              </a:rPr>
              <a:t>[[LINK]]</a:t>
            </a:r>
          </a:p>
        </p:txBody>
      </p:sp>
      <p:sp>
        <p:nvSpPr>
          <p:cNvPr id="18"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A7B0B8"/>
                </a:solidFill>
                <a:latin typeface="Inter"/>
              </a:rPr>
              <a:t>FluxMuse · Confidential</a:t>
            </a:r>
          </a:p>
        </p:txBody>
      </p:sp>
      <p:sp>
        <p:nvSpPr>
          <p:cNvPr id="19"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A7B0B8"/>
                </a:solidFill>
                <a:latin typeface="Inter"/>
              </a:rPr>
              <a:t>19</a:t>
            </a:fld>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F1419"/>
        </a:solidFill>
        <a:effectLst/>
      </p:bgPr>
    </p:bg>
    <p:spTree>
      <p:nvGrpSpPr>
        <p:cNvPr id="1" name=""/>
        <p:cNvGrpSpPr/>
        <p:nvPr/>
      </p:nvGrpSpPr>
      <p:grpSpPr/>
      <p:sp>
        <p:nvSpPr>
          <p:cNvPr id="2" name="g162|eyebrow|"/>
          <p:cNvSpPr txBox="1"/>
          <p:nvPr/>
        </p:nvSpPr>
        <p:spPr>
          <a:xfrm>
            <a:off x="548640" y="1097280"/>
            <a:ext cx="11094415" cy="274320"/>
          </a:xfrm>
          <a:prstGeom prst="rect">
            <a:avLst/>
          </a:prstGeom>
          <a:noFill/>
        </p:spPr>
        <p:txBody>
          <a:bodyPr wrap="square" lIns="0" rIns="0" tIns="0" bIns="0" anchor="t">
            <a:noAutofit/>
          </a:bodyPr>
          <a:lstStyle/>
          <a:p>
            <a:pPr algn="l"/>
            <a:r>
              <a:rPr sz="1200" b="1" spc="150">
                <a:solidFill>
                  <a:srgbClr val="FF6A00"/>
                </a:solidFill>
                <a:latin typeface="Inter"/>
              </a:rPr>
              <a:t>APPENDIX</a:t>
            </a:r>
          </a:p>
        </p:txBody>
      </p:sp>
      <p:sp>
        <p:nvSpPr>
          <p:cNvPr id="3" name="g163|title|"/>
          <p:cNvSpPr txBox="1"/>
          <p:nvPr/>
        </p:nvSpPr>
        <p:spPr>
          <a:xfrm>
            <a:off x="548640" y="1389888"/>
            <a:ext cx="11094415" cy="822960"/>
          </a:xfrm>
          <a:prstGeom prst="rect">
            <a:avLst/>
          </a:prstGeom>
          <a:noFill/>
        </p:spPr>
        <p:txBody>
          <a:bodyPr wrap="square" lIns="0" rIns="0" tIns="0" bIns="0" anchor="t">
            <a:noAutofit/>
          </a:bodyPr>
          <a:lstStyle/>
          <a:p>
            <a:pPr algn="l"/>
            <a:r>
              <a:rPr sz="4000" b="1">
                <a:solidFill>
                  <a:srgbClr val="FFFFFF"/>
                </a:solidFill>
                <a:latin typeface="Poppins"/>
              </a:rPr>
              <a:t>Reference slides</a:t>
            </a:r>
          </a:p>
        </p:txBody>
      </p:sp>
      <p:sp>
        <p:nvSpPr>
          <p:cNvPr id="4" name="ax164|chip|"/>
          <p:cNvSpPr/>
          <p:nvPr/>
        </p:nvSpPr>
        <p:spPr>
          <a:xfrm>
            <a:off x="548640" y="2423160"/>
            <a:ext cx="868680" cy="420624"/>
          </a:xfrm>
          <a:prstGeom prst="roundRect">
            <a:avLst>
              <a:gd name="adj" fmla="val 50000"/>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ax164|chip|"/>
          <p:cNvSpPr txBox="1"/>
          <p:nvPr/>
        </p:nvSpPr>
        <p:spPr>
          <a:xfrm>
            <a:off x="548640" y="2423160"/>
            <a:ext cx="868680" cy="420624"/>
          </a:xfrm>
          <a:prstGeom prst="rect">
            <a:avLst/>
          </a:prstGeom>
          <a:noFill/>
        </p:spPr>
        <p:txBody>
          <a:bodyPr wrap="square" lIns="0" rIns="0" tIns="0" bIns="0" anchor="ctr">
            <a:noAutofit/>
          </a:bodyPr>
          <a:lstStyle/>
          <a:p>
            <a:pPr algn="ctr"/>
            <a:r>
              <a:rPr sz="1500" b="1">
                <a:solidFill>
                  <a:srgbClr val="0F1419"/>
                </a:solidFill>
                <a:latin typeface="Poppins"/>
              </a:rPr>
              <a:t>A1</a:t>
            </a:r>
          </a:p>
        </p:txBody>
      </p:sp>
      <p:sp>
        <p:nvSpPr>
          <p:cNvPr id="6" name="ax164|body|"/>
          <p:cNvSpPr txBox="1"/>
          <p:nvPr/>
        </p:nvSpPr>
        <p:spPr>
          <a:xfrm>
            <a:off x="1645919" y="2423160"/>
            <a:ext cx="9144000" cy="420624"/>
          </a:xfrm>
          <a:prstGeom prst="rect">
            <a:avLst/>
          </a:prstGeom>
          <a:noFill/>
        </p:spPr>
        <p:txBody>
          <a:bodyPr wrap="square" lIns="0" rIns="0" tIns="0" bIns="0" anchor="ctr">
            <a:noAutofit/>
          </a:bodyPr>
          <a:lstStyle/>
          <a:p>
            <a:pPr algn="l"/>
            <a:r>
              <a:rPr sz="1800" b="0">
                <a:solidFill>
                  <a:srgbClr val="FFFFFF"/>
                </a:solidFill>
                <a:latin typeface="Inter"/>
              </a:rPr>
              <a:t>Key model assumptions</a:t>
            </a:r>
          </a:p>
        </p:txBody>
      </p:sp>
      <p:sp>
        <p:nvSpPr>
          <p:cNvPr id="7" name="ax165|chip|"/>
          <p:cNvSpPr/>
          <p:nvPr/>
        </p:nvSpPr>
        <p:spPr>
          <a:xfrm>
            <a:off x="548640" y="2971800"/>
            <a:ext cx="868680" cy="420624"/>
          </a:xfrm>
          <a:prstGeom prst="roundRect">
            <a:avLst>
              <a:gd name="adj" fmla="val 50000"/>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ax165|chip|"/>
          <p:cNvSpPr txBox="1"/>
          <p:nvPr/>
        </p:nvSpPr>
        <p:spPr>
          <a:xfrm>
            <a:off x="548640" y="2971800"/>
            <a:ext cx="868680" cy="420624"/>
          </a:xfrm>
          <a:prstGeom prst="rect">
            <a:avLst/>
          </a:prstGeom>
          <a:noFill/>
        </p:spPr>
        <p:txBody>
          <a:bodyPr wrap="square" lIns="0" rIns="0" tIns="0" bIns="0" anchor="ctr">
            <a:noAutofit/>
          </a:bodyPr>
          <a:lstStyle/>
          <a:p>
            <a:pPr algn="ctr"/>
            <a:r>
              <a:rPr sz="1500" b="1">
                <a:solidFill>
                  <a:srgbClr val="0F1419"/>
                </a:solidFill>
                <a:latin typeface="Poppins"/>
              </a:rPr>
              <a:t>A2</a:t>
            </a:r>
          </a:p>
        </p:txBody>
      </p:sp>
      <p:sp>
        <p:nvSpPr>
          <p:cNvPr id="9" name="ax165|body|"/>
          <p:cNvSpPr txBox="1"/>
          <p:nvPr/>
        </p:nvSpPr>
        <p:spPr>
          <a:xfrm>
            <a:off x="1645919" y="2971800"/>
            <a:ext cx="9144000" cy="420624"/>
          </a:xfrm>
          <a:prstGeom prst="rect">
            <a:avLst/>
          </a:prstGeom>
          <a:noFill/>
        </p:spPr>
        <p:txBody>
          <a:bodyPr wrap="square" lIns="0" rIns="0" tIns="0" bIns="0" anchor="ctr">
            <a:noAutofit/>
          </a:bodyPr>
          <a:lstStyle/>
          <a:p>
            <a:pPr algn="l"/>
            <a:r>
              <a:rPr sz="1800" b="0">
                <a:solidFill>
                  <a:srgbClr val="FFFFFF"/>
                </a:solidFill>
                <a:latin typeface="Inter"/>
              </a:rPr>
              <a:t>Paying workspaces by segment and market</a:t>
            </a:r>
          </a:p>
        </p:txBody>
      </p:sp>
      <p:sp>
        <p:nvSpPr>
          <p:cNvPr id="10" name="ax166|chip|"/>
          <p:cNvSpPr/>
          <p:nvPr/>
        </p:nvSpPr>
        <p:spPr>
          <a:xfrm>
            <a:off x="548640" y="3520439"/>
            <a:ext cx="868680" cy="420624"/>
          </a:xfrm>
          <a:prstGeom prst="roundRect">
            <a:avLst>
              <a:gd name="adj" fmla="val 50000"/>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ax166|chip|"/>
          <p:cNvSpPr txBox="1"/>
          <p:nvPr/>
        </p:nvSpPr>
        <p:spPr>
          <a:xfrm>
            <a:off x="548640" y="3520439"/>
            <a:ext cx="868680" cy="420624"/>
          </a:xfrm>
          <a:prstGeom prst="rect">
            <a:avLst/>
          </a:prstGeom>
          <a:noFill/>
        </p:spPr>
        <p:txBody>
          <a:bodyPr wrap="square" lIns="0" rIns="0" tIns="0" bIns="0" anchor="ctr">
            <a:noAutofit/>
          </a:bodyPr>
          <a:lstStyle/>
          <a:p>
            <a:pPr algn="ctr"/>
            <a:r>
              <a:rPr sz="1500" b="1">
                <a:solidFill>
                  <a:srgbClr val="0F1419"/>
                </a:solidFill>
                <a:latin typeface="Poppins"/>
              </a:rPr>
              <a:t>A3</a:t>
            </a:r>
          </a:p>
        </p:txBody>
      </p:sp>
      <p:sp>
        <p:nvSpPr>
          <p:cNvPr id="12" name="ax166|body|"/>
          <p:cNvSpPr txBox="1"/>
          <p:nvPr/>
        </p:nvSpPr>
        <p:spPr>
          <a:xfrm>
            <a:off x="1645919" y="3520439"/>
            <a:ext cx="9144000" cy="420624"/>
          </a:xfrm>
          <a:prstGeom prst="rect">
            <a:avLst/>
          </a:prstGeom>
          <a:noFill/>
        </p:spPr>
        <p:txBody>
          <a:bodyPr wrap="square" lIns="0" rIns="0" tIns="0" bIns="0" anchor="ctr">
            <a:noAutofit/>
          </a:bodyPr>
          <a:lstStyle/>
          <a:p>
            <a:pPr algn="l"/>
            <a:r>
              <a:rPr sz="1800" b="0">
                <a:solidFill>
                  <a:srgbClr val="FFFFFF"/>
                </a:solidFill>
                <a:latin typeface="Inter"/>
              </a:rPr>
              <a:t>Pricing: ZAR, local currency, USD, partner wholesale</a:t>
            </a:r>
          </a:p>
        </p:txBody>
      </p:sp>
      <p:sp>
        <p:nvSpPr>
          <p:cNvPr id="13" name="ax167|chip|"/>
          <p:cNvSpPr/>
          <p:nvPr/>
        </p:nvSpPr>
        <p:spPr>
          <a:xfrm>
            <a:off x="548640" y="4069079"/>
            <a:ext cx="868680" cy="420624"/>
          </a:xfrm>
          <a:prstGeom prst="roundRect">
            <a:avLst>
              <a:gd name="adj" fmla="val 50000"/>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ax167|chip|"/>
          <p:cNvSpPr txBox="1"/>
          <p:nvPr/>
        </p:nvSpPr>
        <p:spPr>
          <a:xfrm>
            <a:off x="548640" y="4069079"/>
            <a:ext cx="868680" cy="420624"/>
          </a:xfrm>
          <a:prstGeom prst="rect">
            <a:avLst/>
          </a:prstGeom>
          <a:noFill/>
        </p:spPr>
        <p:txBody>
          <a:bodyPr wrap="square" lIns="0" rIns="0" tIns="0" bIns="0" anchor="ctr">
            <a:noAutofit/>
          </a:bodyPr>
          <a:lstStyle/>
          <a:p>
            <a:pPr algn="ctr"/>
            <a:r>
              <a:rPr sz="1500" b="1">
                <a:solidFill>
                  <a:srgbClr val="0F1419"/>
                </a:solidFill>
                <a:latin typeface="Poppins"/>
              </a:rPr>
              <a:t>A4</a:t>
            </a:r>
          </a:p>
        </p:txBody>
      </p:sp>
      <p:sp>
        <p:nvSpPr>
          <p:cNvPr id="15" name="ax167|body|"/>
          <p:cNvSpPr txBox="1"/>
          <p:nvPr/>
        </p:nvSpPr>
        <p:spPr>
          <a:xfrm>
            <a:off x="1645919" y="4069079"/>
            <a:ext cx="9144000" cy="420624"/>
          </a:xfrm>
          <a:prstGeom prst="rect">
            <a:avLst/>
          </a:prstGeom>
          <a:noFill/>
        </p:spPr>
        <p:txBody>
          <a:bodyPr wrap="square" lIns="0" rIns="0" tIns="0" bIns="0" anchor="ctr">
            <a:noAutofit/>
          </a:bodyPr>
          <a:lstStyle/>
          <a:p>
            <a:pPr algn="l"/>
            <a:r>
              <a:rPr sz="1800" b="0">
                <a:solidFill>
                  <a:srgbClr val="FFFFFF"/>
                </a:solidFill>
                <a:latin typeface="Inter"/>
              </a:rPr>
              <a:t>Payment rails by country</a:t>
            </a:r>
          </a:p>
        </p:txBody>
      </p:sp>
      <p:sp>
        <p:nvSpPr>
          <p:cNvPr id="16" name="ax168|chip|"/>
          <p:cNvSpPr/>
          <p:nvPr/>
        </p:nvSpPr>
        <p:spPr>
          <a:xfrm>
            <a:off x="548640" y="4617720"/>
            <a:ext cx="868680" cy="420624"/>
          </a:xfrm>
          <a:prstGeom prst="roundRect">
            <a:avLst>
              <a:gd name="adj" fmla="val 50000"/>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ax168|chip|"/>
          <p:cNvSpPr txBox="1"/>
          <p:nvPr/>
        </p:nvSpPr>
        <p:spPr>
          <a:xfrm>
            <a:off x="548640" y="4617720"/>
            <a:ext cx="868680" cy="420624"/>
          </a:xfrm>
          <a:prstGeom prst="rect">
            <a:avLst/>
          </a:prstGeom>
          <a:noFill/>
        </p:spPr>
        <p:txBody>
          <a:bodyPr wrap="square" lIns="0" rIns="0" tIns="0" bIns="0" anchor="ctr">
            <a:noAutofit/>
          </a:bodyPr>
          <a:lstStyle/>
          <a:p>
            <a:pPr algn="ctr"/>
            <a:r>
              <a:rPr sz="1500" b="1">
                <a:solidFill>
                  <a:srgbClr val="0F1419"/>
                </a:solidFill>
                <a:latin typeface="Poppins"/>
              </a:rPr>
              <a:t>A5</a:t>
            </a:r>
          </a:p>
        </p:txBody>
      </p:sp>
      <p:sp>
        <p:nvSpPr>
          <p:cNvPr id="18" name="ax168|body|"/>
          <p:cNvSpPr txBox="1"/>
          <p:nvPr/>
        </p:nvSpPr>
        <p:spPr>
          <a:xfrm>
            <a:off x="1645919" y="4617720"/>
            <a:ext cx="9144000" cy="420624"/>
          </a:xfrm>
          <a:prstGeom prst="rect">
            <a:avLst/>
          </a:prstGeom>
          <a:noFill/>
        </p:spPr>
        <p:txBody>
          <a:bodyPr wrap="square" lIns="0" rIns="0" tIns="0" bIns="0" anchor="ctr">
            <a:noAutofit/>
          </a:bodyPr>
          <a:lstStyle/>
          <a:p>
            <a:pPr algn="l"/>
            <a:r>
              <a:rPr sz="1800" b="0">
                <a:solidFill>
                  <a:srgbClr val="FFFFFF"/>
                </a:solidFill>
                <a:latin typeface="Inter"/>
              </a:rPr>
              <a:t>FX shock sensitivity</a:t>
            </a:r>
          </a:p>
        </p:txBody>
      </p:sp>
      <p:sp>
        <p:nvSpPr>
          <p:cNvPr id="19" name="ax169|chip|"/>
          <p:cNvSpPr/>
          <p:nvPr/>
        </p:nvSpPr>
        <p:spPr>
          <a:xfrm>
            <a:off x="548640" y="5166360"/>
            <a:ext cx="868680" cy="420624"/>
          </a:xfrm>
          <a:prstGeom prst="roundRect">
            <a:avLst>
              <a:gd name="adj" fmla="val 50000"/>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ax169|chip|"/>
          <p:cNvSpPr txBox="1"/>
          <p:nvPr/>
        </p:nvSpPr>
        <p:spPr>
          <a:xfrm>
            <a:off x="548640" y="5166360"/>
            <a:ext cx="868680" cy="420624"/>
          </a:xfrm>
          <a:prstGeom prst="rect">
            <a:avLst/>
          </a:prstGeom>
          <a:noFill/>
        </p:spPr>
        <p:txBody>
          <a:bodyPr wrap="square" lIns="0" rIns="0" tIns="0" bIns="0" anchor="ctr">
            <a:noAutofit/>
          </a:bodyPr>
          <a:lstStyle/>
          <a:p>
            <a:pPr algn="ctr"/>
            <a:r>
              <a:rPr sz="1500" b="1">
                <a:solidFill>
                  <a:srgbClr val="0F1419"/>
                </a:solidFill>
                <a:latin typeface="Poppins"/>
              </a:rPr>
              <a:t>A6</a:t>
            </a:r>
          </a:p>
        </p:txBody>
      </p:sp>
      <p:sp>
        <p:nvSpPr>
          <p:cNvPr id="21" name="ax169|body|"/>
          <p:cNvSpPr txBox="1"/>
          <p:nvPr/>
        </p:nvSpPr>
        <p:spPr>
          <a:xfrm>
            <a:off x="1645919" y="5166360"/>
            <a:ext cx="9144000" cy="420624"/>
          </a:xfrm>
          <a:prstGeom prst="rect">
            <a:avLst/>
          </a:prstGeom>
          <a:noFill/>
        </p:spPr>
        <p:txBody>
          <a:bodyPr wrap="square" lIns="0" rIns="0" tIns="0" bIns="0" anchor="ctr">
            <a:noAutofit/>
          </a:bodyPr>
          <a:lstStyle/>
          <a:p>
            <a:pPr algn="l"/>
            <a:r>
              <a:rPr sz="1800" b="0">
                <a:solidFill>
                  <a:srgbClr val="FFFFFF"/>
                </a:solidFill>
                <a:latin typeface="Inter"/>
              </a:rPr>
              <a:t>Founding Member discount cost</a:t>
            </a:r>
          </a:p>
        </p:txBody>
      </p:sp>
      <p:sp>
        <p:nvSpPr>
          <p:cNvPr id="22" name="ax170|chip|"/>
          <p:cNvSpPr/>
          <p:nvPr/>
        </p:nvSpPr>
        <p:spPr>
          <a:xfrm>
            <a:off x="548640" y="5715000"/>
            <a:ext cx="868680" cy="420624"/>
          </a:xfrm>
          <a:prstGeom prst="roundRect">
            <a:avLst>
              <a:gd name="adj" fmla="val 50000"/>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ax170|chip|"/>
          <p:cNvSpPr txBox="1"/>
          <p:nvPr/>
        </p:nvSpPr>
        <p:spPr>
          <a:xfrm>
            <a:off x="548640" y="5715000"/>
            <a:ext cx="868680" cy="420624"/>
          </a:xfrm>
          <a:prstGeom prst="rect">
            <a:avLst/>
          </a:prstGeom>
          <a:noFill/>
        </p:spPr>
        <p:txBody>
          <a:bodyPr wrap="square" lIns="0" rIns="0" tIns="0" bIns="0" anchor="ctr">
            <a:noAutofit/>
          </a:bodyPr>
          <a:lstStyle/>
          <a:p>
            <a:pPr algn="ctr"/>
            <a:r>
              <a:rPr sz="1500" b="1">
                <a:solidFill>
                  <a:srgbClr val="0F1419"/>
                </a:solidFill>
                <a:latin typeface="Poppins"/>
              </a:rPr>
              <a:t>A7</a:t>
            </a:r>
          </a:p>
        </p:txBody>
      </p:sp>
      <p:sp>
        <p:nvSpPr>
          <p:cNvPr id="24" name="ax170|body|"/>
          <p:cNvSpPr txBox="1"/>
          <p:nvPr/>
        </p:nvSpPr>
        <p:spPr>
          <a:xfrm>
            <a:off x="1645919" y="5715000"/>
            <a:ext cx="9144000" cy="420624"/>
          </a:xfrm>
          <a:prstGeom prst="rect">
            <a:avLst/>
          </a:prstGeom>
          <a:noFill/>
        </p:spPr>
        <p:txBody>
          <a:bodyPr wrap="square" lIns="0" rIns="0" tIns="0" bIns="0" anchor="ctr">
            <a:noAutofit/>
          </a:bodyPr>
          <a:lstStyle/>
          <a:p>
            <a:pPr algn="l"/>
            <a:r>
              <a:rPr sz="1800" b="0">
                <a:solidFill>
                  <a:srgbClr val="FFFFFF"/>
                </a:solidFill>
                <a:latin typeface="Inter"/>
              </a:rPr>
              <a:t>Founder confirmations (internal: hide before sending)</a:t>
            </a:r>
          </a:p>
        </p:txBody>
      </p:sp>
      <p:sp>
        <p:nvSpPr>
          <p:cNvPr id="2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A7B0B8"/>
                </a:solidFill>
                <a:latin typeface="Inter"/>
              </a:rPr>
              <a:t>FluxMuse · Confidential</a:t>
            </a:r>
          </a:p>
        </p:txBody>
      </p:sp>
      <p:sp>
        <p:nvSpPr>
          <p:cNvPr id="2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A7B0B8"/>
                </a:solidFill>
                <a:latin typeface="Inter"/>
              </a:rPr>
              <a:t>20</a:t>
            </a:fld>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71|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APPENDIX A1 · KEY ASSUMPTIONS (1 OF 3) · MODEL V2</a:t>
            </a:r>
          </a:p>
        </p:txBody>
      </p:sp>
      <p:sp>
        <p:nvSpPr>
          <p:cNvPr id="3" name="hdr171|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Key model assumptions</a:t>
            </a:r>
          </a:p>
        </p:txBody>
      </p:sp>
      <p:graphicFrame>
        <p:nvGraphicFramePr>
          <p:cNvPr id="4" name="g172|table|assumptions"/>
          <p:cNvGraphicFramePr>
            <a:graphicFrameLocks noGrp="1"/>
          </p:cNvGraphicFramePr>
          <p:nvPr/>
        </p:nvGraphicFramePr>
        <p:xfrm>
          <a:off x="548640" y="1481328"/>
          <a:ext cx="11091672" cy="4169664"/>
        </p:xfrm>
        <a:graphic>
          <a:graphicData uri="http://schemas.openxmlformats.org/drawingml/2006/table">
            <a:tbl>
              <a:tblPr firstRow="0" bandRow="0"/>
              <a:tblGrid>
                <a:gridCol w="1737360"/>
                <a:gridCol w="9354312"/>
              </a:tblGrid>
              <a:tr h="329184">
                <a:tc>
                  <a:txBody>
                    <a:bodyPr wrap="square"/>
                    <a:lstStyle/>
                    <a:p>
                      <a:pPr algn="l"/>
                      <a:r>
                        <a:rPr sz="1200" b="1">
                          <a:solidFill>
                            <a:srgbClr val="FFFFFF"/>
                          </a:solidFill>
                          <a:latin typeface="Poppins"/>
                        </a:rPr>
                        <a:t>Topic</a:t>
                      </a:r>
                    </a:p>
                  </a:txBody>
                  <a:tcPr marL="109728" marR="109728" marT="36576" marB="36576" anchor="ctr">
                    <a:lnL w="0">
                      <a:noFill/>
                    </a:lnL>
                    <a:lnR w="0">
                      <a:noFill/>
                    </a:lnR>
                    <a:lnT w="0">
                      <a:noFill/>
                    </a:lnT>
                    <a:lnB w="0">
                      <a:noFill/>
                    </a:lnB>
                    <a:solidFill>
                      <a:srgbClr val="0F1419"/>
                    </a:solidFill>
                  </a:tcPr>
                </a:tc>
                <a:tc>
                  <a:txBody>
                    <a:bodyPr wrap="square"/>
                    <a:lstStyle/>
                    <a:p>
                      <a:pPr algn="l"/>
                      <a:r>
                        <a:rPr sz="1200" b="1">
                          <a:solidFill>
                            <a:srgbClr val="FFFFFF"/>
                          </a:solidFill>
                          <a:latin typeface="Poppins"/>
                        </a:rPr>
                        <a:t>Assumption (model_summary.json → key_assumptions)</a:t>
                      </a:r>
                    </a:p>
                  </a:txBody>
                  <a:tcPr marL="109728" marR="109728" marT="36576" marB="36576" anchor="ctr">
                    <a:lnL w="0">
                      <a:noFill/>
                    </a:lnL>
                    <a:lnR w="0">
                      <a:noFill/>
                    </a:lnR>
                    <a:lnT w="0">
                      <a:noFill/>
                    </a:lnT>
                    <a:lnB w="0">
                      <a:noFill/>
                    </a:lnB>
                    <a:solidFill>
                      <a:srgbClr val="0F1419"/>
                    </a:solidFill>
                  </a:tcPr>
                </a:tc>
              </a:tr>
              <a:tr h="694944">
                <a:tc>
                  <a:txBody>
                    <a:bodyPr wrap="square"/>
                    <a:lstStyle/>
                    <a:p>
                      <a:pPr algn="l"/>
                      <a:r>
                        <a:rPr sz="1200" b="1">
                          <a:solidFill>
                            <a:srgbClr val="20242B"/>
                          </a:solidFill>
                          <a:latin typeface="Inter"/>
                        </a:rPr>
                        <a:t>Timing &amp; cash</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200" b="0">
                          <a:solidFill>
                            <a:srgbClr val="20242B"/>
                          </a:solidFill>
                          <a:latin typeface="Inter"/>
                        </a:rPr>
                        <a:t>Month 1 = Oct 2026. Opening cash R500,000 [[CONFIRM]]. Lean pre-seed mode until the R25M seed lands in Feb 2027: two founders on reduced salaries, lean hosting and overheads, pilot costs; no paid marketing or hires.</a:t>
                      </a:r>
                    </a:p>
                  </a:txBody>
                  <a:tcPr marL="109728" marR="109728" marT="36576" marB="36576" anchor="ctr">
                    <a:lnL w="0">
                      <a:noFill/>
                    </a:lnL>
                    <a:lnR w="0">
                      <a:noFill/>
                    </a:lnR>
                    <a:lnT w="0">
                      <a:noFill/>
                    </a:lnT>
                    <a:lnB w="12700">
                      <a:solidFill>
                        <a:srgbClr val="E3E6EA"/>
                      </a:solidFill>
                    </a:lnB>
                    <a:solidFill>
                      <a:srgbClr val="FFFFFF"/>
                    </a:solidFill>
                  </a:tcPr>
                </a:tc>
              </a:tr>
              <a:tr h="694944">
                <a:tc>
                  <a:txBody>
                    <a:bodyPr wrap="square"/>
                    <a:lstStyle/>
                    <a:p>
                      <a:pPr algn="l"/>
                      <a:r>
                        <a:rPr sz="1200" b="1">
                          <a:solidFill>
                            <a:srgbClr val="20242B"/>
                          </a:solidFill>
                          <a:latin typeface="Inter"/>
                        </a:rPr>
                        <a:t>Pilot</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200" b="0">
                          <a:solidFill>
                            <a:srgbClr val="20242B"/>
                          </a:solidFill>
                          <a:latin typeface="Inter"/>
                        </a:rPr>
                        <a:t>Pilot: 12 Gauteng brands free Oct-Nov 2026; 75% convert on 1 Dec 2026 at 50% off the first 2 monthly bills (R249 / R999 / R2,499 / R3,999). SA commercial launch 1 Dec 2026; no other paying customers before December.</a:t>
                      </a:r>
                    </a:p>
                  </a:txBody>
                  <a:tcPr marL="109728" marR="109728" marT="36576" marB="36576" anchor="ctr">
                    <a:lnL w="0">
                      <a:noFill/>
                    </a:lnL>
                    <a:lnR w="0">
                      <a:noFill/>
                    </a:lnR>
                    <a:lnT w="0">
                      <a:noFill/>
                    </a:lnT>
                    <a:lnB w="12700">
                      <a:solidFill>
                        <a:srgbClr val="E3E6EA"/>
                      </a:solidFill>
                    </a:lnB>
                    <a:solidFill>
                      <a:srgbClr val="FFFFFF"/>
                    </a:solidFill>
                  </a:tcPr>
                </a:tc>
              </a:tr>
              <a:tr h="877824">
                <a:tc>
                  <a:txBody>
                    <a:bodyPr wrap="square"/>
                    <a:lstStyle/>
                    <a:p>
                      <a:pPr algn="l"/>
                      <a:r>
                        <a:rPr sz="1200" b="1">
                          <a:solidFill>
                            <a:srgbClr val="20242B"/>
                          </a:solidFill>
                          <a:latin typeface="Inter"/>
                        </a:rPr>
                        <a:t>Founding Member</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200" b="0">
                          <a:solidFill>
                            <a:srgbClr val="20242B"/>
                          </a:solidFill>
                          <a:latin typeface="Inter"/>
                        </a:rPr>
                        <a:t>Founding Member (option B, decided): 30% off the first 2 monthly bills (R349 / R1,399 / R3,499) for Solo and SME sign-ups inside launch windows (ZA 1 Dec 2026-31 Jan 2027; NG/KE/GH first 60 days; USD markets none); not offered on Agency. Annual plans get 2 bonus months, modelled by recognising the annual fee over 14 months for those cohorts. +20% sign-ups inside windows [[CONFIRM]].</a:t>
                      </a:r>
                    </a:p>
                  </a:txBody>
                  <a:tcPr marL="109728" marR="109728" marT="36576" marB="36576" anchor="ctr">
                    <a:lnL w="0">
                      <a:noFill/>
                    </a:lnL>
                    <a:lnR w="0">
                      <a:noFill/>
                    </a:lnR>
                    <a:lnT w="0">
                      <a:noFill/>
                    </a:lnT>
                    <a:lnB w="12700">
                      <a:solidFill>
                        <a:srgbClr val="E3E6EA"/>
                      </a:solidFill>
                    </a:lnB>
                    <a:solidFill>
                      <a:srgbClr val="FFFFFF"/>
                    </a:solidFill>
                  </a:tcPr>
                </a:tc>
              </a:tr>
              <a:tr h="877824">
                <a:tc>
                  <a:txBody>
                    <a:bodyPr wrap="square"/>
                    <a:lstStyle/>
                    <a:p>
                      <a:pPr algn="l"/>
                      <a:r>
                        <a:rPr sz="1200" b="1">
                          <a:solidFill>
                            <a:srgbClr val="20242B"/>
                          </a:solidFill>
                          <a:latin typeface="Inter"/>
                        </a:rPr>
                        <a:t>Pricing</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200" b="0">
                          <a:solidFill>
                            <a:srgbClr val="20242B"/>
                          </a:solidFill>
                          <a:latin typeface="Inter"/>
                        </a:rPr>
                        <a:t>Pricing at parity: ZAR list R499 / R1,999 / R4,999 / R7,999 / from R19,999; NG/KE/GH fixed local price points converted at 1 ZAR = ₦82.83 / KSh 8.07 / GH₵ 0.68; 19 USD markets at $27 / $109 / $269 / $429 / $1,099 at R18.50. Annual = 10x monthly, 25% of subscriptions on annual billing; +6% list escalator each October.</a:t>
                      </a:r>
                    </a:p>
                  </a:txBody>
                  <a:tcPr marL="109728" marR="109728" marT="36576" marB="36576" anchor="ctr">
                    <a:lnL w="0">
                      <a:noFill/>
                    </a:lnL>
                    <a:lnR w="0">
                      <a:noFill/>
                    </a:lnR>
                    <a:lnT w="0">
                      <a:noFill/>
                    </a:lnT>
                    <a:lnB w="12700">
                      <a:solidFill>
                        <a:srgbClr val="E3E6EA"/>
                      </a:solidFill>
                    </a:lnB>
                    <a:solidFill>
                      <a:srgbClr val="FFFFFF"/>
                    </a:solidFill>
                  </a:tcPr>
                </a:tc>
              </a:tr>
              <a:tr h="694944">
                <a:tc>
                  <a:txBody>
                    <a:bodyPr wrap="square"/>
                    <a:lstStyle/>
                    <a:p>
                      <a:pPr algn="l"/>
                      <a:r>
                        <a:rPr sz="1200" b="1">
                          <a:solidFill>
                            <a:srgbClr val="20242B"/>
                          </a:solidFill>
                          <a:latin typeface="Inter"/>
                        </a:rPr>
                        <a:t>Partner wholesale</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200" b="0">
                          <a:solidFill>
                            <a:srgbClr val="20242B"/>
                          </a:solidFill>
                          <a:latin typeface="Inter"/>
                        </a:rPr>
                        <a:t>Partner wholesale: agency-segment customers (100%) pay R5,599 / ₦463,000 / KSh 44,999 / GH₵ 3,799 / $299 a month (Agency list -30%). Client sub-accounts are included in the partner's Agency subscription; partner referral commission is undecided and not modelled.</a:t>
                      </a:r>
                    </a:p>
                  </a:txBody>
                  <a:tcPr marL="109728" marR="109728" marT="36576" marB="36576" anchor="ctr">
                    <a:lnL w="0">
                      <a:noFill/>
                    </a:lnL>
                    <a:lnR w="0">
                      <a:noFill/>
                    </a:lnR>
                    <a:lnT w="0">
                      <a:noFill/>
                    </a:lnT>
                    <a:lnB w="12700">
                      <a:solidFill>
                        <a:srgbClr val="E3E6EA"/>
                      </a:solidFill>
                    </a:lnB>
                    <a:solidFill>
                      <a:srgbClr val="FFFFFF"/>
                    </a:solidFill>
                  </a:tcPr>
                </a:tc>
              </a:tr>
            </a:tbl>
          </a:graphicData>
        </a:graphic>
      </p:graphicFrame>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Confidential</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21</a:t>
            </a:fld>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73|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APPENDIX A1 · KEY ASSUMPTIONS (2 OF 3) · MODEL V2</a:t>
            </a:r>
          </a:p>
        </p:txBody>
      </p:sp>
      <p:sp>
        <p:nvSpPr>
          <p:cNvPr id="3" name="hdr173|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Key model assumptions</a:t>
            </a:r>
          </a:p>
        </p:txBody>
      </p:sp>
      <p:graphicFrame>
        <p:nvGraphicFramePr>
          <p:cNvPr id="4" name="g174|table|assumptions"/>
          <p:cNvGraphicFramePr>
            <a:graphicFrameLocks noGrp="1"/>
          </p:cNvGraphicFramePr>
          <p:nvPr/>
        </p:nvGraphicFramePr>
        <p:xfrm>
          <a:off x="548640" y="1481328"/>
          <a:ext cx="11091672" cy="3986784"/>
        </p:xfrm>
        <a:graphic>
          <a:graphicData uri="http://schemas.openxmlformats.org/drawingml/2006/table">
            <a:tbl>
              <a:tblPr firstRow="0" bandRow="0"/>
              <a:tblGrid>
                <a:gridCol w="1737360"/>
                <a:gridCol w="9354312"/>
              </a:tblGrid>
              <a:tr h="329184">
                <a:tc>
                  <a:txBody>
                    <a:bodyPr wrap="square"/>
                    <a:lstStyle/>
                    <a:p>
                      <a:pPr algn="l"/>
                      <a:r>
                        <a:rPr sz="1200" b="1">
                          <a:solidFill>
                            <a:srgbClr val="FFFFFF"/>
                          </a:solidFill>
                          <a:latin typeface="Poppins"/>
                        </a:rPr>
                        <a:t>Topic</a:t>
                      </a:r>
                    </a:p>
                  </a:txBody>
                  <a:tcPr marL="109728" marR="109728" marT="36576" marB="36576" anchor="ctr">
                    <a:lnL w="0">
                      <a:noFill/>
                    </a:lnL>
                    <a:lnR w="0">
                      <a:noFill/>
                    </a:lnR>
                    <a:lnT w="0">
                      <a:noFill/>
                    </a:lnT>
                    <a:lnB w="0">
                      <a:noFill/>
                    </a:lnB>
                    <a:solidFill>
                      <a:srgbClr val="0F1419"/>
                    </a:solidFill>
                  </a:tcPr>
                </a:tc>
                <a:tc>
                  <a:txBody>
                    <a:bodyPr wrap="square"/>
                    <a:lstStyle/>
                    <a:p>
                      <a:pPr algn="l"/>
                      <a:r>
                        <a:rPr sz="1200" b="1">
                          <a:solidFill>
                            <a:srgbClr val="FFFFFF"/>
                          </a:solidFill>
                          <a:latin typeface="Poppins"/>
                        </a:rPr>
                        <a:t>Assumption (model_summary.json → key_assumptions)</a:t>
                      </a:r>
                    </a:p>
                  </a:txBody>
                  <a:tcPr marL="109728" marR="109728" marT="36576" marB="36576" anchor="ctr">
                    <a:lnL w="0">
                      <a:noFill/>
                    </a:lnL>
                    <a:lnR w="0">
                      <a:noFill/>
                    </a:lnR>
                    <a:lnT w="0">
                      <a:noFill/>
                    </a:lnT>
                    <a:lnB w="0">
                      <a:noFill/>
                    </a:lnB>
                    <a:solidFill>
                      <a:srgbClr val="0F1419"/>
                    </a:solidFill>
                  </a:tcPr>
                </a:tc>
              </a:tr>
              <a:tr h="512064">
                <a:tc>
                  <a:txBody>
                    <a:bodyPr wrap="square"/>
                    <a:lstStyle/>
                    <a:p>
                      <a:pPr algn="l"/>
                      <a:r>
                        <a:rPr sz="1200" b="1">
                          <a:solidFill>
                            <a:srgbClr val="20242B"/>
                          </a:solidFill>
                          <a:latin typeface="Inter"/>
                        </a:rPr>
                        <a:t>FX</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200" b="0">
                          <a:solidFill>
                            <a:srgbClr val="20242B"/>
                          </a:solidFill>
                          <a:latin typeface="Inter"/>
                        </a:rPr>
                        <a:t>FX: ZAR value of local prices drifts with annual depreciation vs ZAR of NGN -10%, GHS -8%, KES -3%, USD 0% [[CONFIRM]]; quarterly repricing restores parity when drift exceeds 10% (one-quarter lag).</a:t>
                      </a:r>
                    </a:p>
                  </a:txBody>
                  <a:tcPr marL="109728" marR="109728" marT="36576" marB="36576" anchor="ctr">
                    <a:lnL w="0">
                      <a:noFill/>
                    </a:lnL>
                    <a:lnR w="0">
                      <a:noFill/>
                    </a:lnR>
                    <a:lnT w="0">
                      <a:noFill/>
                    </a:lnT>
                    <a:lnB w="12700">
                      <a:solidFill>
                        <a:srgbClr val="E3E6EA"/>
                      </a:solidFill>
                    </a:lnB>
                    <a:solidFill>
                      <a:srgbClr val="FFFFFF"/>
                    </a:solidFill>
                  </a:tcPr>
                </a:tc>
              </a:tr>
              <a:tr h="877824">
                <a:tc>
                  <a:txBody>
                    <a:bodyPr wrap="square"/>
                    <a:lstStyle/>
                    <a:p>
                      <a:pPr algn="l"/>
                      <a:r>
                        <a:rPr sz="1200" b="1">
                          <a:solidFill>
                            <a:srgbClr val="20242B"/>
                          </a:solidFill>
                          <a:latin typeface="Inter"/>
                        </a:rPr>
                        <a:t>Segments</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200" b="0">
                          <a:solidFill>
                            <a:srgbClr val="20242B"/>
                          </a:solidFill>
                          <a:latin typeface="Inter"/>
                        </a:rPr>
                        <a:t>Segments: self-serve trials split Solo 65% / SME 35%; trial-to-paid Solo 11%, SME 14%; Solo 90% Starter / 10% Growth, upgrading 1.0%/month; SMEs 85% Growth / 15% Scale, upgrading 0.8%/month. Paid CAC Solo R2,200, SME R6,500 (+5% a year). Agencies: 0.5 inbound a month in SA plus 1.5 per partnerships manager; 0.4 per NG/KE/GH country lead. Enterprise inbound only: FY1 1 deal.</a:t>
                      </a:r>
                    </a:p>
                  </a:txBody>
                  <a:tcPr marL="109728" marR="109728" marT="36576" marB="36576" anchor="ctr">
                    <a:lnL w="0">
                      <a:noFill/>
                    </a:lnL>
                    <a:lnR w="0">
                      <a:noFill/>
                    </a:lnR>
                    <a:lnT w="0">
                      <a:noFill/>
                    </a:lnT>
                    <a:lnB w="12700">
                      <a:solidFill>
                        <a:srgbClr val="E3E6EA"/>
                      </a:solidFill>
                    </a:lnB>
                    <a:solidFill>
                      <a:srgbClr val="FFFFFF"/>
                    </a:solidFill>
                  </a:tcPr>
                </a:tc>
              </a:tr>
              <a:tr h="512064">
                <a:tc>
                  <a:txBody>
                    <a:bodyPr wrap="square"/>
                    <a:lstStyle/>
                    <a:p>
                      <a:pPr algn="l"/>
                      <a:r>
                        <a:rPr sz="1200" b="1">
                          <a:solidFill>
                            <a:srgbClr val="20242B"/>
                          </a:solidFill>
                          <a:latin typeface="Inter"/>
                        </a:rPr>
                        <a:t>Churn</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200" b="0">
                          <a:solidFill>
                            <a:srgbClr val="20242B"/>
                          </a:solidFill>
                          <a:latin typeface="Inter"/>
                        </a:rPr>
                        <a:t>Monthly churn: Solo Starter 6.5%, Solo Growth 4.0%, SME Growth 3.0%, SME Scale 2.2%, Agency 2.0%, Enterprise 1.0% (Base; NG/KE/GH/Rest churn indices 1.05-1.25x).</a:t>
                      </a:r>
                    </a:p>
                  </a:txBody>
                  <a:tcPr marL="109728" marR="109728" marT="36576" marB="36576" anchor="ctr">
                    <a:lnL w="0">
                      <a:noFill/>
                    </a:lnL>
                    <a:lnR w="0">
                      <a:noFill/>
                    </a:lnR>
                    <a:lnT w="0">
                      <a:noFill/>
                    </a:lnT>
                    <a:lnB w="12700">
                      <a:solidFill>
                        <a:srgbClr val="E3E6EA"/>
                      </a:solidFill>
                    </a:lnB>
                    <a:solidFill>
                      <a:srgbClr val="FFFFFF"/>
                    </a:solidFill>
                  </a:tcPr>
                </a:tc>
              </a:tr>
              <a:tr h="877824">
                <a:tc>
                  <a:txBody>
                    <a:bodyPr wrap="square"/>
                    <a:lstStyle/>
                    <a:p>
                      <a:pPr algn="l"/>
                      <a:r>
                        <a:rPr sz="1200" b="1">
                          <a:solidFill>
                            <a:srgbClr val="20242B"/>
                          </a:solidFill>
                          <a:latin typeface="Inter"/>
                        </a:rPr>
                        <a:t>Markets</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200" b="0">
                          <a:solidFill>
                            <a:srgbClr val="20242B"/>
                          </a:solidFill>
                          <a:latin typeface="Inter"/>
                        </a:rPr>
                        <a:t>Markets: ZA first; Nigeria, Kenya, Ghana launch at their planned months (Nov 2027 / Feb 2028 / May 2028) or later, when last month's net MRR clears each launch gate (R0.9M / R1.2M / R1.5M x scenario gate multiplier); Rest of rail-covered Africa (19 USD countries, self-serve, no team) from Nov 2028 behind a R2.5M MRR gate; Botswana &amp; Namibia off; gated countries zero.</a:t>
                      </a:r>
                    </a:p>
                  </a:txBody>
                  <a:tcPr marL="109728" marR="109728" marT="36576" marB="36576" anchor="ctr">
                    <a:lnL w="0">
                      <a:noFill/>
                    </a:lnL>
                    <a:lnR w="0">
                      <a:noFill/>
                    </a:lnR>
                    <a:lnT w="0">
                      <a:noFill/>
                    </a:lnT>
                    <a:lnB w="12700">
                      <a:solidFill>
                        <a:srgbClr val="E3E6EA"/>
                      </a:solidFill>
                    </a:lnB>
                    <a:solidFill>
                      <a:srgbClr val="FFFFFF"/>
                    </a:solidFill>
                  </a:tcPr>
                </a:tc>
              </a:tr>
              <a:tr h="877824">
                <a:tc>
                  <a:txBody>
                    <a:bodyPr wrap="square"/>
                    <a:lstStyle/>
                    <a:p>
                      <a:pPr algn="l"/>
                      <a:r>
                        <a:rPr sz="1200" b="1">
                          <a:solidFill>
                            <a:srgbClr val="20242B"/>
                          </a:solidFill>
                          <a:latin typeface="Inter"/>
                        </a:rPr>
                        <a:t>Cost discipline</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200" b="0">
                          <a:solidFill>
                            <a:srgbClr val="20242B"/>
                          </a:solidFill>
                          <a:latin typeface="Inter"/>
                        </a:rPr>
                        <a:t>Cost discipline: every non-founder hire waits for its earliest month, the seed, and an MRR gate x scenario multiplier (Conservative 1.4x, Base 1.0x, Upside 0.8x); paid acquisition = MIN(desired, R40,000 + 35% of last month's MRR in Base) and off where CAC payback &gt; 12 months; brand budget = MIN(ceiling, floor + 4% of MRR).</a:t>
                      </a:r>
                    </a:p>
                  </a:txBody>
                  <a:tcPr marL="109728" marR="109728" marT="36576" marB="36576" anchor="ctr">
                    <a:lnL w="0">
                      <a:noFill/>
                    </a:lnL>
                    <a:lnR w="0">
                      <a:noFill/>
                    </a:lnR>
                    <a:lnT w="0">
                      <a:noFill/>
                    </a:lnT>
                    <a:lnB w="12700">
                      <a:solidFill>
                        <a:srgbClr val="E3E6EA"/>
                      </a:solidFill>
                    </a:lnB>
                    <a:solidFill>
                      <a:srgbClr val="FFFFFF"/>
                    </a:solidFill>
                  </a:tcPr>
                </a:tc>
              </a:tr>
            </a:tbl>
          </a:graphicData>
        </a:graphic>
      </p:graphicFrame>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Confidential</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22</a:t>
            </a:fld>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75|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APPENDIX A1 · KEY ASSUMPTIONS (3 OF 3) · MODEL V2</a:t>
            </a:r>
          </a:p>
        </p:txBody>
      </p:sp>
      <p:sp>
        <p:nvSpPr>
          <p:cNvPr id="3" name="hdr175|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Key model assumptions</a:t>
            </a:r>
          </a:p>
        </p:txBody>
      </p:sp>
      <p:graphicFrame>
        <p:nvGraphicFramePr>
          <p:cNvPr id="4" name="g176|table|assumptions"/>
          <p:cNvGraphicFramePr>
            <a:graphicFrameLocks noGrp="1"/>
          </p:cNvGraphicFramePr>
          <p:nvPr/>
        </p:nvGraphicFramePr>
        <p:xfrm>
          <a:off x="548640" y="1481328"/>
          <a:ext cx="11091672" cy="2414016"/>
        </p:xfrm>
        <a:graphic>
          <a:graphicData uri="http://schemas.openxmlformats.org/drawingml/2006/table">
            <a:tbl>
              <a:tblPr firstRow="0" bandRow="0"/>
              <a:tblGrid>
                <a:gridCol w="1737360"/>
                <a:gridCol w="9354312"/>
              </a:tblGrid>
              <a:tr h="329184">
                <a:tc>
                  <a:txBody>
                    <a:bodyPr wrap="square"/>
                    <a:lstStyle/>
                    <a:p>
                      <a:pPr algn="l"/>
                      <a:r>
                        <a:rPr sz="1200" b="1">
                          <a:solidFill>
                            <a:srgbClr val="FFFFFF"/>
                          </a:solidFill>
                          <a:latin typeface="Poppins"/>
                        </a:rPr>
                        <a:t>Topic</a:t>
                      </a:r>
                    </a:p>
                  </a:txBody>
                  <a:tcPr marL="109728" marR="109728" marT="36576" marB="36576" anchor="ctr">
                    <a:lnL w="0">
                      <a:noFill/>
                    </a:lnL>
                    <a:lnR w="0">
                      <a:noFill/>
                    </a:lnR>
                    <a:lnT w="0">
                      <a:noFill/>
                    </a:lnT>
                    <a:lnB w="0">
                      <a:noFill/>
                    </a:lnB>
                    <a:solidFill>
                      <a:srgbClr val="0F1419"/>
                    </a:solidFill>
                  </a:tcPr>
                </a:tc>
                <a:tc>
                  <a:txBody>
                    <a:bodyPr wrap="square"/>
                    <a:lstStyle/>
                    <a:p>
                      <a:pPr algn="l"/>
                      <a:r>
                        <a:rPr sz="1200" b="1">
                          <a:solidFill>
                            <a:srgbClr val="FFFFFF"/>
                          </a:solidFill>
                          <a:latin typeface="Poppins"/>
                        </a:rPr>
                        <a:t>Assumption (model_summary.json → key_assumptions)</a:t>
                      </a:r>
                    </a:p>
                  </a:txBody>
                  <a:tcPr marL="109728" marR="109728" marT="36576" marB="36576" anchor="ctr">
                    <a:lnL w="0">
                      <a:noFill/>
                    </a:lnL>
                    <a:lnR w="0">
                      <a:noFill/>
                    </a:lnR>
                    <a:lnT w="0">
                      <a:noFill/>
                    </a:lnT>
                    <a:lnB w="0">
                      <a:noFill/>
                    </a:lnB>
                    <a:solidFill>
                      <a:srgbClr val="0F1419"/>
                    </a:solidFill>
                  </a:tcPr>
                </a:tc>
              </a:tr>
              <a:tr h="877824">
                <a:tc>
                  <a:txBody>
                    <a:bodyPr wrap="square"/>
                    <a:lstStyle/>
                    <a:p>
                      <a:pPr algn="l"/>
                      <a:r>
                        <a:rPr sz="1200" b="1">
                          <a:solidFill>
                            <a:srgbClr val="20242B"/>
                          </a:solidFill>
                          <a:latin typeface="Inter"/>
                        </a:rPr>
                        <a:t>Other revenue</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200" b="0">
                          <a:solidFill>
                            <a:srgbClr val="20242B"/>
                          </a:solidFill>
                          <a:latin typeface="Inter"/>
                        </a:rPr>
                        <a:t>Other revenue: AI-credit top-ups (10% of workspaces buy a R350 pack monthly), WhatsApp messages resold at Meta cost +25%, R25,000 Enterprise and R4,999 agency setup fees. Commerce fee 0% in Base and Conservative, 0.75% of WhatsApp-checkout GMV in Upside only (not in current pricing). Campaign Financing excluded.</a:t>
                      </a:r>
                    </a:p>
                  </a:txBody>
                  <a:tcPr marL="109728" marR="109728" marT="36576" marB="36576" anchor="ctr">
                    <a:lnL w="0">
                      <a:noFill/>
                    </a:lnL>
                    <a:lnR w="0">
                      <a:noFill/>
                    </a:lnR>
                    <a:lnT w="0">
                      <a:noFill/>
                    </a:lnT>
                    <a:lnB w="12700">
                      <a:solidFill>
                        <a:srgbClr val="E3E6EA"/>
                      </a:solidFill>
                    </a:lnB>
                    <a:solidFill>
                      <a:srgbClr val="FFFFFF"/>
                    </a:solidFill>
                  </a:tcPr>
                </a:tc>
              </a:tr>
              <a:tr h="694944">
                <a:tc>
                  <a:txBody>
                    <a:bodyPr wrap="square"/>
                    <a:lstStyle/>
                    <a:p>
                      <a:pPr algn="l"/>
                      <a:r>
                        <a:rPr sz="1200" b="1">
                          <a:solidFill>
                            <a:srgbClr val="20242B"/>
                          </a:solidFill>
                          <a:latin typeface="Inter"/>
                        </a:rPr>
                        <a:t>COGS</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200" b="0">
                          <a:solidFill>
                            <a:srgbClr val="20242B"/>
                          </a:solidFill>
                          <a:latin typeface="Inter"/>
                        </a:rPr>
                        <a:t>COGS: AI inference R12 per 1,000 credits falling 10% a year (40% utilisation), hosting R30k/month + R35 per workspace after the seed, 2.9% processing + 1.5% mobile-money/FX on non-SA revenue, R50 per workspace support, customer success team in COGS.</a:t>
                      </a:r>
                    </a:p>
                  </a:txBody>
                  <a:tcPr marL="109728" marR="109728" marT="36576" marB="36576" anchor="ctr">
                    <a:lnL w="0">
                      <a:noFill/>
                    </a:lnL>
                    <a:lnR w="0">
                      <a:noFill/>
                    </a:lnR>
                    <a:lnT w="0">
                      <a:noFill/>
                    </a:lnT>
                    <a:lnB w="12700">
                      <a:solidFill>
                        <a:srgbClr val="E3E6EA"/>
                      </a:solidFill>
                    </a:lnB>
                    <a:solidFill>
                      <a:srgbClr val="FFFFFF"/>
                    </a:solidFill>
                  </a:tcPr>
                </a:tc>
              </a:tr>
              <a:tr h="512064">
                <a:tc>
                  <a:txBody>
                    <a:bodyPr wrap="square"/>
                    <a:lstStyle/>
                    <a:p>
                      <a:pPr algn="l"/>
                      <a:r>
                        <a:rPr sz="1200" b="1">
                          <a:solidFill>
                            <a:srgbClr val="20242B"/>
                          </a:solidFill>
                          <a:latin typeface="Inter"/>
                        </a:rPr>
                        <a:t>Funding &amp; tax</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200" b="0">
                          <a:solidFill>
                            <a:srgbClr val="20242B"/>
                          </a:solidFill>
                          <a:latin typeface="Inter"/>
                        </a:rPr>
                        <a:t>Funding &amp; tax: R25M seed only; Series A input kept at R0 (optional acceleration). Tax 27% only once cumulative EBITDA is positive; D&amp;A and interest ignored.</a:t>
                      </a:r>
                    </a:p>
                  </a:txBody>
                  <a:tcPr marL="109728" marR="109728" marT="36576" marB="36576" anchor="ctr">
                    <a:lnL w="0">
                      <a:noFill/>
                    </a:lnL>
                    <a:lnR w="0">
                      <a:noFill/>
                    </a:lnR>
                    <a:lnT w="0">
                      <a:noFill/>
                    </a:lnT>
                    <a:lnB w="12700">
                      <a:solidFill>
                        <a:srgbClr val="E3E6EA"/>
                      </a:solidFill>
                    </a:lnB>
                    <a:solidFill>
                      <a:srgbClr val="FFFFFF"/>
                    </a:solidFill>
                  </a:tcPr>
                </a:tc>
              </a:tr>
            </a:tbl>
          </a:graphicData>
        </a:graphic>
      </p:graphicFrame>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Confidential</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23</a:t>
            </a:fld>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77|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APPENDIX A2 · PROJECTION (MODEL V2, BASE CASE)</a:t>
            </a:r>
          </a:p>
        </p:txBody>
      </p:sp>
      <p:sp>
        <p:nvSpPr>
          <p:cNvPr id="3" name="hdr177|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Paying workspaces by segment and market</a:t>
            </a:r>
          </a:p>
        </p:txBody>
      </p:sp>
      <p:pic>
        <p:nvPicPr>
          <p:cNvPr id="4" name="g178|img|charts/customers_by_segment_16x9.png" descr="Paying workspaces by segment FY1 to FY5"/>
          <p:cNvPicPr>
            <a:picLocks noChangeAspect="1"/>
          </p:cNvPicPr>
          <p:nvPr/>
        </p:nvPicPr>
        <p:blipFill>
          <a:blip r:embed="rId2"/>
          <a:srcRect t="14500" b="5000"/>
          <a:stretch>
            <a:fillRect/>
          </a:stretch>
        </p:blipFill>
        <p:spPr>
          <a:xfrm>
            <a:off x="548640" y="1600200"/>
            <a:ext cx="5440680" cy="2463607"/>
          </a:xfrm>
          <a:prstGeom prst="rect">
            <a:avLst/>
          </a:prstGeom>
        </p:spPr>
      </p:pic>
      <p:pic>
        <p:nvPicPr>
          <p:cNvPr id="5" name="g179|img|charts/customers_by_region_16x9.png" descr="Paying workspaces by market, monthly"/>
          <p:cNvPicPr>
            <a:picLocks noChangeAspect="1"/>
          </p:cNvPicPr>
          <p:nvPr/>
        </p:nvPicPr>
        <p:blipFill>
          <a:blip r:embed="rId3"/>
          <a:srcRect t="14500" b="5000"/>
          <a:stretch>
            <a:fillRect/>
          </a:stretch>
        </p:blipFill>
        <p:spPr>
          <a:xfrm>
            <a:off x="6199632" y="1600200"/>
            <a:ext cx="5440680" cy="2463607"/>
          </a:xfrm>
          <a:prstGeom prst="rect">
            <a:avLst/>
          </a:prstGeom>
        </p:spPr>
      </p:pic>
      <p:sp>
        <p:nvSpPr>
          <p:cNvPr id="6" name="g180|caption|"/>
          <p:cNvSpPr txBox="1"/>
          <p:nvPr/>
        </p:nvSpPr>
        <p:spPr>
          <a:xfrm>
            <a:off x="548640" y="4206240"/>
            <a:ext cx="5440680" cy="822960"/>
          </a:xfrm>
          <a:prstGeom prst="rect">
            <a:avLst/>
          </a:prstGeom>
          <a:noFill/>
        </p:spPr>
        <p:txBody>
          <a:bodyPr wrap="square" lIns="0" rIns="0" tIns="0" bIns="0" anchor="t">
            <a:noAutofit/>
          </a:bodyPr>
          <a:lstStyle/>
          <a:p>
            <a:pPr algn="l"/>
            <a:r>
              <a:rPr sz="1200" b="0">
                <a:solidFill>
                  <a:srgbClr val="5B6670"/>
                </a:solidFill>
                <a:latin typeface="Inter"/>
              </a:rPr>
              <a:t>By segment, FY5: Solo 4,173 · SMEs 4,305 · Agencies 321 · Enterprise 17. Bars are rounded per segment, so FY1 and FY3 read 422 and 3,821 against model totals of 421 and 3,820.</a:t>
            </a:r>
          </a:p>
        </p:txBody>
      </p:sp>
      <p:sp>
        <p:nvSpPr>
          <p:cNvPr id="7" name="g181|caption|"/>
          <p:cNvSpPr txBox="1"/>
          <p:nvPr/>
        </p:nvSpPr>
        <p:spPr>
          <a:xfrm>
            <a:off x="6199632" y="4206240"/>
            <a:ext cx="5440680" cy="822960"/>
          </a:xfrm>
          <a:prstGeom prst="rect">
            <a:avLst/>
          </a:prstGeom>
          <a:noFill/>
        </p:spPr>
        <p:txBody>
          <a:bodyPr wrap="square" lIns="0" rIns="0" tIns="0" bIns="0" anchor="t">
            <a:noAutofit/>
          </a:bodyPr>
          <a:lstStyle/>
          <a:p>
            <a:pPr algn="l"/>
            <a:r>
              <a:rPr sz="1200" b="0">
                <a:solidFill>
                  <a:srgbClr val="5B6670"/>
                </a:solidFill>
                <a:latin typeface="Inter"/>
              </a:rPr>
              <a:t>By market, Sep 2031: South Africa 5,724 · Nigeria 1,275 · Kenya 837 · Ghana 548 · 19 USD markets 433. Botswana &amp; Namibia off; gated countries zero.</a:t>
            </a:r>
          </a:p>
        </p:txBody>
      </p:sp>
      <p:sp>
        <p:nvSpPr>
          <p:cNvPr id="8"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Confidential</a:t>
            </a:r>
          </a:p>
        </p:txBody>
      </p:sp>
      <p:sp>
        <p:nvSpPr>
          <p:cNvPr id="9"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24</a:t>
            </a:fld>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82|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APPENDIX A3 · PRICING (1 OF 2) · ZAR</a:t>
            </a:r>
          </a:p>
        </p:txBody>
      </p:sp>
      <p:sp>
        <p:nvSpPr>
          <p:cNvPr id="3" name="hdr182|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Plans at a glance, in rand</a:t>
            </a:r>
          </a:p>
        </p:txBody>
      </p:sp>
      <p:graphicFrame>
        <p:nvGraphicFramePr>
          <p:cNvPr id="4" name="g183|table|pricing-zar"/>
          <p:cNvGraphicFramePr>
            <a:graphicFrameLocks noGrp="1"/>
          </p:cNvGraphicFramePr>
          <p:nvPr/>
        </p:nvGraphicFramePr>
        <p:xfrm>
          <a:off x="548640" y="1481328"/>
          <a:ext cx="11091672" cy="3310128"/>
        </p:xfrm>
        <a:graphic>
          <a:graphicData uri="http://schemas.openxmlformats.org/drawingml/2006/table">
            <a:tbl>
              <a:tblPr firstRow="0" bandRow="0"/>
              <a:tblGrid>
                <a:gridCol w="2862072"/>
                <a:gridCol w="2057400"/>
                <a:gridCol w="2057400"/>
                <a:gridCol w="2057400"/>
                <a:gridCol w="2057400"/>
              </a:tblGrid>
              <a:tr h="457200">
                <a:tc>
                  <a:txBody>
                    <a:bodyPr wrap="square"/>
                    <a:lstStyle/>
                    <a:p>
                      <a:pPr algn="l"/>
                      <a:r>
                        <a:rPr sz="1400" b="1">
                          <a:solidFill>
                            <a:srgbClr val="FFFFFF"/>
                          </a:solidFill>
                          <a:latin typeface="Poppins"/>
                        </a:rPr>
                        <a:t>Plan</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Starter</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0F1419"/>
                          </a:solidFill>
                          <a:latin typeface="Poppins"/>
                        </a:rPr>
                        <a:t>Growth</a:t>
                      </a:r>
                    </a:p>
                  </a:txBody>
                  <a:tcPr marL="109728" marR="109728" marT="36576" marB="36576" anchor="ctr">
                    <a:lnL w="0">
                      <a:noFill/>
                    </a:lnL>
                    <a:lnR w="0">
                      <a:noFill/>
                    </a:lnR>
                    <a:lnT w="0">
                      <a:noFill/>
                    </a:lnT>
                    <a:lnB w="0">
                      <a:noFill/>
                    </a:lnB>
                    <a:solidFill>
                      <a:srgbClr val="FF6A00"/>
                    </a:solidFill>
                  </a:tcPr>
                </a:tc>
                <a:tc>
                  <a:txBody>
                    <a:bodyPr wrap="square"/>
                    <a:lstStyle/>
                    <a:p>
                      <a:pPr algn="ctr"/>
                      <a:r>
                        <a:rPr sz="1400" b="1">
                          <a:solidFill>
                            <a:srgbClr val="FFFFFF"/>
                          </a:solidFill>
                          <a:latin typeface="Poppins"/>
                        </a:rPr>
                        <a:t>Scale</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Agency</a:t>
                      </a:r>
                    </a:p>
                  </a:txBody>
                  <a:tcPr marL="109728" marR="109728" marT="36576" marB="36576" anchor="ctr">
                    <a:lnL w="0">
                      <a:noFill/>
                    </a:lnL>
                    <a:lnR w="0">
                      <a:noFill/>
                    </a:lnR>
                    <a:lnT w="0">
                      <a:noFill/>
                    </a:lnT>
                    <a:lnB w="0">
                      <a:noFill/>
                    </a:lnB>
                    <a:solidFill>
                      <a:srgbClr val="0F1419"/>
                    </a:solidFill>
                  </a:tcPr>
                </a:tc>
              </a:tr>
              <a:tr h="475488">
                <a:tc>
                  <a:txBody>
                    <a:bodyPr wrap="square"/>
                    <a:lstStyle/>
                    <a:p>
                      <a:pPr algn="l"/>
                      <a:r>
                        <a:rPr sz="1400" b="1">
                          <a:solidFill>
                            <a:srgbClr val="20242B"/>
                          </a:solidFill>
                          <a:latin typeface="Inter"/>
                        </a:rPr>
                        <a:t>Monthly</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20242B"/>
                          </a:solidFill>
                          <a:latin typeface="Inter"/>
                        </a:rPr>
                        <a:t>R499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20242B"/>
                          </a:solidFill>
                          <a:latin typeface="Inter"/>
                        </a:rPr>
                        <a:t>R1,999</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400" b="1">
                          <a:solidFill>
                            <a:srgbClr val="20242B"/>
                          </a:solidFill>
                          <a:latin typeface="Inter"/>
                        </a:rPr>
                        <a:t>R4,999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20242B"/>
                          </a:solidFill>
                          <a:latin typeface="Inter"/>
                        </a:rPr>
                        <a:t>R7,999</a:t>
                      </a:r>
                    </a:p>
                  </a:txBody>
                  <a:tcPr marL="109728" marR="109728" marT="36576" marB="36576" anchor="ctr">
                    <a:lnL w="0">
                      <a:noFill/>
                    </a:lnL>
                    <a:lnR w="0">
                      <a:noFill/>
                    </a:lnR>
                    <a:lnT w="0">
                      <a:noFill/>
                    </a:lnT>
                    <a:lnB w="12700">
                      <a:solidFill>
                        <a:srgbClr val="E3E6EA"/>
                      </a:solidFill>
                    </a:lnB>
                    <a:solidFill>
                      <a:srgbClr val="FFFFFF"/>
                    </a:solidFill>
                  </a:tcPr>
                </a:tc>
              </a:tr>
              <a:tr h="475488">
                <a:tc>
                  <a:txBody>
                    <a:bodyPr wrap="square"/>
                    <a:lstStyle/>
                    <a:p>
                      <a:pPr algn="l"/>
                      <a:r>
                        <a:rPr sz="1400" b="1">
                          <a:solidFill>
                            <a:srgbClr val="20242B"/>
                          </a:solidFill>
                          <a:latin typeface="Inter"/>
                        </a:rPr>
                        <a:t>Annual (10× monthly)</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R4,990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R19,990</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400" b="0">
                          <a:solidFill>
                            <a:srgbClr val="20242B"/>
                          </a:solidFill>
                          <a:latin typeface="Inter"/>
                        </a:rPr>
                        <a:t>R49,990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R79,990</a:t>
                      </a:r>
                    </a:p>
                  </a:txBody>
                  <a:tcPr marL="109728" marR="109728" marT="36576" marB="36576" anchor="ctr">
                    <a:lnL w="0">
                      <a:noFill/>
                    </a:lnL>
                    <a:lnR w="0">
                      <a:noFill/>
                    </a:lnR>
                    <a:lnT w="0">
                      <a:noFill/>
                    </a:lnT>
                    <a:lnB w="12700">
                      <a:solidFill>
                        <a:srgbClr val="E3E6EA"/>
                      </a:solidFill>
                    </a:lnB>
                    <a:solidFill>
                      <a:srgbClr val="FFFFFF"/>
                    </a:solidFill>
                  </a:tcPr>
                </a:tc>
              </a:tr>
              <a:tr h="475488">
                <a:tc>
                  <a:txBody>
                    <a:bodyPr wrap="square"/>
                    <a:lstStyle/>
                    <a:p>
                      <a:pPr algn="l"/>
                      <a:r>
                        <a:rPr sz="1400" b="1">
                          <a:solidFill>
                            <a:srgbClr val="20242B"/>
                          </a:solidFill>
                          <a:latin typeface="Inter"/>
                        </a:rPr>
                        <a:t>Founding Member, first 2 bills</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R349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R1,399</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400" b="0">
                          <a:solidFill>
                            <a:srgbClr val="20242B"/>
                          </a:solidFill>
                          <a:latin typeface="Inter"/>
                        </a:rPr>
                        <a:t>R3,499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Not offered</a:t>
                      </a:r>
                    </a:p>
                  </a:txBody>
                  <a:tcPr marL="109728" marR="109728" marT="36576" marB="36576" anchor="ctr">
                    <a:lnL w="0">
                      <a:noFill/>
                    </a:lnL>
                    <a:lnR w="0">
                      <a:noFill/>
                    </a:lnR>
                    <a:lnT w="0">
                      <a:noFill/>
                    </a:lnT>
                    <a:lnB w="12700">
                      <a:solidFill>
                        <a:srgbClr val="E3E6EA"/>
                      </a:solidFill>
                    </a:lnB>
                    <a:solidFill>
                      <a:srgbClr val="FFFFFF"/>
                    </a:solidFill>
                  </a:tcPr>
                </a:tc>
              </a:tr>
              <a:tr h="475488">
                <a:tc>
                  <a:txBody>
                    <a:bodyPr wrap="square"/>
                    <a:lstStyle/>
                    <a:p>
                      <a:pPr algn="l"/>
                      <a:r>
                        <a:rPr sz="1400" b="1">
                          <a:solidFill>
                            <a:srgbClr val="20242B"/>
                          </a:solidFill>
                          <a:latin typeface="Inter"/>
                        </a:rPr>
                        <a:t>Partner wholesale / month</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400" b="0">
                          <a:solidFill>
                            <a:srgbClr val="20242B"/>
                          </a:solidFill>
                          <a:latin typeface="Inter"/>
                        </a:rPr>
                        <a:t>–</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C24E00"/>
                          </a:solidFill>
                          <a:latin typeface="Inter"/>
                        </a:rPr>
                        <a:t>R5,599</a:t>
                      </a:r>
                    </a:p>
                  </a:txBody>
                  <a:tcPr marL="109728" marR="109728" marT="36576" marB="36576" anchor="ctr">
                    <a:lnL w="0">
                      <a:noFill/>
                    </a:lnL>
                    <a:lnR w="0">
                      <a:noFill/>
                    </a:lnR>
                    <a:lnT w="0">
                      <a:noFill/>
                    </a:lnT>
                    <a:lnB w="12700">
                      <a:solidFill>
                        <a:srgbClr val="E3E6EA"/>
                      </a:solidFill>
                    </a:lnB>
                    <a:solidFill>
                      <a:srgbClr val="FFFFFF"/>
                    </a:solidFill>
                  </a:tcPr>
                </a:tc>
              </a:tr>
              <a:tr h="475488">
                <a:tc>
                  <a:txBody>
                    <a:bodyPr wrap="square"/>
                    <a:lstStyle/>
                    <a:p>
                      <a:pPr algn="l"/>
                      <a:r>
                        <a:rPr sz="1400" b="1">
                          <a:solidFill>
                            <a:srgbClr val="20242B"/>
                          </a:solidFill>
                          <a:latin typeface="Inter"/>
                        </a:rPr>
                        <a:t>Brands · channels</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1 · 3</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3 · 15</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400" b="0">
                          <a:solidFill>
                            <a:srgbClr val="20242B"/>
                          </a:solidFill>
                          <a:latin typeface="Inter"/>
                        </a:rPr>
                        <a:t>10 · 40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Unlimited · 80</a:t>
                      </a:r>
                    </a:p>
                  </a:txBody>
                  <a:tcPr marL="109728" marR="109728" marT="36576" marB="36576" anchor="ctr">
                    <a:lnL w="0">
                      <a:noFill/>
                    </a:lnL>
                    <a:lnR w="0">
                      <a:noFill/>
                    </a:lnR>
                    <a:lnT w="0">
                      <a:noFill/>
                    </a:lnT>
                    <a:lnB w="12700">
                      <a:solidFill>
                        <a:srgbClr val="E3E6EA"/>
                      </a:solidFill>
                    </a:lnB>
                    <a:solidFill>
                      <a:srgbClr val="FFFFFF"/>
                    </a:solidFill>
                  </a:tcPr>
                </a:tc>
              </a:tr>
              <a:tr h="475488">
                <a:tc>
                  <a:txBody>
                    <a:bodyPr wrap="square"/>
                    <a:lstStyle/>
                    <a:p>
                      <a:pPr algn="l"/>
                      <a:r>
                        <a:rPr sz="1400" b="1">
                          <a:solidFill>
                            <a:srgbClr val="20242B"/>
                          </a:solidFill>
                          <a:latin typeface="Inter"/>
                        </a:rPr>
                        <a:t>AI credits / month</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5,000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25,000</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400" b="0">
                          <a:solidFill>
                            <a:srgbClr val="20242B"/>
                          </a:solidFill>
                          <a:latin typeface="Inter"/>
                        </a:rPr>
                        <a:t>100,000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500,000</a:t>
                      </a:r>
                    </a:p>
                  </a:txBody>
                  <a:tcPr marL="109728" marR="109728" marT="36576" marB="36576" anchor="ctr">
                    <a:lnL w="0">
                      <a:noFill/>
                    </a:lnL>
                    <a:lnR w="0">
                      <a:noFill/>
                    </a:lnR>
                    <a:lnT w="0">
                      <a:noFill/>
                    </a:lnT>
                    <a:lnB w="12700">
                      <a:solidFill>
                        <a:srgbClr val="E3E6EA"/>
                      </a:solidFill>
                    </a:lnB>
                    <a:solidFill>
                      <a:srgbClr val="FFFFFF"/>
                    </a:solidFill>
                  </a:tcPr>
                </a:tc>
              </a:tr>
            </a:tbl>
          </a:graphicData>
        </a:graphic>
      </p:graphicFrame>
      <p:sp>
        <p:nvSpPr>
          <p:cNvPr id="5" name="g184|caption|"/>
          <p:cNvSpPr txBox="1"/>
          <p:nvPr/>
        </p:nvSpPr>
        <p:spPr>
          <a:xfrm>
            <a:off x="548640" y="4937760"/>
            <a:ext cx="11094415" cy="822960"/>
          </a:xfrm>
          <a:prstGeom prst="rect">
            <a:avLst/>
          </a:prstGeom>
          <a:noFill/>
        </p:spPr>
        <p:txBody>
          <a:bodyPr wrap="square" lIns="0" rIns="0" tIns="0" bIns="0" anchor="t">
            <a:noAutofit/>
          </a:bodyPr>
          <a:lstStyle/>
          <a:p>
            <a:pPr algn="l">
              <a:spcAft>
                <a:spcPts val="400"/>
              </a:spcAft>
            </a:pPr>
            <a:r>
              <a:rPr sz="1200" b="0">
                <a:solidFill>
                  <a:srgbClr val="5B6670"/>
                </a:solidFill>
                <a:latin typeface="Inter"/>
              </a:rPr>
              <a:t>Enterprise from R19,999/mo, inbound only. 14-day free trial, no card required. Pilot brands: 50% off the first 2 bills (R249 / R999 / R2,499 / R3,999).</a:t>
            </a:r>
          </a:p>
          <a:p>
            <a:pPr algn="l"/>
            <a:r>
              <a:rPr sz="1200" b="0">
                <a:solidFill>
                  <a:srgbClr val="5B6670"/>
                </a:solidFill>
                <a:latin typeface="Inter"/>
              </a:rPr>
              <a:t>Founding Member does not stack with partner wholesale. Perks duration: founder decision pending.</a:t>
            </a:r>
          </a:p>
        </p:txBody>
      </p:sp>
      <p:sp>
        <p:nvSpPr>
          <p:cNvPr id="6"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Confidential</a:t>
            </a:r>
          </a:p>
        </p:txBody>
      </p:sp>
      <p:sp>
        <p:nvSpPr>
          <p:cNvPr id="7"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25</a:t>
            </a:fld>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85|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APPENDIX A3 · PRICING (2 OF 2) · LOCAL CURRENCY &amp; USD</a:t>
            </a:r>
          </a:p>
        </p:txBody>
      </p:sp>
      <p:sp>
        <p:nvSpPr>
          <p:cNvPr id="3" name="hdr185|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Local-currency, USD and wholesale prices</a:t>
            </a:r>
          </a:p>
        </p:txBody>
      </p:sp>
      <p:graphicFrame>
        <p:nvGraphicFramePr>
          <p:cNvPr id="4" name="g186|table|regional"/>
          <p:cNvGraphicFramePr>
            <a:graphicFrameLocks noGrp="1"/>
          </p:cNvGraphicFramePr>
          <p:nvPr/>
        </p:nvGraphicFramePr>
        <p:xfrm>
          <a:off x="548640" y="1481328"/>
          <a:ext cx="11091672" cy="2487168"/>
        </p:xfrm>
        <a:graphic>
          <a:graphicData uri="http://schemas.openxmlformats.org/drawingml/2006/table">
            <a:tbl>
              <a:tblPr firstRow="0" bandRow="0"/>
              <a:tblGrid>
                <a:gridCol w="1216152"/>
                <a:gridCol w="1234440"/>
                <a:gridCol w="1234440"/>
                <a:gridCol w="1234440"/>
                <a:gridCol w="1234440"/>
                <a:gridCol w="1234440"/>
                <a:gridCol w="1234440"/>
                <a:gridCol w="1234440"/>
                <a:gridCol w="1234440"/>
              </a:tblGrid>
              <a:tr h="384048">
                <a:tc>
                  <a:txBody>
                    <a:bodyPr wrap="square"/>
                    <a:lstStyle/>
                    <a:p>
                      <a:pPr algn="l"/>
                      <a:r>
                        <a:rPr sz="1200" b="1">
                          <a:solidFill>
                            <a:srgbClr val="FFFFFF"/>
                          </a:solidFill>
                          <a:latin typeface="Poppins"/>
                        </a:rPr>
                        <a:t>Plan</a:t>
                      </a:r>
                    </a:p>
                  </a:txBody>
                  <a:tcPr marL="109728" marR="109728" marT="36576" marB="36576" anchor="ctr">
                    <a:lnL w="0">
                      <a:noFill/>
                    </a:lnL>
                    <a:lnR w="0">
                      <a:noFill/>
                    </a:lnR>
                    <a:lnT w="0">
                      <a:noFill/>
                    </a:lnT>
                    <a:lnB w="0">
                      <a:noFill/>
                    </a:lnB>
                    <a:solidFill>
                      <a:srgbClr val="0F1419"/>
                    </a:solidFill>
                  </a:tcPr>
                </a:tc>
                <a:tc>
                  <a:txBody>
                    <a:bodyPr wrap="square"/>
                    <a:lstStyle/>
                    <a:p>
                      <a:pPr algn="ctr"/>
                      <a:r>
                        <a:rPr sz="1200" b="1">
                          <a:solidFill>
                            <a:srgbClr val="FFFFFF"/>
                          </a:solidFill>
                          <a:latin typeface="Poppins"/>
                        </a:rPr>
                        <a:t>NGN / mo</a:t>
                      </a:r>
                    </a:p>
                  </a:txBody>
                  <a:tcPr marL="109728" marR="109728" marT="36576" marB="36576" anchor="ctr">
                    <a:lnL w="0">
                      <a:noFill/>
                    </a:lnL>
                    <a:lnR w="0">
                      <a:noFill/>
                    </a:lnR>
                    <a:lnT w="0">
                      <a:noFill/>
                    </a:lnT>
                    <a:lnB w="0">
                      <a:noFill/>
                    </a:lnB>
                    <a:solidFill>
                      <a:srgbClr val="0F1419"/>
                    </a:solidFill>
                  </a:tcPr>
                </a:tc>
                <a:tc>
                  <a:txBody>
                    <a:bodyPr wrap="square"/>
                    <a:lstStyle/>
                    <a:p>
                      <a:pPr algn="ctr"/>
                      <a:r>
                        <a:rPr sz="1200" b="1">
                          <a:solidFill>
                            <a:srgbClr val="FFFFFF"/>
                          </a:solidFill>
                          <a:latin typeface="Poppins"/>
                        </a:rPr>
                        <a:t>NGN / yr</a:t>
                      </a:r>
                    </a:p>
                  </a:txBody>
                  <a:tcPr marL="109728" marR="109728" marT="36576" marB="36576" anchor="ctr">
                    <a:lnL w="0">
                      <a:noFill/>
                    </a:lnL>
                    <a:lnR w="0">
                      <a:noFill/>
                    </a:lnR>
                    <a:lnT w="0">
                      <a:noFill/>
                    </a:lnT>
                    <a:lnB w="0">
                      <a:noFill/>
                    </a:lnB>
                    <a:solidFill>
                      <a:srgbClr val="0F1419"/>
                    </a:solidFill>
                  </a:tcPr>
                </a:tc>
                <a:tc>
                  <a:txBody>
                    <a:bodyPr wrap="square"/>
                    <a:lstStyle/>
                    <a:p>
                      <a:pPr algn="ctr"/>
                      <a:r>
                        <a:rPr sz="1200" b="1">
                          <a:solidFill>
                            <a:srgbClr val="FFFFFF"/>
                          </a:solidFill>
                          <a:latin typeface="Poppins"/>
                        </a:rPr>
                        <a:t>KES / mo</a:t>
                      </a:r>
                    </a:p>
                  </a:txBody>
                  <a:tcPr marL="109728" marR="109728" marT="36576" marB="36576" anchor="ctr">
                    <a:lnL w="0">
                      <a:noFill/>
                    </a:lnL>
                    <a:lnR w="0">
                      <a:noFill/>
                    </a:lnR>
                    <a:lnT w="0">
                      <a:noFill/>
                    </a:lnT>
                    <a:lnB w="0">
                      <a:noFill/>
                    </a:lnB>
                    <a:solidFill>
                      <a:srgbClr val="0F1419"/>
                    </a:solidFill>
                  </a:tcPr>
                </a:tc>
                <a:tc>
                  <a:txBody>
                    <a:bodyPr wrap="square"/>
                    <a:lstStyle/>
                    <a:p>
                      <a:pPr algn="ctr"/>
                      <a:r>
                        <a:rPr sz="1200" b="1">
                          <a:solidFill>
                            <a:srgbClr val="FFFFFF"/>
                          </a:solidFill>
                          <a:latin typeface="Poppins"/>
                        </a:rPr>
                        <a:t>KES / yr</a:t>
                      </a:r>
                    </a:p>
                  </a:txBody>
                  <a:tcPr marL="109728" marR="109728" marT="36576" marB="36576" anchor="ctr">
                    <a:lnL w="0">
                      <a:noFill/>
                    </a:lnL>
                    <a:lnR w="0">
                      <a:noFill/>
                    </a:lnR>
                    <a:lnT w="0">
                      <a:noFill/>
                    </a:lnT>
                    <a:lnB w="0">
                      <a:noFill/>
                    </a:lnB>
                    <a:solidFill>
                      <a:srgbClr val="0F1419"/>
                    </a:solidFill>
                  </a:tcPr>
                </a:tc>
                <a:tc>
                  <a:txBody>
                    <a:bodyPr wrap="square"/>
                    <a:lstStyle/>
                    <a:p>
                      <a:pPr algn="ctr"/>
                      <a:r>
                        <a:rPr sz="1200" b="1">
                          <a:solidFill>
                            <a:srgbClr val="FFFFFF"/>
                          </a:solidFill>
                          <a:latin typeface="Poppins"/>
                        </a:rPr>
                        <a:t>GHS / mo</a:t>
                      </a:r>
                    </a:p>
                  </a:txBody>
                  <a:tcPr marL="109728" marR="109728" marT="36576" marB="36576" anchor="ctr">
                    <a:lnL w="0">
                      <a:noFill/>
                    </a:lnL>
                    <a:lnR w="0">
                      <a:noFill/>
                    </a:lnR>
                    <a:lnT w="0">
                      <a:noFill/>
                    </a:lnT>
                    <a:lnB w="0">
                      <a:noFill/>
                    </a:lnB>
                    <a:solidFill>
                      <a:srgbClr val="0F1419"/>
                    </a:solidFill>
                  </a:tcPr>
                </a:tc>
                <a:tc>
                  <a:txBody>
                    <a:bodyPr wrap="square"/>
                    <a:lstStyle/>
                    <a:p>
                      <a:pPr algn="ctr"/>
                      <a:r>
                        <a:rPr sz="1200" b="1">
                          <a:solidFill>
                            <a:srgbClr val="FFFFFF"/>
                          </a:solidFill>
                          <a:latin typeface="Poppins"/>
                        </a:rPr>
                        <a:t>GHS / yr</a:t>
                      </a:r>
                    </a:p>
                  </a:txBody>
                  <a:tcPr marL="109728" marR="109728" marT="36576" marB="36576" anchor="ctr">
                    <a:lnL w="0">
                      <a:noFill/>
                    </a:lnL>
                    <a:lnR w="0">
                      <a:noFill/>
                    </a:lnR>
                    <a:lnT w="0">
                      <a:noFill/>
                    </a:lnT>
                    <a:lnB w="0">
                      <a:noFill/>
                    </a:lnB>
                    <a:solidFill>
                      <a:srgbClr val="0F1419"/>
                    </a:solidFill>
                  </a:tcPr>
                </a:tc>
                <a:tc>
                  <a:txBody>
                    <a:bodyPr wrap="square"/>
                    <a:lstStyle/>
                    <a:p>
                      <a:pPr algn="ctr"/>
                      <a:r>
                        <a:rPr sz="1200" b="1">
                          <a:solidFill>
                            <a:srgbClr val="FFFFFF"/>
                          </a:solidFill>
                          <a:latin typeface="Poppins"/>
                        </a:rPr>
                        <a:t>USD / mo</a:t>
                      </a:r>
                    </a:p>
                  </a:txBody>
                  <a:tcPr marL="109728" marR="109728" marT="36576" marB="36576" anchor="ctr">
                    <a:lnL w="0">
                      <a:noFill/>
                    </a:lnL>
                    <a:lnR w="0">
                      <a:noFill/>
                    </a:lnR>
                    <a:lnT w="0">
                      <a:noFill/>
                    </a:lnT>
                    <a:lnB w="0">
                      <a:noFill/>
                    </a:lnB>
                    <a:solidFill>
                      <a:srgbClr val="0F1419"/>
                    </a:solidFill>
                  </a:tcPr>
                </a:tc>
                <a:tc>
                  <a:txBody>
                    <a:bodyPr wrap="square"/>
                    <a:lstStyle/>
                    <a:p>
                      <a:pPr algn="ctr"/>
                      <a:r>
                        <a:rPr sz="1200" b="1">
                          <a:solidFill>
                            <a:srgbClr val="FFFFFF"/>
                          </a:solidFill>
                          <a:latin typeface="Poppins"/>
                        </a:rPr>
                        <a:t>USD / yr</a:t>
                      </a:r>
                    </a:p>
                  </a:txBody>
                  <a:tcPr marL="109728" marR="109728" marT="36576" marB="36576" anchor="ctr">
                    <a:lnL w="0">
                      <a:noFill/>
                    </a:lnL>
                    <a:lnR w="0">
                      <a:noFill/>
                    </a:lnR>
                    <a:lnT w="0">
                      <a:noFill/>
                    </a:lnT>
                    <a:lnB w="0">
                      <a:noFill/>
                    </a:lnB>
                    <a:solidFill>
                      <a:srgbClr val="0F1419"/>
                    </a:solidFill>
                  </a:tcPr>
                </a:tc>
              </a:tr>
              <a:tr h="384048">
                <a:tc>
                  <a:txBody>
                    <a:bodyPr wrap="square"/>
                    <a:lstStyle/>
                    <a:p>
                      <a:pPr algn="l"/>
                      <a:r>
                        <a:rPr sz="1200" b="1">
                          <a:solidFill>
                            <a:srgbClr val="20242B"/>
                          </a:solidFill>
                          <a:latin typeface="Inter"/>
                        </a:rPr>
                        <a:t>Starter</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₦41,000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₦410,000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KSh 3,999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KSh 39,990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GH₵ 339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GH₵ 3,390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$27</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$270</a:t>
                      </a:r>
                    </a:p>
                  </a:txBody>
                  <a:tcPr marL="109728" marR="109728" marT="36576" marB="36576" anchor="ctr">
                    <a:lnL w="0">
                      <a:noFill/>
                    </a:lnL>
                    <a:lnR w="0">
                      <a:noFill/>
                    </a:lnR>
                    <a:lnT w="0">
                      <a:noFill/>
                    </a:lnT>
                    <a:lnB w="12700">
                      <a:solidFill>
                        <a:srgbClr val="E3E6EA"/>
                      </a:solidFill>
                    </a:lnB>
                    <a:solidFill>
                      <a:srgbClr val="FFFFFF"/>
                    </a:solidFill>
                  </a:tcPr>
                </a:tc>
              </a:tr>
              <a:tr h="384048">
                <a:tc>
                  <a:txBody>
                    <a:bodyPr wrap="square"/>
                    <a:lstStyle/>
                    <a:p>
                      <a:pPr algn="l"/>
                      <a:r>
                        <a:rPr sz="1200" b="1">
                          <a:solidFill>
                            <a:srgbClr val="20242B"/>
                          </a:solidFill>
                          <a:latin typeface="Inter"/>
                        </a:rPr>
                        <a:t>Growth</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200" b="0">
                          <a:solidFill>
                            <a:srgbClr val="20242B"/>
                          </a:solidFill>
                          <a:latin typeface="Inter"/>
                        </a:rPr>
                        <a:t>₦165,000</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200" b="0">
                          <a:solidFill>
                            <a:srgbClr val="20242B"/>
                          </a:solidFill>
                          <a:latin typeface="Inter"/>
                        </a:rPr>
                        <a:t>₦1,650,000</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200" b="0">
                          <a:solidFill>
                            <a:srgbClr val="20242B"/>
                          </a:solidFill>
                          <a:latin typeface="Inter"/>
                        </a:rPr>
                        <a:t>KSh 15,999</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200" b="0">
                          <a:solidFill>
                            <a:srgbClr val="20242B"/>
                          </a:solidFill>
                          <a:latin typeface="Inter"/>
                        </a:rPr>
                        <a:t>KSh 159,990</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200" b="0">
                          <a:solidFill>
                            <a:srgbClr val="20242B"/>
                          </a:solidFill>
                          <a:latin typeface="Inter"/>
                        </a:rPr>
                        <a:t>GH₵ 1,359</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200" b="0">
                          <a:solidFill>
                            <a:srgbClr val="20242B"/>
                          </a:solidFill>
                          <a:latin typeface="Inter"/>
                        </a:rPr>
                        <a:t>GH₵ 13,590</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200" b="0">
                          <a:solidFill>
                            <a:srgbClr val="20242B"/>
                          </a:solidFill>
                          <a:latin typeface="Inter"/>
                        </a:rPr>
                        <a:t>$109</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200" b="0">
                          <a:solidFill>
                            <a:srgbClr val="20242B"/>
                          </a:solidFill>
                          <a:latin typeface="Inter"/>
                        </a:rPr>
                        <a:t>$1,090</a:t>
                      </a:r>
                    </a:p>
                  </a:txBody>
                  <a:tcPr marL="109728" marR="109728" marT="36576" marB="36576" anchor="ctr">
                    <a:lnL w="0">
                      <a:noFill/>
                    </a:lnL>
                    <a:lnR w="0">
                      <a:noFill/>
                    </a:lnR>
                    <a:lnT w="0">
                      <a:noFill/>
                    </a:lnT>
                    <a:lnB w="12700">
                      <a:solidFill>
                        <a:srgbClr val="E3E6EA"/>
                      </a:solidFill>
                    </a:lnB>
                    <a:solidFill>
                      <a:srgbClr val="FFF4EB"/>
                    </a:solidFill>
                  </a:tcPr>
                </a:tc>
              </a:tr>
              <a:tr h="384048">
                <a:tc>
                  <a:txBody>
                    <a:bodyPr wrap="square"/>
                    <a:lstStyle/>
                    <a:p>
                      <a:pPr algn="l"/>
                      <a:r>
                        <a:rPr sz="1200" b="1">
                          <a:solidFill>
                            <a:srgbClr val="20242B"/>
                          </a:solidFill>
                          <a:latin typeface="Inter"/>
                        </a:rPr>
                        <a:t>Scale</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₦413,000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₦4,130,000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KSh 39,999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KSh 399,990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GH₵ 3,399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GH₵ 33,990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$269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$2,690</a:t>
                      </a:r>
                    </a:p>
                  </a:txBody>
                  <a:tcPr marL="109728" marR="109728" marT="36576" marB="36576" anchor="ctr">
                    <a:lnL w="0">
                      <a:noFill/>
                    </a:lnL>
                    <a:lnR w="0">
                      <a:noFill/>
                    </a:lnR>
                    <a:lnT w="0">
                      <a:noFill/>
                    </a:lnT>
                    <a:lnB w="12700">
                      <a:solidFill>
                        <a:srgbClr val="E3E6EA"/>
                      </a:solidFill>
                    </a:lnB>
                    <a:solidFill>
                      <a:srgbClr val="FFFFFF"/>
                    </a:solidFill>
                  </a:tcPr>
                </a:tc>
              </a:tr>
              <a:tr h="384048">
                <a:tc>
                  <a:txBody>
                    <a:bodyPr wrap="square"/>
                    <a:lstStyle/>
                    <a:p>
                      <a:pPr algn="l"/>
                      <a:r>
                        <a:rPr sz="1200" b="1">
                          <a:solidFill>
                            <a:srgbClr val="20242B"/>
                          </a:solidFill>
                          <a:latin typeface="Inter"/>
                        </a:rPr>
                        <a:t>Agency</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₦662,000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₦6,620,000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KSh 64,499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KSh 644,990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GH₵ 5,439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GH₵ 54,390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$429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$4,290</a:t>
                      </a:r>
                    </a:p>
                  </a:txBody>
                  <a:tcPr marL="109728" marR="109728" marT="36576" marB="36576" anchor="ctr">
                    <a:lnL w="0">
                      <a:noFill/>
                    </a:lnL>
                    <a:lnR w="0">
                      <a:noFill/>
                    </a:lnR>
                    <a:lnT w="0">
                      <a:noFill/>
                    </a:lnT>
                    <a:lnB w="12700">
                      <a:solidFill>
                        <a:srgbClr val="E3E6EA"/>
                      </a:solidFill>
                    </a:lnB>
                    <a:solidFill>
                      <a:srgbClr val="FFFFFF"/>
                    </a:solidFill>
                  </a:tcPr>
                </a:tc>
              </a:tr>
              <a:tr h="566928">
                <a:tc>
                  <a:txBody>
                    <a:bodyPr wrap="square"/>
                    <a:lstStyle/>
                    <a:p>
                      <a:pPr algn="l"/>
                      <a:r>
                        <a:rPr sz="1200" b="1">
                          <a:solidFill>
                            <a:srgbClr val="20242B"/>
                          </a:solidFill>
                          <a:latin typeface="Inter"/>
                        </a:rPr>
                        <a:t>Enterprise</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from ₦1,650,000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custom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from KSh 161,000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custom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from GH₵ 13,600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custom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from $1,099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custom</a:t>
                      </a:r>
                    </a:p>
                  </a:txBody>
                  <a:tcPr marL="109728" marR="109728" marT="36576" marB="36576" anchor="ctr">
                    <a:lnL w="0">
                      <a:noFill/>
                    </a:lnL>
                    <a:lnR w="0">
                      <a:noFill/>
                    </a:lnR>
                    <a:lnT w="0">
                      <a:noFill/>
                    </a:lnT>
                    <a:lnB w="12700">
                      <a:solidFill>
                        <a:srgbClr val="E3E6EA"/>
                      </a:solidFill>
                    </a:lnB>
                    <a:solidFill>
                      <a:srgbClr val="FFFFFF"/>
                    </a:solidFill>
                  </a:tcPr>
                </a:tc>
              </a:tr>
            </a:tbl>
          </a:graphicData>
        </a:graphic>
      </p:graphicFrame>
      <p:graphicFrame>
        <p:nvGraphicFramePr>
          <p:cNvPr id="5" name="g187|table|wholesale"/>
          <p:cNvGraphicFramePr>
            <a:graphicFrameLocks noGrp="1"/>
          </p:cNvGraphicFramePr>
          <p:nvPr/>
        </p:nvGraphicFramePr>
        <p:xfrm>
          <a:off x="548640" y="4206240"/>
          <a:ext cx="11091672" cy="1152144"/>
        </p:xfrm>
        <a:graphic>
          <a:graphicData uri="http://schemas.openxmlformats.org/drawingml/2006/table">
            <a:tbl>
              <a:tblPr firstRow="0" bandRow="0"/>
              <a:tblGrid>
                <a:gridCol w="2862072"/>
                <a:gridCol w="1645920"/>
                <a:gridCol w="1645920"/>
                <a:gridCol w="1645920"/>
                <a:gridCol w="1645920"/>
                <a:gridCol w="1645920"/>
              </a:tblGrid>
              <a:tr h="384048">
                <a:tc>
                  <a:txBody>
                    <a:bodyPr wrap="square"/>
                    <a:lstStyle/>
                    <a:p>
                      <a:pPr algn="l"/>
                      <a:r>
                        <a:rPr sz="1200" b="1">
                          <a:solidFill>
                            <a:srgbClr val="FFFFFF"/>
                          </a:solidFill>
                          <a:latin typeface="Poppins"/>
                        </a:rPr>
                        <a:t>Partner wholesale (Agency −30%)</a:t>
                      </a:r>
                    </a:p>
                  </a:txBody>
                  <a:tcPr marL="109728" marR="109728" marT="36576" marB="36576" anchor="ctr">
                    <a:lnL w="0">
                      <a:noFill/>
                    </a:lnL>
                    <a:lnR w="0">
                      <a:noFill/>
                    </a:lnR>
                    <a:lnT w="0">
                      <a:noFill/>
                    </a:lnT>
                    <a:lnB w="0">
                      <a:noFill/>
                    </a:lnB>
                    <a:solidFill>
                      <a:srgbClr val="0F1419"/>
                    </a:solidFill>
                  </a:tcPr>
                </a:tc>
                <a:tc>
                  <a:txBody>
                    <a:bodyPr wrap="square"/>
                    <a:lstStyle/>
                    <a:p>
                      <a:pPr algn="ctr"/>
                      <a:r>
                        <a:rPr sz="1200" b="1">
                          <a:solidFill>
                            <a:srgbClr val="FFFFFF"/>
                          </a:solidFill>
                          <a:latin typeface="Poppins"/>
                        </a:rPr>
                        <a:t>ZAR</a:t>
                      </a:r>
                    </a:p>
                  </a:txBody>
                  <a:tcPr marL="109728" marR="109728" marT="36576" marB="36576" anchor="ctr">
                    <a:lnL w="0">
                      <a:noFill/>
                    </a:lnL>
                    <a:lnR w="0">
                      <a:noFill/>
                    </a:lnR>
                    <a:lnT w="0">
                      <a:noFill/>
                    </a:lnT>
                    <a:lnB w="0">
                      <a:noFill/>
                    </a:lnB>
                    <a:solidFill>
                      <a:srgbClr val="0F1419"/>
                    </a:solidFill>
                  </a:tcPr>
                </a:tc>
                <a:tc>
                  <a:txBody>
                    <a:bodyPr wrap="square"/>
                    <a:lstStyle/>
                    <a:p>
                      <a:pPr algn="ctr"/>
                      <a:r>
                        <a:rPr sz="1200" b="1">
                          <a:solidFill>
                            <a:srgbClr val="FFFFFF"/>
                          </a:solidFill>
                          <a:latin typeface="Poppins"/>
                        </a:rPr>
                        <a:t>NGN</a:t>
                      </a:r>
                    </a:p>
                  </a:txBody>
                  <a:tcPr marL="109728" marR="109728" marT="36576" marB="36576" anchor="ctr">
                    <a:lnL w="0">
                      <a:noFill/>
                    </a:lnL>
                    <a:lnR w="0">
                      <a:noFill/>
                    </a:lnR>
                    <a:lnT w="0">
                      <a:noFill/>
                    </a:lnT>
                    <a:lnB w="0">
                      <a:noFill/>
                    </a:lnB>
                    <a:solidFill>
                      <a:srgbClr val="0F1419"/>
                    </a:solidFill>
                  </a:tcPr>
                </a:tc>
                <a:tc>
                  <a:txBody>
                    <a:bodyPr wrap="square"/>
                    <a:lstStyle/>
                    <a:p>
                      <a:pPr algn="ctr"/>
                      <a:r>
                        <a:rPr sz="1200" b="1">
                          <a:solidFill>
                            <a:srgbClr val="FFFFFF"/>
                          </a:solidFill>
                          <a:latin typeface="Poppins"/>
                        </a:rPr>
                        <a:t>KES</a:t>
                      </a:r>
                    </a:p>
                  </a:txBody>
                  <a:tcPr marL="109728" marR="109728" marT="36576" marB="36576" anchor="ctr">
                    <a:lnL w="0">
                      <a:noFill/>
                    </a:lnL>
                    <a:lnR w="0">
                      <a:noFill/>
                    </a:lnR>
                    <a:lnT w="0">
                      <a:noFill/>
                    </a:lnT>
                    <a:lnB w="0">
                      <a:noFill/>
                    </a:lnB>
                    <a:solidFill>
                      <a:srgbClr val="0F1419"/>
                    </a:solidFill>
                  </a:tcPr>
                </a:tc>
                <a:tc>
                  <a:txBody>
                    <a:bodyPr wrap="square"/>
                    <a:lstStyle/>
                    <a:p>
                      <a:pPr algn="ctr"/>
                      <a:r>
                        <a:rPr sz="1200" b="1">
                          <a:solidFill>
                            <a:srgbClr val="FFFFFF"/>
                          </a:solidFill>
                          <a:latin typeface="Poppins"/>
                        </a:rPr>
                        <a:t>GHS</a:t>
                      </a:r>
                    </a:p>
                  </a:txBody>
                  <a:tcPr marL="109728" marR="109728" marT="36576" marB="36576" anchor="ctr">
                    <a:lnL w="0">
                      <a:noFill/>
                    </a:lnL>
                    <a:lnR w="0">
                      <a:noFill/>
                    </a:lnR>
                    <a:lnT w="0">
                      <a:noFill/>
                    </a:lnT>
                    <a:lnB w="0">
                      <a:noFill/>
                    </a:lnB>
                    <a:solidFill>
                      <a:srgbClr val="0F1419"/>
                    </a:solidFill>
                  </a:tcPr>
                </a:tc>
                <a:tc>
                  <a:txBody>
                    <a:bodyPr wrap="square"/>
                    <a:lstStyle/>
                    <a:p>
                      <a:pPr algn="ctr"/>
                      <a:r>
                        <a:rPr sz="1200" b="1">
                          <a:solidFill>
                            <a:srgbClr val="FFFFFF"/>
                          </a:solidFill>
                          <a:latin typeface="Poppins"/>
                        </a:rPr>
                        <a:t>USD</a:t>
                      </a:r>
                    </a:p>
                  </a:txBody>
                  <a:tcPr marL="109728" marR="109728" marT="36576" marB="36576" anchor="ctr">
                    <a:lnL w="0">
                      <a:noFill/>
                    </a:lnL>
                    <a:lnR w="0">
                      <a:noFill/>
                    </a:lnR>
                    <a:lnT w="0">
                      <a:noFill/>
                    </a:lnT>
                    <a:lnB w="0">
                      <a:noFill/>
                    </a:lnB>
                    <a:solidFill>
                      <a:srgbClr val="0F1419"/>
                    </a:solidFill>
                  </a:tcPr>
                </a:tc>
              </a:tr>
              <a:tr h="384048">
                <a:tc>
                  <a:txBody>
                    <a:bodyPr wrap="square"/>
                    <a:lstStyle/>
                    <a:p>
                      <a:pPr algn="l"/>
                      <a:r>
                        <a:rPr sz="1200" b="1">
                          <a:solidFill>
                            <a:srgbClr val="20242B"/>
                          </a:solidFill>
                          <a:latin typeface="Inter"/>
                        </a:rPr>
                        <a:t>Per month</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200" b="1">
                          <a:solidFill>
                            <a:srgbClr val="20242B"/>
                          </a:solidFill>
                          <a:latin typeface="Inter"/>
                        </a:rPr>
                        <a:t>R5,599</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200" b="1">
                          <a:solidFill>
                            <a:srgbClr val="20242B"/>
                          </a:solidFill>
                          <a:latin typeface="Inter"/>
                        </a:rPr>
                        <a:t>₦463,000</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200" b="1">
                          <a:solidFill>
                            <a:srgbClr val="20242B"/>
                          </a:solidFill>
                          <a:latin typeface="Inter"/>
                        </a:rPr>
                        <a:t>KSh 44,999</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200" b="1">
                          <a:solidFill>
                            <a:srgbClr val="20242B"/>
                          </a:solidFill>
                          <a:latin typeface="Inter"/>
                        </a:rPr>
                        <a:t>GH₵ 3,799</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200" b="1">
                          <a:solidFill>
                            <a:srgbClr val="20242B"/>
                          </a:solidFill>
                          <a:latin typeface="Inter"/>
                        </a:rPr>
                        <a:t>$299</a:t>
                      </a:r>
                    </a:p>
                  </a:txBody>
                  <a:tcPr marL="109728" marR="109728" marT="36576" marB="36576" anchor="ctr">
                    <a:lnL w="0">
                      <a:noFill/>
                    </a:lnL>
                    <a:lnR w="0">
                      <a:noFill/>
                    </a:lnR>
                    <a:lnT w="0">
                      <a:noFill/>
                    </a:lnT>
                    <a:lnB w="12700">
                      <a:solidFill>
                        <a:srgbClr val="E3E6EA"/>
                      </a:solidFill>
                    </a:lnB>
                    <a:solidFill>
                      <a:srgbClr val="FFF4EB"/>
                    </a:solidFill>
                  </a:tcPr>
                </a:tc>
              </a:tr>
              <a:tr h="384048">
                <a:tc>
                  <a:txBody>
                    <a:bodyPr wrap="square"/>
                    <a:lstStyle/>
                    <a:p>
                      <a:pPr algn="l"/>
                      <a:r>
                        <a:rPr sz="1200" b="1">
                          <a:solidFill>
                            <a:srgbClr val="20242B"/>
                          </a:solidFill>
                          <a:latin typeface="Inter"/>
                        </a:rPr>
                        <a:t>Per year (10×)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R55,990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₦4,630,000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KSh 449,990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GH₵ 37,990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$2,990</a:t>
                      </a:r>
                    </a:p>
                  </a:txBody>
                  <a:tcPr marL="109728" marR="109728" marT="36576" marB="36576" anchor="ctr">
                    <a:lnL w="0">
                      <a:noFill/>
                    </a:lnL>
                    <a:lnR w="0">
                      <a:noFill/>
                    </a:lnR>
                    <a:lnT w="0">
                      <a:noFill/>
                    </a:lnT>
                    <a:lnB w="12700">
                      <a:solidFill>
                        <a:srgbClr val="E3E6EA"/>
                      </a:solidFill>
                    </a:lnB>
                    <a:solidFill>
                      <a:srgbClr val="FFFFFF"/>
                    </a:solidFill>
                  </a:tcPr>
                </a:tc>
              </a:tr>
            </a:tbl>
          </a:graphicData>
        </a:graphic>
      </p:graphicFrame>
      <p:sp>
        <p:nvSpPr>
          <p:cNvPr id="6" name="g188|caption|"/>
          <p:cNvSpPr txBox="1"/>
          <p:nvPr/>
        </p:nvSpPr>
        <p:spPr>
          <a:xfrm>
            <a:off x="548640" y="5486400"/>
            <a:ext cx="11094415" cy="640080"/>
          </a:xfrm>
          <a:prstGeom prst="rect">
            <a:avLst/>
          </a:prstGeom>
          <a:noFill/>
        </p:spPr>
        <p:txBody>
          <a:bodyPr wrap="square" lIns="0" rIns="0" tIns="0" bIns="0" anchor="t">
            <a:noAutofit/>
          </a:bodyPr>
          <a:lstStyle/>
          <a:p>
            <a:pPr algn="l"/>
            <a:r>
              <a:rPr sz="1200" b="0">
                <a:solidFill>
                  <a:srgbClr val="5B6670"/>
                </a:solidFill>
                <a:latin typeface="Inter"/>
              </a:rPr>
              <a:t>Fixed price points at FX parity with the rand (Sept 2026), reviewed quarterly and reset if drift exceeds 10%. USD applies in the 19 other rail-covered countries. Countries without a rail, including Botswana and Namibia (coming soon): waitlist only, no prices.</a:t>
            </a:r>
          </a:p>
        </p:txBody>
      </p:sp>
      <p:sp>
        <p:nvSpPr>
          <p:cNvPr id="7"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Confidential</a:t>
            </a:r>
          </a:p>
        </p:txBody>
      </p:sp>
      <p:sp>
        <p:nvSpPr>
          <p:cNvPr id="8"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26</a:t>
            </a:fld>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89|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APPENDIX A4 · PAYMENT RAILS</a:t>
            </a:r>
          </a:p>
        </p:txBody>
      </p:sp>
      <p:sp>
        <p:nvSpPr>
          <p:cNvPr id="3" name="hdr189|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Payment rails by country</a:t>
            </a:r>
          </a:p>
        </p:txBody>
      </p:sp>
      <p:pic>
        <p:nvPicPr>
          <p:cNvPr id="4" name="g190|img|infographics/payment-rails-matrix.png" descr="Matrix of 23 countries by region against 5 payment rails with billing currency; Botswana and Namibia coming soon"/>
          <p:cNvPicPr>
            <a:picLocks noChangeAspect="1"/>
          </p:cNvPicPr>
          <p:nvPr/>
        </p:nvPicPr>
        <p:blipFill>
          <a:blip r:embed="rId2"/>
          <a:srcRect t="19000" b="6000"/>
          <a:stretch>
            <a:fillRect/>
          </a:stretch>
        </p:blipFill>
        <p:spPr>
          <a:xfrm>
            <a:off x="548640" y="1417320"/>
            <a:ext cx="11094415" cy="4680456"/>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Confidential</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27</a:t>
            </a:fld>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91|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APPENDIX A5 · FX SHOCK · MODEL V2</a:t>
            </a:r>
          </a:p>
        </p:txBody>
      </p:sp>
      <p:sp>
        <p:nvSpPr>
          <p:cNvPr id="3" name="hdr191|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ZAR 15% stronger vs NGN, KES, GHS and USD</a:t>
            </a:r>
          </a:p>
        </p:txBody>
      </p:sp>
      <p:pic>
        <p:nvPicPr>
          <p:cNvPr id="4" name="g192|img|charts/fx_shock_sensitivity_16x9.png" descr="FX shock: base vs ZAR +15% with and without repricing"/>
          <p:cNvPicPr>
            <a:picLocks noChangeAspect="1"/>
          </p:cNvPicPr>
          <p:nvPr/>
        </p:nvPicPr>
        <p:blipFill>
          <a:blip r:embed="rId2"/>
          <a:srcRect t="14500" b="5000"/>
          <a:stretch>
            <a:fillRect/>
          </a:stretch>
        </p:blipFill>
        <p:spPr>
          <a:xfrm>
            <a:off x="550028" y="1481328"/>
            <a:ext cx="6946663" cy="3145536"/>
          </a:xfrm>
          <a:prstGeom prst="rect">
            <a:avLst/>
          </a:prstGeom>
        </p:spPr>
      </p:pic>
      <p:graphicFrame>
        <p:nvGraphicFramePr>
          <p:cNvPr id="5" name="g193|table|fx"/>
          <p:cNvGraphicFramePr>
            <a:graphicFrameLocks noGrp="1"/>
          </p:cNvGraphicFramePr>
          <p:nvPr/>
        </p:nvGraphicFramePr>
        <p:xfrm>
          <a:off x="7680960" y="1481328"/>
          <a:ext cx="3959352" cy="4197096"/>
        </p:xfrm>
        <a:graphic>
          <a:graphicData uri="http://schemas.openxmlformats.org/drawingml/2006/table">
            <a:tbl>
              <a:tblPr firstRow="0" bandRow="0"/>
              <a:tblGrid>
                <a:gridCol w="1051560"/>
                <a:gridCol w="969264"/>
                <a:gridCol w="969264"/>
                <a:gridCol w="969264"/>
              </a:tblGrid>
              <a:tr h="868680">
                <a:tc>
                  <a:txBody>
                    <a:bodyPr wrap="square"/>
                    <a:lstStyle/>
                    <a:p>
                      <a:pPr algn="l"/>
                      <a:r>
                        <a:rPr sz="1200" b="1">
                          <a:solidFill>
                            <a:srgbClr val="FFFFFF"/>
                          </a:solidFill>
                          <a:latin typeface="Poppins"/>
                        </a:rPr>
                        <a:t>Base case</a:t>
                      </a:r>
                    </a:p>
                  </a:txBody>
                  <a:tcPr marL="109728" marR="109728" marT="36576" marB="36576" anchor="ctr">
                    <a:lnL w="0">
                      <a:noFill/>
                    </a:lnL>
                    <a:lnR w="0">
                      <a:noFill/>
                    </a:lnR>
                    <a:lnT w="0">
                      <a:noFill/>
                    </a:lnT>
                    <a:lnB w="0">
                      <a:noFill/>
                    </a:lnB>
                    <a:solidFill>
                      <a:srgbClr val="0F1419"/>
                    </a:solidFill>
                  </a:tcPr>
                </a:tc>
                <a:tc>
                  <a:txBody>
                    <a:bodyPr wrap="square"/>
                    <a:lstStyle/>
                    <a:p>
                      <a:pPr algn="ctr"/>
                      <a:r>
                        <a:rPr sz="1200" b="1">
                          <a:solidFill>
                            <a:srgbClr val="FFFFFF"/>
                          </a:solidFill>
                          <a:latin typeface="Poppins"/>
                        </a:rPr>
                        <a:t>Base</a:t>
                      </a:r>
                    </a:p>
                  </a:txBody>
                  <a:tcPr marL="109728" marR="109728" marT="36576" marB="36576" anchor="ctr">
                    <a:lnL w="0">
                      <a:noFill/>
                    </a:lnL>
                    <a:lnR w="0">
                      <a:noFill/>
                    </a:lnR>
                    <a:lnT w="0">
                      <a:noFill/>
                    </a:lnT>
                    <a:lnB w="0">
                      <a:noFill/>
                    </a:lnB>
                    <a:solidFill>
                      <a:srgbClr val="0F1419"/>
                    </a:solidFill>
                  </a:tcPr>
                </a:tc>
                <a:tc>
                  <a:txBody>
                    <a:bodyPr wrap="square"/>
                    <a:lstStyle/>
                    <a:p>
                      <a:pPr algn="ctr"/>
                      <a:r>
                        <a:rPr sz="1200" b="1">
                          <a:solidFill>
                            <a:srgbClr val="FFFFFF"/>
                          </a:solidFill>
                          <a:latin typeface="Poppins"/>
                        </a:rPr>
                        <a:t>+15%, repricing</a:t>
                      </a:r>
                    </a:p>
                  </a:txBody>
                  <a:tcPr marL="109728" marR="109728" marT="36576" marB="36576" anchor="ctr">
                    <a:lnL w="0">
                      <a:noFill/>
                    </a:lnL>
                    <a:lnR w="0">
                      <a:noFill/>
                    </a:lnR>
                    <a:lnT w="0">
                      <a:noFill/>
                    </a:lnT>
                    <a:lnB w="0">
                      <a:noFill/>
                    </a:lnB>
                    <a:solidFill>
                      <a:srgbClr val="0F1419"/>
                    </a:solidFill>
                  </a:tcPr>
                </a:tc>
                <a:tc>
                  <a:txBody>
                    <a:bodyPr wrap="square"/>
                    <a:lstStyle/>
                    <a:p>
                      <a:pPr algn="ctr"/>
                      <a:r>
                        <a:rPr sz="1200" b="1">
                          <a:solidFill>
                            <a:srgbClr val="FFFFFF"/>
                          </a:solidFill>
                          <a:latin typeface="Poppins"/>
                        </a:rPr>
                        <a:t>+15%, none</a:t>
                      </a:r>
                    </a:p>
                  </a:txBody>
                  <a:tcPr marL="109728" marR="109728" marT="36576" marB="36576" anchor="ctr">
                    <a:lnL w="0">
                      <a:noFill/>
                    </a:lnL>
                    <a:lnR w="0">
                      <a:noFill/>
                    </a:lnR>
                    <a:lnT w="0">
                      <a:noFill/>
                    </a:lnT>
                    <a:lnB w="0">
                      <a:noFill/>
                    </a:lnB>
                    <a:solidFill>
                      <a:srgbClr val="0F1419"/>
                    </a:solidFill>
                  </a:tcPr>
                </a:tc>
              </a:tr>
              <a:tr h="512064">
                <a:tc>
                  <a:txBody>
                    <a:bodyPr wrap="square"/>
                    <a:lstStyle/>
                    <a:p>
                      <a:pPr algn="l"/>
                      <a:r>
                        <a:rPr sz="1200" b="1">
                          <a:solidFill>
                            <a:srgbClr val="20242B"/>
                          </a:solidFill>
                          <a:latin typeface="Inter"/>
                        </a:rPr>
                        <a:t>FY3 revenue</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R73.1M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R73.2M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R69.5M</a:t>
                      </a:r>
                    </a:p>
                  </a:txBody>
                  <a:tcPr marL="109728" marR="109728" marT="36576" marB="36576" anchor="ctr">
                    <a:lnL w="0">
                      <a:noFill/>
                    </a:lnL>
                    <a:lnR w="0">
                      <a:noFill/>
                    </a:lnR>
                    <a:lnT w="0">
                      <a:noFill/>
                    </a:lnT>
                    <a:lnB w="12700">
                      <a:solidFill>
                        <a:srgbClr val="E3E6EA"/>
                      </a:solidFill>
                    </a:lnB>
                    <a:solidFill>
                      <a:srgbClr val="FFFFFF"/>
                    </a:solidFill>
                  </a:tcPr>
                </a:tc>
              </a:tr>
              <a:tr h="512064">
                <a:tc>
                  <a:txBody>
                    <a:bodyPr wrap="square"/>
                    <a:lstStyle/>
                    <a:p>
                      <a:pPr algn="l"/>
                      <a:r>
                        <a:rPr sz="1200" b="1">
                          <a:solidFill>
                            <a:srgbClr val="20242B"/>
                          </a:solidFill>
                          <a:latin typeface="Inter"/>
                        </a:rPr>
                        <a:t>FY5 revenue</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R238.0M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R238.1M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R217.0M</a:t>
                      </a:r>
                    </a:p>
                  </a:txBody>
                  <a:tcPr marL="109728" marR="109728" marT="36576" marB="36576" anchor="ctr">
                    <a:lnL w="0">
                      <a:noFill/>
                    </a:lnL>
                    <a:lnR w="0">
                      <a:noFill/>
                    </a:lnR>
                    <a:lnT w="0">
                      <a:noFill/>
                    </a:lnT>
                    <a:lnB w="12700">
                      <a:solidFill>
                        <a:srgbClr val="E3E6EA"/>
                      </a:solidFill>
                    </a:lnB>
                    <a:solidFill>
                      <a:srgbClr val="FFFFFF"/>
                    </a:solidFill>
                  </a:tcPr>
                </a:tc>
              </a:tr>
              <a:tr h="512064">
                <a:tc>
                  <a:txBody>
                    <a:bodyPr wrap="square"/>
                    <a:lstStyle/>
                    <a:p>
                      <a:pPr algn="l"/>
                      <a:r>
                        <a:rPr sz="1200" b="1">
                          <a:solidFill>
                            <a:srgbClr val="20242B"/>
                          </a:solidFill>
                          <a:latin typeface="Inter"/>
                        </a:rPr>
                        <a:t>FY3 EBITDA</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R0.5M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R0.7M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−R2.1M</a:t>
                      </a:r>
                    </a:p>
                  </a:txBody>
                  <a:tcPr marL="109728" marR="109728" marT="36576" marB="36576" anchor="ctr">
                    <a:lnL w="0">
                      <a:noFill/>
                    </a:lnL>
                    <a:lnR w="0">
                      <a:noFill/>
                    </a:lnR>
                    <a:lnT w="0">
                      <a:noFill/>
                    </a:lnT>
                    <a:lnB w="12700">
                      <a:solidFill>
                        <a:srgbClr val="E3E6EA"/>
                      </a:solidFill>
                    </a:lnB>
                    <a:solidFill>
                      <a:srgbClr val="FFFFFF"/>
                    </a:solidFill>
                  </a:tcPr>
                </a:tc>
              </a:tr>
              <a:tr h="512064">
                <a:tc>
                  <a:txBody>
                    <a:bodyPr wrap="square"/>
                    <a:lstStyle/>
                    <a:p>
                      <a:pPr algn="l"/>
                      <a:r>
                        <a:rPr sz="1200" b="1">
                          <a:solidFill>
                            <a:srgbClr val="20242B"/>
                          </a:solidFill>
                          <a:latin typeface="Inter"/>
                        </a:rPr>
                        <a:t>FY5 EBITDA</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R66.3M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R66.8M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R56.4M</a:t>
                      </a:r>
                    </a:p>
                  </a:txBody>
                  <a:tcPr marL="109728" marR="109728" marT="36576" marB="36576" anchor="ctr">
                    <a:lnL w="0">
                      <a:noFill/>
                    </a:lnL>
                    <a:lnR w="0">
                      <a:noFill/>
                    </a:lnR>
                    <a:lnT w="0">
                      <a:noFill/>
                    </a:lnT>
                    <a:lnB w="12700">
                      <a:solidFill>
                        <a:srgbClr val="E3E6EA"/>
                      </a:solidFill>
                    </a:lnB>
                    <a:solidFill>
                      <a:srgbClr val="FFFFFF"/>
                    </a:solidFill>
                  </a:tcPr>
                </a:tc>
              </a:tr>
              <a:tr h="731520">
                <a:tc>
                  <a:txBody>
                    <a:bodyPr wrap="square"/>
                    <a:lstStyle/>
                    <a:p>
                      <a:pPr algn="l"/>
                      <a:r>
                        <a:rPr sz="1200" b="1">
                          <a:solidFill>
                            <a:srgbClr val="20242B"/>
                          </a:solidFill>
                          <a:latin typeface="Inter"/>
                        </a:rPr>
                        <a:t>Cash low</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R7.96M Sep 2028</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R7.55M Dec 2028</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R6.79M Feb 2029</a:t>
                      </a:r>
                    </a:p>
                  </a:txBody>
                  <a:tcPr marL="109728" marR="109728" marT="36576" marB="36576" anchor="ctr">
                    <a:lnL w="0">
                      <a:noFill/>
                    </a:lnL>
                    <a:lnR w="0">
                      <a:noFill/>
                    </a:lnR>
                    <a:lnT w="0">
                      <a:noFill/>
                    </a:lnT>
                    <a:lnB w="12700">
                      <a:solidFill>
                        <a:srgbClr val="E3E6EA"/>
                      </a:solidFill>
                    </a:lnB>
                    <a:solidFill>
                      <a:srgbClr val="FFFFFF"/>
                    </a:solidFill>
                  </a:tcPr>
                </a:tc>
              </a:tr>
              <a:tr h="548640">
                <a:tc>
                  <a:txBody>
                    <a:bodyPr wrap="square"/>
                    <a:lstStyle/>
                    <a:p>
                      <a:pPr algn="l"/>
                      <a:r>
                        <a:rPr sz="1200" b="1">
                          <a:solidFill>
                            <a:srgbClr val="20242B"/>
                          </a:solidFill>
                          <a:latin typeface="Inter"/>
                        </a:rPr>
                        <a:t>Profitable on R25M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1">
                          <a:solidFill>
                            <a:srgbClr val="C24E00"/>
                          </a:solidFill>
                          <a:latin typeface="Inter"/>
                        </a:rPr>
                        <a:t>Yes</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1">
                          <a:solidFill>
                            <a:srgbClr val="C24E00"/>
                          </a:solidFill>
                          <a:latin typeface="Inter"/>
                        </a:rPr>
                        <a:t>Yes</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1">
                          <a:solidFill>
                            <a:srgbClr val="C24E00"/>
                          </a:solidFill>
                          <a:latin typeface="Inter"/>
                        </a:rPr>
                        <a:t>Yes</a:t>
                      </a:r>
                    </a:p>
                  </a:txBody>
                  <a:tcPr marL="109728" marR="109728" marT="36576" marB="36576" anchor="ctr">
                    <a:lnL w="0">
                      <a:noFill/>
                    </a:lnL>
                    <a:lnR w="0">
                      <a:noFill/>
                    </a:lnR>
                    <a:lnT w="0">
                      <a:noFill/>
                    </a:lnT>
                    <a:lnB w="12700">
                      <a:solidFill>
                        <a:srgbClr val="E3E6EA"/>
                      </a:solidFill>
                    </a:lnB>
                    <a:solidFill>
                      <a:srgbClr val="FFFFFF"/>
                    </a:solidFill>
                  </a:tcPr>
                </a:tc>
              </a:tr>
            </a:tbl>
          </a:graphicData>
        </a:graphic>
      </p:graphicFrame>
      <p:sp>
        <p:nvSpPr>
          <p:cNvPr id="6" name="g194|body|"/>
          <p:cNvSpPr txBox="1"/>
          <p:nvPr/>
        </p:nvSpPr>
        <p:spPr>
          <a:xfrm>
            <a:off x="548640" y="4846320"/>
            <a:ext cx="6949440" cy="1234440"/>
          </a:xfrm>
          <a:prstGeom prst="rect">
            <a:avLst/>
          </a:prstGeom>
          <a:noFill/>
        </p:spPr>
        <p:txBody>
          <a:bodyPr wrap="square" lIns="0" rIns="0" tIns="0" bIns="0" anchor="t">
            <a:noAutofit/>
          </a:bodyPr>
          <a:lstStyle/>
          <a:p>
            <a:pPr algn="l"/>
            <a:r>
              <a:rPr sz="1400" b="0">
                <a:solidFill>
                  <a:srgbClr val="20242B"/>
                </a:solidFill>
                <a:latin typeface="Inter"/>
              </a:rPr>
              <a:t>The shock starts in Oct 2028, once Nigeria, Kenya and Ghana are live. Repricing costs one quarter of revenue, then resets. Without repricing, FY5 EBITDA moves −R9.9M but the R3.0M buffer holds.</a:t>
            </a:r>
          </a:p>
        </p:txBody>
      </p:sp>
      <p:sp>
        <p:nvSpPr>
          <p:cNvPr id="7"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Confidential</a:t>
            </a:r>
          </a:p>
        </p:txBody>
      </p:sp>
      <p:sp>
        <p:nvSpPr>
          <p:cNvPr id="8"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28</a:t>
            </a:fld>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95|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APPENDIX A6 · LAUNCH DISCOUNT COST · PROJECTION (MODEL V2, BASE CASE)</a:t>
            </a:r>
          </a:p>
        </p:txBody>
      </p:sp>
      <p:sp>
        <p:nvSpPr>
          <p:cNvPr id="3" name="hdr195|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Founding Member costs little</a:t>
            </a:r>
          </a:p>
        </p:txBody>
      </p:sp>
      <p:pic>
        <p:nvPicPr>
          <p:cNvPr id="4" name="g196|img|charts/founding_member_discount_cost_16x9.png" descr="Launch discount cost by year and market"/>
          <p:cNvPicPr>
            <a:picLocks noChangeAspect="1"/>
          </p:cNvPicPr>
          <p:nvPr/>
        </p:nvPicPr>
        <p:blipFill>
          <a:blip r:embed="rId2"/>
          <a:srcRect t="14500" b="5000"/>
          <a:stretch>
            <a:fillRect/>
          </a:stretch>
        </p:blipFill>
        <p:spPr>
          <a:xfrm>
            <a:off x="550028" y="1481328"/>
            <a:ext cx="6946663" cy="3145536"/>
          </a:xfrm>
          <a:prstGeom prst="rect">
            <a:avLst/>
          </a:prstGeom>
        </p:spPr>
      </p:pic>
      <p:graphicFrame>
        <p:nvGraphicFramePr>
          <p:cNvPr id="5" name="g197|table|fm"/>
          <p:cNvGraphicFramePr>
            <a:graphicFrameLocks noGrp="1"/>
          </p:cNvGraphicFramePr>
          <p:nvPr/>
        </p:nvGraphicFramePr>
        <p:xfrm>
          <a:off x="7680960" y="1481328"/>
          <a:ext cx="3959352" cy="1975104"/>
        </p:xfrm>
        <a:graphic>
          <a:graphicData uri="http://schemas.openxmlformats.org/drawingml/2006/table">
            <a:tbl>
              <a:tblPr firstRow="0" bandRow="0"/>
              <a:tblGrid>
                <a:gridCol w="2103120"/>
                <a:gridCol w="960120"/>
                <a:gridCol w="896112"/>
              </a:tblGrid>
              <a:tr h="603504">
                <a:tc>
                  <a:txBody>
                    <a:bodyPr wrap="square"/>
                    <a:lstStyle/>
                    <a:p>
                      <a:pPr algn="l"/>
                      <a:r>
                        <a:rPr sz="1400" b="1">
                          <a:solidFill>
                            <a:srgbClr val="FFFFFF"/>
                          </a:solidFill>
                          <a:latin typeface="Poppins"/>
                        </a:rPr>
                        <a:t>Launch offer</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FY1–FY3 cost</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Cash low</a:t>
                      </a:r>
                    </a:p>
                  </a:txBody>
                  <a:tcPr marL="109728" marR="109728" marT="36576" marB="36576" anchor="ctr">
                    <a:lnL w="0">
                      <a:noFill/>
                    </a:lnL>
                    <a:lnR w="0">
                      <a:noFill/>
                    </a:lnR>
                    <a:lnT w="0">
                      <a:noFill/>
                    </a:lnT>
                    <a:lnB w="0">
                      <a:noFill/>
                    </a:lnB>
                    <a:solidFill>
                      <a:srgbClr val="0F1419"/>
                    </a:solidFill>
                  </a:tcPr>
                </a:tc>
              </a:tr>
              <a:tr h="457200">
                <a:tc>
                  <a:txBody>
                    <a:bodyPr wrap="square"/>
                    <a:lstStyle/>
                    <a:p>
                      <a:pPr algn="l"/>
                      <a:r>
                        <a:rPr sz="1400" b="1">
                          <a:solidFill>
                            <a:srgbClr val="20242B"/>
                          </a:solidFill>
                          <a:latin typeface="Inter"/>
                        </a:rPr>
                        <a:t>B · Founding Member</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400" b="0">
                          <a:solidFill>
                            <a:srgbClr val="20242B"/>
                          </a:solidFill>
                          <a:latin typeface="Inter"/>
                        </a:rPr>
                        <a:t>R190.6k</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400" b="0">
                          <a:solidFill>
                            <a:srgbClr val="20242B"/>
                          </a:solidFill>
                          <a:latin typeface="Inter"/>
                        </a:rPr>
                        <a:t>R7.96M</a:t>
                      </a:r>
                    </a:p>
                  </a:txBody>
                  <a:tcPr marL="109728" marR="109728" marT="36576" marB="36576" anchor="ctr">
                    <a:lnL w="0">
                      <a:noFill/>
                    </a:lnL>
                    <a:lnR w="0">
                      <a:noFill/>
                    </a:lnR>
                    <a:lnT w="0">
                      <a:noFill/>
                    </a:lnT>
                    <a:lnB w="12700">
                      <a:solidFill>
                        <a:srgbClr val="E3E6EA"/>
                      </a:solidFill>
                    </a:lnB>
                    <a:solidFill>
                      <a:srgbClr val="FFF4EB"/>
                    </a:solidFill>
                  </a:tcPr>
                </a:tc>
              </a:tr>
              <a:tr h="457200">
                <a:tc>
                  <a:txBody>
                    <a:bodyPr wrap="square"/>
                    <a:lstStyle/>
                    <a:p>
                      <a:pPr algn="l"/>
                      <a:r>
                        <a:rPr sz="1400" b="1">
                          <a:solidFill>
                            <a:srgbClr val="20242B"/>
                          </a:solidFill>
                          <a:latin typeface="Inter"/>
                        </a:rPr>
                        <a:t>A · Launch Sprint</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R63.1k</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R7.94M</a:t>
                      </a:r>
                    </a:p>
                  </a:txBody>
                  <a:tcPr marL="109728" marR="109728" marT="36576" marB="36576" anchor="ctr">
                    <a:lnL w="0">
                      <a:noFill/>
                    </a:lnL>
                    <a:lnR w="0">
                      <a:noFill/>
                    </a:lnR>
                    <a:lnT w="0">
                      <a:noFill/>
                    </a:lnT>
                    <a:lnB w="12700">
                      <a:solidFill>
                        <a:srgbClr val="E3E6EA"/>
                      </a:solidFill>
                    </a:lnB>
                    <a:solidFill>
                      <a:srgbClr val="FFFFFF"/>
                    </a:solidFill>
                  </a:tcPr>
                </a:tc>
              </a:tr>
              <a:tr h="457200">
                <a:tc>
                  <a:txBody>
                    <a:bodyPr wrap="square"/>
                    <a:lstStyle/>
                    <a:p>
                      <a:pPr algn="l"/>
                      <a:r>
                        <a:rPr sz="1400" b="1">
                          <a:solidFill>
                            <a:srgbClr val="20242B"/>
                          </a:solidFill>
                          <a:latin typeface="Inter"/>
                        </a:rPr>
                        <a:t>None</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R0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R7.82M</a:t>
                      </a:r>
                    </a:p>
                  </a:txBody>
                  <a:tcPr marL="109728" marR="109728" marT="36576" marB="36576" anchor="ctr">
                    <a:lnL w="0">
                      <a:noFill/>
                    </a:lnL>
                    <a:lnR w="0">
                      <a:noFill/>
                    </a:lnR>
                    <a:lnT w="0">
                      <a:noFill/>
                    </a:lnT>
                    <a:lnB w="12700">
                      <a:solidFill>
                        <a:srgbClr val="E3E6EA"/>
                      </a:solidFill>
                    </a:lnB>
                    <a:solidFill>
                      <a:srgbClr val="FFFFFF"/>
                    </a:solidFill>
                  </a:tcPr>
                </a:tc>
              </a:tr>
            </a:tbl>
          </a:graphicData>
        </a:graphic>
      </p:graphicFrame>
      <p:sp>
        <p:nvSpPr>
          <p:cNvPr id="6" name="g198|body|"/>
          <p:cNvSpPr txBox="1"/>
          <p:nvPr/>
        </p:nvSpPr>
        <p:spPr>
          <a:xfrm>
            <a:off x="7680960" y="3611880"/>
            <a:ext cx="3959352" cy="1005840"/>
          </a:xfrm>
          <a:prstGeom prst="rect">
            <a:avLst/>
          </a:prstGeom>
          <a:noFill/>
        </p:spPr>
        <p:txBody>
          <a:bodyPr wrap="square" lIns="0" rIns="0" tIns="0" bIns="0" anchor="t">
            <a:noAutofit/>
          </a:bodyPr>
          <a:lstStyle/>
          <a:p>
            <a:pPr algn="l"/>
            <a:r>
              <a:rPr sz="1400" b="0">
                <a:solidFill>
                  <a:srgbClr val="20242B"/>
                </a:solidFill>
                <a:latin typeface="Inter"/>
              </a:rPr>
              <a:t>All three options remain profitable on R25M. B is the only offer used in external materials.</a:t>
            </a:r>
          </a:p>
        </p:txBody>
      </p:sp>
      <p:sp>
        <p:nvSpPr>
          <p:cNvPr id="7" name="g199|body|"/>
          <p:cNvSpPr txBox="1"/>
          <p:nvPr/>
        </p:nvSpPr>
        <p:spPr>
          <a:xfrm>
            <a:off x="548640" y="4846320"/>
            <a:ext cx="6949440" cy="1234440"/>
          </a:xfrm>
          <a:prstGeom prst="rect">
            <a:avLst/>
          </a:prstGeom>
          <a:noFill/>
        </p:spPr>
        <p:txBody>
          <a:bodyPr wrap="square" lIns="0" rIns="0" tIns="0" bIns="0" anchor="t">
            <a:noAutofit/>
          </a:bodyPr>
          <a:lstStyle/>
          <a:p>
            <a:pPr algn="l"/>
            <a:r>
              <a:rPr sz="1400" b="0">
                <a:solidFill>
                  <a:srgbClr val="20242B"/>
                </a:solidFill>
                <a:latin typeface="Inter"/>
              </a:rPr>
              <a:t>Founding Member costs R26k in FY1, R119k in FY2 and R45k in FY3, never more than 1.3% of gross subscriptions. FY1 also carries R13.6k of pilot discounts. The +20% sign-up uplift is an assumption to test.</a:t>
            </a:r>
          </a:p>
        </p:txBody>
      </p:sp>
      <p:sp>
        <p:nvSpPr>
          <p:cNvPr id="8"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Confidential</a:t>
            </a:r>
          </a:p>
        </p:txBody>
      </p:sp>
      <p:sp>
        <p:nvSpPr>
          <p:cNvPr id="9"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29</a:t>
            </a:fld>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200|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APPENDIX A7 · INTERNAL ONLY · HIDE BEFORE SENDING</a:t>
            </a:r>
          </a:p>
        </p:txBody>
      </p:sp>
      <p:sp>
        <p:nvSpPr>
          <p:cNvPr id="3" name="hdr200|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Founder confirmations still open</a:t>
            </a:r>
          </a:p>
        </p:txBody>
      </p:sp>
      <p:graphicFrame>
        <p:nvGraphicFramePr>
          <p:cNvPr id="4" name="g201|table|confirm0"/>
          <p:cNvGraphicFramePr>
            <a:graphicFrameLocks noGrp="1"/>
          </p:cNvGraphicFramePr>
          <p:nvPr/>
        </p:nvGraphicFramePr>
        <p:xfrm>
          <a:off x="548640" y="1417320"/>
          <a:ext cx="5440680" cy="4315968"/>
        </p:xfrm>
        <a:graphic>
          <a:graphicData uri="http://schemas.openxmlformats.org/drawingml/2006/table">
            <a:tbl>
              <a:tblPr firstRow="0" bandRow="0"/>
              <a:tblGrid>
                <a:gridCol w="411480"/>
                <a:gridCol w="5029200"/>
              </a:tblGrid>
              <a:tr h="841248">
                <a:tc>
                  <a:txBody>
                    <a:bodyPr wrap="square"/>
                    <a:lstStyle/>
                    <a:p>
                      <a:pPr algn="l"/>
                      <a:r>
                        <a:rPr sz="1200" b="1">
                          <a:solidFill>
                            <a:srgbClr val="C24E00"/>
                          </a:solidFill>
                          <a:latin typeface="Inter"/>
                        </a:rPr>
                        <a:t>1</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200" b="0">
                          <a:solidFill>
                            <a:srgbClr val="20242B"/>
                          </a:solidFill>
                          <a:latin typeface="Inter"/>
                        </a:rPr>
                        <a:t>Opening cash at 1 Oct 2026 (default R500,000) and how to cover the R57,528 pre-seed bridge if the seed lands Feb 2027 (founder loan, pilot prepayments or an earlier close).</a:t>
                      </a:r>
                    </a:p>
                  </a:txBody>
                  <a:tcPr marL="109728" marR="109728" marT="36576" marB="36576" anchor="ctr">
                    <a:lnL w="0">
                      <a:noFill/>
                    </a:lnL>
                    <a:lnR w="0">
                      <a:noFill/>
                    </a:lnR>
                    <a:lnT w="0">
                      <a:noFill/>
                    </a:lnT>
                    <a:lnB w="12700">
                      <a:solidFill>
                        <a:srgbClr val="E3E6EA"/>
                      </a:solidFill>
                    </a:lnB>
                    <a:solidFill>
                      <a:srgbClr val="FFFFFF"/>
                    </a:solidFill>
                  </a:tcPr>
                </a:tc>
              </a:tr>
              <a:tr h="475488">
                <a:tc>
                  <a:txBody>
                    <a:bodyPr wrap="square"/>
                    <a:lstStyle/>
                    <a:p>
                      <a:pPr algn="l"/>
                      <a:r>
                        <a:rPr sz="1200" b="1">
                          <a:solidFill>
                            <a:srgbClr val="C24E00"/>
                          </a:solidFill>
                          <a:latin typeface="Inter"/>
                        </a:rPr>
                        <a:t>2</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200" b="0">
                          <a:solidFill>
                            <a:srgbClr val="20242B"/>
                          </a:solidFill>
                          <a:latin typeface="Inter"/>
                        </a:rPr>
                        <a:t>Seed close month (Feb 2027) and instrument (SAFE vs priced equity).</a:t>
                      </a:r>
                    </a:p>
                  </a:txBody>
                  <a:tcPr marL="109728" marR="109728" marT="36576" marB="36576" anchor="ctr">
                    <a:lnL w="0">
                      <a:noFill/>
                    </a:lnL>
                    <a:lnR w="0">
                      <a:noFill/>
                    </a:lnR>
                    <a:lnT w="0">
                      <a:noFill/>
                    </a:lnT>
                    <a:lnB w="12700">
                      <a:solidFill>
                        <a:srgbClr val="E3E6EA"/>
                      </a:solidFill>
                    </a:lnB>
                    <a:solidFill>
                      <a:srgbClr val="FFFFFF"/>
                    </a:solidFill>
                  </a:tcPr>
                </a:tc>
              </a:tr>
              <a:tr h="658368">
                <a:tc>
                  <a:txBody>
                    <a:bodyPr wrap="square"/>
                    <a:lstStyle/>
                    <a:p>
                      <a:pPr algn="l"/>
                      <a:r>
                        <a:rPr sz="1200" b="1">
                          <a:solidFill>
                            <a:srgbClr val="C24E00"/>
                          </a:solidFill>
                          <a:latin typeface="Inter"/>
                        </a:rPr>
                        <a:t>3</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200" b="0">
                          <a:solidFill>
                            <a:srgbClr val="20242B"/>
                          </a:solidFill>
                          <a:latin typeface="Inter"/>
                        </a:rPr>
                        <a:t>Pilot conversion rate (75%) and the segment mix of the 12 pilot brands (Solo 40% / SME 45% / Agency 15%).</a:t>
                      </a:r>
                    </a:p>
                  </a:txBody>
                  <a:tcPr marL="109728" marR="109728" marT="36576" marB="36576" anchor="ctr">
                    <a:lnL w="0">
                      <a:noFill/>
                    </a:lnL>
                    <a:lnR w="0">
                      <a:noFill/>
                    </a:lnR>
                    <a:lnT w="0">
                      <a:noFill/>
                    </a:lnT>
                    <a:lnB w="12700">
                      <a:solidFill>
                        <a:srgbClr val="E3E6EA"/>
                      </a:solidFill>
                    </a:lnB>
                    <a:solidFill>
                      <a:srgbClr val="FFFFFF"/>
                    </a:solidFill>
                  </a:tcPr>
                </a:tc>
              </a:tr>
              <a:tr h="658368">
                <a:tc>
                  <a:txBody>
                    <a:bodyPr wrap="square"/>
                    <a:lstStyle/>
                    <a:p>
                      <a:pPr algn="l"/>
                      <a:r>
                        <a:rPr sz="1200" b="1">
                          <a:solidFill>
                            <a:srgbClr val="C24E00"/>
                          </a:solidFill>
                          <a:latin typeface="Inter"/>
                        </a:rPr>
                        <a:t>4</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200" b="0">
                          <a:solidFill>
                            <a:srgbClr val="20242B"/>
                          </a:solidFill>
                          <a:latin typeface="Inter"/>
                        </a:rPr>
                        <a:t>Founding Member sign-up uplift inside launch windows (+20%) and the perks duration (badge, priority support).</a:t>
                      </a:r>
                    </a:p>
                  </a:txBody>
                  <a:tcPr marL="109728" marR="109728" marT="36576" marB="36576" anchor="ctr">
                    <a:lnL w="0">
                      <a:noFill/>
                    </a:lnL>
                    <a:lnR w="0">
                      <a:noFill/>
                    </a:lnR>
                    <a:lnT w="0">
                      <a:noFill/>
                    </a:lnT>
                    <a:lnB w="12700">
                      <a:solidFill>
                        <a:srgbClr val="E3E6EA"/>
                      </a:solidFill>
                    </a:lnB>
                    <a:solidFill>
                      <a:srgbClr val="FFFFFF"/>
                    </a:solidFill>
                  </a:tcPr>
                </a:tc>
              </a:tr>
              <a:tr h="841248">
                <a:tc>
                  <a:txBody>
                    <a:bodyPr wrap="square"/>
                    <a:lstStyle/>
                    <a:p>
                      <a:pPr algn="l"/>
                      <a:r>
                        <a:rPr sz="1200" b="1">
                          <a:solidFill>
                            <a:srgbClr val="C24E00"/>
                          </a:solidFill>
                          <a:latin typeface="Inter"/>
                        </a:rPr>
                        <a:t>5</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200" b="0">
                          <a:solidFill>
                            <a:srgbClr val="20242B"/>
                          </a:solidFill>
                          <a:latin typeface="Inter"/>
                        </a:rPr>
                        <a:t>FX depreciation assumptions vs ZAR (NGN -10%, GHS -8%, KES -3%, USD 0% a year) and the quarterly repricing policy (reprice at &gt;10% drift, one-quarter lag).</a:t>
                      </a:r>
                    </a:p>
                  </a:txBody>
                  <a:tcPr marL="109728" marR="109728" marT="36576" marB="36576" anchor="ctr">
                    <a:lnL w="0">
                      <a:noFill/>
                    </a:lnL>
                    <a:lnR w="0">
                      <a:noFill/>
                    </a:lnR>
                    <a:lnT w="0">
                      <a:noFill/>
                    </a:lnT>
                    <a:lnB w="12700">
                      <a:solidFill>
                        <a:srgbClr val="E3E6EA"/>
                      </a:solidFill>
                    </a:lnB>
                    <a:solidFill>
                      <a:srgbClr val="FFFFFF"/>
                    </a:solidFill>
                  </a:tcPr>
                </a:tc>
              </a:tr>
              <a:tr h="841248">
                <a:tc>
                  <a:txBody>
                    <a:bodyPr wrap="square"/>
                    <a:lstStyle/>
                    <a:p>
                      <a:pPr algn="l"/>
                      <a:r>
                        <a:rPr sz="1200" b="1">
                          <a:solidFill>
                            <a:srgbClr val="C24E00"/>
                          </a:solidFill>
                          <a:latin typeface="Inter"/>
                        </a:rPr>
                        <a:t>6</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200" b="0">
                          <a:solidFill>
                            <a:srgbClr val="20242B"/>
                          </a:solidFill>
                          <a:latin typeface="Inter"/>
                        </a:rPr>
                        <a:t>Partner referral commission % for clients a partner refers onto their own plans (not modelled), and whether 100% of agency customers buy at partner wholesale.</a:t>
                      </a:r>
                    </a:p>
                  </a:txBody>
                  <a:tcPr marL="109728" marR="109728" marT="36576" marB="36576" anchor="ctr">
                    <a:lnL w="0">
                      <a:noFill/>
                    </a:lnL>
                    <a:lnR w="0">
                      <a:noFill/>
                    </a:lnR>
                    <a:lnT w="0">
                      <a:noFill/>
                    </a:lnT>
                    <a:lnB w="12700">
                      <a:solidFill>
                        <a:srgbClr val="E3E6EA"/>
                      </a:solidFill>
                    </a:lnB>
                    <a:solidFill>
                      <a:srgbClr val="FFFFFF"/>
                    </a:solidFill>
                  </a:tcPr>
                </a:tc>
              </a:tr>
            </a:tbl>
          </a:graphicData>
        </a:graphic>
      </p:graphicFrame>
      <p:graphicFrame>
        <p:nvGraphicFramePr>
          <p:cNvPr id="5" name="g202|table|confirm1"/>
          <p:cNvGraphicFramePr>
            <a:graphicFrameLocks noGrp="1"/>
          </p:cNvGraphicFramePr>
          <p:nvPr/>
        </p:nvGraphicFramePr>
        <p:xfrm>
          <a:off x="6202375" y="1417320"/>
          <a:ext cx="5440680" cy="4425696"/>
        </p:xfrm>
        <a:graphic>
          <a:graphicData uri="http://schemas.openxmlformats.org/drawingml/2006/table">
            <a:tbl>
              <a:tblPr firstRow="0" bandRow="0"/>
              <a:tblGrid>
                <a:gridCol w="411480"/>
                <a:gridCol w="5029200"/>
              </a:tblGrid>
              <a:tr h="658368">
                <a:tc>
                  <a:txBody>
                    <a:bodyPr wrap="square"/>
                    <a:lstStyle/>
                    <a:p>
                      <a:pPr algn="l"/>
                      <a:r>
                        <a:rPr sz="1200" b="1">
                          <a:solidFill>
                            <a:srgbClr val="C24E00"/>
                          </a:solidFill>
                          <a:latin typeface="Inter"/>
                        </a:rPr>
                        <a:t>7</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200" b="0">
                          <a:solidFill>
                            <a:srgbClr val="20242B"/>
                          </a:solidFill>
                          <a:latin typeface="Inter"/>
                        </a:rPr>
                        <a:t>Commerce platform fee (0.75% of WhatsApp-checkout GMV): Upside only and not in current pricing.</a:t>
                      </a:r>
                    </a:p>
                  </a:txBody>
                  <a:tcPr marL="109728" marR="109728" marT="36576" marB="36576" anchor="ctr">
                    <a:lnL w="0">
                      <a:noFill/>
                    </a:lnL>
                    <a:lnR w="0">
                      <a:noFill/>
                    </a:lnR>
                    <a:lnT w="0">
                      <a:noFill/>
                    </a:lnT>
                    <a:lnB w="12700">
                      <a:solidFill>
                        <a:srgbClr val="E3E6EA"/>
                      </a:solidFill>
                    </a:lnB>
                    <a:solidFill>
                      <a:srgbClr val="FFFFFF"/>
                    </a:solidFill>
                  </a:tcPr>
                </a:tc>
              </a:tr>
              <a:tr h="841248">
                <a:tc>
                  <a:txBody>
                    <a:bodyPr wrap="square"/>
                    <a:lstStyle/>
                    <a:p>
                      <a:pPr algn="l"/>
                      <a:r>
                        <a:rPr sz="1200" b="1">
                          <a:solidFill>
                            <a:srgbClr val="C24E00"/>
                          </a:solidFill>
                          <a:latin typeface="Inter"/>
                        </a:rPr>
                        <a:t>8</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200" b="0">
                          <a:solidFill>
                            <a:srgbClr val="20242B"/>
                          </a:solidFill>
                          <a:latin typeface="Inter"/>
                        </a:rPr>
                        <a:t>Cost-discipline rules: MRR gates per hire and launch, the scenario gate multipliers, the paid-acquisition cap (35% of MRR in Base) and the 12-month CAC payback limit.</a:t>
                      </a:r>
                    </a:p>
                  </a:txBody>
                  <a:tcPr marL="109728" marR="109728" marT="36576" marB="36576" anchor="ctr">
                    <a:lnL w="0">
                      <a:noFill/>
                    </a:lnL>
                    <a:lnR w="0">
                      <a:noFill/>
                    </a:lnR>
                    <a:lnT w="0">
                      <a:noFill/>
                    </a:lnT>
                    <a:lnB w="12700">
                      <a:solidFill>
                        <a:srgbClr val="E3E6EA"/>
                      </a:solidFill>
                    </a:lnB>
                    <a:solidFill>
                      <a:srgbClr val="FFFFFF"/>
                    </a:solidFill>
                  </a:tcPr>
                </a:tc>
              </a:tr>
              <a:tr h="658368">
                <a:tc>
                  <a:txBody>
                    <a:bodyPr wrap="square"/>
                    <a:lstStyle/>
                    <a:p>
                      <a:pPr algn="l"/>
                      <a:r>
                        <a:rPr sz="1200" b="1">
                          <a:solidFill>
                            <a:srgbClr val="C24E00"/>
                          </a:solidFill>
                          <a:latin typeface="Inter"/>
                        </a:rPr>
                        <a:t>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200" b="0">
                          <a:solidFill>
                            <a:srgbClr val="20242B"/>
                          </a:solidFill>
                          <a:latin typeface="Inter"/>
                        </a:rPr>
                        <a:t>Salaries and hiring plan (cost-to-company per role), including founders' reduced salaries.</a:t>
                      </a:r>
                    </a:p>
                  </a:txBody>
                  <a:tcPr marL="109728" marR="109728" marT="36576" marB="36576" anchor="ctr">
                    <a:lnL w="0">
                      <a:noFill/>
                    </a:lnL>
                    <a:lnR w="0">
                      <a:noFill/>
                    </a:lnR>
                    <a:lnT w="0">
                      <a:noFill/>
                    </a:lnT>
                    <a:lnB w="12700">
                      <a:solidFill>
                        <a:srgbClr val="E3E6EA"/>
                      </a:solidFill>
                    </a:lnB>
                    <a:solidFill>
                      <a:srgbClr val="FFFFFF"/>
                    </a:solidFill>
                  </a:tcPr>
                </a:tc>
              </a:tr>
              <a:tr h="658368">
                <a:tc>
                  <a:txBody>
                    <a:bodyPr wrap="square"/>
                    <a:lstStyle/>
                    <a:p>
                      <a:pPr algn="l"/>
                      <a:r>
                        <a:rPr sz="1200" b="1">
                          <a:solidFill>
                            <a:srgbClr val="C24E00"/>
                          </a:solidFill>
                          <a:latin typeface="Inter"/>
                        </a:rPr>
                        <a:t>10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200" b="0">
                          <a:solidFill>
                            <a:srgbClr val="20242B"/>
                          </a:solidFill>
                          <a:latin typeface="Inter"/>
                        </a:rPr>
                        <a:t>Country launch plan months, launch marketing and local compliance budgets for Nigeria, Kenya and Ghana; Rest-of-Africa launch gate.</a:t>
                      </a:r>
                    </a:p>
                  </a:txBody>
                  <a:tcPr marL="109728" marR="109728" marT="36576" marB="36576" anchor="ctr">
                    <a:lnL w="0">
                      <a:noFill/>
                    </a:lnL>
                    <a:lnR w="0">
                      <a:noFill/>
                    </a:lnR>
                    <a:lnT w="0">
                      <a:noFill/>
                    </a:lnT>
                    <a:lnB w="12700">
                      <a:solidFill>
                        <a:srgbClr val="E3E6EA"/>
                      </a:solidFill>
                    </a:lnB>
                    <a:solidFill>
                      <a:srgbClr val="FFFFFF"/>
                    </a:solidFill>
                  </a:tcPr>
                </a:tc>
              </a:tr>
              <a:tr h="658368">
                <a:tc>
                  <a:txBody>
                    <a:bodyPr wrap="square"/>
                    <a:lstStyle/>
                    <a:p>
                      <a:pPr algn="l"/>
                      <a:r>
                        <a:rPr sz="1200" b="1">
                          <a:solidFill>
                            <a:srgbClr val="C24E00"/>
                          </a:solidFill>
                          <a:latin typeface="Inter"/>
                        </a:rPr>
                        <a:t>11</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200" b="0">
                          <a:solidFill>
                            <a:srgbClr val="20242B"/>
                          </a:solidFill>
                          <a:latin typeface="Inter"/>
                        </a:rPr>
                        <a:t>Whether South Sudan and Zimbabwe can collect subscriptions via Fincra (they are inside the 19-country USD row).</a:t>
                      </a:r>
                    </a:p>
                  </a:txBody>
                  <a:tcPr marL="109728" marR="109728" marT="36576" marB="36576" anchor="ctr">
                    <a:lnL w="0">
                      <a:noFill/>
                    </a:lnL>
                    <a:lnR w="0">
                      <a:noFill/>
                    </a:lnR>
                    <a:lnT w="0">
                      <a:noFill/>
                    </a:lnT>
                    <a:lnB w="12700">
                      <a:solidFill>
                        <a:srgbClr val="E3E6EA"/>
                      </a:solidFill>
                    </a:lnB>
                    <a:solidFill>
                      <a:srgbClr val="FFFFFF"/>
                    </a:solidFill>
                  </a:tcPr>
                </a:tc>
              </a:tr>
              <a:tr h="475488">
                <a:tc>
                  <a:txBody>
                    <a:bodyPr wrap="square"/>
                    <a:lstStyle/>
                    <a:p>
                      <a:pPr algn="l"/>
                      <a:r>
                        <a:rPr sz="1200" b="1">
                          <a:solidFill>
                            <a:srgbClr val="C24E00"/>
                          </a:solidFill>
                          <a:latin typeface="Inter"/>
                        </a:rPr>
                        <a:t>12</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200" b="0">
                          <a:solidFill>
                            <a:srgbClr val="20242B"/>
                          </a:solidFill>
                          <a:latin typeface="Inter"/>
                        </a:rPr>
                        <a:t>Inbound enterprise deal volume (FY1 1, then 2/4/6/8 a year).</a:t>
                      </a:r>
                    </a:p>
                  </a:txBody>
                  <a:tcPr marL="109728" marR="109728" marT="36576" marB="36576" anchor="ctr">
                    <a:lnL w="0">
                      <a:noFill/>
                    </a:lnL>
                    <a:lnR w="0">
                      <a:noFill/>
                    </a:lnR>
                    <a:lnT w="0">
                      <a:noFill/>
                    </a:lnT>
                    <a:lnB w="12700">
                      <a:solidFill>
                        <a:srgbClr val="E3E6EA"/>
                      </a:solidFill>
                    </a:lnB>
                    <a:solidFill>
                      <a:srgbClr val="FFFFFF"/>
                    </a:solidFill>
                  </a:tcPr>
                </a:tc>
              </a:tr>
              <a:tr h="475488">
                <a:tc>
                  <a:txBody>
                    <a:bodyPr wrap="square"/>
                    <a:lstStyle/>
                    <a:p>
                      <a:pPr algn="l"/>
                      <a:r>
                        <a:rPr sz="1200" b="1">
                          <a:solidFill>
                            <a:srgbClr val="C24E00"/>
                          </a:solidFill>
                          <a:latin typeface="Inter"/>
                        </a:rPr>
                        <a:t>13</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200" b="0">
                          <a:solidFill>
                            <a:srgbClr val="20242B"/>
                          </a:solidFill>
                          <a:latin typeface="Inter"/>
                        </a:rPr>
                        <a:t>Market-sizing estimates (TAM/SAM/SOM) before external use.</a:t>
                      </a:r>
                    </a:p>
                  </a:txBody>
                  <a:tcPr marL="109728" marR="109728" marT="36576" marB="36576" anchor="ctr">
                    <a:lnL w="0">
                      <a:noFill/>
                    </a:lnL>
                    <a:lnR w="0">
                      <a:noFill/>
                    </a:lnR>
                    <a:lnT w="0">
                      <a:noFill/>
                    </a:lnT>
                    <a:lnB w="12700">
                      <a:solidFill>
                        <a:srgbClr val="E3E6EA"/>
                      </a:solidFill>
                    </a:lnB>
                    <a:solidFill>
                      <a:srgbClr val="FFFFFF"/>
                    </a:solidFill>
                  </a:tcPr>
                </a:tc>
              </a:tr>
            </a:tbl>
          </a:graphicData>
        </a:graphic>
      </p:graphicFrame>
      <p:sp>
        <p:nvSpPr>
          <p:cNvPr id="6"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Confidential</a:t>
            </a:r>
          </a:p>
        </p:txBody>
      </p:sp>
      <p:sp>
        <p:nvSpPr>
          <p:cNvPr id="7"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30</a:t>
            </a:fld>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Poppins"/>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Inter"/>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FluxMuse investor pitch deck: R25M seed</dc:title>
  <dc:subject>Seed round, confidential</dc:subject>
  <dc:creator>Fluxmuse Pty Ltd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