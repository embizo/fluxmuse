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FluxMuse, built by Fluxmuse (Pty) Ltd in South Africa, gives small businesses an AI marketing team and a shop that runs on WhatsApp. The product is newly launched in South Africa. We have no paying customers yet, and we say so up front. We are raising a R46M seed, about US$2.49M. In the base case of our model this round carries the company to profitability with no Series A; the upside case passes too, the conservative case does not, and the headroom is thin. Every figure is from financial model v3, dated 2026-10-05. Sources: 00_FACTS_AND_ASSUMPTIONS.md; 08_Prospects/CURRENT_OFFER.md; 06_Financial_Model/Financial_Model_Notes.md. Replace [[DATE]] before sending.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how small businesses in South Africa actually sell. Buyers find them on Facebook, Instagram, TikTok or a WhatsApp Status, then ask questions, order and pay in chat, and the owner handles every message by hand. Owners rarely have the time or budget for marketing, so posting is patchy and agency retainers are out of reach. The catalogue is a photo album and the order book is a chat thread. We show no market statistics here on purpose: this framing comes from our segment work, and we will measure it with the first group of businesses we set up by hand. Sources: 00_FACTS_AND_ASSUMPTIONS.md; CURRENT_OFFER.md §3 and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is one loop, run from WhatsApp. The owner sends product photos; the Concierge drafts the catalogue entry and the owner replies yes, no or edit. A hosted shop link sends each order to the owner's own WhatsApp, and they reply SOLD. The POST keyword returns a caption and image ready for WhatsApp Status; short video clips, voice-note transcription and answers in the customer's language are live too. All of this is newly launched, and no merchant has run it end to end yet. Facebook and Instagram auto-publishing wait on Meta permissions. Sources: CURRENT_OFFER.md §3; 00_FACTS_AND_ASSUMPTIONS.md.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product as it stands, with an honest status column taken from the current offer. Live and newly launched: the WhatsApp Concierge, hosted shop link, order alerts and SOLD, AI captions, images, short video and voice-note transcription, WhatsApp Business setup and consented broadcasts, and TikTok video posting. Being switched on: Facebook and Instagram auto-publishing, which waits on Meta permissions, checkout through FluxMuse, which is built but not yet tested with real money, AI Voice in beta, and the daily digest. Not available: Instagram DMs and comments, X posting, and checkout outside South Africa. Sources: CURRENT_OFFER.md §3; infographic platform-stack.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Africa, and why now. WhatsApp is where commerce already happens: more than 90% of internet users in South Africa and Nigeria use it (DataReportal 2025 est.), and Sub-Saharan Africa handles about 70% of global mobile money value (GSMA est.). There are roughly 44 million MSMEs in the region. We size a serviceable market of about 3.5 million digitally active small businesses across the African markets our payment partners can reach, and an obtainable share of 0.5%, or 17,500 paying workspaces. The base case needs 4,627. These are estimates to verify before external use. Sources: 00_FACTS_AND_ASSUMPTIONS.md §5; model_summary.json → market_sizing.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is mainly subscriptions, priced in rands in three bands. Small: a permanent Free plan, Nano at R149 and Micro at R289. Medium: Starter R499, Growth R1,999 and Scale R4,999. Enterprise: Corporate R6,999, Agency R9,999 and Custom by consultation. Annual is ten times monthly, and every paid plan starts with payment. Agencies resell at partner wholesale of R6,999. In FY5 the model books R84.7M of net subscriptions out of R93.5M of total revenue. Sources: CURRENT_OFFER.md §1; model_summary.json → price_tables; Financial_Model_Notes.md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sell in South Africa now, to three segments. Solo sellers start self-serve on Nano or Micro, with the Free plan as an on-ramp, not a trial. SMEs start on Starter or Growth with a guided call. Agencies are our partner channel at wholesale, and we demo on a client's own public catalogue. We are opening with a small first group of businesses and setting each one up by hand. Nigeria, Kenya and Ghana are priced but not on sale: checkout there waits for the Fincra and pawaPay accounts. The model opens them in Oct 2028, Jan 2029 and Apr 2029. Sources: CURRENT_OFFER.md §3 and §4; model_summary.json → markets.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Payments, stated plainly. Paystack is live in South Africa, and Yoco and Ozow run FluxMuse's own subscription billing. Checkout through FluxMuse for merchants is built but not yet tested end to end with real money, so we describe it as being switched on. pawaPay and Fincra are contracted for expansion, but the accounts are pending, so there is no paid checkout in Nigeria, Kenya, Ghana or anywhere outside South Africa yet. Card fees are Paystack's standard fee, passed through, with no FluxMuse fee on top. Getting these rails live is part of what the expansion money buys. Sources: CURRENT_OFFER.md §2 to §4; infographic payment-coverage-map_dark.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real today. Fluxmuse (Pty) Ltd is a verified Meta Tech Provider. The product is live in South Africa and newly launched, and Paystack is live there. TikTok video posting is approved; Facebook and Instagram publishing wait on Meta. We have no paying customers, no pilot and no results, and we do not show any. We are opening with a small first group of businesses and setting each up by hand. The offer is backed by a lead guarantee: three qualified leads in 30 days of go-live, or extended support at no extra charge until they arrive. It is support, never cash. Sources: CURRENT_OFFER.md §2 to §4; 07_Case_Studies/ First_Group_Case_Studies.md.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position against categories, not named companies, and this map is our qualitative view, not measured data. Global social media tools are strong at publishing and analytics. WhatsApp business solution providers and chatbot vendors are strong at messaging infrastructure. E-commerce platforms are strong at storefronts. Local agencies bring service and local knowledge. FluxMuse aims for the top right: WhatsApp-first and priced in rands, with AI marketing and selling in one product. We treat agencies as a channel: they resell FluxMuse at the R6,999 partner wholesale price. Sources: 00_FACTS_AND_ASSUMPTIONS.md;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economics in FY3, all projections. Blended LTV is R19,908 against a blended CAC of R6,272, so LTV to CAC is 3.2 times and CAC pays back in 6.1 months. The honest weak spot is Solo: with shared marketing costs loaded, it is 0.7 times, so we grow Solo through the Free plan and upgrades rather than paid acquisition at scale. SMEs are 6.6 times and agencies 7.3. Every one of these figures is a projection (model v3, base case). Sources: model_summary.json → unit_economics_fy3; Financial_Model_Notes.md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five-year base case, net of the Founding Member discount, with no VAT. Revenue grows R1.9M, R9.5M, R25.5M, R54.1M, R93.5M from FY1 to FY5, about US$5.06M in the final year. Gross margin rises from 22% to 71% as AI cost per workspace falls. EBITDA is negative for 4 years, with the deepest loss of −R16.9M, and turns positive at R4.5M in FY5. Paying workspaces grow from 238 to 4,627. Every volume is an assumption: there are no customers yet. Sources: model_summary.json → annual; Financial_Model_Notes.md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 is sized to the model: R46M is the smallest passing seed of R45.1M, rounded up. It lands in Feb 2027. In the base case cash falls to R4.00M in Nov 2030, only R1.00M above our R3.0M buffer. Operating cash flow turns positive in Dec 2030 and EBITDA breaks even in Jan 2031. That is a long road and thin headroom. Gating protects it: hires and launches wait for MRR, and paid spend is capped. A pre-seed bridge of R66.3k is needed before close. Sources: model_summary.json → cash, seed_sizing; Financial_Model_Notes.md §1 and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plain about this slide. On R46M, base and upside pass our test; conservative does not. Conservative reaches R43.4M revenue in FY5, stays above zero, but drops below the buffer from May 2031 and never breaks even within the horizon. The base case headroom is thin: Free users upgrading at 0.25% a month instead of 0.5% breaks it, and so do sign-ups 15% below plan. A 15% stronger rand passes only if we reprice quarterly. Our response is to measure conversion from the first month and slow hiring gates early if it lags. Sources: model_summary.json → scenarios, constraint_checks, sensitivity_base, free_conversion_sensitivity, fx_shock; Financial_Model_Notes.md §2, §3, §6 and §10.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risks we would want an investor to probe. Demand is unproven: there are no paying customers, so conversion and sign-up volume are guesses until we measure them. Headroom is thin: a lower Free upgrade rate alone breaks the base case, and the conservative case fails on this seed. Meta has not yet approved Facebook and Instagram publishing. Only South Africa has live checkout, and expansion waits for pawaPay and Fincra. FX needs repricing discipline. Execution risk is managed by MRR-gated hiring. Sources: Financial_Model_Notes.md §6 and §10; CURRENT_OFFER.md §3; model_summary.json → free_conversion_sensitivity.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R46M, about US$2.49M, with instrument and valuation to be confirmed. It splits 40% product and engineering, R18.4M; 30% sales, marketing and partners, R13.8M; 15% Nigeria, Kenya and Ghana expansion with payments compliance; and 15% operations and working capital. The size is set by the model, not by appetite: it is the smallest seed at which the base case stays above our buffer, rounded up. In the base case the round carries us to profitability with no Series A; in the conservative case it does not. Sources: model_summary.json → use_of_funds, seed_sizing; 00_FACTS_AND_ASSUMPTIONS.md §7.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round buys, in order. We are a verified Meta Tech Provider, and selling opened in South Africa in October with Founding Member live. The model sets up a first group by hand from Oct 2026 - Jan 2027. Checkout through FluxMuse and Meta publishing are being switched on; the founder will set a target date. The seed closes in Feb 2027 in the model. Expansion needs the Fincra and pawaPay accounts live first; the model then opens Nigeria, Kenya and Ghana from Oct 2028 to Apr 2029, reaches operating cash flow positive in Dec 2030 and EBITDA break-even in Jan 2031. Sources: CURRENT_OFFER.md §3; model_summary.json → markets, cash.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founding team here: fill in the founder, co-founder and advisors, with one line on why each is right for this problem. The model runs lean before the seed, with two founders on reduced salaries. The seed then funds the hires in the table, each waiting for a monthly recurring revenue milestone: engineers, a Head of Growth, a partnerships manager and a customer success lead at close; design, AI and finance through 2027; country leads before each wave-1 launch; and senior leaders only once MRR supports them. Headcount reaches 13 by the end of FY1, 23 in FY2 and 70 in FY5. Sources: hiring plan in _build/fm_inputs.py (ROLES) applied to model_summary.json → monthly_base.subscription_mrr_net_zar, reconciled to monthly_base.headcount; annual[].headcount_end_fy.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ask and a clear next step. FluxMuse gives small businesses an AI marketing team and a shop on WhatsApp, newly launched in South Africa. In the model the R46M seed carries the base case to profitability with no Series A; upside passes, conservative does not, and we have shown why. Offer data-room access: the financial model and notes, Meta verification evidence and payment contracts. Agree a follow-up date before the meeting ends. Fill in [[PHONE]] and the data-room [[LINK]] before sending. Sources: model_summary.json → profitable_on_seed_alone (Conservative False, Base True, Upside True); CURRENT_OFFER.md §2 and §4; Investor_Deck_Guide.md.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supports questions and diligence; it is not part of the main talk track. A1 lists the model's key assumptions word for word from the model summary. A2 shows paying workspaces by segment and by market. A3 has the nine plans in rands, then local-currency prices for markets that are priced but not yet on sale. A4 shows payment rails by country, live and pending. A5 is the FX shock, and A6 the Founding Member discount cost. A7 lists founder confirmations still open: it is internal, so hide or delete it before the deck goes to any investor. Sources: model_summary.json; 00_FACTS_AND_ASSUMPTIONS.md; CURRENT_OFFER.md.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assumptions are copied word for word from the model summary, so they always match the workbook. This page covers timing &amp; cash, first group, sign-ups &amp; free plan, founding member, pricing. Items marked [[CONFIRM]] still wait for founder sign-off and are listed again in appendix A7. When an investor challenges a number in the deck, trace it here first, then to the Assumptions sheet in FluxMuse_Financial_Model.xlsx, where each input sits in its own cell with the Conservative, Base and Upside values side by side. The inputs to replace with live data first are the pay-at-sign-up rates, the Free upgrade rate and sign-up volume. Source: model_summary.json → key_assumptions[0–4]; Financial_Model_Notes.md §4 and §11.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assumptions are copied word for word from the model summary, so they always match the workbook. This page covers partner wholesale, segments, churn, markets, cost discipline. Items marked [[CONFIRM]] still wait for founder sign-off and are listed again in appendix A7. When an investor challenges a number in the deck, trace it here first, then to the Assumptions sheet in FluxMuse_Financial_Model.xlsx, where each input sits in its own cell with the Conservative, Base and Upside values side by side. The inputs to replace with live data first are the pay-at-sign-up rates, the Free upgrade rate and sign-up volume. Source: model_summary.json → key_assumptions[5–9]; Financial_Model_Notes.md §4 and §11.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assumptions are copied word for word from the model summary, so they always match the workbook. This page covers other revenue, cogs, funding &amp; tax. Items marked [[CONFIRM]] still wait for founder sign-off and are listed again in appendix A7. When an investor challenges a number in the deck, trace it here first, then to the Assumptions sheet in FluxMuse_Financial_Model.xlsx, where each input sits in its own cell with the Conservative, Base and Upside values side by side. The inputs to replace with live data first are the pay-at-sign-up rates, the Free upgrade rate and sign-up volume. Source: model_summary.json → key_assumptions[10–12]; Financial_Model_Notes.md §4 and §11.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views of the same projected customer base. By segment, solo sellers and SMEs make up almost all workspaces, with 203 agency partners, 24 Corporate customers and 8 Custom customers by FY5. By market, South Africa stays the core with 3,154 workspaces at the end of FY5. Every other market waits for its payment accounts and MRR gate, starting with Nigeria in Oct 2028 in the base case. There are no customers today; these are projections. Sources: model_summary.json → annual[].ending_customers_by_segment and ending_customers_by_market; Financial_Model_Notes.md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rand price list as live in the product. Small: Free, a permanent plan with no card, Nano R149 and Micro R289. Medium: Starter R499, Growth R1,999 and Scale R4,999. Enterprise: Corporate R6,999, Agency R9,999 and Custom by consultation, which the model books from R19,999. Annual is ten times monthly. Founding Members in South Africa pay, for example, R104 or R1,399 for their first two monthly bills. Agencies resell at partner wholesale of R6,999. We never quote AI credit allowances per plan. Sources: CURRENT_OFFER.md §1; model_summary.json → price_tables.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Local-currency prices for Nigeria, Kenya and Ghana, and USD for the 19 other markets our payment partners can reach. These are set in the product but not on sale: there is no paid checkout outside South Africa until the Fincra and pawaPay accounts are live. Prices were set at parity with the rand, using 1 ZAR = ₦82.83, KSh 8.07 and GH₵ 0.68. The product has no regional wholesale rows, so the model uses the Corporate local prices for partner wholesale, a point still to confirm. Prices are reviewed quarterly, which is the main FX control in appendix A5. Sources: CURRENT_OFFER.md §3; model_summary.json → price_tables; Financial_Model_Notes.md §4.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shows payment status by country, live and pending. South Africa is the only country open for paid sign-up: Paystack is live there, and Yoco and Ozow run FluxMuse's own subscription billing. Nigeria, Kenya and Ghana are priced in local currency but not yet on sale. pawaPay and Fincra are contracted for expansion, with accounts pending, and would cover most of the other countries shown. Botswana and Namibia have no provider yet. We do not claim coverage that is not live. Contracts and account status belong in the data room. Sources: CURRENT_OFFER.md §3 and §4; infographic payment-rails-matrix.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currency stress test. From April 2029 the rand is assumed 15% stronger against the naira, shilling, cedi and dollar, so every local price is worth less in rand. With quarterly repricing the cash low is R4.53M and the plan still passes. Without repricing, FY5 revenue moves −R7.4M, FY5 EBITDA turns negative and the cash low of R0.92M breaks the buffer, so the plan fails. Repricing discipline is the main FX control. Sources: model_summary.json → fx_shock; Financial_Model_Notes.md §6.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often ask whether the launch discount hurts the plan. It does not. Founding Member is 30% off the first two monthly bills for South African Solo and SME sign-ups. It is a discount, not a free period. It costs R32k of revenue, all in FY1. Because the model assumes a 20% sign-up uplift while it runs, it leaves slightly more cash than no offer. That uplift is unproven, so we will measure it. No offer is modelled for Nigeria, Kenya or Ghana. Sources: model_summary.json → founding_member; CURRENT_OFFER.md §1; Financial_Model_Notes.md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slide: hide or delete it before the deck goes to any investor. These are the model inputs and decisions the founder still has to confirm, copied from the model summary. The most urgent are opening cash and the pre-seed bridge, the seed close month and instrument, the pay-at-sign-up and Free upgrade rates, and the Founding Member end date. Market sizing must be verified before external use. Once a decision is made, update the Assumptions sheet, rebuild the model, rebuild this deck with build_investor_deck.py and rerun the QA script. Source: model_summary.json → founder_confirmations_needed; Financial_Model_Notes.md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26.png"/><Relationship Id="rId7" Type="http://schemas.openxmlformats.org/officeDocument/2006/relationships/image" Target="../media/image13.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1|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2|eyebrow|"/>
          <p:cNvSpPr txBox="1"/>
          <p:nvPr/>
        </p:nvSpPr>
        <p:spPr>
          <a:xfrm>
            <a:off x="548640" y="1828800"/>
            <a:ext cx="6035040" cy="274320"/>
          </a:xfrm>
          <a:prstGeom prst="rect">
            <a:avLst/>
          </a:prstGeom>
          <a:noFill/>
        </p:spPr>
        <p:txBody>
          <a:bodyPr wrap="square" lIns="0" rIns="0" tIns="0" bIns="0" anchor="t">
            <a:noAutofit/>
          </a:bodyPr>
          <a:lstStyle/>
          <a:p>
            <a:pPr algn="l"/>
            <a:r>
              <a:rPr sz="1300" b="1" spc="150">
                <a:solidFill>
                  <a:srgbClr val="FF6A00"/>
                </a:solidFill>
                <a:latin typeface="Inter"/>
              </a:rPr>
              <a:t>FLUXMUSE · INVESTOR PRESENTATION</a:t>
            </a:r>
          </a:p>
        </p:txBody>
      </p:sp>
      <p:sp>
        <p:nvSpPr>
          <p:cNvPr id="4" name="g3|title|"/>
          <p:cNvSpPr txBox="1"/>
          <p:nvPr/>
        </p:nvSpPr>
        <p:spPr>
          <a:xfrm>
            <a:off x="548640" y="2176272"/>
            <a:ext cx="5943600" cy="2011680"/>
          </a:xfrm>
          <a:prstGeom prst="rect">
            <a:avLst/>
          </a:prstGeom>
          <a:noFill/>
        </p:spPr>
        <p:txBody>
          <a:bodyPr wrap="square" lIns="0" rIns="0" tIns="0" bIns="0" anchor="t">
            <a:noAutofit/>
          </a:bodyPr>
          <a:lstStyle/>
          <a:p>
            <a:pPr algn="l">
              <a:lnSpc>
                <a:spcPct val="95000"/>
              </a:lnSpc>
            </a:pPr>
            <a:r>
              <a:rPr sz="3200" b="1">
                <a:solidFill>
                  <a:srgbClr val="FFFFFF"/>
                </a:solidFill>
                <a:latin typeface="Poppins"/>
              </a:rPr>
              <a:t>An AI marketing team and a WhatsApp shop for African small businesses</a:t>
            </a:r>
          </a:p>
        </p:txBody>
      </p:sp>
      <p:sp>
        <p:nvSpPr>
          <p:cNvPr id="5" name="g4|chip|"/>
          <p:cNvSpPr/>
          <p:nvPr/>
        </p:nvSpPr>
        <p:spPr>
          <a:xfrm>
            <a:off x="548640" y="4389120"/>
            <a:ext cx="3017520" cy="530352"/>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4|chip|"/>
          <p:cNvSpPr txBox="1"/>
          <p:nvPr/>
        </p:nvSpPr>
        <p:spPr>
          <a:xfrm>
            <a:off x="548640" y="4389120"/>
            <a:ext cx="3017520" cy="530352"/>
          </a:xfrm>
          <a:prstGeom prst="rect">
            <a:avLst/>
          </a:prstGeom>
          <a:noFill/>
        </p:spPr>
        <p:txBody>
          <a:bodyPr wrap="square" lIns="0" rIns="0" tIns="0" bIns="0" anchor="ctr">
            <a:noAutofit/>
          </a:bodyPr>
          <a:lstStyle/>
          <a:p>
            <a:pPr algn="ctr"/>
            <a:r>
              <a:rPr sz="1800" b="1">
                <a:solidFill>
                  <a:srgbClr val="0F1419"/>
                </a:solidFill>
                <a:latin typeface="Inter"/>
              </a:rPr>
              <a:t>Seed round · R46M</a:t>
            </a:r>
          </a:p>
        </p:txBody>
      </p:sp>
      <p:sp>
        <p:nvSpPr>
          <p:cNvPr id="7" name="g5|placeholder|"/>
          <p:cNvSpPr txBox="1"/>
          <p:nvPr/>
        </p:nvSpPr>
        <p:spPr>
          <a:xfrm>
            <a:off x="548640" y="5166360"/>
            <a:ext cx="5943600" cy="329184"/>
          </a:xfrm>
          <a:prstGeom prst="rect">
            <a:avLst/>
          </a:prstGeom>
          <a:noFill/>
        </p:spPr>
        <p:txBody>
          <a:bodyPr wrap="square" lIns="0" rIns="0" tIns="0" bIns="0" anchor="t">
            <a:noAutofit/>
          </a:bodyPr>
          <a:lstStyle/>
          <a:p>
            <a:pPr algn="l"/>
            <a:r>
              <a:rPr sz="1600" b="1">
                <a:solidFill>
                  <a:srgbClr val="FFFFFF"/>
                </a:solidFill>
                <a:latin typeface="Inter"/>
              </a:rPr>
              <a:t>[[DATE]]</a:t>
            </a:r>
            <a:r>
              <a:rPr sz="1600" b="0">
                <a:solidFill>
                  <a:srgbClr val="A7B0B8"/>
                </a:solidFill>
                <a:latin typeface="Inter"/>
              </a:rPr>
              <a:t>  ·  Confidential</a:t>
            </a:r>
          </a:p>
        </p:txBody>
      </p:sp>
      <p:sp>
        <p:nvSpPr>
          <p:cNvPr id="8" name="g6|body|"/>
          <p:cNvSpPr txBox="1"/>
          <p:nvPr/>
        </p:nvSpPr>
        <p:spPr>
          <a:xfrm>
            <a:off x="548640" y="5577840"/>
            <a:ext cx="5943600" cy="274320"/>
          </a:xfrm>
          <a:prstGeom prst="rect">
            <a:avLst/>
          </a:prstGeom>
          <a:noFill/>
        </p:spPr>
        <p:txBody>
          <a:bodyPr wrap="square" lIns="0" rIns="0" tIns="0" bIns="0" anchor="t">
            <a:noAutofit/>
          </a:bodyPr>
          <a:lstStyle/>
          <a:p>
            <a:pPr algn="l"/>
            <a:r>
              <a:rPr sz="1400" b="0">
                <a:solidFill>
                  <a:srgbClr val="A7B0B8"/>
                </a:solidFill>
                <a:latin typeface="Inter"/>
              </a:rPr>
              <a:t>Fluxmuse (Pty) Ltd · South Africa · fluxmuse.ai</a:t>
            </a:r>
          </a:p>
        </p:txBody>
      </p:sp>
      <p:pic>
        <p:nvPicPr>
          <p:cNvPr id="9" name="g7|img|infographics/how-fluxmuse-works_square_dark.png" descr="Loop: Plan, Create, Publish, Sell on a WhatsApp shop, Learn, run by the AI marketing team"/>
          <p:cNvPicPr>
            <a:picLocks noChangeAspect="1"/>
          </p:cNvPicPr>
          <p:nvPr/>
        </p:nvPicPr>
        <p:blipFill>
          <a:blip r:embed="rId3"/>
          <a:srcRect l="4000" t="16000" r="4000" b="4000"/>
          <a:stretch>
            <a:fillRect/>
          </a:stretch>
        </p:blipFill>
        <p:spPr>
          <a:xfrm>
            <a:off x="6675120" y="1248354"/>
            <a:ext cx="5120640" cy="44527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PROBLEM</a:t>
            </a:r>
          </a:p>
        </p:txBody>
      </p:sp>
      <p:sp>
        <p:nvSpPr>
          <p:cNvPr id="3" name="hdr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Sales happen in chat. The tools don't.</a:t>
            </a:r>
          </a:p>
        </p:txBody>
      </p:sp>
      <p:sp>
        <p:nvSpPr>
          <p:cNvPr id="4" name="prob9|card|"/>
          <p:cNvSpPr/>
          <p:nvPr/>
        </p:nvSpPr>
        <p:spPr>
          <a:xfrm>
            <a:off x="548640" y="1572768"/>
            <a:ext cx="3511296" cy="3310128"/>
          </a:xfrm>
          <a:prstGeom prst="roundRect">
            <a:avLst>
              <a:gd name="adj" fmla="val 5524"/>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b9|deco|"/>
          <p:cNvSpPr/>
          <p:nvPr/>
        </p:nvSpPr>
        <p:spPr>
          <a:xfrm>
            <a:off x="822960" y="18288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rob9|icon|chat_deep.png" descr="chat_deep"/>
          <p:cNvPicPr>
            <a:picLocks noChangeAspect="1"/>
          </p:cNvPicPr>
          <p:nvPr/>
        </p:nvPicPr>
        <p:blipFill>
          <a:blip r:embed="rId2"/>
          <a:srcRect/>
          <a:stretch>
            <a:fillRect/>
          </a:stretch>
        </p:blipFill>
        <p:spPr>
          <a:xfrm>
            <a:off x="1004011" y="2009851"/>
            <a:ext cx="460857" cy="460857"/>
          </a:xfrm>
          <a:prstGeom prst="rect">
            <a:avLst/>
          </a:prstGeom>
        </p:spPr>
      </p:pic>
      <p:sp>
        <p:nvSpPr>
          <p:cNvPr id="7" name="prob9|card|"/>
          <p:cNvSpPr txBox="1"/>
          <p:nvPr/>
        </p:nvSpPr>
        <p:spPr>
          <a:xfrm>
            <a:off x="841247" y="2743200"/>
            <a:ext cx="2926079" cy="777240"/>
          </a:xfrm>
          <a:prstGeom prst="rect">
            <a:avLst/>
          </a:prstGeom>
          <a:noFill/>
        </p:spPr>
        <p:txBody>
          <a:bodyPr wrap="square" lIns="0" rIns="0" tIns="0" bIns="0" anchor="t">
            <a:noAutofit/>
          </a:bodyPr>
          <a:lstStyle/>
          <a:p>
            <a:pPr algn="l"/>
            <a:r>
              <a:rPr sz="1900" b="1">
                <a:solidFill>
                  <a:srgbClr val="20242B"/>
                </a:solidFill>
                <a:latin typeface="Poppins"/>
              </a:rPr>
              <a:t>Buyers already shop in chats</a:t>
            </a:r>
          </a:p>
        </p:txBody>
      </p:sp>
      <p:sp>
        <p:nvSpPr>
          <p:cNvPr id="8" name="prob9|card|"/>
          <p:cNvSpPr txBox="1"/>
          <p:nvPr/>
        </p:nvSpPr>
        <p:spPr>
          <a:xfrm>
            <a:off x="841247" y="3584448"/>
            <a:ext cx="2926079" cy="1234440"/>
          </a:xfrm>
          <a:prstGeom prst="rect">
            <a:avLst/>
          </a:prstGeom>
          <a:noFill/>
        </p:spPr>
        <p:txBody>
          <a:bodyPr wrap="square" lIns="0" rIns="0" tIns="0" bIns="0" anchor="t">
            <a:noAutofit/>
          </a:bodyPr>
          <a:lstStyle/>
          <a:p>
            <a:pPr algn="l"/>
            <a:r>
              <a:rPr sz="1500" b="0">
                <a:solidFill>
                  <a:srgbClr val="37474F"/>
                </a:solidFill>
                <a:latin typeface="Inter"/>
              </a:rPr>
              <a:t>They find a business on social or a WhatsApp Status, then ask, order and pay in chat, answered by hand.</a:t>
            </a:r>
          </a:p>
        </p:txBody>
      </p:sp>
      <p:sp>
        <p:nvSpPr>
          <p:cNvPr id="9" name="prob10|card|"/>
          <p:cNvSpPr/>
          <p:nvPr/>
        </p:nvSpPr>
        <p:spPr>
          <a:xfrm>
            <a:off x="4340199" y="1572768"/>
            <a:ext cx="3511296" cy="3310128"/>
          </a:xfrm>
          <a:prstGeom prst="roundRect">
            <a:avLst>
              <a:gd name="adj" fmla="val 5524"/>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b10|deco|"/>
          <p:cNvSpPr/>
          <p:nvPr/>
        </p:nvSpPr>
        <p:spPr>
          <a:xfrm>
            <a:off x="4614519" y="18288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rob10|icon|megaphone_deep.png" descr="megaphone_deep"/>
          <p:cNvPicPr>
            <a:picLocks noChangeAspect="1"/>
          </p:cNvPicPr>
          <p:nvPr/>
        </p:nvPicPr>
        <p:blipFill>
          <a:blip r:embed="rId3"/>
          <a:srcRect/>
          <a:stretch>
            <a:fillRect/>
          </a:stretch>
        </p:blipFill>
        <p:spPr>
          <a:xfrm>
            <a:off x="4795570" y="2009851"/>
            <a:ext cx="460857" cy="460857"/>
          </a:xfrm>
          <a:prstGeom prst="rect">
            <a:avLst/>
          </a:prstGeom>
        </p:spPr>
      </p:pic>
      <p:sp>
        <p:nvSpPr>
          <p:cNvPr id="12" name="prob10|card|"/>
          <p:cNvSpPr txBox="1"/>
          <p:nvPr/>
        </p:nvSpPr>
        <p:spPr>
          <a:xfrm>
            <a:off x="4632807" y="2743200"/>
            <a:ext cx="2926079" cy="777240"/>
          </a:xfrm>
          <a:prstGeom prst="rect">
            <a:avLst/>
          </a:prstGeom>
          <a:noFill/>
        </p:spPr>
        <p:txBody>
          <a:bodyPr wrap="square" lIns="0" rIns="0" tIns="0" bIns="0" anchor="t">
            <a:noAutofit/>
          </a:bodyPr>
          <a:lstStyle/>
          <a:p>
            <a:pPr algn="l"/>
            <a:r>
              <a:rPr sz="1900" b="1">
                <a:solidFill>
                  <a:srgbClr val="20242B"/>
                </a:solidFill>
                <a:latin typeface="Poppins"/>
              </a:rPr>
              <a:t>No marketing capacity</a:t>
            </a:r>
          </a:p>
        </p:txBody>
      </p:sp>
      <p:sp>
        <p:nvSpPr>
          <p:cNvPr id="13" name="prob10|card|"/>
          <p:cNvSpPr txBox="1"/>
          <p:nvPr/>
        </p:nvSpPr>
        <p:spPr>
          <a:xfrm>
            <a:off x="4632807" y="3584448"/>
            <a:ext cx="2926079" cy="1234440"/>
          </a:xfrm>
          <a:prstGeom prst="rect">
            <a:avLst/>
          </a:prstGeom>
          <a:noFill/>
        </p:spPr>
        <p:txBody>
          <a:bodyPr wrap="square" lIns="0" rIns="0" tIns="0" bIns="0" anchor="t">
            <a:noAutofit/>
          </a:bodyPr>
          <a:lstStyle/>
          <a:p>
            <a:pPr algn="l"/>
            <a:r>
              <a:rPr sz="1500" b="0">
                <a:solidFill>
                  <a:srgbClr val="37474F"/>
                </a:solidFill>
                <a:latin typeface="Inter"/>
              </a:rPr>
              <a:t>Owners post when they find time. A marketer or agency retainer is out of reach for many.</a:t>
            </a:r>
          </a:p>
        </p:txBody>
      </p:sp>
      <p:sp>
        <p:nvSpPr>
          <p:cNvPr id="14" name="prob11|card|"/>
          <p:cNvSpPr/>
          <p:nvPr/>
        </p:nvSpPr>
        <p:spPr>
          <a:xfrm>
            <a:off x="8131759" y="1572768"/>
            <a:ext cx="3511296" cy="3310128"/>
          </a:xfrm>
          <a:prstGeom prst="roundRect">
            <a:avLst>
              <a:gd name="adj" fmla="val 5524"/>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b11|deco|"/>
          <p:cNvSpPr/>
          <p:nvPr/>
        </p:nvSpPr>
        <p:spPr>
          <a:xfrm>
            <a:off x="8406079" y="18288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rob11|icon|card_deep.png" descr="card_deep"/>
          <p:cNvPicPr>
            <a:picLocks noChangeAspect="1"/>
          </p:cNvPicPr>
          <p:nvPr/>
        </p:nvPicPr>
        <p:blipFill>
          <a:blip r:embed="rId4"/>
          <a:srcRect/>
          <a:stretch>
            <a:fillRect/>
          </a:stretch>
        </p:blipFill>
        <p:spPr>
          <a:xfrm>
            <a:off x="8587130" y="2009851"/>
            <a:ext cx="460857" cy="460857"/>
          </a:xfrm>
          <a:prstGeom prst="rect">
            <a:avLst/>
          </a:prstGeom>
        </p:spPr>
      </p:pic>
      <p:sp>
        <p:nvSpPr>
          <p:cNvPr id="17" name="prob11|card|"/>
          <p:cNvSpPr txBox="1"/>
          <p:nvPr/>
        </p:nvSpPr>
        <p:spPr>
          <a:xfrm>
            <a:off x="8424367" y="2743200"/>
            <a:ext cx="2926079" cy="777240"/>
          </a:xfrm>
          <a:prstGeom prst="rect">
            <a:avLst/>
          </a:prstGeom>
          <a:noFill/>
        </p:spPr>
        <p:txBody>
          <a:bodyPr wrap="square" lIns="0" rIns="0" tIns="0" bIns="0" anchor="t">
            <a:noAutofit/>
          </a:bodyPr>
          <a:lstStyle/>
          <a:p>
            <a:pPr algn="l"/>
            <a:r>
              <a:rPr sz="1900" b="1">
                <a:solidFill>
                  <a:srgbClr val="20242B"/>
                </a:solidFill>
                <a:latin typeface="Poppins"/>
              </a:rPr>
              <a:t>Selling is still manual</a:t>
            </a:r>
          </a:p>
        </p:txBody>
      </p:sp>
      <p:sp>
        <p:nvSpPr>
          <p:cNvPr id="18" name="prob11|card|"/>
          <p:cNvSpPr txBox="1"/>
          <p:nvPr/>
        </p:nvSpPr>
        <p:spPr>
          <a:xfrm>
            <a:off x="8424367" y="3584448"/>
            <a:ext cx="2926079" cy="1234440"/>
          </a:xfrm>
          <a:prstGeom prst="rect">
            <a:avLst/>
          </a:prstGeom>
          <a:noFill/>
        </p:spPr>
        <p:txBody>
          <a:bodyPr wrap="square" lIns="0" rIns="0" tIns="0" bIns="0" anchor="t">
            <a:noAutofit/>
          </a:bodyPr>
          <a:lstStyle/>
          <a:p>
            <a:pPr algn="l"/>
            <a:r>
              <a:rPr sz="1500" b="0">
                <a:solidFill>
                  <a:srgbClr val="37474F"/>
                </a:solidFill>
                <a:latin typeface="Inter"/>
              </a:rPr>
              <a:t>Catalogues, prices and orders live in photo albums and chat threads, not in a shop.</a:t>
            </a:r>
          </a:p>
        </p:txBody>
      </p:sp>
      <p:sp>
        <p:nvSpPr>
          <p:cNvPr id="19" name="band12|card|"/>
          <p:cNvSpPr/>
          <p:nvPr/>
        </p:nvSpPr>
        <p:spPr>
          <a:xfrm>
            <a:off x="548640" y="5047488"/>
            <a:ext cx="11094415" cy="1051560"/>
          </a:xfrm>
          <a:prstGeom prst="roundRect">
            <a:avLst>
              <a:gd name="adj" fmla="val 17391"/>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nd12|deco|"/>
          <p:cNvSpPr/>
          <p:nvPr/>
        </p:nvSpPr>
        <p:spPr>
          <a:xfrm>
            <a:off x="905255" y="5276088"/>
            <a:ext cx="603504" cy="603504"/>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band12|icon|sparkles_ink.png" descr="sparkles_ink"/>
          <p:cNvPicPr>
            <a:picLocks noChangeAspect="1"/>
          </p:cNvPicPr>
          <p:nvPr/>
        </p:nvPicPr>
        <p:blipFill>
          <a:blip r:embed="rId5"/>
          <a:srcRect/>
          <a:stretch>
            <a:fillRect/>
          </a:stretch>
        </p:blipFill>
        <p:spPr>
          <a:xfrm>
            <a:off x="1038026" y="5408858"/>
            <a:ext cx="337962" cy="337962"/>
          </a:xfrm>
          <a:prstGeom prst="rect">
            <a:avLst/>
          </a:prstGeom>
        </p:spPr>
      </p:pic>
      <p:sp>
        <p:nvSpPr>
          <p:cNvPr id="22" name="band12|card|"/>
          <p:cNvSpPr txBox="1"/>
          <p:nvPr/>
        </p:nvSpPr>
        <p:spPr>
          <a:xfrm>
            <a:off x="1783080" y="5138928"/>
            <a:ext cx="9494215" cy="868680"/>
          </a:xfrm>
          <a:prstGeom prst="rect">
            <a:avLst/>
          </a:prstGeom>
          <a:noFill/>
        </p:spPr>
        <p:txBody>
          <a:bodyPr wrap="square" lIns="0" rIns="0" tIns="0" bIns="0" anchor="ctr">
            <a:noAutofit/>
          </a:bodyPr>
          <a:lstStyle/>
          <a:p>
            <a:pPr algn="l"/>
            <a:r>
              <a:rPr sz="1900" b="1">
                <a:solidFill>
                  <a:srgbClr val="FFFFFF"/>
                </a:solidFill>
                <a:latin typeface="Poppins"/>
              </a:rPr>
              <a:t>FluxMuse works where the owner already works: on WhatsApp, turning photos into a shop and posts, and orders into alerts.</a:t>
            </a:r>
          </a:p>
        </p:txBody>
      </p:sp>
      <p:sp>
        <p:nvSpPr>
          <p:cNvPr id="2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2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1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FF6A00"/>
                </a:solidFill>
                <a:latin typeface="Inter"/>
              </a:rPr>
              <a:t>THE SOLUTION</a:t>
            </a:r>
          </a:p>
        </p:txBody>
      </p:sp>
      <p:sp>
        <p:nvSpPr>
          <p:cNvPr id="3" name="hdr1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FFFFFF"/>
                </a:solidFill>
                <a:latin typeface="Poppins"/>
              </a:rPr>
              <a:t>An AI team that markets and sells on WhatsApp</a:t>
            </a:r>
          </a:p>
        </p:txBody>
      </p:sp>
      <p:pic>
        <p:nvPicPr>
          <p:cNvPr id="4" name="g14|img|infographics/how-fluxmuse-works_dark.png" descr="Loop: Plan (Strategist), Create (Creator), Publish (Publisher), Sell (WhatsApp shop), Learn (Analyst)"/>
          <p:cNvPicPr>
            <a:picLocks noChangeAspect="1"/>
          </p:cNvPicPr>
          <p:nvPr/>
        </p:nvPicPr>
        <p:blipFill>
          <a:blip r:embed="rId2"/>
          <a:srcRect l="8000" t="24000" r="8000" b="6000"/>
          <a:stretch>
            <a:fillRect/>
          </a:stretch>
        </p:blipFill>
        <p:spPr>
          <a:xfrm>
            <a:off x="548640" y="1481328"/>
            <a:ext cx="6675120" cy="3128962"/>
          </a:xfrm>
          <a:prstGeom prst="rect">
            <a:avLst/>
          </a:prstGeom>
        </p:spPr>
      </p:pic>
      <p:sp>
        <p:nvSpPr>
          <p:cNvPr id="5" name="g15|deco|"/>
          <p:cNvSpPr/>
          <p:nvPr/>
        </p:nvSpPr>
        <p:spPr>
          <a:xfrm>
            <a:off x="557783" y="4901183"/>
            <a:ext cx="530352" cy="530352"/>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g15|icon|sparkles_ink.png" descr="sparkles_ink"/>
          <p:cNvPicPr>
            <a:picLocks noChangeAspect="1"/>
          </p:cNvPicPr>
          <p:nvPr/>
        </p:nvPicPr>
        <p:blipFill>
          <a:blip r:embed="rId3"/>
          <a:srcRect/>
          <a:stretch>
            <a:fillRect/>
          </a:stretch>
        </p:blipFill>
        <p:spPr>
          <a:xfrm>
            <a:off x="674461" y="5017861"/>
            <a:ext cx="296997" cy="296997"/>
          </a:xfrm>
          <a:prstGeom prst="rect">
            <a:avLst/>
          </a:prstGeom>
        </p:spPr>
      </p:pic>
      <p:sp>
        <p:nvSpPr>
          <p:cNvPr id="7" name="g15|body|"/>
          <p:cNvSpPr txBox="1"/>
          <p:nvPr/>
        </p:nvSpPr>
        <p:spPr>
          <a:xfrm>
            <a:off x="1261872" y="4892040"/>
            <a:ext cx="5989320" cy="548640"/>
          </a:xfrm>
          <a:prstGeom prst="rect">
            <a:avLst/>
          </a:prstGeom>
          <a:noFill/>
        </p:spPr>
        <p:txBody>
          <a:bodyPr wrap="square" lIns="0" rIns="0" tIns="0" bIns="0" anchor="ctr">
            <a:noAutofit/>
          </a:bodyPr>
          <a:lstStyle/>
          <a:p>
            <a:pPr algn="l"/>
            <a:r>
              <a:rPr sz="1500" b="0">
                <a:solidFill>
                  <a:srgbClr val="FFFFFF"/>
                </a:solidFill>
                <a:latin typeface="Inter"/>
              </a:rPr>
              <a:t>AI captions, images, short video clips and voice-note transcription, on WhatsApp</a:t>
            </a:r>
          </a:p>
        </p:txBody>
      </p:sp>
      <p:sp>
        <p:nvSpPr>
          <p:cNvPr id="8" name="g16|deco|"/>
          <p:cNvSpPr/>
          <p:nvPr/>
        </p:nvSpPr>
        <p:spPr>
          <a:xfrm>
            <a:off x="557783" y="5559551"/>
            <a:ext cx="530352" cy="530352"/>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g16|icon|cart_ink.png" descr="cart_ink"/>
          <p:cNvPicPr>
            <a:picLocks noChangeAspect="1"/>
          </p:cNvPicPr>
          <p:nvPr/>
        </p:nvPicPr>
        <p:blipFill>
          <a:blip r:embed="rId4"/>
          <a:srcRect/>
          <a:stretch>
            <a:fillRect/>
          </a:stretch>
        </p:blipFill>
        <p:spPr>
          <a:xfrm>
            <a:off x="674461" y="5676229"/>
            <a:ext cx="296997" cy="296997"/>
          </a:xfrm>
          <a:prstGeom prst="rect">
            <a:avLst/>
          </a:prstGeom>
        </p:spPr>
      </p:pic>
      <p:sp>
        <p:nvSpPr>
          <p:cNvPr id="10" name="g16|body|"/>
          <p:cNvSpPr txBox="1"/>
          <p:nvPr/>
        </p:nvSpPr>
        <p:spPr>
          <a:xfrm>
            <a:off x="1261872" y="5550407"/>
            <a:ext cx="5989320" cy="548640"/>
          </a:xfrm>
          <a:prstGeom prst="rect">
            <a:avLst/>
          </a:prstGeom>
          <a:noFill/>
        </p:spPr>
        <p:txBody>
          <a:bodyPr wrap="square" lIns="0" rIns="0" tIns="0" bIns="0" anchor="ctr">
            <a:noAutofit/>
          </a:bodyPr>
          <a:lstStyle/>
          <a:p>
            <a:pPr algn="l"/>
            <a:r>
              <a:rPr sz="1500" b="0">
                <a:solidFill>
                  <a:srgbClr val="FFFFFF"/>
                </a:solidFill>
                <a:latin typeface="Inter"/>
              </a:rPr>
              <a:t>WhatsApp Concierge: send photos, get a catalogue and a hosted shop link</a:t>
            </a:r>
          </a:p>
        </p:txBody>
      </p:sp>
      <p:pic>
        <p:nvPicPr>
          <p:cNvPr id="11" name="g17|img|infographics/whatsapp-commerce-flow_dark.png" descr="WhatsApp commerce flow: discover, chat, catalogue, cart, pay (being switched on), order alert, come back"/>
          <p:cNvPicPr>
            <a:picLocks noChangeAspect="1"/>
          </p:cNvPicPr>
          <p:nvPr/>
        </p:nvPicPr>
        <p:blipFill>
          <a:blip r:embed="rId5"/>
          <a:srcRect l="3000" t="25000" r="3000" b="8000"/>
          <a:stretch>
            <a:fillRect/>
          </a:stretch>
        </p:blipFill>
        <p:spPr>
          <a:xfrm>
            <a:off x="7498079" y="2251153"/>
            <a:ext cx="4142232" cy="1660748"/>
          </a:xfrm>
          <a:prstGeom prst="rect">
            <a:avLst/>
          </a:prstGeom>
        </p:spPr>
      </p:pic>
      <p:sp>
        <p:nvSpPr>
          <p:cNvPr id="12" name="g18|body|"/>
          <p:cNvSpPr txBox="1"/>
          <p:nvPr/>
        </p:nvSpPr>
        <p:spPr>
          <a:xfrm>
            <a:off x="7498079" y="4892040"/>
            <a:ext cx="4142232" cy="1188720"/>
          </a:xfrm>
          <a:prstGeom prst="rect">
            <a:avLst/>
          </a:prstGeom>
          <a:noFill/>
        </p:spPr>
        <p:txBody>
          <a:bodyPr wrap="square" lIns="0" rIns="0" tIns="0" bIns="0" anchor="t">
            <a:noAutofit/>
          </a:bodyPr>
          <a:lstStyle/>
          <a:p>
            <a:pPr algn="l"/>
            <a:r>
              <a:rPr sz="1400" b="0">
                <a:solidFill>
                  <a:srgbClr val="A7B0B8"/>
                </a:solidFill>
                <a:latin typeface="Inter"/>
              </a:rPr>
              <a:t>Newly launched in South Africa. Facebook and Instagram auto-publishing and checkout through FluxMuse are being switched on.</a:t>
            </a:r>
          </a:p>
        </p:txBody>
      </p:sp>
      <p:sp>
        <p:nvSpPr>
          <p:cNvPr id="1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Confidential</a:t>
            </a:r>
          </a:p>
        </p:txBody>
      </p:sp>
      <p:sp>
        <p:nvSpPr>
          <p:cNvPr id="1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PRODUCT</a:t>
            </a:r>
          </a:p>
        </p:txBody>
      </p:sp>
      <p:sp>
        <p:nvSpPr>
          <p:cNvPr id="3" name="hdr1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is live, in setup and not yet available</a:t>
            </a:r>
          </a:p>
        </p:txBody>
      </p:sp>
      <p:pic>
        <p:nvPicPr>
          <p:cNvPr id="4" name="g20|img|infographics/platform-stack.png" descr="Platform: live chips (WhatsApp, AI content, shop and orders) and dashed chips being switched on"/>
          <p:cNvPicPr>
            <a:picLocks noChangeAspect="1"/>
          </p:cNvPicPr>
          <p:nvPr/>
        </p:nvPicPr>
        <p:blipFill>
          <a:blip r:embed="rId2"/>
          <a:srcRect l="3000" t="18000" r="3000" b="6000"/>
          <a:stretch>
            <a:fillRect/>
          </a:stretch>
        </p:blipFill>
        <p:spPr>
          <a:xfrm>
            <a:off x="548640" y="1481328"/>
            <a:ext cx="4937760" cy="2245630"/>
          </a:xfrm>
          <a:prstGeom prst="rect">
            <a:avLst/>
          </a:prstGeom>
        </p:spPr>
      </p:pic>
      <p:sp>
        <p:nvSpPr>
          <p:cNvPr id="5" name="g21|caption|"/>
          <p:cNvSpPr txBox="1"/>
          <p:nvPr/>
        </p:nvSpPr>
        <p:spPr>
          <a:xfrm>
            <a:off x="548640" y="4389120"/>
            <a:ext cx="4937760" cy="457200"/>
          </a:xfrm>
          <a:prstGeom prst="rect">
            <a:avLst/>
          </a:prstGeom>
          <a:noFill/>
        </p:spPr>
        <p:txBody>
          <a:bodyPr wrap="square" lIns="0" rIns="0" tIns="0" bIns="0" anchor="t">
            <a:noAutofit/>
          </a:bodyPr>
          <a:lstStyle/>
          <a:p>
            <a:pPr algn="l"/>
            <a:r>
              <a:rPr sz="1200" b="0">
                <a:solidFill>
                  <a:srgbClr val="5B6670"/>
                </a:solidFill>
                <a:latin typeface="Inter"/>
              </a:rPr>
              <a:t>Solid chips are live and newly launched; dashed chips are being switched on.</a:t>
            </a:r>
          </a:p>
        </p:txBody>
      </p:sp>
      <p:sp>
        <p:nvSpPr>
          <p:cNvPr id="6" name="tile22|card|"/>
          <p:cNvSpPr/>
          <p:nvPr/>
        </p:nvSpPr>
        <p:spPr>
          <a:xfrm>
            <a:off x="548640" y="4937760"/>
            <a:ext cx="1554480" cy="1325880"/>
          </a:xfrm>
          <a:prstGeom prst="roundRect">
            <a:avLst>
              <a:gd name="adj" fmla="val 11034"/>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ile22|card|"/>
          <p:cNvSpPr txBox="1"/>
          <p:nvPr/>
        </p:nvSpPr>
        <p:spPr>
          <a:xfrm>
            <a:off x="749808" y="5065776"/>
            <a:ext cx="1152144" cy="475488"/>
          </a:xfrm>
          <a:prstGeom prst="rect">
            <a:avLst/>
          </a:prstGeom>
          <a:noFill/>
        </p:spPr>
        <p:txBody>
          <a:bodyPr wrap="square" lIns="0" rIns="0" tIns="0" bIns="0" anchor="t">
            <a:noAutofit/>
          </a:bodyPr>
          <a:lstStyle/>
          <a:p>
            <a:pPr algn="l"/>
            <a:r>
              <a:rPr sz="2400" b="1">
                <a:solidFill>
                  <a:srgbClr val="C24E00"/>
                </a:solidFill>
                <a:latin typeface="Poppins"/>
              </a:rPr>
              <a:t>9</a:t>
            </a:r>
          </a:p>
        </p:txBody>
      </p:sp>
      <p:sp>
        <p:nvSpPr>
          <p:cNvPr id="8" name="tile22|card|"/>
          <p:cNvSpPr txBox="1"/>
          <p:nvPr/>
        </p:nvSpPr>
        <p:spPr>
          <a:xfrm>
            <a:off x="749808" y="5577840"/>
            <a:ext cx="1152144" cy="630936"/>
          </a:xfrm>
          <a:prstGeom prst="rect">
            <a:avLst/>
          </a:prstGeom>
          <a:noFill/>
        </p:spPr>
        <p:txBody>
          <a:bodyPr wrap="square" lIns="0" rIns="0" tIns="0" bIns="0" anchor="t">
            <a:noAutofit/>
          </a:bodyPr>
          <a:lstStyle/>
          <a:p>
            <a:pPr algn="l"/>
            <a:r>
              <a:rPr sz="1400" b="0">
                <a:solidFill>
                  <a:srgbClr val="20242B"/>
                </a:solidFill>
                <a:latin typeface="Inter"/>
              </a:rPr>
              <a:t>plans in three bands</a:t>
            </a:r>
          </a:p>
        </p:txBody>
      </p:sp>
      <p:sp>
        <p:nvSpPr>
          <p:cNvPr id="9" name="tile23|card|"/>
          <p:cNvSpPr/>
          <p:nvPr/>
        </p:nvSpPr>
        <p:spPr>
          <a:xfrm>
            <a:off x="2240280" y="4937760"/>
            <a:ext cx="1554480" cy="1325880"/>
          </a:xfrm>
          <a:prstGeom prst="roundRect">
            <a:avLst>
              <a:gd name="adj" fmla="val 11034"/>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23|card|"/>
          <p:cNvSpPr txBox="1"/>
          <p:nvPr/>
        </p:nvSpPr>
        <p:spPr>
          <a:xfrm>
            <a:off x="2441448" y="5065776"/>
            <a:ext cx="1152144" cy="475488"/>
          </a:xfrm>
          <a:prstGeom prst="rect">
            <a:avLst/>
          </a:prstGeom>
          <a:noFill/>
        </p:spPr>
        <p:txBody>
          <a:bodyPr wrap="square" lIns="0" rIns="0" tIns="0" bIns="0" anchor="t">
            <a:noAutofit/>
          </a:bodyPr>
          <a:lstStyle/>
          <a:p>
            <a:pPr algn="l"/>
            <a:r>
              <a:rPr sz="2400" b="1">
                <a:solidFill>
                  <a:srgbClr val="C24E00"/>
                </a:solidFill>
                <a:latin typeface="Poppins"/>
              </a:rPr>
              <a:t>R149</a:t>
            </a:r>
          </a:p>
        </p:txBody>
      </p:sp>
      <p:sp>
        <p:nvSpPr>
          <p:cNvPr id="11" name="tile23|card|"/>
          <p:cNvSpPr txBox="1"/>
          <p:nvPr/>
        </p:nvSpPr>
        <p:spPr>
          <a:xfrm>
            <a:off x="2441448" y="5577840"/>
            <a:ext cx="1152144" cy="630936"/>
          </a:xfrm>
          <a:prstGeom prst="rect">
            <a:avLst/>
          </a:prstGeom>
          <a:noFill/>
        </p:spPr>
        <p:txBody>
          <a:bodyPr wrap="square" lIns="0" rIns="0" tIns="0" bIns="0" anchor="t">
            <a:noAutofit/>
          </a:bodyPr>
          <a:lstStyle/>
          <a:p>
            <a:pPr algn="l"/>
            <a:r>
              <a:rPr sz="1400" b="0">
                <a:solidFill>
                  <a:srgbClr val="20242B"/>
                </a:solidFill>
                <a:latin typeface="Inter"/>
              </a:rPr>
              <a:t>entry paid plan</a:t>
            </a:r>
          </a:p>
        </p:txBody>
      </p:sp>
      <p:sp>
        <p:nvSpPr>
          <p:cNvPr id="12" name="tile24|card|"/>
          <p:cNvSpPr/>
          <p:nvPr/>
        </p:nvSpPr>
        <p:spPr>
          <a:xfrm>
            <a:off x="3931920" y="4937760"/>
            <a:ext cx="1554480" cy="1325880"/>
          </a:xfrm>
          <a:prstGeom prst="roundRect">
            <a:avLst>
              <a:gd name="adj" fmla="val 11034"/>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le24|card|"/>
          <p:cNvSpPr txBox="1"/>
          <p:nvPr/>
        </p:nvSpPr>
        <p:spPr>
          <a:xfrm>
            <a:off x="4133087" y="5065776"/>
            <a:ext cx="1152144" cy="475488"/>
          </a:xfrm>
          <a:prstGeom prst="rect">
            <a:avLst/>
          </a:prstGeom>
          <a:noFill/>
        </p:spPr>
        <p:txBody>
          <a:bodyPr wrap="square" lIns="0" rIns="0" tIns="0" bIns="0" anchor="t">
            <a:noAutofit/>
          </a:bodyPr>
          <a:lstStyle/>
          <a:p>
            <a:pPr algn="l"/>
            <a:r>
              <a:rPr sz="2400" b="1">
                <a:solidFill>
                  <a:srgbClr val="C24E00"/>
                </a:solidFill>
                <a:latin typeface="Poppins"/>
              </a:rPr>
              <a:t>ZA</a:t>
            </a:r>
          </a:p>
        </p:txBody>
      </p:sp>
      <p:sp>
        <p:nvSpPr>
          <p:cNvPr id="14" name="tile24|card|"/>
          <p:cNvSpPr txBox="1"/>
          <p:nvPr/>
        </p:nvSpPr>
        <p:spPr>
          <a:xfrm>
            <a:off x="4133087" y="5577840"/>
            <a:ext cx="1152144" cy="630936"/>
          </a:xfrm>
          <a:prstGeom prst="rect">
            <a:avLst/>
          </a:prstGeom>
          <a:noFill/>
        </p:spPr>
        <p:txBody>
          <a:bodyPr wrap="square" lIns="0" rIns="0" tIns="0" bIns="0" anchor="t">
            <a:noAutofit/>
          </a:bodyPr>
          <a:lstStyle/>
          <a:p>
            <a:pPr algn="l"/>
            <a:r>
              <a:rPr sz="1400" b="0">
                <a:solidFill>
                  <a:srgbClr val="20242B"/>
                </a:solidFill>
                <a:latin typeface="Inter"/>
              </a:rPr>
              <a:t>live market</a:t>
            </a:r>
          </a:p>
        </p:txBody>
      </p:sp>
      <p:graphicFrame>
        <p:nvGraphicFramePr>
          <p:cNvPr id="15" name="g25|table|stack"/>
          <p:cNvGraphicFramePr>
            <a:graphicFrameLocks noGrp="1"/>
          </p:cNvGraphicFramePr>
          <p:nvPr/>
        </p:nvGraphicFramePr>
        <p:xfrm>
          <a:off x="5760720" y="1481328"/>
          <a:ext cx="5879592" cy="4764024"/>
        </p:xfrm>
        <a:graphic>
          <a:graphicData uri="http://schemas.openxmlformats.org/drawingml/2006/table">
            <a:tbl>
              <a:tblPr firstRow="0" bandRow="0"/>
              <a:tblGrid>
                <a:gridCol w="1691640"/>
                <a:gridCol w="2907792"/>
                <a:gridCol w="1280160"/>
              </a:tblGrid>
              <a:tr h="411480">
                <a:tc>
                  <a:txBody>
                    <a:bodyPr wrap="square"/>
                    <a:lstStyle/>
                    <a:p>
                      <a:pPr algn="l"/>
                      <a:r>
                        <a:rPr sz="1400" b="1">
                          <a:solidFill>
                            <a:srgbClr val="FFFFFF"/>
                          </a:solidFill>
                          <a:latin typeface="Poppins"/>
                        </a:rPr>
                        <a:t>Layer</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What's included</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Status</a:t>
                      </a:r>
                    </a:p>
                  </a:txBody>
                  <a:tcPr marL="109728" marR="109728" marT="36576" marB="36576" anchor="ctr">
                    <a:lnL w="0">
                      <a:noFill/>
                    </a:lnL>
                    <a:lnR w="0">
                      <a:noFill/>
                    </a:lnR>
                    <a:lnT w="0">
                      <a:noFill/>
                    </a:lnT>
                    <a:lnB w="0">
                      <a:noFill/>
                    </a:lnB>
                    <a:solidFill>
                      <a:srgbClr val="0F1419"/>
                    </a:solidFill>
                  </a:tcPr>
                </a:tc>
              </a:tr>
              <a:tr h="621792">
                <a:tc>
                  <a:txBody>
                    <a:bodyPr wrap="square"/>
                    <a:lstStyle/>
                    <a:p>
                      <a:pPr algn="l"/>
                      <a:r>
                        <a:rPr sz="1400" b="1">
                          <a:solidFill>
                            <a:srgbClr val="20242B"/>
                          </a:solidFill>
                          <a:latin typeface="Inter"/>
                        </a:rPr>
                        <a:t>WhatsApp shop</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Concierge, shop link, order alerts, SOLD</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Live</a:t>
                      </a:r>
                    </a:p>
                  </a:txBody>
                  <a:tcPr marL="109728" marR="109728" marT="36576" marB="36576" anchor="ctr">
                    <a:lnL w="0">
                      <a:noFill/>
                    </a:lnL>
                    <a:lnR w="0">
                      <a:noFill/>
                    </a:lnR>
                    <a:lnT w="0">
                      <a:noFill/>
                    </a:lnT>
                    <a:lnB w="12700">
                      <a:solidFill>
                        <a:srgbClr val="E3E6EA"/>
                      </a:solidFill>
                    </a:lnB>
                    <a:solidFill>
                      <a:srgbClr val="FFF4EB"/>
                    </a:solidFill>
                  </a:tcPr>
                </a:tc>
              </a:tr>
              <a:tr h="621792">
                <a:tc>
                  <a:txBody>
                    <a:bodyPr wrap="square"/>
                    <a:lstStyle/>
                    <a:p>
                      <a:pPr algn="l"/>
                      <a:r>
                        <a:rPr sz="1400" b="1">
                          <a:solidFill>
                            <a:srgbClr val="20242B"/>
                          </a:solidFill>
                          <a:latin typeface="Inter"/>
                        </a:rPr>
                        <a:t>AI content</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Captions, images, short video, voice notes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Live</a:t>
                      </a:r>
                    </a:p>
                  </a:txBody>
                  <a:tcPr marL="109728" marR="109728" marT="36576" marB="36576" anchor="ctr">
                    <a:lnL w="0">
                      <a:noFill/>
                    </a:lnL>
                    <a:lnR w="0">
                      <a:noFill/>
                    </a:lnR>
                    <a:lnT w="0">
                      <a:noFill/>
                    </a:lnT>
                    <a:lnB w="12700">
                      <a:solidFill>
                        <a:srgbClr val="E3E6EA"/>
                      </a:solidFill>
                    </a:lnB>
                    <a:solidFill>
                      <a:srgbClr val="FFF4EB"/>
                    </a:solidFill>
                  </a:tcPr>
                </a:tc>
              </a:tr>
              <a:tr h="621792">
                <a:tc>
                  <a:txBody>
                    <a:bodyPr wrap="square"/>
                    <a:lstStyle/>
                    <a:p>
                      <a:pPr algn="l"/>
                      <a:r>
                        <a:rPr sz="1400" b="1">
                          <a:solidFill>
                            <a:srgbClr val="20242B"/>
                          </a:solidFill>
                          <a:latin typeface="Inter"/>
                        </a:rPr>
                        <a:t>WhatsApp Business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Setup, templates, broadcast to consented contacts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Live</a:t>
                      </a:r>
                    </a:p>
                  </a:txBody>
                  <a:tcPr marL="109728" marR="109728" marT="36576" marB="36576" anchor="ctr">
                    <a:lnL w="0">
                      <a:noFill/>
                    </a:lnL>
                    <a:lnR w="0">
                      <a:noFill/>
                    </a:lnR>
                    <a:lnT w="0">
                      <a:noFill/>
                    </a:lnT>
                    <a:lnB w="12700">
                      <a:solidFill>
                        <a:srgbClr val="E3E6EA"/>
                      </a:solidFill>
                    </a:lnB>
                    <a:solidFill>
                      <a:srgbClr val="FFF4EB"/>
                    </a:solidFill>
                  </a:tcPr>
                </a:tc>
              </a:tr>
              <a:tr h="621792">
                <a:tc>
                  <a:txBody>
                    <a:bodyPr wrap="square"/>
                    <a:lstStyle/>
                    <a:p>
                      <a:pPr algn="l"/>
                      <a:r>
                        <a:rPr sz="1400" b="1">
                          <a:solidFill>
                            <a:srgbClr val="20242B"/>
                          </a:solidFill>
                          <a:latin typeface="Inter"/>
                        </a:rPr>
                        <a:t>TikTok</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Video posting (approved)</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Live</a:t>
                      </a:r>
                    </a:p>
                  </a:txBody>
                  <a:tcPr marL="109728" marR="109728" marT="36576" marB="36576" anchor="ctr">
                    <a:lnL w="0">
                      <a:noFill/>
                    </a:lnL>
                    <a:lnR w="0">
                      <a:noFill/>
                    </a:lnR>
                    <a:lnT w="0">
                      <a:noFill/>
                    </a:lnT>
                    <a:lnB w="12700">
                      <a:solidFill>
                        <a:srgbClr val="E3E6EA"/>
                      </a:solidFill>
                    </a:lnB>
                    <a:solidFill>
                      <a:srgbClr val="FFF4EB"/>
                    </a:solidFill>
                  </a:tcPr>
                </a:tc>
              </a:tr>
              <a:tr h="621792">
                <a:tc>
                  <a:txBody>
                    <a:bodyPr wrap="square"/>
                    <a:lstStyle/>
                    <a:p>
                      <a:pPr algn="l"/>
                      <a:r>
                        <a:rPr sz="1400" b="1">
                          <a:solidFill>
                            <a:srgbClr val="20242B"/>
                          </a:solidFill>
                          <a:latin typeface="Inter"/>
                        </a:rPr>
                        <a:t>Facebook / Instagram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Auto-publishing (Meta permissions pending)</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In setup</a:t>
                      </a:r>
                    </a:p>
                  </a:txBody>
                  <a:tcPr marL="109728" marR="109728" marT="36576" marB="36576" anchor="ctr">
                    <a:lnL w="0">
                      <a:noFill/>
                    </a:lnL>
                    <a:lnR w="0">
                      <a:noFill/>
                    </a:lnR>
                    <a:lnT w="0">
                      <a:noFill/>
                    </a:lnT>
                    <a:lnB w="12700">
                      <a:solidFill>
                        <a:srgbClr val="E3E6EA"/>
                      </a:solidFill>
                    </a:lnB>
                    <a:solidFill>
                      <a:srgbClr val="F3F4F6"/>
                    </a:solidFill>
                  </a:tcPr>
                </a:tc>
              </a:tr>
              <a:tr h="621792">
                <a:tc>
                  <a:txBody>
                    <a:bodyPr wrap="square"/>
                    <a:lstStyle/>
                    <a:p>
                      <a:pPr algn="l"/>
                      <a:r>
                        <a:rPr sz="1400" b="1">
                          <a:solidFill>
                            <a:srgbClr val="20242B"/>
                          </a:solidFill>
                          <a:latin typeface="Inter"/>
                        </a:rPr>
                        <a:t>Checkout, AI Voice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FluxMuse checkout; AI Voice beta; daily digest</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In setup</a:t>
                      </a:r>
                    </a:p>
                  </a:txBody>
                  <a:tcPr marL="109728" marR="109728" marT="36576" marB="36576" anchor="ctr">
                    <a:lnL w="0">
                      <a:noFill/>
                    </a:lnL>
                    <a:lnR w="0">
                      <a:noFill/>
                    </a:lnR>
                    <a:lnT w="0">
                      <a:noFill/>
                    </a:lnT>
                    <a:lnB w="12700">
                      <a:solidFill>
                        <a:srgbClr val="E3E6EA"/>
                      </a:solidFill>
                    </a:lnB>
                    <a:solidFill>
                      <a:srgbClr val="F3F4F6"/>
                    </a:solidFill>
                  </a:tcPr>
                </a:tc>
              </a:tr>
              <a:tr h="621792">
                <a:tc>
                  <a:txBody>
                    <a:bodyPr wrap="square"/>
                    <a:lstStyle/>
                    <a:p>
                      <a:pPr algn="l"/>
                      <a:r>
                        <a:rPr sz="1400" b="1">
                          <a:solidFill>
                            <a:srgbClr val="20242B"/>
                          </a:solidFill>
                          <a:latin typeface="Inter"/>
                        </a:rPr>
                        <a:t>Not yet</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Instagram DMs, X, checkout outside SA</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5B6670"/>
                          </a:solidFill>
                          <a:latin typeface="Inter"/>
                        </a:rPr>
                        <a:t>Not available</a:t>
                      </a:r>
                    </a:p>
                  </a:txBody>
                  <a:tcPr marL="109728" marR="109728" marT="36576" marB="36576" anchor="ctr">
                    <a:lnL w="0">
                      <a:noFill/>
                    </a:lnL>
                    <a:lnR w="0">
                      <a:noFill/>
                    </a:lnR>
                    <a:lnT w="0">
                      <a:noFill/>
                    </a:lnT>
                    <a:lnB w="12700">
                      <a:solidFill>
                        <a:srgbClr val="E3E6EA"/>
                      </a:solidFill>
                    </a:lnB>
                    <a:solidFill>
                      <a:srgbClr val="F3F4F6"/>
                    </a:solidFill>
                  </a:tcPr>
                </a:tc>
              </a:tr>
            </a:tbl>
          </a:graphicData>
        </a:graphic>
      </p:graphicFrame>
      <p:sp>
        <p:nvSpPr>
          <p:cNvPr id="1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1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WHY AFRICA, WHY NOW · MARKET ESTIMATES</a:t>
            </a:r>
          </a:p>
        </p:txBody>
      </p:sp>
      <p:sp>
        <p:nvSpPr>
          <p:cNvPr id="3" name="hdr2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Small businesses already sell on mobile</a:t>
            </a:r>
          </a:p>
        </p:txBody>
      </p:sp>
      <p:sp>
        <p:nvSpPr>
          <p:cNvPr id="4" name="why27|card|"/>
          <p:cNvSpPr txBox="1"/>
          <p:nvPr/>
        </p:nvSpPr>
        <p:spPr>
          <a:xfrm>
            <a:off x="548640" y="1554480"/>
            <a:ext cx="1463040" cy="566928"/>
          </a:xfrm>
          <a:prstGeom prst="rect">
            <a:avLst/>
          </a:prstGeom>
          <a:noFill/>
        </p:spPr>
        <p:txBody>
          <a:bodyPr wrap="square" lIns="0" rIns="0" tIns="0" bIns="0" anchor="ctr">
            <a:noAutofit/>
          </a:bodyPr>
          <a:lstStyle/>
          <a:p>
            <a:pPr algn="l"/>
            <a:r>
              <a:rPr sz="2600" b="1">
                <a:solidFill>
                  <a:srgbClr val="C24E00"/>
                </a:solidFill>
                <a:latin typeface="Poppins"/>
              </a:rPr>
              <a:t>&gt;90%</a:t>
            </a:r>
          </a:p>
        </p:txBody>
      </p:sp>
      <p:sp>
        <p:nvSpPr>
          <p:cNvPr id="5" name="why27|body|"/>
          <p:cNvSpPr txBox="1"/>
          <p:nvPr/>
        </p:nvSpPr>
        <p:spPr>
          <a:xfrm>
            <a:off x="2103120" y="1554480"/>
            <a:ext cx="3063240" cy="566928"/>
          </a:xfrm>
          <a:prstGeom prst="rect">
            <a:avLst/>
          </a:prstGeom>
          <a:noFill/>
        </p:spPr>
        <p:txBody>
          <a:bodyPr wrap="square" lIns="0" rIns="0" tIns="0" bIns="0" anchor="ctr">
            <a:noAutofit/>
          </a:bodyPr>
          <a:lstStyle/>
          <a:p>
            <a:pPr algn="l"/>
            <a:r>
              <a:rPr sz="1400" b="0">
                <a:solidFill>
                  <a:srgbClr val="20242B"/>
                </a:solidFill>
                <a:latin typeface="Inter"/>
              </a:rPr>
              <a:t>of internet users in SA and Nigeria use WhatsApp</a:t>
            </a:r>
          </a:p>
        </p:txBody>
      </p:sp>
      <p:sp>
        <p:nvSpPr>
          <p:cNvPr id="6" name="why27|caption|"/>
          <p:cNvSpPr txBox="1"/>
          <p:nvPr/>
        </p:nvSpPr>
        <p:spPr>
          <a:xfrm>
            <a:off x="2103120" y="2176272"/>
            <a:ext cx="3063240" cy="274320"/>
          </a:xfrm>
          <a:prstGeom prst="rect">
            <a:avLst/>
          </a:prstGeom>
          <a:noFill/>
        </p:spPr>
        <p:txBody>
          <a:bodyPr wrap="square" lIns="0" rIns="0" tIns="0" bIns="0" anchor="t">
            <a:noAutofit/>
          </a:bodyPr>
          <a:lstStyle/>
          <a:p>
            <a:pPr algn="l"/>
            <a:r>
              <a:rPr sz="1100" b="0">
                <a:solidFill>
                  <a:srgbClr val="5B6670"/>
                </a:solidFill>
                <a:latin typeface="Inter"/>
              </a:rPr>
              <a:t>DataReportal 2025 est.</a:t>
            </a:r>
          </a:p>
        </p:txBody>
      </p:sp>
      <p:sp>
        <p:nvSpPr>
          <p:cNvPr id="7" name="why29|card|"/>
          <p:cNvSpPr txBox="1"/>
          <p:nvPr/>
        </p:nvSpPr>
        <p:spPr>
          <a:xfrm>
            <a:off x="548640" y="2651760"/>
            <a:ext cx="1463040" cy="566928"/>
          </a:xfrm>
          <a:prstGeom prst="rect">
            <a:avLst/>
          </a:prstGeom>
          <a:noFill/>
        </p:spPr>
        <p:txBody>
          <a:bodyPr wrap="square" lIns="0" rIns="0" tIns="0" bIns="0" anchor="ctr">
            <a:noAutofit/>
          </a:bodyPr>
          <a:lstStyle/>
          <a:p>
            <a:pPr algn="l"/>
            <a:r>
              <a:rPr sz="2600" b="1">
                <a:solidFill>
                  <a:srgbClr val="C24E00"/>
                </a:solidFill>
                <a:latin typeface="Poppins"/>
              </a:rPr>
              <a:t>~70%</a:t>
            </a:r>
          </a:p>
        </p:txBody>
      </p:sp>
      <p:sp>
        <p:nvSpPr>
          <p:cNvPr id="8" name="why29|body|"/>
          <p:cNvSpPr txBox="1"/>
          <p:nvPr/>
        </p:nvSpPr>
        <p:spPr>
          <a:xfrm>
            <a:off x="2103120" y="2651760"/>
            <a:ext cx="3063240" cy="566928"/>
          </a:xfrm>
          <a:prstGeom prst="rect">
            <a:avLst/>
          </a:prstGeom>
          <a:noFill/>
        </p:spPr>
        <p:txBody>
          <a:bodyPr wrap="square" lIns="0" rIns="0" tIns="0" bIns="0" anchor="ctr">
            <a:noAutofit/>
          </a:bodyPr>
          <a:lstStyle/>
          <a:p>
            <a:pPr algn="l"/>
            <a:r>
              <a:rPr sz="1400" b="0">
                <a:solidFill>
                  <a:srgbClr val="20242B"/>
                </a:solidFill>
                <a:latin typeface="Inter"/>
              </a:rPr>
              <a:t>of global mobile money value is in Sub-Saharan Africa</a:t>
            </a:r>
          </a:p>
        </p:txBody>
      </p:sp>
      <p:sp>
        <p:nvSpPr>
          <p:cNvPr id="9" name="why29|caption|"/>
          <p:cNvSpPr txBox="1"/>
          <p:nvPr/>
        </p:nvSpPr>
        <p:spPr>
          <a:xfrm>
            <a:off x="2103120" y="3273552"/>
            <a:ext cx="3063240" cy="274320"/>
          </a:xfrm>
          <a:prstGeom prst="rect">
            <a:avLst/>
          </a:prstGeom>
          <a:noFill/>
        </p:spPr>
        <p:txBody>
          <a:bodyPr wrap="square" lIns="0" rIns="0" tIns="0" bIns="0" anchor="t">
            <a:noAutofit/>
          </a:bodyPr>
          <a:lstStyle/>
          <a:p>
            <a:pPr algn="l"/>
            <a:r>
              <a:rPr sz="1100" b="0">
                <a:solidFill>
                  <a:srgbClr val="5B6670"/>
                </a:solidFill>
                <a:latin typeface="Inter"/>
              </a:rPr>
              <a:t>GSMA State of the Industry 2025 est.</a:t>
            </a:r>
          </a:p>
        </p:txBody>
      </p:sp>
      <p:sp>
        <p:nvSpPr>
          <p:cNvPr id="10" name="why31|card|"/>
          <p:cNvSpPr txBox="1"/>
          <p:nvPr/>
        </p:nvSpPr>
        <p:spPr>
          <a:xfrm>
            <a:off x="548640" y="3749039"/>
            <a:ext cx="1463040" cy="566928"/>
          </a:xfrm>
          <a:prstGeom prst="rect">
            <a:avLst/>
          </a:prstGeom>
          <a:noFill/>
        </p:spPr>
        <p:txBody>
          <a:bodyPr wrap="square" lIns="0" rIns="0" tIns="0" bIns="0" anchor="ctr">
            <a:noAutofit/>
          </a:bodyPr>
          <a:lstStyle/>
          <a:p>
            <a:pPr algn="l"/>
            <a:r>
              <a:rPr sz="2600" b="1">
                <a:solidFill>
                  <a:srgbClr val="C24E00"/>
                </a:solidFill>
                <a:latin typeface="Poppins"/>
              </a:rPr>
              <a:t>~44M</a:t>
            </a:r>
          </a:p>
        </p:txBody>
      </p:sp>
      <p:sp>
        <p:nvSpPr>
          <p:cNvPr id="11" name="why31|body|"/>
          <p:cNvSpPr txBox="1"/>
          <p:nvPr/>
        </p:nvSpPr>
        <p:spPr>
          <a:xfrm>
            <a:off x="2103120" y="3749039"/>
            <a:ext cx="3063240" cy="566928"/>
          </a:xfrm>
          <a:prstGeom prst="rect">
            <a:avLst/>
          </a:prstGeom>
          <a:noFill/>
        </p:spPr>
        <p:txBody>
          <a:bodyPr wrap="square" lIns="0" rIns="0" tIns="0" bIns="0" anchor="ctr">
            <a:noAutofit/>
          </a:bodyPr>
          <a:lstStyle/>
          <a:p>
            <a:pPr algn="l"/>
            <a:r>
              <a:rPr sz="1400" b="0">
                <a:solidFill>
                  <a:srgbClr val="20242B"/>
                </a:solidFill>
                <a:latin typeface="Inter"/>
              </a:rPr>
              <a:t>MSMEs in Sub-Saharan Africa</a:t>
            </a:r>
          </a:p>
        </p:txBody>
      </p:sp>
      <p:sp>
        <p:nvSpPr>
          <p:cNvPr id="12" name="why31|caption|"/>
          <p:cNvSpPr txBox="1"/>
          <p:nvPr/>
        </p:nvSpPr>
        <p:spPr>
          <a:xfrm>
            <a:off x="2103120" y="4370831"/>
            <a:ext cx="3063240" cy="274320"/>
          </a:xfrm>
          <a:prstGeom prst="rect">
            <a:avLst/>
          </a:prstGeom>
          <a:noFill/>
        </p:spPr>
        <p:txBody>
          <a:bodyPr wrap="square" lIns="0" rIns="0" tIns="0" bIns="0" anchor="t">
            <a:noAutofit/>
          </a:bodyPr>
          <a:lstStyle/>
          <a:p>
            <a:pPr algn="l"/>
            <a:r>
              <a:rPr sz="1100" b="0">
                <a:solidFill>
                  <a:srgbClr val="5B6670"/>
                </a:solidFill>
                <a:latin typeface="Inter"/>
              </a:rPr>
              <a:t>IFC / World Bank est.</a:t>
            </a:r>
          </a:p>
        </p:txBody>
      </p:sp>
      <p:sp>
        <p:nvSpPr>
          <p:cNvPr id="13" name="why33|card|"/>
          <p:cNvSpPr txBox="1"/>
          <p:nvPr/>
        </p:nvSpPr>
        <p:spPr>
          <a:xfrm>
            <a:off x="548640" y="4846320"/>
            <a:ext cx="1463040" cy="566928"/>
          </a:xfrm>
          <a:prstGeom prst="rect">
            <a:avLst/>
          </a:prstGeom>
          <a:noFill/>
        </p:spPr>
        <p:txBody>
          <a:bodyPr wrap="square" lIns="0" rIns="0" tIns="0" bIns="0" anchor="ctr">
            <a:noAutofit/>
          </a:bodyPr>
          <a:lstStyle/>
          <a:p>
            <a:pPr algn="l"/>
            <a:r>
              <a:rPr sz="2600" b="1">
                <a:solidFill>
                  <a:srgbClr val="C24E00"/>
                </a:solidFill>
                <a:latin typeface="Poppins"/>
              </a:rPr>
              <a:t>~39M</a:t>
            </a:r>
          </a:p>
        </p:txBody>
      </p:sp>
      <p:sp>
        <p:nvSpPr>
          <p:cNvPr id="14" name="why33|body|"/>
          <p:cNvSpPr txBox="1"/>
          <p:nvPr/>
        </p:nvSpPr>
        <p:spPr>
          <a:xfrm>
            <a:off x="2103120" y="4846320"/>
            <a:ext cx="3063240" cy="566928"/>
          </a:xfrm>
          <a:prstGeom prst="rect">
            <a:avLst/>
          </a:prstGeom>
          <a:noFill/>
        </p:spPr>
        <p:txBody>
          <a:bodyPr wrap="square" lIns="0" rIns="0" tIns="0" bIns="0" anchor="ctr">
            <a:noAutofit/>
          </a:bodyPr>
          <a:lstStyle/>
          <a:p>
            <a:pPr algn="l"/>
            <a:r>
              <a:rPr sz="1400" b="0">
                <a:solidFill>
                  <a:srgbClr val="20242B"/>
                </a:solidFill>
                <a:latin typeface="Inter"/>
              </a:rPr>
              <a:t>MSMEs in Nigeria; ~7.4M in Kenya; ~2.5–3M SMMEs in South Africa</a:t>
            </a:r>
          </a:p>
        </p:txBody>
      </p:sp>
      <p:sp>
        <p:nvSpPr>
          <p:cNvPr id="15" name="why33|caption|"/>
          <p:cNvSpPr txBox="1"/>
          <p:nvPr/>
        </p:nvSpPr>
        <p:spPr>
          <a:xfrm>
            <a:off x="2103120" y="5468112"/>
            <a:ext cx="3063240" cy="274320"/>
          </a:xfrm>
          <a:prstGeom prst="rect">
            <a:avLst/>
          </a:prstGeom>
          <a:noFill/>
        </p:spPr>
        <p:txBody>
          <a:bodyPr wrap="square" lIns="0" rIns="0" tIns="0" bIns="0" anchor="t">
            <a:noAutofit/>
          </a:bodyPr>
          <a:lstStyle/>
          <a:p>
            <a:pPr algn="l"/>
            <a:r>
              <a:rPr sz="1100" b="0">
                <a:solidFill>
                  <a:srgbClr val="5B6670"/>
                </a:solidFill>
                <a:latin typeface="Inter"/>
              </a:rPr>
              <a:t>SMEDAN, KNBS, SEDA / Stats SA est.</a:t>
            </a:r>
          </a:p>
        </p:txBody>
      </p:sp>
      <p:pic>
        <p:nvPicPr>
          <p:cNvPr id="16" name="g35|img|charts/tam_sam_som_16x9.png" descr="TAM 44 million MSMEs, SAM 3.5 million SMBs, SOM 17,500 paying workspaces (estimates)"/>
          <p:cNvPicPr>
            <a:picLocks noChangeAspect="1"/>
          </p:cNvPicPr>
          <p:nvPr/>
        </p:nvPicPr>
        <p:blipFill>
          <a:blip r:embed="rId2"/>
          <a:srcRect l="10000" t="14000" r="2000" b="5000"/>
          <a:stretch>
            <a:fillRect/>
          </a:stretch>
        </p:blipFill>
        <p:spPr>
          <a:xfrm>
            <a:off x="5440680" y="1481328"/>
            <a:ext cx="6199632" cy="3209894"/>
          </a:xfrm>
          <a:prstGeom prst="rect">
            <a:avLst/>
          </a:prstGeom>
        </p:spPr>
      </p:pic>
      <p:sp>
        <p:nvSpPr>
          <p:cNvPr id="17" name="g36|caption|"/>
          <p:cNvSpPr txBox="1"/>
          <p:nvPr/>
        </p:nvSpPr>
        <p:spPr>
          <a:xfrm>
            <a:off x="5440680" y="4892040"/>
            <a:ext cx="6199632" cy="914400"/>
          </a:xfrm>
          <a:prstGeom prst="rect">
            <a:avLst/>
          </a:prstGeom>
          <a:noFill/>
        </p:spPr>
        <p:txBody>
          <a:bodyPr wrap="square" lIns="0" rIns="0" tIns="0" bIns="0" anchor="t">
            <a:noAutofit/>
          </a:bodyPr>
          <a:lstStyle/>
          <a:p>
            <a:pPr algn="l"/>
            <a:r>
              <a:rPr sz="1200" b="0">
                <a:solidFill>
                  <a:srgbClr val="5B6670"/>
                </a:solidFill>
                <a:latin typeface="Inter"/>
              </a:rPr>
              <a:t>TAM: IFC / World Bank est. SAM and SOM: FluxMuse planning estimates. The base case reaches 4,627 paying workspaces in FY5, 26.4% of SOM (projection (model v3, base case)). Verify all estimates before external use.</a:t>
            </a:r>
          </a:p>
        </p:txBody>
      </p:sp>
      <p:sp>
        <p:nvSpPr>
          <p:cNvPr id="1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1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BUSINESS MODEL · PRICED IN RANDS</a:t>
            </a:r>
          </a:p>
        </p:txBody>
      </p:sp>
      <p:sp>
        <p:nvSpPr>
          <p:cNvPr id="3" name="hdr3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Nine plans in three bands</a:t>
            </a:r>
          </a:p>
        </p:txBody>
      </p:sp>
      <p:graphicFrame>
        <p:nvGraphicFramePr>
          <p:cNvPr id="4" name="g38|table|pricing"/>
          <p:cNvGraphicFramePr>
            <a:graphicFrameLocks noGrp="1"/>
          </p:cNvGraphicFramePr>
          <p:nvPr/>
        </p:nvGraphicFramePr>
        <p:xfrm>
          <a:off x="548640" y="1481328"/>
          <a:ext cx="7178040" cy="3410712"/>
        </p:xfrm>
        <a:graphic>
          <a:graphicData uri="http://schemas.openxmlformats.org/drawingml/2006/table">
            <a:tbl>
              <a:tblPr firstRow="0" bandRow="0"/>
              <a:tblGrid>
                <a:gridCol w="1600200"/>
                <a:gridCol w="1737360"/>
                <a:gridCol w="2057400"/>
                <a:gridCol w="1783080"/>
              </a:tblGrid>
              <a:tr h="365760">
                <a:tc>
                  <a:txBody>
                    <a:bodyPr wrap="square"/>
                    <a:lstStyle/>
                    <a:p>
                      <a:pPr algn="l"/>
                      <a:r>
                        <a:rPr sz="1400" b="1">
                          <a:solidFill>
                            <a:srgbClr val="FFFFFF"/>
                          </a:solidFill>
                          <a:latin typeface="Poppins"/>
                        </a:rPr>
                        <a:t>Band</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Plan</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Monthly</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Annual</a:t>
                      </a:r>
                    </a:p>
                  </a:txBody>
                  <a:tcPr marL="109728" marR="109728" marT="36576" marB="36576" anchor="ctr">
                    <a:lnL w="0">
                      <a:noFill/>
                    </a:lnL>
                    <a:lnR w="0">
                      <a:noFill/>
                    </a:lnR>
                    <a:lnT w="0">
                      <a:noFill/>
                    </a:lnT>
                    <a:lnB w="0">
                      <a:noFill/>
                    </a:lnB>
                    <a:solidFill>
                      <a:srgbClr val="0F1419"/>
                    </a:solidFill>
                  </a:tcPr>
                </a:tc>
              </a:tr>
              <a:tr h="338328">
                <a:tc>
                  <a:txBody>
                    <a:bodyPr wrap="square"/>
                    <a:lstStyle/>
                    <a:p>
                      <a:pPr algn="l"/>
                      <a:r>
                        <a:rPr sz="1400" b="1">
                          <a:solidFill>
                            <a:srgbClr val="C24E00"/>
                          </a:solidFill>
                          <a:latin typeface="Inter"/>
                        </a:rPr>
                        <a:t>Small</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Free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Nano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R149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R1,490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Micro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R289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R2,890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Medium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Starter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l"/>
                      <a:r>
                        <a:rPr sz="1400" b="1">
                          <a:solidFill>
                            <a:srgbClr val="20242B"/>
                          </a:solidFill>
                          <a:latin typeface="Inter"/>
                        </a:rPr>
                        <a:t>Growth</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1">
                          <a:solidFill>
                            <a:srgbClr val="20242B"/>
                          </a:solidFill>
                          <a:latin typeface="Inter"/>
                        </a:rPr>
                        <a:t>R1,999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R19,990</a:t>
                      </a:r>
                    </a:p>
                  </a:txBody>
                  <a:tcPr marL="109728" marR="109728" marT="36576" marB="36576" anchor="ctr">
                    <a:lnL w="0">
                      <a:noFill/>
                    </a:lnL>
                    <a:lnR w="0">
                      <a:noFill/>
                    </a:lnR>
                    <a:lnT w="0">
                      <a:noFill/>
                    </a:lnT>
                    <a:lnB w="12700">
                      <a:solidFill>
                        <a:srgbClr val="E3E6EA"/>
                      </a:solidFill>
                    </a:lnB>
                    <a:solidFill>
                      <a:srgbClr val="FFF4EB"/>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Scale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Enterprise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Corporate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R69,990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Agency</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R99,990</a:t>
                      </a:r>
                    </a:p>
                  </a:txBody>
                  <a:tcPr marL="109728" marR="109728" marT="36576" marB="36576" anchor="ctr">
                    <a:lnL w="0">
                      <a:noFill/>
                    </a:lnL>
                    <a:lnR w="0">
                      <a:noFill/>
                    </a:lnR>
                    <a:lnT w="0">
                      <a:noFill/>
                    </a:lnT>
                    <a:lnB w="12700">
                      <a:solidFill>
                        <a:srgbClr val="E3E6EA"/>
                      </a:solidFill>
                    </a:lnB>
                    <a:solidFill>
                      <a:srgbClr val="FFFFFF"/>
                    </a:solidFill>
                  </a:tcPr>
                </a:tc>
              </a:tr>
              <a:tr h="338328">
                <a:tc>
                  <a:txBody>
                    <a:bodyPr wrap="square"/>
                    <a:lstStyle/>
                    <a:p>
                      <a:pPr algn="l"/>
                      <a:r>
                        <a:rPr sz="1400" b="1">
                          <a:solidFill>
                            <a:srgbClr val="C24E00"/>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Custom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By consultation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g39|chip|"/>
          <p:cNvSpPr/>
          <p:nvPr/>
        </p:nvSpPr>
        <p:spPr>
          <a:xfrm>
            <a:off x="548640" y="4974336"/>
            <a:ext cx="2240280" cy="384048"/>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39|chip|"/>
          <p:cNvSpPr txBox="1"/>
          <p:nvPr/>
        </p:nvSpPr>
        <p:spPr>
          <a:xfrm>
            <a:off x="548640" y="4974336"/>
            <a:ext cx="2240280" cy="384048"/>
          </a:xfrm>
          <a:prstGeom prst="rect">
            <a:avLst/>
          </a:prstGeom>
          <a:noFill/>
        </p:spPr>
        <p:txBody>
          <a:bodyPr wrap="square" lIns="0" rIns="0" tIns="0" bIns="0" anchor="ctr">
            <a:noAutofit/>
          </a:bodyPr>
          <a:lstStyle/>
          <a:p>
            <a:pPr algn="ctr"/>
            <a:r>
              <a:rPr sz="1400" b="1">
                <a:solidFill>
                  <a:srgbClr val="20242B"/>
                </a:solidFill>
                <a:latin typeface="Inter"/>
              </a:rPr>
              <a:t>Annual = 10× monthly</a:t>
            </a:r>
          </a:p>
        </p:txBody>
      </p:sp>
      <p:sp>
        <p:nvSpPr>
          <p:cNvPr id="7" name="g40|chip|"/>
          <p:cNvSpPr/>
          <p:nvPr/>
        </p:nvSpPr>
        <p:spPr>
          <a:xfrm>
            <a:off x="2880360" y="4974336"/>
            <a:ext cx="2834640" cy="384048"/>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40|chip|"/>
          <p:cNvSpPr txBox="1"/>
          <p:nvPr/>
        </p:nvSpPr>
        <p:spPr>
          <a:xfrm>
            <a:off x="2880360" y="4974336"/>
            <a:ext cx="2834640" cy="384048"/>
          </a:xfrm>
          <a:prstGeom prst="rect">
            <a:avLst/>
          </a:prstGeom>
          <a:noFill/>
        </p:spPr>
        <p:txBody>
          <a:bodyPr wrap="square" lIns="0" rIns="0" tIns="0" bIns="0" anchor="ctr">
            <a:noAutofit/>
          </a:bodyPr>
          <a:lstStyle/>
          <a:p>
            <a:pPr algn="ctr"/>
            <a:r>
              <a:rPr sz="1400" b="1">
                <a:solidFill>
                  <a:srgbClr val="20242B"/>
                </a:solidFill>
                <a:latin typeface="Inter"/>
              </a:rPr>
              <a:t>Paid plans start with payment</a:t>
            </a:r>
          </a:p>
        </p:txBody>
      </p:sp>
      <p:sp>
        <p:nvSpPr>
          <p:cNvPr id="9" name="g41|chip|"/>
          <p:cNvSpPr/>
          <p:nvPr/>
        </p:nvSpPr>
        <p:spPr>
          <a:xfrm>
            <a:off x="5806440" y="4974336"/>
            <a:ext cx="1920240" cy="384048"/>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41|chip|"/>
          <p:cNvSpPr txBox="1"/>
          <p:nvPr/>
        </p:nvSpPr>
        <p:spPr>
          <a:xfrm>
            <a:off x="5806440" y="4974336"/>
            <a:ext cx="1920240" cy="384048"/>
          </a:xfrm>
          <a:prstGeom prst="rect">
            <a:avLst/>
          </a:prstGeom>
          <a:noFill/>
        </p:spPr>
        <p:txBody>
          <a:bodyPr wrap="square" lIns="0" rIns="0" tIns="0" bIns="0" anchor="ctr">
            <a:noAutofit/>
          </a:bodyPr>
          <a:lstStyle/>
          <a:p>
            <a:pPr algn="ctr"/>
            <a:r>
              <a:rPr sz="1400" b="1">
                <a:solidFill>
                  <a:srgbClr val="20242B"/>
                </a:solidFill>
                <a:latin typeface="Inter"/>
              </a:rPr>
              <a:t>No VAT added</a:t>
            </a:r>
          </a:p>
        </p:txBody>
      </p:sp>
      <p:sp>
        <p:nvSpPr>
          <p:cNvPr id="11" name="fm42|card|"/>
          <p:cNvSpPr/>
          <p:nvPr/>
        </p:nvSpPr>
        <p:spPr>
          <a:xfrm>
            <a:off x="548640" y="5468112"/>
            <a:ext cx="7178040" cy="841248"/>
          </a:xfrm>
          <a:prstGeom prst="roundRect">
            <a:avLst>
              <a:gd name="adj" fmla="val 17391"/>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m42|card|"/>
          <p:cNvSpPr txBox="1"/>
          <p:nvPr/>
        </p:nvSpPr>
        <p:spPr>
          <a:xfrm>
            <a:off x="777240" y="5504688"/>
            <a:ext cx="6720840" cy="768096"/>
          </a:xfrm>
          <a:prstGeom prst="rect">
            <a:avLst/>
          </a:prstGeom>
          <a:noFill/>
        </p:spPr>
        <p:txBody>
          <a:bodyPr wrap="square" lIns="0" rIns="0" tIns="0" bIns="0" anchor="ctr">
            <a:noAutofit/>
          </a:bodyPr>
          <a:lstStyle/>
          <a:p>
            <a:pPr algn="l"/>
            <a:r>
              <a:rPr sz="1400" b="1">
                <a:solidFill>
                  <a:srgbClr val="C24E00"/>
                </a:solidFill>
                <a:latin typeface="Inter"/>
              </a:rPr>
              <a:t>Founding Member, live now: </a:t>
            </a:r>
            <a:r>
              <a:rPr sz="1400" b="0">
                <a:solidFill>
                  <a:srgbClr val="20242B"/>
                </a:solidFill>
                <a:latin typeface="Inter"/>
              </a:rPr>
              <a:t>30% off the first two monthly bills for South African sign-ups (Nano R104, Growth R1,399). Partner wholesale R6,999.</a:t>
            </a:r>
          </a:p>
        </p:txBody>
      </p:sp>
      <p:sp>
        <p:nvSpPr>
          <p:cNvPr id="13" name="streams43|card|"/>
          <p:cNvSpPr/>
          <p:nvPr/>
        </p:nvSpPr>
        <p:spPr>
          <a:xfrm>
            <a:off x="7909560" y="1481328"/>
            <a:ext cx="3730752" cy="4828032"/>
          </a:xfrm>
          <a:prstGeom prst="roundRect">
            <a:avLst>
              <a:gd name="adj" fmla="val 4901"/>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reams43|eyebrow|"/>
          <p:cNvSpPr txBox="1"/>
          <p:nvPr/>
        </p:nvSpPr>
        <p:spPr>
          <a:xfrm>
            <a:off x="8183880" y="1664208"/>
            <a:ext cx="3182112" cy="256032"/>
          </a:xfrm>
          <a:prstGeom prst="rect">
            <a:avLst/>
          </a:prstGeom>
          <a:noFill/>
        </p:spPr>
        <p:txBody>
          <a:bodyPr wrap="square" lIns="0" rIns="0" tIns="0" bIns="0" anchor="t">
            <a:noAutofit/>
          </a:bodyPr>
          <a:lstStyle/>
          <a:p>
            <a:pPr algn="l"/>
            <a:r>
              <a:rPr sz="1200" b="1" spc="120">
                <a:solidFill>
                  <a:srgbClr val="C24E00"/>
                </a:solidFill>
                <a:latin typeface="Inter"/>
              </a:rPr>
              <a:t>REVENUE STREAMS · FY5</a:t>
            </a:r>
          </a:p>
        </p:txBody>
      </p:sp>
      <p:sp>
        <p:nvSpPr>
          <p:cNvPr id="15" name="streams43|caption|"/>
          <p:cNvSpPr txBox="1"/>
          <p:nvPr/>
        </p:nvSpPr>
        <p:spPr>
          <a:xfrm>
            <a:off x="8183880" y="1920240"/>
            <a:ext cx="3182112" cy="256032"/>
          </a:xfrm>
          <a:prstGeom prst="rect">
            <a:avLst/>
          </a:prstGeom>
          <a:noFill/>
        </p:spPr>
        <p:txBody>
          <a:bodyPr wrap="square" lIns="0" rIns="0" tIns="0" bIns="0" anchor="t">
            <a:noAutofit/>
          </a:bodyPr>
          <a:lstStyle/>
          <a:p>
            <a:pPr algn="l"/>
            <a:r>
              <a:rPr sz="1200" b="0">
                <a:solidFill>
                  <a:srgbClr val="5B6670"/>
                </a:solidFill>
                <a:latin typeface="Inter"/>
              </a:rPr>
              <a:t>Projection (model v3, base case)</a:t>
            </a:r>
          </a:p>
        </p:txBody>
      </p:sp>
      <p:sp>
        <p:nvSpPr>
          <p:cNvPr id="16" name="streams43|card|"/>
          <p:cNvSpPr txBox="1"/>
          <p:nvPr/>
        </p:nvSpPr>
        <p:spPr>
          <a:xfrm>
            <a:off x="8183880" y="2304288"/>
            <a:ext cx="2194560" cy="384048"/>
          </a:xfrm>
          <a:prstGeom prst="rect">
            <a:avLst/>
          </a:prstGeom>
          <a:noFill/>
        </p:spPr>
        <p:txBody>
          <a:bodyPr wrap="square" lIns="0" rIns="0" tIns="0" bIns="0" anchor="ctr">
            <a:noAutofit/>
          </a:bodyPr>
          <a:lstStyle/>
          <a:p>
            <a:pPr algn="l"/>
            <a:r>
              <a:rPr sz="1500" b="0">
                <a:solidFill>
                  <a:srgbClr val="20242B"/>
                </a:solidFill>
                <a:latin typeface="Inter"/>
              </a:rPr>
              <a:t>Subscriptions (net)</a:t>
            </a:r>
          </a:p>
        </p:txBody>
      </p:sp>
      <p:sp>
        <p:nvSpPr>
          <p:cNvPr id="17" name="streams43|card|"/>
          <p:cNvSpPr txBox="1"/>
          <p:nvPr/>
        </p:nvSpPr>
        <p:spPr>
          <a:xfrm>
            <a:off x="10378440" y="2304288"/>
            <a:ext cx="987552" cy="384048"/>
          </a:xfrm>
          <a:prstGeom prst="rect">
            <a:avLst/>
          </a:prstGeom>
          <a:noFill/>
        </p:spPr>
        <p:txBody>
          <a:bodyPr wrap="square" lIns="0" rIns="0" tIns="0" bIns="0" anchor="ctr">
            <a:noAutofit/>
          </a:bodyPr>
          <a:lstStyle/>
          <a:p>
            <a:pPr algn="r"/>
            <a:r>
              <a:rPr sz="1500" b="1">
                <a:solidFill>
                  <a:srgbClr val="20242B"/>
                </a:solidFill>
                <a:latin typeface="Inter"/>
              </a:rPr>
              <a:t>R84.7M</a:t>
            </a:r>
          </a:p>
        </p:txBody>
      </p:sp>
      <p:sp>
        <p:nvSpPr>
          <p:cNvPr id="18" name="streams43|card|"/>
          <p:cNvSpPr txBox="1"/>
          <p:nvPr/>
        </p:nvSpPr>
        <p:spPr>
          <a:xfrm>
            <a:off x="8183880" y="2761488"/>
            <a:ext cx="2194560" cy="384048"/>
          </a:xfrm>
          <a:prstGeom prst="rect">
            <a:avLst/>
          </a:prstGeom>
          <a:noFill/>
        </p:spPr>
        <p:txBody>
          <a:bodyPr wrap="square" lIns="0" rIns="0" tIns="0" bIns="0" anchor="ctr">
            <a:noAutofit/>
          </a:bodyPr>
          <a:lstStyle/>
          <a:p>
            <a:pPr algn="l"/>
            <a:r>
              <a:rPr sz="1500" b="0">
                <a:solidFill>
                  <a:srgbClr val="20242B"/>
                </a:solidFill>
                <a:latin typeface="Inter"/>
              </a:rPr>
              <a:t>WhatsApp messaging</a:t>
            </a:r>
          </a:p>
        </p:txBody>
      </p:sp>
      <p:sp>
        <p:nvSpPr>
          <p:cNvPr id="19" name="streams43|card|"/>
          <p:cNvSpPr txBox="1"/>
          <p:nvPr/>
        </p:nvSpPr>
        <p:spPr>
          <a:xfrm>
            <a:off x="10378440" y="2761488"/>
            <a:ext cx="987552" cy="384048"/>
          </a:xfrm>
          <a:prstGeom prst="rect">
            <a:avLst/>
          </a:prstGeom>
          <a:noFill/>
        </p:spPr>
        <p:txBody>
          <a:bodyPr wrap="square" lIns="0" rIns="0" tIns="0" bIns="0" anchor="ctr">
            <a:noAutofit/>
          </a:bodyPr>
          <a:lstStyle/>
          <a:p>
            <a:pPr algn="r"/>
            <a:r>
              <a:rPr sz="1500" b="1">
                <a:solidFill>
                  <a:srgbClr val="20242B"/>
                </a:solidFill>
                <a:latin typeface="Inter"/>
              </a:rPr>
              <a:t>R7.9M</a:t>
            </a:r>
          </a:p>
        </p:txBody>
      </p:sp>
      <p:sp>
        <p:nvSpPr>
          <p:cNvPr id="20" name="streams43|card|"/>
          <p:cNvSpPr txBox="1"/>
          <p:nvPr/>
        </p:nvSpPr>
        <p:spPr>
          <a:xfrm>
            <a:off x="8183880" y="3218688"/>
            <a:ext cx="2194560" cy="384048"/>
          </a:xfrm>
          <a:prstGeom prst="rect">
            <a:avLst/>
          </a:prstGeom>
          <a:noFill/>
        </p:spPr>
        <p:txBody>
          <a:bodyPr wrap="square" lIns="0" rIns="0" tIns="0" bIns="0" anchor="ctr">
            <a:noAutofit/>
          </a:bodyPr>
          <a:lstStyle/>
          <a:p>
            <a:pPr algn="l"/>
            <a:r>
              <a:rPr sz="1500" b="0">
                <a:solidFill>
                  <a:srgbClr val="20242B"/>
                </a:solidFill>
                <a:latin typeface="Inter"/>
              </a:rPr>
              <a:t>AI-credit packs</a:t>
            </a:r>
          </a:p>
        </p:txBody>
      </p:sp>
      <p:sp>
        <p:nvSpPr>
          <p:cNvPr id="21" name="streams43|card|"/>
          <p:cNvSpPr txBox="1"/>
          <p:nvPr/>
        </p:nvSpPr>
        <p:spPr>
          <a:xfrm>
            <a:off x="10378440" y="3218688"/>
            <a:ext cx="987552" cy="384048"/>
          </a:xfrm>
          <a:prstGeom prst="rect">
            <a:avLst/>
          </a:prstGeom>
          <a:noFill/>
        </p:spPr>
        <p:txBody>
          <a:bodyPr wrap="square" lIns="0" rIns="0" tIns="0" bIns="0" anchor="ctr">
            <a:noAutofit/>
          </a:bodyPr>
          <a:lstStyle/>
          <a:p>
            <a:pPr algn="r"/>
            <a:r>
              <a:rPr sz="1500" b="1">
                <a:solidFill>
                  <a:srgbClr val="20242B"/>
                </a:solidFill>
                <a:latin typeface="Inter"/>
              </a:rPr>
              <a:t>R0.9M</a:t>
            </a:r>
          </a:p>
        </p:txBody>
      </p:sp>
      <p:sp>
        <p:nvSpPr>
          <p:cNvPr id="22" name="streams43|card|"/>
          <p:cNvSpPr txBox="1"/>
          <p:nvPr/>
        </p:nvSpPr>
        <p:spPr>
          <a:xfrm>
            <a:off x="8183880" y="3675887"/>
            <a:ext cx="2194560" cy="384048"/>
          </a:xfrm>
          <a:prstGeom prst="rect">
            <a:avLst/>
          </a:prstGeom>
          <a:noFill/>
        </p:spPr>
        <p:txBody>
          <a:bodyPr wrap="square" lIns="0" rIns="0" tIns="0" bIns="0" anchor="ctr">
            <a:noAutofit/>
          </a:bodyPr>
          <a:lstStyle/>
          <a:p>
            <a:pPr algn="l"/>
            <a:r>
              <a:rPr sz="1500" b="0">
                <a:solidFill>
                  <a:srgbClr val="20242B"/>
                </a:solidFill>
                <a:latin typeface="Inter"/>
              </a:rPr>
              <a:t>Custom setup fees</a:t>
            </a:r>
          </a:p>
        </p:txBody>
      </p:sp>
      <p:sp>
        <p:nvSpPr>
          <p:cNvPr id="23" name="streams43|card|"/>
          <p:cNvSpPr txBox="1"/>
          <p:nvPr/>
        </p:nvSpPr>
        <p:spPr>
          <a:xfrm>
            <a:off x="10378440" y="3675887"/>
            <a:ext cx="987552" cy="384048"/>
          </a:xfrm>
          <a:prstGeom prst="rect">
            <a:avLst/>
          </a:prstGeom>
          <a:noFill/>
        </p:spPr>
        <p:txBody>
          <a:bodyPr wrap="square" lIns="0" rIns="0" tIns="0" bIns="0" anchor="ctr">
            <a:noAutofit/>
          </a:bodyPr>
          <a:lstStyle/>
          <a:p>
            <a:pPr algn="r"/>
            <a:r>
              <a:rPr sz="1500" b="1">
                <a:solidFill>
                  <a:srgbClr val="20242B"/>
                </a:solidFill>
                <a:latin typeface="Inter"/>
              </a:rPr>
              <a:t>R0.1M</a:t>
            </a:r>
          </a:p>
        </p:txBody>
      </p:sp>
      <p:sp>
        <p:nvSpPr>
          <p:cNvPr id="24" name="streams43|card|"/>
          <p:cNvSpPr txBox="1"/>
          <p:nvPr/>
        </p:nvSpPr>
        <p:spPr>
          <a:xfrm>
            <a:off x="8183880" y="4133087"/>
            <a:ext cx="2194560" cy="384048"/>
          </a:xfrm>
          <a:prstGeom prst="rect">
            <a:avLst/>
          </a:prstGeom>
          <a:noFill/>
        </p:spPr>
        <p:txBody>
          <a:bodyPr wrap="square" lIns="0" rIns="0" tIns="0" bIns="0" anchor="ctr">
            <a:noAutofit/>
          </a:bodyPr>
          <a:lstStyle/>
          <a:p>
            <a:pPr algn="l"/>
            <a:r>
              <a:rPr sz="1500" b="0">
                <a:solidFill>
                  <a:srgbClr val="20242B"/>
                </a:solidFill>
                <a:latin typeface="Inter"/>
              </a:rPr>
              <a:t>FluxMuse checkout fee</a:t>
            </a:r>
          </a:p>
        </p:txBody>
      </p:sp>
      <p:sp>
        <p:nvSpPr>
          <p:cNvPr id="25" name="streams43|card|"/>
          <p:cNvSpPr txBox="1"/>
          <p:nvPr/>
        </p:nvSpPr>
        <p:spPr>
          <a:xfrm>
            <a:off x="10378440" y="4133087"/>
            <a:ext cx="987552" cy="384048"/>
          </a:xfrm>
          <a:prstGeom prst="rect">
            <a:avLst/>
          </a:prstGeom>
          <a:noFill/>
        </p:spPr>
        <p:txBody>
          <a:bodyPr wrap="square" lIns="0" rIns="0" tIns="0" bIns="0" anchor="ctr">
            <a:noAutofit/>
          </a:bodyPr>
          <a:lstStyle/>
          <a:p>
            <a:pPr algn="r"/>
            <a:r>
              <a:rPr sz="1500" b="1">
                <a:solidFill>
                  <a:srgbClr val="20242B"/>
                </a:solidFill>
                <a:latin typeface="Inter"/>
              </a:rPr>
              <a:t>R0</a:t>
            </a:r>
          </a:p>
        </p:txBody>
      </p:sp>
      <p:sp>
        <p:nvSpPr>
          <p:cNvPr id="26" name="streams43|deco|"/>
          <p:cNvSpPr/>
          <p:nvPr/>
        </p:nvSpPr>
        <p:spPr>
          <a:xfrm>
            <a:off x="8183880" y="4553712"/>
            <a:ext cx="3182112" cy="18288"/>
          </a:xfrm>
          <a:prstGeom prst="rect">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reams43|card|"/>
          <p:cNvSpPr txBox="1"/>
          <p:nvPr/>
        </p:nvSpPr>
        <p:spPr>
          <a:xfrm>
            <a:off x="8183880" y="4590288"/>
            <a:ext cx="2194560" cy="384048"/>
          </a:xfrm>
          <a:prstGeom prst="rect">
            <a:avLst/>
          </a:prstGeom>
          <a:noFill/>
        </p:spPr>
        <p:txBody>
          <a:bodyPr wrap="square" lIns="0" rIns="0" tIns="0" bIns="0" anchor="ctr">
            <a:noAutofit/>
          </a:bodyPr>
          <a:lstStyle/>
          <a:p>
            <a:pPr algn="l"/>
            <a:r>
              <a:rPr sz="1500" b="1">
                <a:solidFill>
                  <a:srgbClr val="20242B"/>
                </a:solidFill>
                <a:latin typeface="Inter"/>
              </a:rPr>
              <a:t>Total revenue</a:t>
            </a:r>
          </a:p>
        </p:txBody>
      </p:sp>
      <p:sp>
        <p:nvSpPr>
          <p:cNvPr id="28" name="streams43|card|"/>
          <p:cNvSpPr txBox="1"/>
          <p:nvPr/>
        </p:nvSpPr>
        <p:spPr>
          <a:xfrm>
            <a:off x="10378440" y="4590288"/>
            <a:ext cx="987552" cy="384048"/>
          </a:xfrm>
          <a:prstGeom prst="rect">
            <a:avLst/>
          </a:prstGeom>
          <a:noFill/>
        </p:spPr>
        <p:txBody>
          <a:bodyPr wrap="square" lIns="0" rIns="0" tIns="0" bIns="0" anchor="ctr">
            <a:noAutofit/>
          </a:bodyPr>
          <a:lstStyle/>
          <a:p>
            <a:pPr algn="r"/>
            <a:r>
              <a:rPr sz="1500" b="1">
                <a:solidFill>
                  <a:srgbClr val="20242B"/>
                </a:solidFill>
                <a:latin typeface="Inter"/>
              </a:rPr>
              <a:t>R93.5M</a:t>
            </a:r>
          </a:p>
        </p:txBody>
      </p:sp>
      <p:sp>
        <p:nvSpPr>
          <p:cNvPr id="29" name="streams43|caption|"/>
          <p:cNvSpPr txBox="1"/>
          <p:nvPr/>
        </p:nvSpPr>
        <p:spPr>
          <a:xfrm>
            <a:off x="8183880" y="5212080"/>
            <a:ext cx="3182112" cy="914400"/>
          </a:xfrm>
          <a:prstGeom prst="rect">
            <a:avLst/>
          </a:prstGeom>
          <a:noFill/>
        </p:spPr>
        <p:txBody>
          <a:bodyPr wrap="square" lIns="0" rIns="0" tIns="0" bIns="0" anchor="t">
            <a:noAutofit/>
          </a:bodyPr>
          <a:lstStyle/>
          <a:p>
            <a:pPr algn="l"/>
            <a:r>
              <a:rPr sz="1100" b="0">
                <a:solidFill>
                  <a:srgbClr val="5B6670"/>
                </a:solidFill>
                <a:latin typeface="Inter"/>
              </a:rPr>
              <a:t>Paystack card and EFT fees pass through to the merchant. FluxMuse adds no fee on checkout in any scenario.</a:t>
            </a:r>
          </a:p>
        </p:txBody>
      </p:sp>
      <p:sp>
        <p:nvSpPr>
          <p:cNvPr id="30"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31"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4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GO-TO-MARKET · SOUTH AFRICA NOW</a:t>
            </a:r>
          </a:p>
        </p:txBody>
      </p:sp>
      <p:sp>
        <p:nvSpPr>
          <p:cNvPr id="3" name="hdr4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Three segments, one partner channel</a:t>
            </a:r>
          </a:p>
        </p:txBody>
      </p:sp>
      <p:sp>
        <p:nvSpPr>
          <p:cNvPr id="4" name="seg46|card|"/>
          <p:cNvSpPr/>
          <p:nvPr/>
        </p:nvSpPr>
        <p:spPr>
          <a:xfrm>
            <a:off x="548640" y="1481328"/>
            <a:ext cx="3511296" cy="2121408"/>
          </a:xfrm>
          <a:prstGeom prst="roundRect">
            <a:avLst>
              <a:gd name="adj" fmla="val 862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eg46|deco|"/>
          <p:cNvSpPr/>
          <p:nvPr/>
        </p:nvSpPr>
        <p:spPr>
          <a:xfrm>
            <a:off x="768095" y="163677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seg46|icon|users_deep.png" descr="users_deep"/>
          <p:cNvPicPr>
            <a:picLocks noChangeAspect="1"/>
          </p:cNvPicPr>
          <p:nvPr/>
        </p:nvPicPr>
        <p:blipFill>
          <a:blip r:embed="rId2"/>
          <a:srcRect/>
          <a:stretch>
            <a:fillRect/>
          </a:stretch>
        </p:blipFill>
        <p:spPr>
          <a:xfrm>
            <a:off x="892820" y="1761500"/>
            <a:ext cx="317479" cy="317479"/>
          </a:xfrm>
          <a:prstGeom prst="rect">
            <a:avLst/>
          </a:prstGeom>
        </p:spPr>
      </p:pic>
      <p:sp>
        <p:nvSpPr>
          <p:cNvPr id="7" name="seg46|card|"/>
          <p:cNvSpPr txBox="1"/>
          <p:nvPr/>
        </p:nvSpPr>
        <p:spPr>
          <a:xfrm>
            <a:off x="1444752" y="1682496"/>
            <a:ext cx="2459736" cy="475488"/>
          </a:xfrm>
          <a:prstGeom prst="rect">
            <a:avLst/>
          </a:prstGeom>
          <a:noFill/>
        </p:spPr>
        <p:txBody>
          <a:bodyPr wrap="square" lIns="0" rIns="0" tIns="0" bIns="0" anchor="ctr">
            <a:noAutofit/>
          </a:bodyPr>
          <a:lstStyle/>
          <a:p>
            <a:pPr algn="l"/>
            <a:r>
              <a:rPr sz="1700" b="1">
                <a:solidFill>
                  <a:srgbClr val="20242B"/>
                </a:solidFill>
                <a:latin typeface="Poppins"/>
              </a:rPr>
              <a:t>Solo sellers</a:t>
            </a:r>
          </a:p>
        </p:txBody>
      </p:sp>
      <p:sp>
        <p:nvSpPr>
          <p:cNvPr id="8" name="seg46|card|"/>
          <p:cNvSpPr txBox="1"/>
          <p:nvPr/>
        </p:nvSpPr>
        <p:spPr>
          <a:xfrm>
            <a:off x="822959" y="2286000"/>
            <a:ext cx="2962656" cy="292608"/>
          </a:xfrm>
          <a:prstGeom prst="rect">
            <a:avLst/>
          </a:prstGeom>
          <a:noFill/>
        </p:spPr>
        <p:txBody>
          <a:bodyPr wrap="square" lIns="0" rIns="0" tIns="0" bIns="0" anchor="t">
            <a:noAutofit/>
          </a:bodyPr>
          <a:lstStyle/>
          <a:p>
            <a:pPr algn="l"/>
            <a:r>
              <a:rPr sz="1400" b="0">
                <a:solidFill>
                  <a:srgbClr val="5B6670"/>
                </a:solidFill>
                <a:latin typeface="Inter"/>
              </a:rPr>
              <a:t>Side-hustles, solo shops</a:t>
            </a:r>
          </a:p>
        </p:txBody>
      </p:sp>
      <p:sp>
        <p:nvSpPr>
          <p:cNvPr id="9" name="seg46|card|"/>
          <p:cNvSpPr txBox="1"/>
          <p:nvPr/>
        </p:nvSpPr>
        <p:spPr>
          <a:xfrm>
            <a:off x="822959" y="2615184"/>
            <a:ext cx="2962656" cy="329184"/>
          </a:xfrm>
          <a:prstGeom prst="rect">
            <a:avLst/>
          </a:prstGeom>
          <a:noFill/>
        </p:spPr>
        <p:txBody>
          <a:bodyPr wrap="square" lIns="0" rIns="0" tIns="0" bIns="0" anchor="t">
            <a:noAutofit/>
          </a:bodyPr>
          <a:lstStyle/>
          <a:p>
            <a:pPr algn="l"/>
            <a:r>
              <a:rPr sz="1600" b="1">
                <a:solidFill>
                  <a:srgbClr val="C24E00"/>
                </a:solidFill>
                <a:latin typeface="Inter"/>
              </a:rPr>
              <a:t>Nano R149 → Micro → Starter</a:t>
            </a:r>
          </a:p>
        </p:txBody>
      </p:sp>
      <p:sp>
        <p:nvSpPr>
          <p:cNvPr id="10" name="seg46|card|"/>
          <p:cNvSpPr txBox="1"/>
          <p:nvPr/>
        </p:nvSpPr>
        <p:spPr>
          <a:xfrm>
            <a:off x="822959" y="2980944"/>
            <a:ext cx="2962656" cy="530352"/>
          </a:xfrm>
          <a:prstGeom prst="rect">
            <a:avLst/>
          </a:prstGeom>
          <a:noFill/>
        </p:spPr>
        <p:txBody>
          <a:bodyPr wrap="square" lIns="0" rIns="0" tIns="0" bIns="0" anchor="t">
            <a:noAutofit/>
          </a:bodyPr>
          <a:lstStyle/>
          <a:p>
            <a:pPr algn="l"/>
            <a:r>
              <a:rPr sz="1400" b="0">
                <a:solidFill>
                  <a:srgbClr val="20242B"/>
                </a:solidFill>
                <a:latin typeface="Inter"/>
              </a:rPr>
              <a:t>Self-serve; Free plan as the on-ramp</a:t>
            </a:r>
          </a:p>
        </p:txBody>
      </p:sp>
      <p:sp>
        <p:nvSpPr>
          <p:cNvPr id="11" name="seg47|card|"/>
          <p:cNvSpPr/>
          <p:nvPr/>
        </p:nvSpPr>
        <p:spPr>
          <a:xfrm>
            <a:off x="4340199" y="1481328"/>
            <a:ext cx="3511296" cy="2121408"/>
          </a:xfrm>
          <a:prstGeom prst="roundRect">
            <a:avLst>
              <a:gd name="adj" fmla="val 862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g47|deco|"/>
          <p:cNvSpPr/>
          <p:nvPr/>
        </p:nvSpPr>
        <p:spPr>
          <a:xfrm>
            <a:off x="4559655" y="163677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seg47|icon|briefcase_deep.png" descr="briefcase_deep"/>
          <p:cNvPicPr>
            <a:picLocks noChangeAspect="1"/>
          </p:cNvPicPr>
          <p:nvPr/>
        </p:nvPicPr>
        <p:blipFill>
          <a:blip r:embed="rId3"/>
          <a:srcRect/>
          <a:stretch>
            <a:fillRect/>
          </a:stretch>
        </p:blipFill>
        <p:spPr>
          <a:xfrm>
            <a:off x="4684379" y="1761500"/>
            <a:ext cx="317479" cy="317479"/>
          </a:xfrm>
          <a:prstGeom prst="rect">
            <a:avLst/>
          </a:prstGeom>
        </p:spPr>
      </p:pic>
      <p:sp>
        <p:nvSpPr>
          <p:cNvPr id="14" name="seg47|card|"/>
          <p:cNvSpPr txBox="1"/>
          <p:nvPr/>
        </p:nvSpPr>
        <p:spPr>
          <a:xfrm>
            <a:off x="5236311" y="1682496"/>
            <a:ext cx="2459736" cy="475488"/>
          </a:xfrm>
          <a:prstGeom prst="rect">
            <a:avLst/>
          </a:prstGeom>
          <a:noFill/>
        </p:spPr>
        <p:txBody>
          <a:bodyPr wrap="square" lIns="0" rIns="0" tIns="0" bIns="0" anchor="ctr">
            <a:noAutofit/>
          </a:bodyPr>
          <a:lstStyle/>
          <a:p>
            <a:pPr algn="l"/>
            <a:r>
              <a:rPr sz="1700" b="1">
                <a:solidFill>
                  <a:srgbClr val="20242B"/>
                </a:solidFill>
                <a:latin typeface="Poppins"/>
              </a:rPr>
              <a:t>SMEs</a:t>
            </a:r>
          </a:p>
        </p:txBody>
      </p:sp>
      <p:sp>
        <p:nvSpPr>
          <p:cNvPr id="15" name="seg47|card|"/>
          <p:cNvSpPr txBox="1"/>
          <p:nvPr/>
        </p:nvSpPr>
        <p:spPr>
          <a:xfrm>
            <a:off x="4614519" y="2286000"/>
            <a:ext cx="2962656" cy="292608"/>
          </a:xfrm>
          <a:prstGeom prst="rect">
            <a:avLst/>
          </a:prstGeom>
          <a:noFill/>
        </p:spPr>
        <p:txBody>
          <a:bodyPr wrap="square" lIns="0" rIns="0" tIns="0" bIns="0" anchor="t">
            <a:noAutofit/>
          </a:bodyPr>
          <a:lstStyle/>
          <a:p>
            <a:pPr algn="l"/>
            <a:r>
              <a:rPr sz="1400" b="0">
                <a:solidFill>
                  <a:srgbClr val="5B6670"/>
                </a:solidFill>
                <a:latin typeface="Inter"/>
              </a:rPr>
              <a:t>Growing small businesses</a:t>
            </a:r>
          </a:p>
        </p:txBody>
      </p:sp>
      <p:sp>
        <p:nvSpPr>
          <p:cNvPr id="16" name="seg47|card|"/>
          <p:cNvSpPr txBox="1"/>
          <p:nvPr/>
        </p:nvSpPr>
        <p:spPr>
          <a:xfrm>
            <a:off x="4614519" y="2615184"/>
            <a:ext cx="2962656" cy="329184"/>
          </a:xfrm>
          <a:prstGeom prst="rect">
            <a:avLst/>
          </a:prstGeom>
          <a:noFill/>
        </p:spPr>
        <p:txBody>
          <a:bodyPr wrap="square" lIns="0" rIns="0" tIns="0" bIns="0" anchor="t">
            <a:noAutofit/>
          </a:bodyPr>
          <a:lstStyle/>
          <a:p>
            <a:pPr algn="l"/>
            <a:r>
              <a:rPr sz="1600" b="1">
                <a:solidFill>
                  <a:srgbClr val="C24E00"/>
                </a:solidFill>
                <a:latin typeface="Inter"/>
              </a:rPr>
              <a:t>Starter R499 → Scale</a:t>
            </a:r>
          </a:p>
        </p:txBody>
      </p:sp>
      <p:sp>
        <p:nvSpPr>
          <p:cNvPr id="17" name="seg47|card|"/>
          <p:cNvSpPr txBox="1"/>
          <p:nvPr/>
        </p:nvSpPr>
        <p:spPr>
          <a:xfrm>
            <a:off x="4614519" y="2980944"/>
            <a:ext cx="2962656" cy="530352"/>
          </a:xfrm>
          <a:prstGeom prst="rect">
            <a:avLst/>
          </a:prstGeom>
          <a:noFill/>
        </p:spPr>
        <p:txBody>
          <a:bodyPr wrap="square" lIns="0" rIns="0" tIns="0" bIns="0" anchor="t">
            <a:noAutofit/>
          </a:bodyPr>
          <a:lstStyle/>
          <a:p>
            <a:pPr algn="l"/>
            <a:r>
              <a:rPr sz="1400" b="0">
                <a:solidFill>
                  <a:srgbClr val="20242B"/>
                </a:solidFill>
                <a:latin typeface="Inter"/>
              </a:rPr>
              <a:t>Guided onboarding call</a:t>
            </a:r>
          </a:p>
        </p:txBody>
      </p:sp>
      <p:sp>
        <p:nvSpPr>
          <p:cNvPr id="18" name="seg48|card|"/>
          <p:cNvSpPr/>
          <p:nvPr/>
        </p:nvSpPr>
        <p:spPr>
          <a:xfrm>
            <a:off x="8131759" y="1481328"/>
            <a:ext cx="3511296" cy="2121408"/>
          </a:xfrm>
          <a:prstGeom prst="roundRect">
            <a:avLst>
              <a:gd name="adj" fmla="val 862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g48|deco|"/>
          <p:cNvSpPr/>
          <p:nvPr/>
        </p:nvSpPr>
        <p:spPr>
          <a:xfrm>
            <a:off x="8351215" y="163677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seg48|icon|layers_deep.png" descr="layers_deep"/>
          <p:cNvPicPr>
            <a:picLocks noChangeAspect="1"/>
          </p:cNvPicPr>
          <p:nvPr/>
        </p:nvPicPr>
        <p:blipFill>
          <a:blip r:embed="rId4"/>
          <a:srcRect/>
          <a:stretch>
            <a:fillRect/>
          </a:stretch>
        </p:blipFill>
        <p:spPr>
          <a:xfrm>
            <a:off x="8475939" y="1761500"/>
            <a:ext cx="317479" cy="317479"/>
          </a:xfrm>
          <a:prstGeom prst="rect">
            <a:avLst/>
          </a:prstGeom>
        </p:spPr>
      </p:pic>
      <p:sp>
        <p:nvSpPr>
          <p:cNvPr id="21" name="seg48|card|"/>
          <p:cNvSpPr txBox="1"/>
          <p:nvPr/>
        </p:nvSpPr>
        <p:spPr>
          <a:xfrm>
            <a:off x="9027871" y="1682496"/>
            <a:ext cx="2459736" cy="475488"/>
          </a:xfrm>
          <a:prstGeom prst="rect">
            <a:avLst/>
          </a:prstGeom>
          <a:noFill/>
        </p:spPr>
        <p:txBody>
          <a:bodyPr wrap="square" lIns="0" rIns="0" tIns="0" bIns="0" anchor="ctr">
            <a:noAutofit/>
          </a:bodyPr>
          <a:lstStyle/>
          <a:p>
            <a:pPr algn="l"/>
            <a:r>
              <a:rPr sz="1700" b="1">
                <a:solidFill>
                  <a:srgbClr val="20242B"/>
                </a:solidFill>
                <a:latin typeface="Poppins"/>
              </a:rPr>
              <a:t>Agency partners</a:t>
            </a:r>
          </a:p>
        </p:txBody>
      </p:sp>
      <p:sp>
        <p:nvSpPr>
          <p:cNvPr id="22" name="seg48|card|"/>
          <p:cNvSpPr txBox="1"/>
          <p:nvPr/>
        </p:nvSpPr>
        <p:spPr>
          <a:xfrm>
            <a:off x="8406079" y="2286000"/>
            <a:ext cx="2962656" cy="292608"/>
          </a:xfrm>
          <a:prstGeom prst="rect">
            <a:avLst/>
          </a:prstGeom>
          <a:noFill/>
        </p:spPr>
        <p:txBody>
          <a:bodyPr wrap="square" lIns="0" rIns="0" tIns="0" bIns="0" anchor="t">
            <a:noAutofit/>
          </a:bodyPr>
          <a:lstStyle/>
          <a:p>
            <a:pPr algn="l"/>
            <a:r>
              <a:rPr sz="1400" b="0">
                <a:solidFill>
                  <a:srgbClr val="5B6670"/>
                </a:solidFill>
                <a:latin typeface="Inter"/>
              </a:rPr>
              <a:t>Managing many SMB clients</a:t>
            </a:r>
          </a:p>
        </p:txBody>
      </p:sp>
      <p:sp>
        <p:nvSpPr>
          <p:cNvPr id="23" name="seg48|card|"/>
          <p:cNvSpPr txBox="1"/>
          <p:nvPr/>
        </p:nvSpPr>
        <p:spPr>
          <a:xfrm>
            <a:off x="8406079" y="2615184"/>
            <a:ext cx="2962656" cy="329184"/>
          </a:xfrm>
          <a:prstGeom prst="rect">
            <a:avLst/>
          </a:prstGeom>
          <a:noFill/>
        </p:spPr>
        <p:txBody>
          <a:bodyPr wrap="square" lIns="0" rIns="0" tIns="0" bIns="0" anchor="t">
            <a:noAutofit/>
          </a:bodyPr>
          <a:lstStyle/>
          <a:p>
            <a:pPr algn="l"/>
            <a:r>
              <a:rPr sz="1600" b="1">
                <a:solidFill>
                  <a:srgbClr val="C24E00"/>
                </a:solidFill>
                <a:latin typeface="Inter"/>
              </a:rPr>
              <a:t>Partner wholesale R6,999</a:t>
            </a:r>
          </a:p>
        </p:txBody>
      </p:sp>
      <p:sp>
        <p:nvSpPr>
          <p:cNvPr id="24" name="seg48|card|"/>
          <p:cNvSpPr txBox="1"/>
          <p:nvPr/>
        </p:nvSpPr>
        <p:spPr>
          <a:xfrm>
            <a:off x="8406079" y="2980944"/>
            <a:ext cx="2962656" cy="530352"/>
          </a:xfrm>
          <a:prstGeom prst="rect">
            <a:avLst/>
          </a:prstGeom>
          <a:noFill/>
        </p:spPr>
        <p:txBody>
          <a:bodyPr wrap="square" lIns="0" rIns="0" tIns="0" bIns="0" anchor="t">
            <a:noAutofit/>
          </a:bodyPr>
          <a:lstStyle/>
          <a:p>
            <a:pPr algn="l"/>
            <a:r>
              <a:rPr sz="1400" b="0">
                <a:solidFill>
                  <a:srgbClr val="20242B"/>
                </a:solidFill>
                <a:latin typeface="Inter"/>
              </a:rPr>
              <a:t>Live demo on a client's public catalogue</a:t>
            </a:r>
          </a:p>
        </p:txBody>
      </p:sp>
      <p:sp>
        <p:nvSpPr>
          <p:cNvPr id="25" name="fmband49|card|"/>
          <p:cNvSpPr/>
          <p:nvPr/>
        </p:nvSpPr>
        <p:spPr>
          <a:xfrm>
            <a:off x="548640" y="3749039"/>
            <a:ext cx="11094415" cy="512064"/>
          </a:xfrm>
          <a:prstGeom prst="roundRect">
            <a:avLst>
              <a:gd name="adj" fmla="val 500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fmband49|icon|calendar_deep.png" descr="calendar_deep"/>
          <p:cNvPicPr>
            <a:picLocks noChangeAspect="1"/>
          </p:cNvPicPr>
          <p:nvPr/>
        </p:nvPicPr>
        <p:blipFill>
          <a:blip r:embed="rId5"/>
          <a:srcRect/>
          <a:stretch>
            <a:fillRect/>
          </a:stretch>
        </p:blipFill>
        <p:spPr>
          <a:xfrm>
            <a:off x="731520" y="3822191"/>
            <a:ext cx="365760" cy="365760"/>
          </a:xfrm>
          <a:prstGeom prst="rect">
            <a:avLst/>
          </a:prstGeom>
        </p:spPr>
      </p:pic>
      <p:sp>
        <p:nvSpPr>
          <p:cNvPr id="27" name="fmband49|card|"/>
          <p:cNvSpPr txBox="1"/>
          <p:nvPr/>
        </p:nvSpPr>
        <p:spPr>
          <a:xfrm>
            <a:off x="1280160" y="3749039"/>
            <a:ext cx="10180015" cy="512064"/>
          </a:xfrm>
          <a:prstGeom prst="rect">
            <a:avLst/>
          </a:prstGeom>
          <a:noFill/>
        </p:spPr>
        <p:txBody>
          <a:bodyPr wrap="square" lIns="0" rIns="0" tIns="0" bIns="0" anchor="ctr">
            <a:noAutofit/>
          </a:bodyPr>
          <a:lstStyle/>
          <a:p>
            <a:pPr algn="l"/>
            <a:r>
              <a:rPr sz="1500" b="1">
                <a:solidFill>
                  <a:srgbClr val="20242B"/>
                </a:solidFill>
                <a:latin typeface="Inter"/>
              </a:rPr>
              <a:t>Opening with a small first group, set up by hand: about 4 businesses a month, Oct ’26–Jan ’27 (model input). Founding Member is live.</a:t>
            </a:r>
          </a:p>
        </p:txBody>
      </p:sp>
      <p:sp>
        <p:nvSpPr>
          <p:cNvPr id="28" name="step50|card|"/>
          <p:cNvSpPr/>
          <p:nvPr/>
        </p:nvSpPr>
        <p:spPr>
          <a:xfrm>
            <a:off x="548640" y="4462272"/>
            <a:ext cx="2514600" cy="1627632"/>
          </a:xfrm>
          <a:prstGeom prst="roundRect">
            <a:avLst>
              <a:gd name="adj" fmla="val 10112"/>
            </a:avLst>
          </a:prstGeom>
          <a:solidFill>
            <a:srgbClr val="FFFFFF"/>
          </a:solidFill>
          <a:ln w="190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50|eyebrow|"/>
          <p:cNvSpPr txBox="1"/>
          <p:nvPr/>
        </p:nvSpPr>
        <p:spPr>
          <a:xfrm>
            <a:off x="731520" y="4590288"/>
            <a:ext cx="2148840" cy="237744"/>
          </a:xfrm>
          <a:prstGeom prst="rect">
            <a:avLst/>
          </a:prstGeom>
          <a:noFill/>
        </p:spPr>
        <p:txBody>
          <a:bodyPr wrap="square" lIns="0" rIns="0" tIns="0" bIns="0" anchor="t">
            <a:noAutofit/>
          </a:bodyPr>
          <a:lstStyle/>
          <a:p>
            <a:pPr algn="l"/>
            <a:r>
              <a:rPr sz="1100" b="1" spc="80">
                <a:solidFill>
                  <a:srgbClr val="C24E00"/>
                </a:solidFill>
                <a:latin typeface="Inter"/>
              </a:rPr>
              <a:t>1 · NOW</a:t>
            </a:r>
          </a:p>
        </p:txBody>
      </p:sp>
      <p:sp>
        <p:nvSpPr>
          <p:cNvPr id="30" name="step50|card|"/>
          <p:cNvSpPr txBox="1"/>
          <p:nvPr/>
        </p:nvSpPr>
        <p:spPr>
          <a:xfrm>
            <a:off x="731520" y="4846320"/>
            <a:ext cx="2148840" cy="603504"/>
          </a:xfrm>
          <a:prstGeom prst="rect">
            <a:avLst/>
          </a:prstGeom>
          <a:noFill/>
        </p:spPr>
        <p:txBody>
          <a:bodyPr wrap="square" lIns="0" rIns="0" tIns="0" bIns="0" anchor="t">
            <a:noAutofit/>
          </a:bodyPr>
          <a:lstStyle/>
          <a:p>
            <a:pPr algn="l"/>
            <a:r>
              <a:rPr sz="1500" b="1">
                <a:solidFill>
                  <a:srgbClr val="20242B"/>
                </a:solidFill>
                <a:latin typeface="Poppins"/>
              </a:rPr>
              <a:t>South Africa</a:t>
            </a:r>
          </a:p>
        </p:txBody>
      </p:sp>
      <p:sp>
        <p:nvSpPr>
          <p:cNvPr id="31" name="step50|card|"/>
          <p:cNvSpPr txBox="1"/>
          <p:nvPr/>
        </p:nvSpPr>
        <p:spPr>
          <a:xfrm>
            <a:off x="731520" y="5468112"/>
            <a:ext cx="2148840" cy="548640"/>
          </a:xfrm>
          <a:prstGeom prst="rect">
            <a:avLst/>
          </a:prstGeom>
          <a:noFill/>
        </p:spPr>
        <p:txBody>
          <a:bodyPr wrap="square" lIns="0" rIns="0" tIns="0" bIns="0" anchor="t">
            <a:noAutofit/>
          </a:bodyPr>
          <a:lstStyle/>
          <a:p>
            <a:pPr algn="l"/>
            <a:r>
              <a:rPr sz="1400" b="0">
                <a:solidFill>
                  <a:srgbClr val="5B6670"/>
                </a:solidFill>
                <a:latin typeface="Inter"/>
              </a:rPr>
              <a:t>Billed in ZAR · Paystack live</a:t>
            </a:r>
          </a:p>
        </p:txBody>
      </p:sp>
      <p:sp>
        <p:nvSpPr>
          <p:cNvPr id="32" name="g51|deco|"/>
          <p:cNvSpPr/>
          <p:nvPr/>
        </p:nvSpPr>
        <p:spPr>
          <a:xfrm>
            <a:off x="3117037" y="5138928"/>
            <a:ext cx="237744" cy="274320"/>
          </a:xfrm>
          <a:prstGeom prst="right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ep52|card|"/>
          <p:cNvSpPr/>
          <p:nvPr/>
        </p:nvSpPr>
        <p:spPr>
          <a:xfrm>
            <a:off x="3408578" y="4462272"/>
            <a:ext cx="2514600" cy="1627632"/>
          </a:xfrm>
          <a:prstGeom prst="roundRect">
            <a:avLst>
              <a:gd name="adj" fmla="val 10112"/>
            </a:avLst>
          </a:prstGeom>
          <a:solidFill>
            <a:srgbClr val="FFFFFF"/>
          </a:solidFill>
          <a:ln w="190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52|eyebrow|"/>
          <p:cNvSpPr txBox="1"/>
          <p:nvPr/>
        </p:nvSpPr>
        <p:spPr>
          <a:xfrm>
            <a:off x="3591458" y="4590288"/>
            <a:ext cx="2148840" cy="237744"/>
          </a:xfrm>
          <a:prstGeom prst="rect">
            <a:avLst/>
          </a:prstGeom>
          <a:noFill/>
        </p:spPr>
        <p:txBody>
          <a:bodyPr wrap="square" lIns="0" rIns="0" tIns="0" bIns="0" anchor="t">
            <a:noAutofit/>
          </a:bodyPr>
          <a:lstStyle/>
          <a:p>
            <a:pPr algn="l"/>
            <a:r>
              <a:rPr sz="1100" b="1" spc="80">
                <a:solidFill>
                  <a:srgbClr val="C24E00"/>
                </a:solidFill>
                <a:latin typeface="Inter"/>
              </a:rPr>
              <a:t>2 · WAVE 1, PENDING</a:t>
            </a:r>
          </a:p>
        </p:txBody>
      </p:sp>
      <p:sp>
        <p:nvSpPr>
          <p:cNvPr id="35" name="step52|card|"/>
          <p:cNvSpPr txBox="1"/>
          <p:nvPr/>
        </p:nvSpPr>
        <p:spPr>
          <a:xfrm>
            <a:off x="3591458" y="4846320"/>
            <a:ext cx="2148840" cy="603504"/>
          </a:xfrm>
          <a:prstGeom prst="rect">
            <a:avLst/>
          </a:prstGeom>
          <a:noFill/>
        </p:spPr>
        <p:txBody>
          <a:bodyPr wrap="square" lIns="0" rIns="0" tIns="0" bIns="0" anchor="t">
            <a:noAutofit/>
          </a:bodyPr>
          <a:lstStyle/>
          <a:p>
            <a:pPr algn="l"/>
            <a:r>
              <a:rPr sz="1500" b="1">
                <a:solidFill>
                  <a:srgbClr val="20242B"/>
                </a:solidFill>
                <a:latin typeface="Poppins"/>
              </a:rPr>
              <a:t>Nigeria, Kenya, Ghana</a:t>
            </a:r>
          </a:p>
        </p:txBody>
      </p:sp>
      <p:sp>
        <p:nvSpPr>
          <p:cNvPr id="36" name="step52|card|"/>
          <p:cNvSpPr txBox="1"/>
          <p:nvPr/>
        </p:nvSpPr>
        <p:spPr>
          <a:xfrm>
            <a:off x="3591458" y="5468112"/>
            <a:ext cx="2148840" cy="548640"/>
          </a:xfrm>
          <a:prstGeom prst="rect">
            <a:avLst/>
          </a:prstGeom>
          <a:noFill/>
        </p:spPr>
        <p:txBody>
          <a:bodyPr wrap="square" lIns="0" rIns="0" tIns="0" bIns="0" anchor="t">
            <a:noAutofit/>
          </a:bodyPr>
          <a:lstStyle/>
          <a:p>
            <a:pPr algn="l"/>
            <a:r>
              <a:rPr sz="1400" b="0">
                <a:solidFill>
                  <a:srgbClr val="5B6670"/>
                </a:solidFill>
                <a:latin typeface="Inter"/>
              </a:rPr>
              <a:t>Priced, not on sale · Oct ’28–Apr ’29</a:t>
            </a:r>
          </a:p>
        </p:txBody>
      </p:sp>
      <p:sp>
        <p:nvSpPr>
          <p:cNvPr id="37" name="g53|deco|"/>
          <p:cNvSpPr/>
          <p:nvPr/>
        </p:nvSpPr>
        <p:spPr>
          <a:xfrm>
            <a:off x="5976975" y="5138928"/>
            <a:ext cx="237744" cy="274320"/>
          </a:xfrm>
          <a:prstGeom prst="right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ep54|card|"/>
          <p:cNvSpPr/>
          <p:nvPr/>
        </p:nvSpPr>
        <p:spPr>
          <a:xfrm>
            <a:off x="6268516" y="4462272"/>
            <a:ext cx="2514600" cy="1627632"/>
          </a:xfrm>
          <a:prstGeom prst="roundRect">
            <a:avLst>
              <a:gd name="adj" fmla="val 10112"/>
            </a:avLst>
          </a:prstGeom>
          <a:solidFill>
            <a:srgbClr val="FFFFFF"/>
          </a:solidFill>
          <a:ln w="190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54|eyebrow|"/>
          <p:cNvSpPr txBox="1"/>
          <p:nvPr/>
        </p:nvSpPr>
        <p:spPr>
          <a:xfrm>
            <a:off x="6451396" y="4590288"/>
            <a:ext cx="2148840" cy="237744"/>
          </a:xfrm>
          <a:prstGeom prst="rect">
            <a:avLst/>
          </a:prstGeom>
          <a:noFill/>
        </p:spPr>
        <p:txBody>
          <a:bodyPr wrap="square" lIns="0" rIns="0" tIns="0" bIns="0" anchor="t">
            <a:noAutofit/>
          </a:bodyPr>
          <a:lstStyle/>
          <a:p>
            <a:pPr algn="l"/>
            <a:r>
              <a:rPr sz="1100" b="1" spc="80">
                <a:solidFill>
                  <a:srgbClr val="C24E00"/>
                </a:solidFill>
                <a:latin typeface="Inter"/>
              </a:rPr>
              <a:t>3 · LATER</a:t>
            </a:r>
          </a:p>
        </p:txBody>
      </p:sp>
      <p:sp>
        <p:nvSpPr>
          <p:cNvPr id="40" name="step54|card|"/>
          <p:cNvSpPr txBox="1"/>
          <p:nvPr/>
        </p:nvSpPr>
        <p:spPr>
          <a:xfrm>
            <a:off x="6451396" y="4846320"/>
            <a:ext cx="2148840" cy="603504"/>
          </a:xfrm>
          <a:prstGeom prst="rect">
            <a:avLst/>
          </a:prstGeom>
          <a:noFill/>
        </p:spPr>
        <p:txBody>
          <a:bodyPr wrap="square" lIns="0" rIns="0" tIns="0" bIns="0" anchor="t">
            <a:noAutofit/>
          </a:bodyPr>
          <a:lstStyle/>
          <a:p>
            <a:pPr algn="l"/>
            <a:r>
              <a:rPr sz="1500" b="1">
                <a:solidFill>
                  <a:srgbClr val="20242B"/>
                </a:solidFill>
                <a:latin typeface="Poppins"/>
              </a:rPr>
              <a:t>19 more countries</a:t>
            </a:r>
          </a:p>
        </p:txBody>
      </p:sp>
      <p:sp>
        <p:nvSpPr>
          <p:cNvPr id="41" name="step54|card|"/>
          <p:cNvSpPr txBox="1"/>
          <p:nvPr/>
        </p:nvSpPr>
        <p:spPr>
          <a:xfrm>
            <a:off x="6451396" y="5468112"/>
            <a:ext cx="2148840" cy="548640"/>
          </a:xfrm>
          <a:prstGeom prst="rect">
            <a:avLst/>
          </a:prstGeom>
          <a:noFill/>
        </p:spPr>
        <p:txBody>
          <a:bodyPr wrap="square" lIns="0" rIns="0" tIns="0" bIns="0" anchor="t">
            <a:noAutofit/>
          </a:bodyPr>
          <a:lstStyle/>
          <a:p>
            <a:pPr algn="l"/>
            <a:r>
              <a:rPr sz="1400" b="0">
                <a:solidFill>
                  <a:srgbClr val="5B6670"/>
                </a:solidFill>
                <a:latin typeface="Inter"/>
              </a:rPr>
              <a:t>USD, self-serve · model Nov 2029</a:t>
            </a:r>
          </a:p>
        </p:txBody>
      </p:sp>
      <p:sp>
        <p:nvSpPr>
          <p:cNvPr id="42" name="g55|deco|"/>
          <p:cNvSpPr/>
          <p:nvPr/>
        </p:nvSpPr>
        <p:spPr>
          <a:xfrm>
            <a:off x="8836914" y="5138928"/>
            <a:ext cx="237744" cy="274320"/>
          </a:xfrm>
          <a:prstGeom prst="rightArrow">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ep56|card|"/>
          <p:cNvSpPr/>
          <p:nvPr/>
        </p:nvSpPr>
        <p:spPr>
          <a:xfrm>
            <a:off x="9128455" y="4462272"/>
            <a:ext cx="2514600" cy="1627632"/>
          </a:xfrm>
          <a:prstGeom prst="roundRect">
            <a:avLst>
              <a:gd name="adj" fmla="val 10112"/>
            </a:avLst>
          </a:prstGeom>
          <a:noFill/>
          <a:ln w="1905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56|eyebrow|"/>
          <p:cNvSpPr txBox="1"/>
          <p:nvPr/>
        </p:nvSpPr>
        <p:spPr>
          <a:xfrm>
            <a:off x="9311335" y="4590288"/>
            <a:ext cx="2148840" cy="237744"/>
          </a:xfrm>
          <a:prstGeom prst="rect">
            <a:avLst/>
          </a:prstGeom>
          <a:noFill/>
        </p:spPr>
        <p:txBody>
          <a:bodyPr wrap="square" lIns="0" rIns="0" tIns="0" bIns="0" anchor="t">
            <a:noAutofit/>
          </a:bodyPr>
          <a:lstStyle/>
          <a:p>
            <a:pPr algn="l"/>
            <a:r>
              <a:rPr sz="1100" b="1" spc="80">
                <a:solidFill>
                  <a:srgbClr val="5B6670"/>
                </a:solidFill>
                <a:latin typeface="Inter"/>
              </a:rPr>
              <a:t>4 · COMING SOON</a:t>
            </a:r>
          </a:p>
        </p:txBody>
      </p:sp>
      <p:sp>
        <p:nvSpPr>
          <p:cNvPr id="45" name="step56|card|"/>
          <p:cNvSpPr txBox="1"/>
          <p:nvPr/>
        </p:nvSpPr>
        <p:spPr>
          <a:xfrm>
            <a:off x="9311335" y="4846320"/>
            <a:ext cx="2148840" cy="603504"/>
          </a:xfrm>
          <a:prstGeom prst="rect">
            <a:avLst/>
          </a:prstGeom>
          <a:noFill/>
        </p:spPr>
        <p:txBody>
          <a:bodyPr wrap="square" lIns="0" rIns="0" tIns="0" bIns="0" anchor="t">
            <a:noAutofit/>
          </a:bodyPr>
          <a:lstStyle/>
          <a:p>
            <a:pPr algn="l"/>
            <a:r>
              <a:rPr sz="1500" b="1">
                <a:solidFill>
                  <a:srgbClr val="20242B"/>
                </a:solidFill>
                <a:latin typeface="Poppins"/>
              </a:rPr>
              <a:t>Botswana &amp; Namibia</a:t>
            </a:r>
          </a:p>
        </p:txBody>
      </p:sp>
      <p:sp>
        <p:nvSpPr>
          <p:cNvPr id="46" name="step56|card|"/>
          <p:cNvSpPr txBox="1"/>
          <p:nvPr/>
        </p:nvSpPr>
        <p:spPr>
          <a:xfrm>
            <a:off x="9311335" y="5468112"/>
            <a:ext cx="2148840" cy="548640"/>
          </a:xfrm>
          <a:prstGeom prst="rect">
            <a:avLst/>
          </a:prstGeom>
          <a:noFill/>
        </p:spPr>
        <p:txBody>
          <a:bodyPr wrap="square" lIns="0" rIns="0" tIns="0" bIns="0" anchor="t">
            <a:noAutofit/>
          </a:bodyPr>
          <a:lstStyle/>
          <a:p>
            <a:pPr algn="l"/>
            <a:r>
              <a:rPr sz="1400" b="0">
                <a:solidFill>
                  <a:srgbClr val="5B6670"/>
                </a:solidFill>
                <a:latin typeface="Inter"/>
              </a:rPr>
              <a:t>No payment provider yet</a:t>
            </a:r>
          </a:p>
        </p:txBody>
      </p:sp>
      <p:sp>
        <p:nvSpPr>
          <p:cNvPr id="47" name="g57|caption|"/>
          <p:cNvSpPr txBox="1"/>
          <p:nvPr/>
        </p:nvSpPr>
        <p:spPr>
          <a:xfrm>
            <a:off x="548640" y="6163056"/>
            <a:ext cx="11094415" cy="237744"/>
          </a:xfrm>
          <a:prstGeom prst="rect">
            <a:avLst/>
          </a:prstGeom>
          <a:noFill/>
        </p:spPr>
        <p:txBody>
          <a:bodyPr wrap="square" lIns="0" rIns="0" tIns="0" bIns="0" anchor="t">
            <a:noAutofit/>
          </a:bodyPr>
          <a:lstStyle/>
          <a:p>
            <a:pPr algn="l"/>
            <a:r>
              <a:rPr sz="1100" b="0">
                <a:solidFill>
                  <a:srgbClr val="5B6670"/>
                </a:solidFill>
                <a:latin typeface="Inter"/>
              </a:rPr>
              <a:t>Expansion waits for Fincra and pawaPay accounts to go live and for each MRR gate. Launch months: projection (model v3, base case).</a:t>
            </a:r>
          </a:p>
        </p:txBody>
      </p:sp>
      <p:sp>
        <p:nvSpPr>
          <p:cNvPr id="4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4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5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FF6A00"/>
                </a:solidFill>
                <a:latin typeface="Inter"/>
              </a:rPr>
              <a:t>PAYMENTS</a:t>
            </a:r>
          </a:p>
        </p:txBody>
      </p:sp>
      <p:sp>
        <p:nvSpPr>
          <p:cNvPr id="3" name="hdr5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FFFFFF"/>
                </a:solidFill>
                <a:latin typeface="Poppins"/>
              </a:rPr>
              <a:t>Live in South Africa. The rest is pending.</a:t>
            </a:r>
          </a:p>
        </p:txBody>
      </p:sp>
      <p:pic>
        <p:nvPicPr>
          <p:cNvPr id="4" name="g59|img|infographics/payment-coverage-map_dark.png" descr="Tile map: paid checkout live in South Africa only; Nigeria, Kenya and Ghana priced, not on sale; pawaPay and Fincra contracted, accounts pending; Botswana and Namibia coming soon"/>
          <p:cNvPicPr>
            <a:picLocks noChangeAspect="1"/>
          </p:cNvPicPr>
          <p:nvPr/>
        </p:nvPicPr>
        <p:blipFill>
          <a:blip r:embed="rId2"/>
          <a:srcRect t="20500"/>
          <a:stretch>
            <a:fillRect/>
          </a:stretch>
        </p:blipFill>
        <p:spPr>
          <a:xfrm>
            <a:off x="548640" y="1481328"/>
            <a:ext cx="8138160" cy="3639283"/>
          </a:xfrm>
          <a:prstGeom prst="rect">
            <a:avLst/>
          </a:prstGeom>
        </p:spPr>
      </p:pic>
      <p:sp>
        <p:nvSpPr>
          <p:cNvPr id="5" name="moat60|card|"/>
          <p:cNvSpPr/>
          <p:nvPr/>
        </p:nvSpPr>
        <p:spPr>
          <a:xfrm>
            <a:off x="8915400" y="1481328"/>
            <a:ext cx="2724912" cy="1143000"/>
          </a:xfrm>
          <a:prstGeom prst="roundRect">
            <a:avLst>
              <a:gd name="adj" fmla="val 12800"/>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oat60|card|"/>
          <p:cNvSpPr txBox="1"/>
          <p:nvPr/>
        </p:nvSpPr>
        <p:spPr>
          <a:xfrm>
            <a:off x="9125712" y="1609344"/>
            <a:ext cx="2331720" cy="347472"/>
          </a:xfrm>
          <a:prstGeom prst="rect">
            <a:avLst/>
          </a:prstGeom>
          <a:noFill/>
        </p:spPr>
        <p:txBody>
          <a:bodyPr wrap="square" lIns="0" rIns="0" tIns="0" bIns="0" anchor="t">
            <a:noAutofit/>
          </a:bodyPr>
          <a:lstStyle/>
          <a:p>
            <a:pPr algn="l"/>
            <a:r>
              <a:rPr sz="1600" b="1">
                <a:solidFill>
                  <a:srgbClr val="FF6A00"/>
                </a:solidFill>
                <a:latin typeface="Poppins"/>
              </a:rPr>
              <a:t>Live today</a:t>
            </a:r>
          </a:p>
        </p:txBody>
      </p:sp>
      <p:sp>
        <p:nvSpPr>
          <p:cNvPr id="7" name="moat60|card|"/>
          <p:cNvSpPr txBox="1"/>
          <p:nvPr/>
        </p:nvSpPr>
        <p:spPr>
          <a:xfrm>
            <a:off x="9125712" y="1956816"/>
            <a:ext cx="2331720" cy="621792"/>
          </a:xfrm>
          <a:prstGeom prst="rect">
            <a:avLst/>
          </a:prstGeom>
          <a:noFill/>
        </p:spPr>
        <p:txBody>
          <a:bodyPr wrap="square" lIns="0" rIns="0" tIns="0" bIns="0" anchor="t">
            <a:noAutofit/>
          </a:bodyPr>
          <a:lstStyle/>
          <a:p>
            <a:pPr algn="l"/>
            <a:r>
              <a:rPr sz="1400" b="0">
                <a:solidFill>
                  <a:srgbClr val="FFFFFF"/>
                </a:solidFill>
                <a:latin typeface="Inter"/>
              </a:rPr>
              <a:t>Paystack in SA; Yoco and Ozow for our billing</a:t>
            </a:r>
          </a:p>
        </p:txBody>
      </p:sp>
      <p:sp>
        <p:nvSpPr>
          <p:cNvPr id="8" name="moat61|card|"/>
          <p:cNvSpPr/>
          <p:nvPr/>
        </p:nvSpPr>
        <p:spPr>
          <a:xfrm>
            <a:off x="8915400" y="2743200"/>
            <a:ext cx="2724912" cy="1143000"/>
          </a:xfrm>
          <a:prstGeom prst="roundRect">
            <a:avLst>
              <a:gd name="adj" fmla="val 12800"/>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at61|card|"/>
          <p:cNvSpPr txBox="1"/>
          <p:nvPr/>
        </p:nvSpPr>
        <p:spPr>
          <a:xfrm>
            <a:off x="9125712" y="2871216"/>
            <a:ext cx="2331720" cy="347472"/>
          </a:xfrm>
          <a:prstGeom prst="rect">
            <a:avLst/>
          </a:prstGeom>
          <a:noFill/>
        </p:spPr>
        <p:txBody>
          <a:bodyPr wrap="square" lIns="0" rIns="0" tIns="0" bIns="0" anchor="t">
            <a:noAutofit/>
          </a:bodyPr>
          <a:lstStyle/>
          <a:p>
            <a:pPr algn="l"/>
            <a:r>
              <a:rPr sz="1600" b="1">
                <a:solidFill>
                  <a:srgbClr val="FF6A00"/>
                </a:solidFill>
                <a:latin typeface="Poppins"/>
              </a:rPr>
              <a:t>Being switched on</a:t>
            </a:r>
          </a:p>
        </p:txBody>
      </p:sp>
      <p:sp>
        <p:nvSpPr>
          <p:cNvPr id="10" name="moat61|card|"/>
          <p:cNvSpPr txBox="1"/>
          <p:nvPr/>
        </p:nvSpPr>
        <p:spPr>
          <a:xfrm>
            <a:off x="9125712" y="3218688"/>
            <a:ext cx="2331720" cy="621792"/>
          </a:xfrm>
          <a:prstGeom prst="rect">
            <a:avLst/>
          </a:prstGeom>
          <a:noFill/>
        </p:spPr>
        <p:txBody>
          <a:bodyPr wrap="square" lIns="0" rIns="0" tIns="0" bIns="0" anchor="t">
            <a:noAutofit/>
          </a:bodyPr>
          <a:lstStyle/>
          <a:p>
            <a:pPr algn="l"/>
            <a:r>
              <a:rPr sz="1400" b="0">
                <a:solidFill>
                  <a:srgbClr val="FFFFFF"/>
                </a:solidFill>
                <a:latin typeface="Inter"/>
              </a:rPr>
              <a:t>FluxMuse checkout, not yet tested with real money</a:t>
            </a:r>
          </a:p>
        </p:txBody>
      </p:sp>
      <p:sp>
        <p:nvSpPr>
          <p:cNvPr id="11" name="moat62|card|"/>
          <p:cNvSpPr/>
          <p:nvPr/>
        </p:nvSpPr>
        <p:spPr>
          <a:xfrm>
            <a:off x="8915400" y="4005072"/>
            <a:ext cx="2724912" cy="1143000"/>
          </a:xfrm>
          <a:prstGeom prst="roundRect">
            <a:avLst>
              <a:gd name="adj" fmla="val 12800"/>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at62|card|"/>
          <p:cNvSpPr txBox="1"/>
          <p:nvPr/>
        </p:nvSpPr>
        <p:spPr>
          <a:xfrm>
            <a:off x="9125712" y="4133087"/>
            <a:ext cx="2331720" cy="347472"/>
          </a:xfrm>
          <a:prstGeom prst="rect">
            <a:avLst/>
          </a:prstGeom>
          <a:noFill/>
        </p:spPr>
        <p:txBody>
          <a:bodyPr wrap="square" lIns="0" rIns="0" tIns="0" bIns="0" anchor="t">
            <a:noAutofit/>
          </a:bodyPr>
          <a:lstStyle/>
          <a:p>
            <a:pPr algn="l"/>
            <a:r>
              <a:rPr sz="1600" b="1">
                <a:solidFill>
                  <a:srgbClr val="FF6A00"/>
                </a:solidFill>
                <a:latin typeface="Poppins"/>
              </a:rPr>
              <a:t>Pending</a:t>
            </a:r>
          </a:p>
        </p:txBody>
      </p:sp>
      <p:sp>
        <p:nvSpPr>
          <p:cNvPr id="13" name="moat62|card|"/>
          <p:cNvSpPr txBox="1"/>
          <p:nvPr/>
        </p:nvSpPr>
        <p:spPr>
          <a:xfrm>
            <a:off x="9125712" y="4480560"/>
            <a:ext cx="2331720" cy="621792"/>
          </a:xfrm>
          <a:prstGeom prst="rect">
            <a:avLst/>
          </a:prstGeom>
          <a:noFill/>
        </p:spPr>
        <p:txBody>
          <a:bodyPr wrap="square" lIns="0" rIns="0" tIns="0" bIns="0" anchor="t">
            <a:noAutofit/>
          </a:bodyPr>
          <a:lstStyle/>
          <a:p>
            <a:pPr algn="l"/>
            <a:r>
              <a:rPr sz="1400" b="0">
                <a:solidFill>
                  <a:srgbClr val="FFFFFF"/>
                </a:solidFill>
                <a:latin typeface="Inter"/>
              </a:rPr>
              <a:t>pawaPay, Fincra signed; accounts pending</a:t>
            </a:r>
          </a:p>
        </p:txBody>
      </p:sp>
      <p:sp>
        <p:nvSpPr>
          <p:cNvPr id="14" name="g63|chip|"/>
          <p:cNvSpPr/>
          <p:nvPr/>
        </p:nvSpPr>
        <p:spPr>
          <a:xfrm>
            <a:off x="548640" y="5468112"/>
            <a:ext cx="1371600" cy="457200"/>
          </a:xfrm>
          <a:prstGeom prst="roundRect">
            <a:avLst>
              <a:gd name="adj" fmla="val 50000"/>
            </a:avLst>
          </a:prstGeom>
          <a:solidFill>
            <a:srgbClr val="1B232C"/>
          </a:solidFill>
          <a:ln w="12700">
            <a:solidFill>
              <a:srgbClr val="374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63|chip|"/>
          <p:cNvSpPr txBox="1"/>
          <p:nvPr/>
        </p:nvSpPr>
        <p:spPr>
          <a:xfrm>
            <a:off x="548640" y="5468112"/>
            <a:ext cx="1371600" cy="457200"/>
          </a:xfrm>
          <a:prstGeom prst="rect">
            <a:avLst/>
          </a:prstGeom>
          <a:noFill/>
        </p:spPr>
        <p:txBody>
          <a:bodyPr wrap="square" lIns="0" rIns="0" tIns="0" bIns="0" anchor="ctr">
            <a:noAutofit/>
          </a:bodyPr>
          <a:lstStyle/>
          <a:p>
            <a:pPr algn="ctr"/>
            <a:r>
              <a:rPr sz="1500" b="1">
                <a:solidFill>
                  <a:srgbClr val="FFFFFF"/>
                </a:solidFill>
                <a:latin typeface="Inter"/>
              </a:rPr>
              <a:t>Paystack</a:t>
            </a:r>
          </a:p>
        </p:txBody>
      </p:sp>
      <p:sp>
        <p:nvSpPr>
          <p:cNvPr id="16" name="g64|chip|"/>
          <p:cNvSpPr/>
          <p:nvPr/>
        </p:nvSpPr>
        <p:spPr>
          <a:xfrm>
            <a:off x="2029968" y="5468112"/>
            <a:ext cx="1371600" cy="457200"/>
          </a:xfrm>
          <a:prstGeom prst="roundRect">
            <a:avLst>
              <a:gd name="adj" fmla="val 50000"/>
            </a:avLst>
          </a:prstGeom>
          <a:solidFill>
            <a:srgbClr val="1B232C"/>
          </a:solidFill>
          <a:ln w="12700">
            <a:solidFill>
              <a:srgbClr val="374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64|chip|"/>
          <p:cNvSpPr txBox="1"/>
          <p:nvPr/>
        </p:nvSpPr>
        <p:spPr>
          <a:xfrm>
            <a:off x="2029968" y="5468112"/>
            <a:ext cx="1371600" cy="457200"/>
          </a:xfrm>
          <a:prstGeom prst="rect">
            <a:avLst/>
          </a:prstGeom>
          <a:noFill/>
        </p:spPr>
        <p:txBody>
          <a:bodyPr wrap="square" lIns="0" rIns="0" tIns="0" bIns="0" anchor="ctr">
            <a:noAutofit/>
          </a:bodyPr>
          <a:lstStyle/>
          <a:p>
            <a:pPr algn="ctr"/>
            <a:r>
              <a:rPr sz="1500" b="1">
                <a:solidFill>
                  <a:srgbClr val="FFFFFF"/>
                </a:solidFill>
                <a:latin typeface="Inter"/>
              </a:rPr>
              <a:t>Yoco</a:t>
            </a:r>
          </a:p>
        </p:txBody>
      </p:sp>
      <p:sp>
        <p:nvSpPr>
          <p:cNvPr id="18" name="g65|chip|"/>
          <p:cNvSpPr/>
          <p:nvPr/>
        </p:nvSpPr>
        <p:spPr>
          <a:xfrm>
            <a:off x="3511296" y="5468112"/>
            <a:ext cx="1371600" cy="457200"/>
          </a:xfrm>
          <a:prstGeom prst="roundRect">
            <a:avLst>
              <a:gd name="adj" fmla="val 50000"/>
            </a:avLst>
          </a:prstGeom>
          <a:solidFill>
            <a:srgbClr val="1B232C"/>
          </a:solidFill>
          <a:ln w="12700">
            <a:solidFill>
              <a:srgbClr val="374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65|chip|"/>
          <p:cNvSpPr txBox="1"/>
          <p:nvPr/>
        </p:nvSpPr>
        <p:spPr>
          <a:xfrm>
            <a:off x="3511296" y="5468112"/>
            <a:ext cx="1371600" cy="457200"/>
          </a:xfrm>
          <a:prstGeom prst="rect">
            <a:avLst/>
          </a:prstGeom>
          <a:noFill/>
        </p:spPr>
        <p:txBody>
          <a:bodyPr wrap="square" lIns="0" rIns="0" tIns="0" bIns="0" anchor="ctr">
            <a:noAutofit/>
          </a:bodyPr>
          <a:lstStyle/>
          <a:p>
            <a:pPr algn="ctr"/>
            <a:r>
              <a:rPr sz="1500" b="1">
                <a:solidFill>
                  <a:srgbClr val="FFFFFF"/>
                </a:solidFill>
                <a:latin typeface="Inter"/>
              </a:rPr>
              <a:t>Ozow</a:t>
            </a:r>
          </a:p>
        </p:txBody>
      </p:sp>
      <p:sp>
        <p:nvSpPr>
          <p:cNvPr id="20" name="g66|chip|"/>
          <p:cNvSpPr/>
          <p:nvPr/>
        </p:nvSpPr>
        <p:spPr>
          <a:xfrm>
            <a:off x="4992624" y="5468112"/>
            <a:ext cx="1371600" cy="457200"/>
          </a:xfrm>
          <a:prstGeom prst="roundRect">
            <a:avLst>
              <a:gd name="adj" fmla="val 50000"/>
            </a:avLst>
          </a:prstGeom>
          <a:solidFill>
            <a:srgbClr val="1B232C"/>
          </a:solidFill>
          <a:ln w="12700">
            <a:solidFill>
              <a:srgbClr val="374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66|chip|"/>
          <p:cNvSpPr txBox="1"/>
          <p:nvPr/>
        </p:nvSpPr>
        <p:spPr>
          <a:xfrm>
            <a:off x="4992624" y="5468112"/>
            <a:ext cx="1371600" cy="457200"/>
          </a:xfrm>
          <a:prstGeom prst="rect">
            <a:avLst/>
          </a:prstGeom>
          <a:noFill/>
        </p:spPr>
        <p:txBody>
          <a:bodyPr wrap="square" lIns="0" rIns="0" tIns="0" bIns="0" anchor="ctr">
            <a:noAutofit/>
          </a:bodyPr>
          <a:lstStyle/>
          <a:p>
            <a:pPr algn="ctr"/>
            <a:r>
              <a:rPr sz="1500" b="1">
                <a:solidFill>
                  <a:srgbClr val="A7B0B8"/>
                </a:solidFill>
                <a:latin typeface="Inter"/>
              </a:rPr>
              <a:t>pawaPay</a:t>
            </a:r>
          </a:p>
        </p:txBody>
      </p:sp>
      <p:sp>
        <p:nvSpPr>
          <p:cNvPr id="22" name="g67|chip|"/>
          <p:cNvSpPr/>
          <p:nvPr/>
        </p:nvSpPr>
        <p:spPr>
          <a:xfrm>
            <a:off x="6473952" y="5468112"/>
            <a:ext cx="1371600" cy="457200"/>
          </a:xfrm>
          <a:prstGeom prst="roundRect">
            <a:avLst>
              <a:gd name="adj" fmla="val 50000"/>
            </a:avLst>
          </a:prstGeom>
          <a:solidFill>
            <a:srgbClr val="1B232C"/>
          </a:solidFill>
          <a:ln w="12700">
            <a:solidFill>
              <a:srgbClr val="374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67|chip|"/>
          <p:cNvSpPr txBox="1"/>
          <p:nvPr/>
        </p:nvSpPr>
        <p:spPr>
          <a:xfrm>
            <a:off x="6473952" y="5468112"/>
            <a:ext cx="1371600" cy="457200"/>
          </a:xfrm>
          <a:prstGeom prst="rect">
            <a:avLst/>
          </a:prstGeom>
          <a:noFill/>
        </p:spPr>
        <p:txBody>
          <a:bodyPr wrap="square" lIns="0" rIns="0" tIns="0" bIns="0" anchor="ctr">
            <a:noAutofit/>
          </a:bodyPr>
          <a:lstStyle/>
          <a:p>
            <a:pPr algn="ctr"/>
            <a:r>
              <a:rPr sz="1500" b="1">
                <a:solidFill>
                  <a:srgbClr val="A7B0B8"/>
                </a:solidFill>
                <a:latin typeface="Inter"/>
              </a:rPr>
              <a:t>Fincra</a:t>
            </a:r>
          </a:p>
        </p:txBody>
      </p:sp>
      <p:sp>
        <p:nvSpPr>
          <p:cNvPr id="24" name="g68|caption|"/>
          <p:cNvSpPr txBox="1"/>
          <p:nvPr/>
        </p:nvSpPr>
        <p:spPr>
          <a:xfrm>
            <a:off x="8046720" y="5394960"/>
            <a:ext cx="3593592" cy="731520"/>
          </a:xfrm>
          <a:prstGeom prst="rect">
            <a:avLst/>
          </a:prstGeom>
          <a:noFill/>
        </p:spPr>
        <p:txBody>
          <a:bodyPr wrap="square" lIns="0" rIns="0" tIns="0" bIns="0" anchor="t">
            <a:noAutofit/>
          </a:bodyPr>
          <a:lstStyle/>
          <a:p>
            <a:pPr algn="l"/>
            <a:r>
              <a:rPr sz="1200" b="0">
                <a:solidFill>
                  <a:srgbClr val="A7B0B8"/>
                </a:solidFill>
                <a:latin typeface="Inter"/>
              </a:rPr>
              <a:t>No paid checkout outside South Africa yet. Card fees are Paystack's, passed through; no FluxMuse fee.</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Confidential</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6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WHERE WE ARE · NO CUSTOMERS YET</a:t>
            </a:r>
          </a:p>
        </p:txBody>
      </p:sp>
      <p:sp>
        <p:nvSpPr>
          <p:cNvPr id="3" name="hdr6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Live, verified, and opening by hand</a:t>
            </a:r>
          </a:p>
        </p:txBody>
      </p:sp>
      <p:sp>
        <p:nvSpPr>
          <p:cNvPr id="4" name="proof70|card|"/>
          <p:cNvSpPr/>
          <p:nvPr/>
        </p:nvSpPr>
        <p:spPr>
          <a:xfrm>
            <a:off x="548640" y="1481328"/>
            <a:ext cx="2636443"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of70|deco|"/>
          <p:cNvSpPr/>
          <p:nvPr/>
        </p:nvSpPr>
        <p:spPr>
          <a:xfrm>
            <a:off x="758951" y="1673351"/>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roof70|icon|checkCircle_deep.png" descr="checkCircle_deep"/>
          <p:cNvPicPr>
            <a:picLocks noChangeAspect="1"/>
          </p:cNvPicPr>
          <p:nvPr/>
        </p:nvPicPr>
        <p:blipFill>
          <a:blip r:embed="rId2"/>
          <a:srcRect/>
          <a:stretch>
            <a:fillRect/>
          </a:stretch>
        </p:blipFill>
        <p:spPr>
          <a:xfrm>
            <a:off x="887699" y="1802099"/>
            <a:ext cx="327720" cy="327720"/>
          </a:xfrm>
          <a:prstGeom prst="rect">
            <a:avLst/>
          </a:prstGeom>
        </p:spPr>
      </p:pic>
      <p:sp>
        <p:nvSpPr>
          <p:cNvPr id="7" name="proof70|card|"/>
          <p:cNvSpPr txBox="1"/>
          <p:nvPr/>
        </p:nvSpPr>
        <p:spPr>
          <a:xfrm>
            <a:off x="777240" y="2377440"/>
            <a:ext cx="2179243" cy="640080"/>
          </a:xfrm>
          <a:prstGeom prst="rect">
            <a:avLst/>
          </a:prstGeom>
          <a:noFill/>
        </p:spPr>
        <p:txBody>
          <a:bodyPr wrap="square" lIns="0" rIns="0" tIns="0" bIns="0" anchor="t">
            <a:noAutofit/>
          </a:bodyPr>
          <a:lstStyle/>
          <a:p>
            <a:pPr algn="l"/>
            <a:r>
              <a:rPr sz="1600" b="1">
                <a:solidFill>
                  <a:srgbClr val="20242B"/>
                </a:solidFill>
                <a:latin typeface="Poppins"/>
              </a:rPr>
              <a:t>Verified Meta Tech Provider</a:t>
            </a:r>
          </a:p>
        </p:txBody>
      </p:sp>
      <p:sp>
        <p:nvSpPr>
          <p:cNvPr id="8" name="proof70|card|"/>
          <p:cNvSpPr txBox="1"/>
          <p:nvPr/>
        </p:nvSpPr>
        <p:spPr>
          <a:xfrm>
            <a:off x="777240" y="3017520"/>
            <a:ext cx="2179243" cy="475488"/>
          </a:xfrm>
          <a:prstGeom prst="rect">
            <a:avLst/>
          </a:prstGeom>
          <a:noFill/>
        </p:spPr>
        <p:txBody>
          <a:bodyPr wrap="square" lIns="0" rIns="0" tIns="0" bIns="0" anchor="t">
            <a:noAutofit/>
          </a:bodyPr>
          <a:lstStyle/>
          <a:p>
            <a:pPr algn="l"/>
            <a:r>
              <a:rPr sz="1400" b="0">
                <a:solidFill>
                  <a:srgbClr val="5B6670"/>
                </a:solidFill>
                <a:latin typeface="Inter"/>
              </a:rPr>
              <a:t>Business and access verification</a:t>
            </a:r>
          </a:p>
        </p:txBody>
      </p:sp>
      <p:sp>
        <p:nvSpPr>
          <p:cNvPr id="9" name="proof71|card|"/>
          <p:cNvSpPr/>
          <p:nvPr/>
        </p:nvSpPr>
        <p:spPr>
          <a:xfrm>
            <a:off x="3367963" y="1481328"/>
            <a:ext cx="2636443"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of71|deco|"/>
          <p:cNvSpPr/>
          <p:nvPr/>
        </p:nvSpPr>
        <p:spPr>
          <a:xfrm>
            <a:off x="3578275" y="1673351"/>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roof71|icon|chat_deep.png" descr="chat_deep"/>
          <p:cNvPicPr>
            <a:picLocks noChangeAspect="1"/>
          </p:cNvPicPr>
          <p:nvPr/>
        </p:nvPicPr>
        <p:blipFill>
          <a:blip r:embed="rId3"/>
          <a:srcRect/>
          <a:stretch>
            <a:fillRect/>
          </a:stretch>
        </p:blipFill>
        <p:spPr>
          <a:xfrm>
            <a:off x="3707023" y="1802099"/>
            <a:ext cx="327720" cy="327720"/>
          </a:xfrm>
          <a:prstGeom prst="rect">
            <a:avLst/>
          </a:prstGeom>
        </p:spPr>
      </p:pic>
      <p:sp>
        <p:nvSpPr>
          <p:cNvPr id="12" name="proof71|card|"/>
          <p:cNvSpPr txBox="1"/>
          <p:nvPr/>
        </p:nvSpPr>
        <p:spPr>
          <a:xfrm>
            <a:off x="3596563" y="2377440"/>
            <a:ext cx="2179243" cy="640080"/>
          </a:xfrm>
          <a:prstGeom prst="rect">
            <a:avLst/>
          </a:prstGeom>
          <a:noFill/>
        </p:spPr>
        <p:txBody>
          <a:bodyPr wrap="square" lIns="0" rIns="0" tIns="0" bIns="0" anchor="t">
            <a:noAutofit/>
          </a:bodyPr>
          <a:lstStyle/>
          <a:p>
            <a:pPr algn="l"/>
            <a:r>
              <a:rPr sz="1600" b="1">
                <a:solidFill>
                  <a:srgbClr val="20242B"/>
                </a:solidFill>
                <a:latin typeface="Poppins"/>
              </a:rPr>
              <a:t>Live in South Africa</a:t>
            </a:r>
          </a:p>
        </p:txBody>
      </p:sp>
      <p:sp>
        <p:nvSpPr>
          <p:cNvPr id="13" name="proof71|card|"/>
          <p:cNvSpPr txBox="1"/>
          <p:nvPr/>
        </p:nvSpPr>
        <p:spPr>
          <a:xfrm>
            <a:off x="3596563" y="3017520"/>
            <a:ext cx="2179243" cy="475488"/>
          </a:xfrm>
          <a:prstGeom prst="rect">
            <a:avLst/>
          </a:prstGeom>
          <a:noFill/>
        </p:spPr>
        <p:txBody>
          <a:bodyPr wrap="square" lIns="0" rIns="0" tIns="0" bIns="0" anchor="t">
            <a:noAutofit/>
          </a:bodyPr>
          <a:lstStyle/>
          <a:p>
            <a:pPr algn="l"/>
            <a:r>
              <a:rPr sz="1400" b="0">
                <a:solidFill>
                  <a:srgbClr val="5B6670"/>
                </a:solidFill>
                <a:latin typeface="Inter"/>
              </a:rPr>
              <a:t>Newly launched on WhatsApp</a:t>
            </a:r>
          </a:p>
        </p:txBody>
      </p:sp>
      <p:sp>
        <p:nvSpPr>
          <p:cNvPr id="14" name="proof72|card|"/>
          <p:cNvSpPr/>
          <p:nvPr/>
        </p:nvSpPr>
        <p:spPr>
          <a:xfrm>
            <a:off x="6187287" y="1481328"/>
            <a:ext cx="2636443"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of72|deco|"/>
          <p:cNvSpPr/>
          <p:nvPr/>
        </p:nvSpPr>
        <p:spPr>
          <a:xfrm>
            <a:off x="6397599" y="1673351"/>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roof72|icon|card_deep.png" descr="card_deep"/>
          <p:cNvPicPr>
            <a:picLocks noChangeAspect="1"/>
          </p:cNvPicPr>
          <p:nvPr/>
        </p:nvPicPr>
        <p:blipFill>
          <a:blip r:embed="rId4"/>
          <a:srcRect/>
          <a:stretch>
            <a:fillRect/>
          </a:stretch>
        </p:blipFill>
        <p:spPr>
          <a:xfrm>
            <a:off x="6526347" y="1802099"/>
            <a:ext cx="327720" cy="327720"/>
          </a:xfrm>
          <a:prstGeom prst="rect">
            <a:avLst/>
          </a:prstGeom>
        </p:spPr>
      </p:pic>
      <p:sp>
        <p:nvSpPr>
          <p:cNvPr id="17" name="proof72|card|"/>
          <p:cNvSpPr txBox="1"/>
          <p:nvPr/>
        </p:nvSpPr>
        <p:spPr>
          <a:xfrm>
            <a:off x="6415887" y="2377440"/>
            <a:ext cx="2179243" cy="640080"/>
          </a:xfrm>
          <a:prstGeom prst="rect">
            <a:avLst/>
          </a:prstGeom>
          <a:noFill/>
        </p:spPr>
        <p:txBody>
          <a:bodyPr wrap="square" lIns="0" rIns="0" tIns="0" bIns="0" anchor="t">
            <a:noAutofit/>
          </a:bodyPr>
          <a:lstStyle/>
          <a:p>
            <a:pPr algn="l"/>
            <a:r>
              <a:rPr sz="1600" b="1">
                <a:solidFill>
                  <a:srgbClr val="20242B"/>
                </a:solidFill>
                <a:latin typeface="Poppins"/>
              </a:rPr>
              <a:t>Paystack live</a:t>
            </a:r>
          </a:p>
        </p:txBody>
      </p:sp>
      <p:sp>
        <p:nvSpPr>
          <p:cNvPr id="18" name="proof72|card|"/>
          <p:cNvSpPr txBox="1"/>
          <p:nvPr/>
        </p:nvSpPr>
        <p:spPr>
          <a:xfrm>
            <a:off x="6415887" y="3017520"/>
            <a:ext cx="2179243" cy="475488"/>
          </a:xfrm>
          <a:prstGeom prst="rect">
            <a:avLst/>
          </a:prstGeom>
          <a:noFill/>
        </p:spPr>
        <p:txBody>
          <a:bodyPr wrap="square" lIns="0" rIns="0" tIns="0" bIns="0" anchor="t">
            <a:noAutofit/>
          </a:bodyPr>
          <a:lstStyle/>
          <a:p>
            <a:pPr algn="l"/>
            <a:r>
              <a:rPr sz="1400" b="0">
                <a:solidFill>
                  <a:srgbClr val="5B6670"/>
                </a:solidFill>
                <a:latin typeface="Inter"/>
              </a:rPr>
              <a:t>South Africa; others pending</a:t>
            </a:r>
          </a:p>
        </p:txBody>
      </p:sp>
      <p:sp>
        <p:nvSpPr>
          <p:cNvPr id="19" name="proof73|card|"/>
          <p:cNvSpPr/>
          <p:nvPr/>
        </p:nvSpPr>
        <p:spPr>
          <a:xfrm>
            <a:off x="9006611" y="1481328"/>
            <a:ext cx="2636443"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oof73|deco|"/>
          <p:cNvSpPr/>
          <p:nvPr/>
        </p:nvSpPr>
        <p:spPr>
          <a:xfrm>
            <a:off x="9216923" y="1673351"/>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roof73|icon|send_deep.png" descr="send_deep"/>
          <p:cNvPicPr>
            <a:picLocks noChangeAspect="1"/>
          </p:cNvPicPr>
          <p:nvPr/>
        </p:nvPicPr>
        <p:blipFill>
          <a:blip r:embed="rId5"/>
          <a:srcRect/>
          <a:stretch>
            <a:fillRect/>
          </a:stretch>
        </p:blipFill>
        <p:spPr>
          <a:xfrm>
            <a:off x="9345670" y="1802099"/>
            <a:ext cx="327720" cy="327720"/>
          </a:xfrm>
          <a:prstGeom prst="rect">
            <a:avLst/>
          </a:prstGeom>
        </p:spPr>
      </p:pic>
      <p:sp>
        <p:nvSpPr>
          <p:cNvPr id="22" name="proof73|card|"/>
          <p:cNvSpPr txBox="1"/>
          <p:nvPr/>
        </p:nvSpPr>
        <p:spPr>
          <a:xfrm>
            <a:off x="9235211" y="2377440"/>
            <a:ext cx="2179243" cy="640080"/>
          </a:xfrm>
          <a:prstGeom prst="rect">
            <a:avLst/>
          </a:prstGeom>
          <a:noFill/>
        </p:spPr>
        <p:txBody>
          <a:bodyPr wrap="square" lIns="0" rIns="0" tIns="0" bIns="0" anchor="t">
            <a:noAutofit/>
          </a:bodyPr>
          <a:lstStyle/>
          <a:p>
            <a:pPr algn="l"/>
            <a:r>
              <a:rPr sz="1600" b="1">
                <a:solidFill>
                  <a:srgbClr val="20242B"/>
                </a:solidFill>
                <a:latin typeface="Poppins"/>
              </a:rPr>
              <a:t>TikTok posting approved</a:t>
            </a:r>
          </a:p>
        </p:txBody>
      </p:sp>
      <p:sp>
        <p:nvSpPr>
          <p:cNvPr id="23" name="proof73|card|"/>
          <p:cNvSpPr txBox="1"/>
          <p:nvPr/>
        </p:nvSpPr>
        <p:spPr>
          <a:xfrm>
            <a:off x="9235211" y="3017520"/>
            <a:ext cx="2179243" cy="475488"/>
          </a:xfrm>
          <a:prstGeom prst="rect">
            <a:avLst/>
          </a:prstGeom>
          <a:noFill/>
        </p:spPr>
        <p:txBody>
          <a:bodyPr wrap="square" lIns="0" rIns="0" tIns="0" bIns="0" anchor="t">
            <a:noAutofit/>
          </a:bodyPr>
          <a:lstStyle/>
          <a:p>
            <a:pPr algn="l"/>
            <a:r>
              <a:rPr sz="1400" b="0">
                <a:solidFill>
                  <a:srgbClr val="5B6670"/>
                </a:solidFill>
                <a:latin typeface="Inter"/>
              </a:rPr>
              <a:t>Meta publishing in setup</a:t>
            </a:r>
          </a:p>
        </p:txBody>
      </p:sp>
      <p:sp>
        <p:nvSpPr>
          <p:cNvPr id="24" name="first74|card|"/>
          <p:cNvSpPr/>
          <p:nvPr/>
        </p:nvSpPr>
        <p:spPr>
          <a:xfrm>
            <a:off x="548640" y="3749039"/>
            <a:ext cx="6766560" cy="2359152"/>
          </a:xfrm>
          <a:prstGeom prst="roundRect">
            <a:avLst>
              <a:gd name="adj" fmla="val 7751"/>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irst74|eyebrow|"/>
          <p:cNvSpPr txBox="1"/>
          <p:nvPr/>
        </p:nvSpPr>
        <p:spPr>
          <a:xfrm>
            <a:off x="868680" y="3931920"/>
            <a:ext cx="6126480" cy="256032"/>
          </a:xfrm>
          <a:prstGeom prst="rect">
            <a:avLst/>
          </a:prstGeom>
          <a:noFill/>
        </p:spPr>
        <p:txBody>
          <a:bodyPr wrap="square" lIns="0" rIns="0" tIns="0" bIns="0" anchor="t">
            <a:noAutofit/>
          </a:bodyPr>
          <a:lstStyle/>
          <a:p>
            <a:pPr algn="l"/>
            <a:r>
              <a:rPr sz="1200" b="1" spc="150">
                <a:solidFill>
                  <a:srgbClr val="C24E00"/>
                </a:solidFill>
                <a:latin typeface="Inter"/>
              </a:rPr>
              <a:t>FIRST GROUP · BEING SET UP</a:t>
            </a:r>
          </a:p>
        </p:txBody>
      </p:sp>
      <p:sp>
        <p:nvSpPr>
          <p:cNvPr id="26" name="first74|card|"/>
          <p:cNvSpPr txBox="1"/>
          <p:nvPr/>
        </p:nvSpPr>
        <p:spPr>
          <a:xfrm>
            <a:off x="868680" y="4224528"/>
            <a:ext cx="6126480" cy="411480"/>
          </a:xfrm>
          <a:prstGeom prst="rect">
            <a:avLst/>
          </a:prstGeom>
          <a:noFill/>
        </p:spPr>
        <p:txBody>
          <a:bodyPr wrap="square" lIns="0" rIns="0" tIns="0" bIns="0" anchor="t">
            <a:noAutofit/>
          </a:bodyPr>
          <a:lstStyle/>
          <a:p>
            <a:pPr algn="l"/>
            <a:r>
              <a:rPr sz="1800" b="1">
                <a:solidFill>
                  <a:srgbClr val="20242B"/>
                </a:solidFill>
                <a:latin typeface="Poppins"/>
              </a:rPr>
              <a:t>A small first group of businesses, set up by hand</a:t>
            </a:r>
          </a:p>
        </p:txBody>
      </p:sp>
      <p:sp>
        <p:nvSpPr>
          <p:cNvPr id="27" name="first74|deco|"/>
          <p:cNvSpPr/>
          <p:nvPr/>
        </p:nvSpPr>
        <p:spPr>
          <a:xfrm>
            <a:off x="1737360" y="5047488"/>
            <a:ext cx="4389120" cy="3657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irst74|deco|"/>
          <p:cNvSpPr/>
          <p:nvPr/>
        </p:nvSpPr>
        <p:spPr>
          <a:xfrm>
            <a:off x="1627631" y="4956048"/>
            <a:ext cx="219456" cy="219456"/>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irst74|card|"/>
          <p:cNvSpPr txBox="1"/>
          <p:nvPr/>
        </p:nvSpPr>
        <p:spPr>
          <a:xfrm>
            <a:off x="731519" y="5266944"/>
            <a:ext cx="2011680" cy="731520"/>
          </a:xfrm>
          <a:prstGeom prst="rect">
            <a:avLst/>
          </a:prstGeom>
          <a:noFill/>
        </p:spPr>
        <p:txBody>
          <a:bodyPr wrap="square" lIns="0" rIns="0" tIns="0" bIns="0" anchor="t">
            <a:noAutofit/>
          </a:bodyPr>
          <a:lstStyle/>
          <a:p>
            <a:pPr algn="ctr"/>
            <a:r>
              <a:rPr sz="1400" b="1">
                <a:solidFill>
                  <a:srgbClr val="20242B"/>
                </a:solidFill>
                <a:latin typeface="Inter"/>
              </a:rPr>
              <a:t>Oct 2026</a:t>
            </a:r>
          </a:p>
          <a:p>
            <a:pPr algn="ctr"/>
            <a:r>
              <a:rPr sz="1400" b="0">
                <a:solidFill>
                  <a:srgbClr val="20242B"/>
                </a:solidFill>
                <a:latin typeface="Inter"/>
              </a:rPr>
              <a:t>Selling opens in SA</a:t>
            </a:r>
          </a:p>
        </p:txBody>
      </p:sp>
      <p:sp>
        <p:nvSpPr>
          <p:cNvPr id="30" name="first74|deco|"/>
          <p:cNvSpPr/>
          <p:nvPr/>
        </p:nvSpPr>
        <p:spPr>
          <a:xfrm>
            <a:off x="3822191" y="4956048"/>
            <a:ext cx="219456" cy="219456"/>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irst74|card|"/>
          <p:cNvSpPr txBox="1"/>
          <p:nvPr/>
        </p:nvSpPr>
        <p:spPr>
          <a:xfrm>
            <a:off x="2926079" y="5266944"/>
            <a:ext cx="2011680" cy="731520"/>
          </a:xfrm>
          <a:prstGeom prst="rect">
            <a:avLst/>
          </a:prstGeom>
          <a:noFill/>
        </p:spPr>
        <p:txBody>
          <a:bodyPr wrap="square" lIns="0" rIns="0" tIns="0" bIns="0" anchor="t">
            <a:noAutofit/>
          </a:bodyPr>
          <a:lstStyle/>
          <a:p>
            <a:pPr algn="ctr"/>
            <a:r>
              <a:rPr sz="1400" b="1">
                <a:solidFill>
                  <a:srgbClr val="20242B"/>
                </a:solidFill>
                <a:latin typeface="Inter"/>
              </a:rPr>
              <a:t>Jan 2027</a:t>
            </a:r>
          </a:p>
          <a:p>
            <a:pPr algn="ctr"/>
            <a:r>
              <a:rPr sz="1400" b="0">
                <a:solidFill>
                  <a:srgbClr val="20242B"/>
                </a:solidFill>
                <a:latin typeface="Inter"/>
              </a:rPr>
              <a:t>First group done (model)</a:t>
            </a:r>
          </a:p>
        </p:txBody>
      </p:sp>
      <p:sp>
        <p:nvSpPr>
          <p:cNvPr id="32" name="first74|deco|"/>
          <p:cNvSpPr/>
          <p:nvPr/>
        </p:nvSpPr>
        <p:spPr>
          <a:xfrm>
            <a:off x="6016751" y="4956048"/>
            <a:ext cx="219456" cy="219456"/>
          </a:xfrm>
          <a:prstGeom prst="ellipse">
            <a:avLst/>
          </a:prstGeom>
          <a:solidFill>
            <a:srgbClr val="FF6A00"/>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irst74|card|"/>
          <p:cNvSpPr txBox="1"/>
          <p:nvPr/>
        </p:nvSpPr>
        <p:spPr>
          <a:xfrm>
            <a:off x="5120640" y="5266944"/>
            <a:ext cx="2011680" cy="731520"/>
          </a:xfrm>
          <a:prstGeom prst="rect">
            <a:avLst/>
          </a:prstGeom>
          <a:noFill/>
        </p:spPr>
        <p:txBody>
          <a:bodyPr wrap="square" lIns="0" rIns="0" tIns="0" bIns="0" anchor="t">
            <a:noAutofit/>
          </a:bodyPr>
          <a:lstStyle/>
          <a:p>
            <a:pPr algn="ctr"/>
            <a:r>
              <a:rPr sz="1400" b="1">
                <a:solidFill>
                  <a:srgbClr val="C24E00"/>
                </a:solidFill>
                <a:latin typeface="Inter"/>
              </a:rPr>
              <a:t>Feb 2027</a:t>
            </a:r>
          </a:p>
          <a:p>
            <a:pPr algn="ctr"/>
            <a:r>
              <a:rPr sz="1400" b="0">
                <a:solidFill>
                  <a:srgbClr val="20242B"/>
                </a:solidFill>
                <a:latin typeface="Inter"/>
              </a:rPr>
              <a:t>Seed closes (model)</a:t>
            </a:r>
          </a:p>
        </p:txBody>
      </p:sp>
      <p:sp>
        <p:nvSpPr>
          <p:cNvPr id="34" name="lead75|card|"/>
          <p:cNvSpPr/>
          <p:nvPr/>
        </p:nvSpPr>
        <p:spPr>
          <a:xfrm>
            <a:off x="7498079" y="3749039"/>
            <a:ext cx="4142232" cy="2359152"/>
          </a:xfrm>
          <a:prstGeom prst="roundRect">
            <a:avLst>
              <a:gd name="adj" fmla="val 7751"/>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ead75|eyebrow|"/>
          <p:cNvSpPr txBox="1"/>
          <p:nvPr/>
        </p:nvSpPr>
        <p:spPr>
          <a:xfrm>
            <a:off x="7772400" y="3931920"/>
            <a:ext cx="3611880" cy="256032"/>
          </a:xfrm>
          <a:prstGeom prst="rect">
            <a:avLst/>
          </a:prstGeom>
          <a:noFill/>
        </p:spPr>
        <p:txBody>
          <a:bodyPr wrap="square" lIns="0" rIns="0" tIns="0" bIns="0" anchor="t">
            <a:noAutofit/>
          </a:bodyPr>
          <a:lstStyle/>
          <a:p>
            <a:pPr algn="l"/>
            <a:r>
              <a:rPr sz="1200" b="1" spc="150">
                <a:solidFill>
                  <a:srgbClr val="FF6A00"/>
                </a:solidFill>
                <a:latin typeface="Inter"/>
              </a:rPr>
              <a:t>LEAD GUARANTEE</a:t>
            </a:r>
          </a:p>
        </p:txBody>
      </p:sp>
      <p:sp>
        <p:nvSpPr>
          <p:cNvPr id="36" name="lead75|card|"/>
          <p:cNvSpPr txBox="1"/>
          <p:nvPr/>
        </p:nvSpPr>
        <p:spPr>
          <a:xfrm>
            <a:off x="7772400" y="4242816"/>
            <a:ext cx="3611880" cy="1143000"/>
          </a:xfrm>
          <a:prstGeom prst="rect">
            <a:avLst/>
          </a:prstGeom>
          <a:noFill/>
        </p:spPr>
        <p:txBody>
          <a:bodyPr wrap="square" lIns="0" rIns="0" tIns="0" bIns="0" anchor="t">
            <a:noAutofit/>
          </a:bodyPr>
          <a:lstStyle/>
          <a:p>
            <a:pPr algn="l"/>
            <a:r>
              <a:rPr sz="1400" b="0">
                <a:solidFill>
                  <a:srgbClr val="FFFFFF"/>
                </a:solidFill>
                <a:latin typeface="Inter"/>
              </a:rPr>
              <a:t>3 qualified leads in 30 days of go-live. If fewer, we extend support at no extra charge until 3 arrive.</a:t>
            </a:r>
          </a:p>
        </p:txBody>
      </p:sp>
      <p:sp>
        <p:nvSpPr>
          <p:cNvPr id="37" name="lead75|caption|"/>
          <p:cNvSpPr txBox="1"/>
          <p:nvPr/>
        </p:nvSpPr>
        <p:spPr>
          <a:xfrm>
            <a:off x="7772400" y="5468112"/>
            <a:ext cx="3611880" cy="502920"/>
          </a:xfrm>
          <a:prstGeom prst="rect">
            <a:avLst/>
          </a:prstGeom>
          <a:noFill/>
        </p:spPr>
        <p:txBody>
          <a:bodyPr wrap="square" lIns="0" rIns="0" tIns="0" bIns="0" anchor="t">
            <a:noAutofit/>
          </a:bodyPr>
          <a:lstStyle/>
          <a:p>
            <a:pPr algn="l"/>
            <a:r>
              <a:rPr sz="1200" b="0">
                <a:solidFill>
                  <a:srgbClr val="A7B0B8"/>
                </a:solidFill>
                <a:latin typeface="Inter"/>
              </a:rPr>
              <a:t>Conditions: the merchant shares the link and posts weekly.</a:t>
            </a:r>
          </a:p>
        </p:txBody>
      </p:sp>
      <p:sp>
        <p:nvSpPr>
          <p:cNvPr id="3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3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7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COMPETITION &amp; POSITIONING · QUALITATIVE VIEW</a:t>
            </a:r>
          </a:p>
        </p:txBody>
      </p:sp>
      <p:sp>
        <p:nvSpPr>
          <p:cNvPr id="3" name="hdr7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Where FluxMuse sits</a:t>
            </a:r>
          </a:p>
        </p:txBody>
      </p:sp>
      <p:sp>
        <p:nvSpPr>
          <p:cNvPr id="4" name="mx77|deco|"/>
          <p:cNvSpPr/>
          <p:nvPr/>
        </p:nvSpPr>
        <p:spPr>
          <a:xfrm>
            <a:off x="960120" y="1828800"/>
            <a:ext cx="4754880" cy="3840480"/>
          </a:xfrm>
          <a:prstGeom prst="roundRect">
            <a:avLst>
              <a:gd name="adj" fmla="val 2857"/>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x77|deco|"/>
          <p:cNvSpPr/>
          <p:nvPr/>
        </p:nvSpPr>
        <p:spPr>
          <a:xfrm>
            <a:off x="3328416" y="1965960"/>
            <a:ext cx="18288" cy="356616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x77|deco|"/>
          <p:cNvSpPr/>
          <p:nvPr/>
        </p:nvSpPr>
        <p:spPr>
          <a:xfrm>
            <a:off x="1097280" y="3739896"/>
            <a:ext cx="4480560" cy="18288"/>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78|caption|"/>
          <p:cNvSpPr txBox="1"/>
          <p:nvPr/>
        </p:nvSpPr>
        <p:spPr>
          <a:xfrm>
            <a:off x="960120" y="1481328"/>
            <a:ext cx="4754880" cy="274320"/>
          </a:xfrm>
          <a:prstGeom prst="rect">
            <a:avLst/>
          </a:prstGeom>
          <a:noFill/>
        </p:spPr>
        <p:txBody>
          <a:bodyPr wrap="square" lIns="0" rIns="0" tIns="0" bIns="0" anchor="t">
            <a:noAutofit/>
          </a:bodyPr>
          <a:lstStyle/>
          <a:p>
            <a:pPr algn="l"/>
            <a:r>
              <a:rPr sz="1300" b="1">
                <a:solidFill>
                  <a:srgbClr val="37474F"/>
                </a:solidFill>
                <a:latin typeface="Inter"/>
              </a:rPr>
              <a:t>↑ WhatsApp-first, priced in rands</a:t>
            </a:r>
          </a:p>
        </p:txBody>
      </p:sp>
      <p:sp>
        <p:nvSpPr>
          <p:cNvPr id="8" name="g79|caption|"/>
          <p:cNvSpPr txBox="1"/>
          <p:nvPr/>
        </p:nvSpPr>
        <p:spPr>
          <a:xfrm>
            <a:off x="960120" y="5742432"/>
            <a:ext cx="4754880" cy="274320"/>
          </a:xfrm>
          <a:prstGeom prst="rect">
            <a:avLst/>
          </a:prstGeom>
          <a:noFill/>
        </p:spPr>
        <p:txBody>
          <a:bodyPr wrap="square" lIns="0" rIns="0" tIns="0" bIns="0" anchor="t">
            <a:noAutofit/>
          </a:bodyPr>
          <a:lstStyle/>
          <a:p>
            <a:pPr algn="r"/>
            <a:r>
              <a:rPr sz="1300" b="1">
                <a:solidFill>
                  <a:srgbClr val="37474F"/>
                </a:solidFill>
                <a:latin typeface="Inter"/>
              </a:rPr>
              <a:t>AI marketing + selling in one product →</a:t>
            </a:r>
          </a:p>
        </p:txBody>
      </p:sp>
      <p:sp>
        <p:nvSpPr>
          <p:cNvPr id="9" name="pt80|deco|"/>
          <p:cNvSpPr/>
          <p:nvPr/>
        </p:nvSpPr>
        <p:spPr>
          <a:xfrm>
            <a:off x="2648102" y="5012740"/>
            <a:ext cx="237744" cy="237744"/>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t80|body|"/>
          <p:cNvSpPr txBox="1"/>
          <p:nvPr/>
        </p:nvSpPr>
        <p:spPr>
          <a:xfrm>
            <a:off x="2968142" y="4893868"/>
            <a:ext cx="2103120" cy="475488"/>
          </a:xfrm>
          <a:prstGeom prst="rect">
            <a:avLst/>
          </a:prstGeom>
          <a:noFill/>
        </p:spPr>
        <p:txBody>
          <a:bodyPr wrap="square" lIns="0" rIns="0" tIns="0" bIns="0" anchor="ctr">
            <a:noAutofit/>
          </a:bodyPr>
          <a:lstStyle/>
          <a:p>
            <a:pPr algn="l"/>
            <a:r>
              <a:rPr sz="1400" b="0">
                <a:solidFill>
                  <a:srgbClr val="20242B"/>
                </a:solidFill>
                <a:latin typeface="Inter"/>
              </a:rPr>
              <a:t>Global social media tools</a:t>
            </a:r>
          </a:p>
        </p:txBody>
      </p:sp>
      <p:sp>
        <p:nvSpPr>
          <p:cNvPr id="11" name="pt81|deco|"/>
          <p:cNvSpPr/>
          <p:nvPr/>
        </p:nvSpPr>
        <p:spPr>
          <a:xfrm>
            <a:off x="3218688" y="3937406"/>
            <a:ext cx="237744" cy="237744"/>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t81|body|"/>
          <p:cNvSpPr txBox="1"/>
          <p:nvPr/>
        </p:nvSpPr>
        <p:spPr>
          <a:xfrm>
            <a:off x="3538728" y="3818534"/>
            <a:ext cx="2103120" cy="475488"/>
          </a:xfrm>
          <a:prstGeom prst="rect">
            <a:avLst/>
          </a:prstGeom>
          <a:noFill/>
        </p:spPr>
        <p:txBody>
          <a:bodyPr wrap="square" lIns="0" rIns="0" tIns="0" bIns="0" anchor="ctr">
            <a:noAutofit/>
          </a:bodyPr>
          <a:lstStyle/>
          <a:p>
            <a:pPr algn="l"/>
            <a:r>
              <a:rPr sz="1400" b="0">
                <a:solidFill>
                  <a:srgbClr val="20242B"/>
                </a:solidFill>
                <a:latin typeface="Inter"/>
              </a:rPr>
              <a:t>WhatsApp BSPs &amp; chatbot vendors</a:t>
            </a:r>
          </a:p>
        </p:txBody>
      </p:sp>
      <p:sp>
        <p:nvSpPr>
          <p:cNvPr id="13" name="pt82|deco|"/>
          <p:cNvSpPr/>
          <p:nvPr/>
        </p:nvSpPr>
        <p:spPr>
          <a:xfrm>
            <a:off x="2267712" y="3246120"/>
            <a:ext cx="237744" cy="237744"/>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t82|body|"/>
          <p:cNvSpPr txBox="1"/>
          <p:nvPr/>
        </p:nvSpPr>
        <p:spPr>
          <a:xfrm>
            <a:off x="2587752" y="3127248"/>
            <a:ext cx="2103120" cy="475488"/>
          </a:xfrm>
          <a:prstGeom prst="rect">
            <a:avLst/>
          </a:prstGeom>
          <a:noFill/>
        </p:spPr>
        <p:txBody>
          <a:bodyPr wrap="square" lIns="0" rIns="0" tIns="0" bIns="0" anchor="ctr">
            <a:noAutofit/>
          </a:bodyPr>
          <a:lstStyle/>
          <a:p>
            <a:pPr algn="l"/>
            <a:r>
              <a:rPr sz="1400" b="0">
                <a:solidFill>
                  <a:srgbClr val="20242B"/>
                </a:solidFill>
                <a:latin typeface="Inter"/>
              </a:rPr>
              <a:t>E-commerce platforms</a:t>
            </a:r>
          </a:p>
        </p:txBody>
      </p:sp>
      <p:sp>
        <p:nvSpPr>
          <p:cNvPr id="15" name="pt83|deco|"/>
          <p:cNvSpPr/>
          <p:nvPr/>
        </p:nvSpPr>
        <p:spPr>
          <a:xfrm>
            <a:off x="1554480" y="2554833"/>
            <a:ext cx="237744" cy="237744"/>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t83|body|"/>
          <p:cNvSpPr txBox="1"/>
          <p:nvPr/>
        </p:nvSpPr>
        <p:spPr>
          <a:xfrm>
            <a:off x="1874520" y="2435961"/>
            <a:ext cx="2103120" cy="475488"/>
          </a:xfrm>
          <a:prstGeom prst="rect">
            <a:avLst/>
          </a:prstGeom>
          <a:noFill/>
        </p:spPr>
        <p:txBody>
          <a:bodyPr wrap="square" lIns="0" rIns="0" tIns="0" bIns="0" anchor="ctr">
            <a:noAutofit/>
          </a:bodyPr>
          <a:lstStyle/>
          <a:p>
            <a:pPr algn="l"/>
            <a:r>
              <a:rPr sz="1400" b="0">
                <a:solidFill>
                  <a:srgbClr val="20242B"/>
                </a:solidFill>
                <a:latin typeface="Inter"/>
              </a:rPr>
              <a:t>Local agencies</a:t>
            </a:r>
          </a:p>
        </p:txBody>
      </p:sp>
      <p:sp>
        <p:nvSpPr>
          <p:cNvPr id="17" name="fm84|deco|"/>
          <p:cNvSpPr/>
          <p:nvPr/>
        </p:nvSpPr>
        <p:spPr>
          <a:xfrm>
            <a:off x="4657953" y="2203703"/>
            <a:ext cx="402336" cy="402336"/>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m84|body|"/>
          <p:cNvSpPr txBox="1"/>
          <p:nvPr/>
        </p:nvSpPr>
        <p:spPr>
          <a:xfrm>
            <a:off x="4356201" y="2679191"/>
            <a:ext cx="1691640" cy="365760"/>
          </a:xfrm>
          <a:prstGeom prst="rect">
            <a:avLst/>
          </a:prstGeom>
          <a:noFill/>
        </p:spPr>
        <p:txBody>
          <a:bodyPr wrap="square" lIns="0" rIns="0" tIns="0" bIns="0" anchor="t">
            <a:noAutofit/>
          </a:bodyPr>
          <a:lstStyle/>
          <a:p>
            <a:pPr algn="ctr"/>
            <a:r>
              <a:rPr sz="1700" b="1">
                <a:solidFill>
                  <a:srgbClr val="C24E00"/>
                </a:solidFill>
                <a:latin typeface="Poppins"/>
              </a:rPr>
              <a:t>FluxMuse</a:t>
            </a:r>
          </a:p>
        </p:txBody>
      </p:sp>
      <p:sp>
        <p:nvSpPr>
          <p:cNvPr id="19" name="cat85|card|"/>
          <p:cNvSpPr/>
          <p:nvPr/>
        </p:nvSpPr>
        <p:spPr>
          <a:xfrm>
            <a:off x="6172200" y="1481328"/>
            <a:ext cx="5468112" cy="1060704"/>
          </a:xfrm>
          <a:prstGeom prst="roundRect">
            <a:avLst>
              <a:gd name="adj" fmla="val 13793"/>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t85|card|"/>
          <p:cNvSpPr txBox="1"/>
          <p:nvPr/>
        </p:nvSpPr>
        <p:spPr>
          <a:xfrm>
            <a:off x="6446520" y="1591056"/>
            <a:ext cx="4919472" cy="329184"/>
          </a:xfrm>
          <a:prstGeom prst="rect">
            <a:avLst/>
          </a:prstGeom>
          <a:noFill/>
        </p:spPr>
        <p:txBody>
          <a:bodyPr wrap="square" lIns="0" rIns="0" tIns="0" bIns="0" anchor="t">
            <a:noAutofit/>
          </a:bodyPr>
          <a:lstStyle/>
          <a:p>
            <a:pPr algn="l"/>
            <a:r>
              <a:rPr sz="1600" b="1">
                <a:solidFill>
                  <a:srgbClr val="20242B"/>
                </a:solidFill>
                <a:latin typeface="Poppins"/>
              </a:rPr>
              <a:t>Global social media tools</a:t>
            </a:r>
          </a:p>
        </p:txBody>
      </p:sp>
      <p:sp>
        <p:nvSpPr>
          <p:cNvPr id="21" name="cat85|card|"/>
          <p:cNvSpPr txBox="1"/>
          <p:nvPr/>
        </p:nvSpPr>
        <p:spPr>
          <a:xfrm>
            <a:off x="6446520" y="1938528"/>
            <a:ext cx="4919472" cy="530352"/>
          </a:xfrm>
          <a:prstGeom prst="rect">
            <a:avLst/>
          </a:prstGeom>
          <a:noFill/>
        </p:spPr>
        <p:txBody>
          <a:bodyPr wrap="square" lIns="0" rIns="0" tIns="0" bIns="0" anchor="t">
            <a:noAutofit/>
          </a:bodyPr>
          <a:lstStyle/>
          <a:p>
            <a:pPr algn="l"/>
            <a:r>
              <a:rPr sz="1400" b="0">
                <a:solidFill>
                  <a:srgbClr val="37474F"/>
                </a:solidFill>
                <a:latin typeface="Inter"/>
              </a:rPr>
              <a:t>Strong at publishing and analytics. FluxMuse runs from WhatsApp and builds the shop, priced in rands.</a:t>
            </a:r>
          </a:p>
        </p:txBody>
      </p:sp>
      <p:sp>
        <p:nvSpPr>
          <p:cNvPr id="22" name="cat86|card|"/>
          <p:cNvSpPr/>
          <p:nvPr/>
        </p:nvSpPr>
        <p:spPr>
          <a:xfrm>
            <a:off x="6172200" y="2651760"/>
            <a:ext cx="5468112" cy="1060704"/>
          </a:xfrm>
          <a:prstGeom prst="roundRect">
            <a:avLst>
              <a:gd name="adj" fmla="val 13793"/>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t86|card|"/>
          <p:cNvSpPr txBox="1"/>
          <p:nvPr/>
        </p:nvSpPr>
        <p:spPr>
          <a:xfrm>
            <a:off x="6446520" y="2761488"/>
            <a:ext cx="4919472" cy="329184"/>
          </a:xfrm>
          <a:prstGeom prst="rect">
            <a:avLst/>
          </a:prstGeom>
          <a:noFill/>
        </p:spPr>
        <p:txBody>
          <a:bodyPr wrap="square" lIns="0" rIns="0" tIns="0" bIns="0" anchor="t">
            <a:noAutofit/>
          </a:bodyPr>
          <a:lstStyle/>
          <a:p>
            <a:pPr algn="l"/>
            <a:r>
              <a:rPr sz="1600" b="1">
                <a:solidFill>
                  <a:srgbClr val="20242B"/>
                </a:solidFill>
                <a:latin typeface="Poppins"/>
              </a:rPr>
              <a:t>WhatsApp BSPs &amp; chatbot vendors</a:t>
            </a:r>
          </a:p>
        </p:txBody>
      </p:sp>
      <p:sp>
        <p:nvSpPr>
          <p:cNvPr id="24" name="cat86|card|"/>
          <p:cNvSpPr txBox="1"/>
          <p:nvPr/>
        </p:nvSpPr>
        <p:spPr>
          <a:xfrm>
            <a:off x="6446520" y="3108960"/>
            <a:ext cx="4919472" cy="530352"/>
          </a:xfrm>
          <a:prstGeom prst="rect">
            <a:avLst/>
          </a:prstGeom>
          <a:noFill/>
        </p:spPr>
        <p:txBody>
          <a:bodyPr wrap="square" lIns="0" rIns="0" tIns="0" bIns="0" anchor="t">
            <a:noAutofit/>
          </a:bodyPr>
          <a:lstStyle/>
          <a:p>
            <a:pPr algn="l"/>
            <a:r>
              <a:rPr sz="1400" b="0">
                <a:solidFill>
                  <a:srgbClr val="37474F"/>
                </a:solidFill>
                <a:latin typeface="Inter"/>
              </a:rPr>
              <a:t>Strong at messaging infrastructure. FluxMuse adds the AI team that creates the marketing.</a:t>
            </a:r>
          </a:p>
        </p:txBody>
      </p:sp>
      <p:sp>
        <p:nvSpPr>
          <p:cNvPr id="25" name="cat87|card|"/>
          <p:cNvSpPr/>
          <p:nvPr/>
        </p:nvSpPr>
        <p:spPr>
          <a:xfrm>
            <a:off x="6172200" y="3822191"/>
            <a:ext cx="5468112" cy="1060704"/>
          </a:xfrm>
          <a:prstGeom prst="roundRect">
            <a:avLst>
              <a:gd name="adj" fmla="val 13793"/>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t87|card|"/>
          <p:cNvSpPr txBox="1"/>
          <p:nvPr/>
        </p:nvSpPr>
        <p:spPr>
          <a:xfrm>
            <a:off x="6446520" y="3931920"/>
            <a:ext cx="4919472" cy="329184"/>
          </a:xfrm>
          <a:prstGeom prst="rect">
            <a:avLst/>
          </a:prstGeom>
          <a:noFill/>
        </p:spPr>
        <p:txBody>
          <a:bodyPr wrap="square" lIns="0" rIns="0" tIns="0" bIns="0" anchor="t">
            <a:noAutofit/>
          </a:bodyPr>
          <a:lstStyle/>
          <a:p>
            <a:pPr algn="l"/>
            <a:r>
              <a:rPr sz="1600" b="1">
                <a:solidFill>
                  <a:srgbClr val="20242B"/>
                </a:solidFill>
                <a:latin typeface="Poppins"/>
              </a:rPr>
              <a:t>E-commerce platforms</a:t>
            </a:r>
          </a:p>
        </p:txBody>
      </p:sp>
      <p:sp>
        <p:nvSpPr>
          <p:cNvPr id="27" name="cat87|card|"/>
          <p:cNvSpPr txBox="1"/>
          <p:nvPr/>
        </p:nvSpPr>
        <p:spPr>
          <a:xfrm>
            <a:off x="6446520" y="4279392"/>
            <a:ext cx="4919472" cy="530352"/>
          </a:xfrm>
          <a:prstGeom prst="rect">
            <a:avLst/>
          </a:prstGeom>
          <a:noFill/>
        </p:spPr>
        <p:txBody>
          <a:bodyPr wrap="square" lIns="0" rIns="0" tIns="0" bIns="0" anchor="t">
            <a:noAutofit/>
          </a:bodyPr>
          <a:lstStyle/>
          <a:p>
            <a:pPr algn="l"/>
            <a:r>
              <a:rPr sz="1400" b="0">
                <a:solidFill>
                  <a:srgbClr val="37474F"/>
                </a:solidFill>
                <a:latin typeface="Inter"/>
              </a:rPr>
              <a:t>Strong at storefronts. FluxMuse builds the shop from photos sent on WhatsApp.</a:t>
            </a:r>
          </a:p>
        </p:txBody>
      </p:sp>
      <p:sp>
        <p:nvSpPr>
          <p:cNvPr id="28" name="cat88|card|"/>
          <p:cNvSpPr/>
          <p:nvPr/>
        </p:nvSpPr>
        <p:spPr>
          <a:xfrm>
            <a:off x="6172200" y="4992624"/>
            <a:ext cx="5468112" cy="1060704"/>
          </a:xfrm>
          <a:prstGeom prst="roundRect">
            <a:avLst>
              <a:gd name="adj" fmla="val 13793"/>
            </a:avLst>
          </a:prstGeom>
          <a:solidFill>
            <a:srgbClr val="FFFFFF"/>
          </a:solidFill>
          <a:ln w="1587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t88|card|"/>
          <p:cNvSpPr txBox="1"/>
          <p:nvPr/>
        </p:nvSpPr>
        <p:spPr>
          <a:xfrm>
            <a:off x="6446520" y="5102352"/>
            <a:ext cx="4919472" cy="329184"/>
          </a:xfrm>
          <a:prstGeom prst="rect">
            <a:avLst/>
          </a:prstGeom>
          <a:noFill/>
        </p:spPr>
        <p:txBody>
          <a:bodyPr wrap="square" lIns="0" rIns="0" tIns="0" bIns="0" anchor="t">
            <a:noAutofit/>
          </a:bodyPr>
          <a:lstStyle/>
          <a:p>
            <a:pPr algn="l"/>
            <a:r>
              <a:rPr sz="1600" b="1">
                <a:solidFill>
                  <a:srgbClr val="20242B"/>
                </a:solidFill>
                <a:latin typeface="Poppins"/>
              </a:rPr>
              <a:t>Local agencies</a:t>
            </a:r>
          </a:p>
        </p:txBody>
      </p:sp>
      <p:sp>
        <p:nvSpPr>
          <p:cNvPr id="30" name="cat88|card|"/>
          <p:cNvSpPr txBox="1"/>
          <p:nvPr/>
        </p:nvSpPr>
        <p:spPr>
          <a:xfrm>
            <a:off x="6446520" y="5449824"/>
            <a:ext cx="4919472" cy="530352"/>
          </a:xfrm>
          <a:prstGeom prst="rect">
            <a:avLst/>
          </a:prstGeom>
          <a:noFill/>
        </p:spPr>
        <p:txBody>
          <a:bodyPr wrap="square" lIns="0" rIns="0" tIns="0" bIns="0" anchor="t">
            <a:noAutofit/>
          </a:bodyPr>
          <a:lstStyle/>
          <a:p>
            <a:pPr algn="l"/>
            <a:r>
              <a:rPr sz="1400" b="0">
                <a:solidFill>
                  <a:srgbClr val="37474F"/>
                </a:solidFill>
                <a:latin typeface="Inter"/>
              </a:rPr>
              <a:t>Local knowledge and service. FluxMuse makes them partners, white-label at R6,999/mo wholesale.</a:t>
            </a:r>
          </a:p>
        </p:txBody>
      </p:sp>
      <p:sp>
        <p:nvSpPr>
          <p:cNvPr id="31"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32"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8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UNIT ECONOMICS · FY3 · PROJECTION (MODEL V3, BASE CASE)</a:t>
            </a:r>
          </a:p>
        </p:txBody>
      </p:sp>
      <p:sp>
        <p:nvSpPr>
          <p:cNvPr id="3" name="hdr8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Blended LTV:CAC 3.2x, payback 6.1 months</a:t>
            </a:r>
          </a:p>
        </p:txBody>
      </p:sp>
      <p:pic>
        <p:nvPicPr>
          <p:cNvPr id="4" name="g90|img|charts/unit_economics_16x9.png" descr="LTV and CAC by segment in FY3"/>
          <p:cNvPicPr>
            <a:picLocks noChangeAspect="1"/>
          </p:cNvPicPr>
          <p:nvPr/>
        </p:nvPicPr>
        <p:blipFill>
          <a:blip r:embed="rId2"/>
          <a:srcRect t="14500" b="5000"/>
          <a:stretch>
            <a:fillRect/>
          </a:stretch>
        </p:blipFill>
        <p:spPr>
          <a:xfrm>
            <a:off x="548639" y="1481328"/>
            <a:ext cx="7223760" cy="3271008"/>
          </a:xfrm>
          <a:prstGeom prst="rect">
            <a:avLst/>
          </a:prstGeom>
        </p:spPr>
      </p:pic>
      <p:sp>
        <p:nvSpPr>
          <p:cNvPr id="5" name="solo91|card|"/>
          <p:cNvSpPr/>
          <p:nvPr/>
        </p:nvSpPr>
        <p:spPr>
          <a:xfrm>
            <a:off x="548640" y="4956048"/>
            <a:ext cx="7223760" cy="1143000"/>
          </a:xfrm>
          <a:prstGeom prst="roundRect">
            <a:avLst>
              <a:gd name="adj" fmla="val 128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lo91|card|"/>
          <p:cNvSpPr txBox="1"/>
          <p:nvPr/>
        </p:nvSpPr>
        <p:spPr>
          <a:xfrm>
            <a:off x="822959" y="5029200"/>
            <a:ext cx="6675120" cy="1005840"/>
          </a:xfrm>
          <a:prstGeom prst="rect">
            <a:avLst/>
          </a:prstGeom>
          <a:noFill/>
        </p:spPr>
        <p:txBody>
          <a:bodyPr wrap="square" lIns="0" rIns="0" tIns="0" bIns="0" anchor="ctr">
            <a:noAutofit/>
          </a:bodyPr>
          <a:lstStyle/>
          <a:p>
            <a:pPr algn="l"/>
            <a:r>
              <a:rPr sz="1400" b="0">
                <a:solidFill>
                  <a:srgbClr val="20242B"/>
                </a:solidFill>
                <a:latin typeface="Inter"/>
              </a:rPr>
              <a:t>Solo does not pay back on fully loaded CAC (0.7x): it earns its place through the Free plan and upgrades, not paid ads. SMEs (6.6x) and agencies (7.3x) carry the blend.</a:t>
            </a:r>
          </a:p>
        </p:txBody>
      </p:sp>
      <p:sp>
        <p:nvSpPr>
          <p:cNvPr id="7" name="tile92|card|"/>
          <p:cNvSpPr/>
          <p:nvPr/>
        </p:nvSpPr>
        <p:spPr>
          <a:xfrm>
            <a:off x="8092440" y="1481328"/>
            <a:ext cx="1682495" cy="1152144"/>
          </a:xfrm>
          <a:prstGeom prst="roundRect">
            <a:avLst>
              <a:gd name="adj" fmla="val 12698"/>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le92|card|"/>
          <p:cNvSpPr txBox="1"/>
          <p:nvPr/>
        </p:nvSpPr>
        <p:spPr>
          <a:xfrm>
            <a:off x="8293608" y="1609344"/>
            <a:ext cx="1280160" cy="475488"/>
          </a:xfrm>
          <a:prstGeom prst="rect">
            <a:avLst/>
          </a:prstGeom>
          <a:noFill/>
        </p:spPr>
        <p:txBody>
          <a:bodyPr wrap="square" lIns="0" rIns="0" tIns="0" bIns="0" anchor="t">
            <a:noAutofit/>
          </a:bodyPr>
          <a:lstStyle/>
          <a:p>
            <a:pPr algn="l"/>
            <a:r>
              <a:rPr sz="2200" b="1">
                <a:solidFill>
                  <a:srgbClr val="C24E00"/>
                </a:solidFill>
                <a:latin typeface="Poppins"/>
              </a:rPr>
              <a:t>R19,908</a:t>
            </a:r>
          </a:p>
        </p:txBody>
      </p:sp>
      <p:sp>
        <p:nvSpPr>
          <p:cNvPr id="9" name="tile92|card|"/>
          <p:cNvSpPr txBox="1"/>
          <p:nvPr/>
        </p:nvSpPr>
        <p:spPr>
          <a:xfrm>
            <a:off x="8293608" y="2121408"/>
            <a:ext cx="1280160" cy="457200"/>
          </a:xfrm>
          <a:prstGeom prst="rect">
            <a:avLst/>
          </a:prstGeom>
          <a:noFill/>
        </p:spPr>
        <p:txBody>
          <a:bodyPr wrap="square" lIns="0" rIns="0" tIns="0" bIns="0" anchor="t">
            <a:noAutofit/>
          </a:bodyPr>
          <a:lstStyle/>
          <a:p>
            <a:pPr algn="l"/>
            <a:r>
              <a:rPr sz="1400" b="0">
                <a:solidFill>
                  <a:srgbClr val="20242B"/>
                </a:solidFill>
                <a:latin typeface="Inter"/>
              </a:rPr>
              <a:t>Blended LTV</a:t>
            </a:r>
          </a:p>
        </p:txBody>
      </p:sp>
      <p:sp>
        <p:nvSpPr>
          <p:cNvPr id="10" name="tile93|card|"/>
          <p:cNvSpPr/>
          <p:nvPr/>
        </p:nvSpPr>
        <p:spPr>
          <a:xfrm>
            <a:off x="9957816" y="1481328"/>
            <a:ext cx="1682495" cy="1152144"/>
          </a:xfrm>
          <a:prstGeom prst="roundRect">
            <a:avLst>
              <a:gd name="adj" fmla="val 12698"/>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ile93|card|"/>
          <p:cNvSpPr txBox="1"/>
          <p:nvPr/>
        </p:nvSpPr>
        <p:spPr>
          <a:xfrm>
            <a:off x="10158984" y="1609344"/>
            <a:ext cx="1280160" cy="475488"/>
          </a:xfrm>
          <a:prstGeom prst="rect">
            <a:avLst/>
          </a:prstGeom>
          <a:noFill/>
        </p:spPr>
        <p:txBody>
          <a:bodyPr wrap="square" lIns="0" rIns="0" tIns="0" bIns="0" anchor="t">
            <a:noAutofit/>
          </a:bodyPr>
          <a:lstStyle/>
          <a:p>
            <a:pPr algn="l"/>
            <a:r>
              <a:rPr sz="2200" b="1">
                <a:solidFill>
                  <a:srgbClr val="C24E00"/>
                </a:solidFill>
                <a:latin typeface="Poppins"/>
              </a:rPr>
              <a:t>R6,272</a:t>
            </a:r>
          </a:p>
        </p:txBody>
      </p:sp>
      <p:sp>
        <p:nvSpPr>
          <p:cNvPr id="12" name="tile93|card|"/>
          <p:cNvSpPr txBox="1"/>
          <p:nvPr/>
        </p:nvSpPr>
        <p:spPr>
          <a:xfrm>
            <a:off x="10158984" y="2121408"/>
            <a:ext cx="1280160" cy="457200"/>
          </a:xfrm>
          <a:prstGeom prst="rect">
            <a:avLst/>
          </a:prstGeom>
          <a:noFill/>
        </p:spPr>
        <p:txBody>
          <a:bodyPr wrap="square" lIns="0" rIns="0" tIns="0" bIns="0" anchor="t">
            <a:noAutofit/>
          </a:bodyPr>
          <a:lstStyle/>
          <a:p>
            <a:pPr algn="l"/>
            <a:r>
              <a:rPr sz="1400" b="0">
                <a:solidFill>
                  <a:srgbClr val="20242B"/>
                </a:solidFill>
                <a:latin typeface="Inter"/>
              </a:rPr>
              <a:t>Blended CAC</a:t>
            </a:r>
          </a:p>
        </p:txBody>
      </p:sp>
      <p:sp>
        <p:nvSpPr>
          <p:cNvPr id="13" name="tile94|card|"/>
          <p:cNvSpPr/>
          <p:nvPr/>
        </p:nvSpPr>
        <p:spPr>
          <a:xfrm>
            <a:off x="8092440" y="2779776"/>
            <a:ext cx="1682495" cy="1152144"/>
          </a:xfrm>
          <a:prstGeom prst="roundRect">
            <a:avLst>
              <a:gd name="adj" fmla="val 12698"/>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ile94|card|"/>
          <p:cNvSpPr txBox="1"/>
          <p:nvPr/>
        </p:nvSpPr>
        <p:spPr>
          <a:xfrm>
            <a:off x="8293608" y="2907792"/>
            <a:ext cx="1280160" cy="475488"/>
          </a:xfrm>
          <a:prstGeom prst="rect">
            <a:avLst/>
          </a:prstGeom>
          <a:noFill/>
        </p:spPr>
        <p:txBody>
          <a:bodyPr wrap="square" lIns="0" rIns="0" tIns="0" bIns="0" anchor="t">
            <a:noAutofit/>
          </a:bodyPr>
          <a:lstStyle/>
          <a:p>
            <a:pPr algn="l"/>
            <a:r>
              <a:rPr sz="2200" b="1">
                <a:solidFill>
                  <a:srgbClr val="C24E00"/>
                </a:solidFill>
                <a:latin typeface="Poppins"/>
              </a:rPr>
              <a:t>3.2x</a:t>
            </a:r>
          </a:p>
        </p:txBody>
      </p:sp>
      <p:sp>
        <p:nvSpPr>
          <p:cNvPr id="15" name="tile94|card|"/>
          <p:cNvSpPr txBox="1"/>
          <p:nvPr/>
        </p:nvSpPr>
        <p:spPr>
          <a:xfrm>
            <a:off x="8293608" y="3419856"/>
            <a:ext cx="1280160" cy="457200"/>
          </a:xfrm>
          <a:prstGeom prst="rect">
            <a:avLst/>
          </a:prstGeom>
          <a:noFill/>
        </p:spPr>
        <p:txBody>
          <a:bodyPr wrap="square" lIns="0" rIns="0" tIns="0" bIns="0" anchor="t">
            <a:noAutofit/>
          </a:bodyPr>
          <a:lstStyle/>
          <a:p>
            <a:pPr algn="l"/>
            <a:r>
              <a:rPr sz="1400" b="0">
                <a:solidFill>
                  <a:srgbClr val="20242B"/>
                </a:solidFill>
                <a:latin typeface="Inter"/>
              </a:rPr>
              <a:t>LTV:CAC</a:t>
            </a:r>
          </a:p>
        </p:txBody>
      </p:sp>
      <p:sp>
        <p:nvSpPr>
          <p:cNvPr id="16" name="tile95|card|"/>
          <p:cNvSpPr/>
          <p:nvPr/>
        </p:nvSpPr>
        <p:spPr>
          <a:xfrm>
            <a:off x="9957816" y="2779776"/>
            <a:ext cx="1682495" cy="1152144"/>
          </a:xfrm>
          <a:prstGeom prst="roundRect">
            <a:avLst>
              <a:gd name="adj" fmla="val 12698"/>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ile95|card|"/>
          <p:cNvSpPr txBox="1"/>
          <p:nvPr/>
        </p:nvSpPr>
        <p:spPr>
          <a:xfrm>
            <a:off x="10158984" y="2907792"/>
            <a:ext cx="1280160" cy="475488"/>
          </a:xfrm>
          <a:prstGeom prst="rect">
            <a:avLst/>
          </a:prstGeom>
          <a:noFill/>
        </p:spPr>
        <p:txBody>
          <a:bodyPr wrap="square" lIns="0" rIns="0" tIns="0" bIns="0" anchor="t">
            <a:noAutofit/>
          </a:bodyPr>
          <a:lstStyle/>
          <a:p>
            <a:pPr algn="l"/>
            <a:r>
              <a:rPr sz="2200" b="1">
                <a:solidFill>
                  <a:srgbClr val="C24E00"/>
                </a:solidFill>
                <a:latin typeface="Poppins"/>
              </a:rPr>
              <a:t>6.1 mo</a:t>
            </a:r>
          </a:p>
        </p:txBody>
      </p:sp>
      <p:sp>
        <p:nvSpPr>
          <p:cNvPr id="18" name="tile95|card|"/>
          <p:cNvSpPr txBox="1"/>
          <p:nvPr/>
        </p:nvSpPr>
        <p:spPr>
          <a:xfrm>
            <a:off x="10158984" y="3419856"/>
            <a:ext cx="1280160" cy="457200"/>
          </a:xfrm>
          <a:prstGeom prst="rect">
            <a:avLst/>
          </a:prstGeom>
          <a:noFill/>
        </p:spPr>
        <p:txBody>
          <a:bodyPr wrap="square" lIns="0" rIns="0" tIns="0" bIns="0" anchor="t">
            <a:noAutofit/>
          </a:bodyPr>
          <a:lstStyle/>
          <a:p>
            <a:pPr algn="l"/>
            <a:r>
              <a:rPr sz="1400" b="0">
                <a:solidFill>
                  <a:srgbClr val="20242B"/>
                </a:solidFill>
                <a:latin typeface="Inter"/>
              </a:rPr>
              <a:t>CAC payback</a:t>
            </a:r>
          </a:p>
        </p:txBody>
      </p:sp>
      <p:graphicFrame>
        <p:nvGraphicFramePr>
          <p:cNvPr id="19" name="g96|table|ue-trend"/>
          <p:cNvGraphicFramePr>
            <a:graphicFrameLocks noGrp="1"/>
          </p:cNvGraphicFramePr>
          <p:nvPr/>
        </p:nvGraphicFramePr>
        <p:xfrm>
          <a:off x="8092440" y="4224528"/>
          <a:ext cx="3547872" cy="1828800"/>
        </p:xfrm>
        <a:graphic>
          <a:graphicData uri="http://schemas.openxmlformats.org/drawingml/2006/table">
            <a:tbl>
              <a:tblPr firstRow="0" bandRow="0"/>
              <a:tblGrid>
                <a:gridCol w="1463040"/>
                <a:gridCol w="694944"/>
                <a:gridCol w="694944"/>
                <a:gridCol w="694944"/>
              </a:tblGrid>
              <a:tr h="457200">
                <a:tc>
                  <a:txBody>
                    <a:bodyPr wrap="square"/>
                    <a:lstStyle/>
                    <a:p>
                      <a:pPr algn="l"/>
                      <a:r>
                        <a:rPr sz="1400" b="1">
                          <a:solidFill>
                            <a:srgbClr val="FFFFFF"/>
                          </a:solidFill>
                          <a:latin typeface="Poppins"/>
                        </a:rPr>
                        <a:t>Blended</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FY1</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FY3</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FY5</a:t>
                      </a:r>
                    </a:p>
                  </a:txBody>
                  <a:tcPr marL="109728" marR="109728" marT="36576" marB="36576" anchor="ctr">
                    <a:lnL w="0">
                      <a:noFill/>
                    </a:lnL>
                    <a:lnR w="0">
                      <a:noFill/>
                    </a:lnR>
                    <a:lnT w="0">
                      <a:noFill/>
                    </a:lnT>
                    <a:lnB w="0">
                      <a:noFill/>
                    </a:lnB>
                    <a:solidFill>
                      <a:srgbClr val="0F1419"/>
                    </a:solidFill>
                  </a:tcPr>
                </a:tc>
              </a:tr>
              <a:tr h="457200">
                <a:tc>
                  <a:txBody>
                    <a:bodyPr wrap="square"/>
                    <a:lstStyle/>
                    <a:p>
                      <a:pPr algn="l"/>
                      <a:r>
                        <a:rPr sz="1400" b="1">
                          <a:solidFill>
                            <a:srgbClr val="20242B"/>
                          </a:solidFill>
                          <a:latin typeface="Inter"/>
                        </a:rPr>
                        <a:t>LTV:CAC</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0.8x</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3.2x</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4.7x</a:t>
                      </a:r>
                    </a:p>
                  </a:txBody>
                  <a:tcPr marL="109728" marR="109728" marT="36576" marB="36576" anchor="ctr">
                    <a:lnL w="0">
                      <a:noFill/>
                    </a:lnL>
                    <a:lnR w="0">
                      <a:noFill/>
                    </a:lnR>
                    <a:lnT w="0">
                      <a:noFill/>
                    </a:lnT>
                    <a:lnB w="12700">
                      <a:solidFill>
                        <a:srgbClr val="E3E6EA"/>
                      </a:solidFill>
                    </a:lnB>
                    <a:solidFill>
                      <a:srgbClr val="FFFFFF"/>
                    </a:solidFill>
                  </a:tcPr>
                </a:tc>
              </a:tr>
              <a:tr h="457200">
                <a:tc>
                  <a:txBody>
                    <a:bodyPr wrap="square"/>
                    <a:lstStyle/>
                    <a:p>
                      <a:pPr algn="l"/>
                      <a:r>
                        <a:rPr sz="1400" b="1">
                          <a:solidFill>
                            <a:srgbClr val="20242B"/>
                          </a:solidFill>
                          <a:latin typeface="Inter"/>
                        </a:rPr>
                        <a:t>Payback (mo)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25.0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6.1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4.1</a:t>
                      </a:r>
                    </a:p>
                  </a:txBody>
                  <a:tcPr marL="109728" marR="109728" marT="36576" marB="36576" anchor="ctr">
                    <a:lnL w="0">
                      <a:noFill/>
                    </a:lnL>
                    <a:lnR w="0">
                      <a:noFill/>
                    </a:lnR>
                    <a:lnT w="0">
                      <a:noFill/>
                    </a:lnT>
                    <a:lnB w="12700">
                      <a:solidFill>
                        <a:srgbClr val="E3E6EA"/>
                      </a:solidFill>
                    </a:lnB>
                    <a:solidFill>
                      <a:srgbClr val="FFFFFF"/>
                    </a:solidFill>
                  </a:tcPr>
                </a:tc>
              </a:tr>
              <a:tr h="457200">
                <a:tc>
                  <a:txBody>
                    <a:bodyPr wrap="square"/>
                    <a:lstStyle/>
                    <a:p>
                      <a:pPr algn="l"/>
                      <a:r>
                        <a:rPr sz="1400" b="1">
                          <a:solidFill>
                            <a:srgbClr val="20242B"/>
                          </a:solidFill>
                          <a:latin typeface="Inter"/>
                        </a:rPr>
                        <a:t>Software GM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67%</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76%</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20" name="g97|caption|"/>
          <p:cNvSpPr txBox="1"/>
          <p:nvPr/>
        </p:nvSpPr>
        <p:spPr>
          <a:xfrm>
            <a:off x="8092440" y="6108192"/>
            <a:ext cx="3547872" cy="274320"/>
          </a:xfrm>
          <a:prstGeom prst="rect">
            <a:avLst/>
          </a:prstGeom>
          <a:noFill/>
        </p:spPr>
        <p:txBody>
          <a:bodyPr wrap="square" lIns="0" rIns="0" tIns="0" bIns="0" anchor="t">
            <a:noAutofit/>
          </a:bodyPr>
          <a:lstStyle/>
          <a:p>
            <a:pPr algn="l"/>
            <a:r>
              <a:rPr sz="1100" b="0">
                <a:solidFill>
                  <a:srgbClr val="5B6670"/>
                </a:solidFill>
                <a:latin typeface="Inter"/>
              </a:rPr>
              <a:t>LTV = ARPA × software GM (66.8%) ÷ churn</a:t>
            </a:r>
          </a:p>
        </p:txBody>
      </p:sp>
      <p:sp>
        <p:nvSpPr>
          <p:cNvPr id="21"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22"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9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FINANCIAL PROJECTIONS · PROJECTION (MODEL V3, BASE CASE)</a:t>
            </a:r>
          </a:p>
        </p:txBody>
      </p:sp>
      <p:sp>
        <p:nvSpPr>
          <p:cNvPr id="3" name="hdr9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FY5: R93.5M revenue, 4.8% EBITDA margin</a:t>
            </a:r>
          </a:p>
        </p:txBody>
      </p:sp>
      <p:pic>
        <p:nvPicPr>
          <p:cNvPr id="4" name="g99|img|charts/revenue_by_stream_fy1_fy5_16x9.png" descr="Revenue by stream FY1 to FY5, base case"/>
          <p:cNvPicPr>
            <a:picLocks noChangeAspect="1"/>
          </p:cNvPicPr>
          <p:nvPr/>
        </p:nvPicPr>
        <p:blipFill>
          <a:blip r:embed="rId2"/>
          <a:srcRect t="14500" b="5000"/>
          <a:stretch>
            <a:fillRect/>
          </a:stretch>
        </p:blipFill>
        <p:spPr>
          <a:xfrm>
            <a:off x="548640" y="1481328"/>
            <a:ext cx="5669280" cy="2567120"/>
          </a:xfrm>
          <a:prstGeom prst="rect">
            <a:avLst/>
          </a:prstGeom>
        </p:spPr>
      </p:pic>
      <p:sp>
        <p:nvSpPr>
          <p:cNvPr id="5" name="tile100|card|"/>
          <p:cNvSpPr/>
          <p:nvPr/>
        </p:nvSpPr>
        <p:spPr>
          <a:xfrm>
            <a:off x="6446520" y="1481328"/>
            <a:ext cx="1639824" cy="2578608"/>
          </a:xfrm>
          <a:prstGeom prst="roundRect">
            <a:avLst>
              <a:gd name="adj" fmla="val 8921"/>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100|card|"/>
          <p:cNvSpPr txBox="1"/>
          <p:nvPr/>
        </p:nvSpPr>
        <p:spPr>
          <a:xfrm>
            <a:off x="6647688" y="1609344"/>
            <a:ext cx="1237488" cy="475488"/>
          </a:xfrm>
          <a:prstGeom prst="rect">
            <a:avLst/>
          </a:prstGeom>
          <a:noFill/>
        </p:spPr>
        <p:txBody>
          <a:bodyPr wrap="square" lIns="0" rIns="0" tIns="0" bIns="0" anchor="t">
            <a:noAutofit/>
          </a:bodyPr>
          <a:lstStyle/>
          <a:p>
            <a:pPr algn="l"/>
            <a:r>
              <a:rPr sz="1900" b="1">
                <a:solidFill>
                  <a:srgbClr val="C24E00"/>
                </a:solidFill>
                <a:latin typeface="Poppins"/>
              </a:rPr>
              <a:t>R93.5M</a:t>
            </a:r>
          </a:p>
        </p:txBody>
      </p:sp>
      <p:sp>
        <p:nvSpPr>
          <p:cNvPr id="7" name="tile100|card|"/>
          <p:cNvSpPr txBox="1"/>
          <p:nvPr/>
        </p:nvSpPr>
        <p:spPr>
          <a:xfrm>
            <a:off x="6647688" y="2121408"/>
            <a:ext cx="1237488" cy="493776"/>
          </a:xfrm>
          <a:prstGeom prst="rect">
            <a:avLst/>
          </a:prstGeom>
          <a:noFill/>
        </p:spPr>
        <p:txBody>
          <a:bodyPr wrap="square" lIns="0" rIns="0" tIns="0" bIns="0" anchor="t">
            <a:noAutofit/>
          </a:bodyPr>
          <a:lstStyle/>
          <a:p>
            <a:pPr algn="l"/>
            <a:r>
              <a:rPr sz="1400" b="0">
                <a:solidFill>
                  <a:srgbClr val="20242B"/>
                </a:solidFill>
                <a:latin typeface="Inter"/>
              </a:rPr>
              <a:t>FY5 revenue</a:t>
            </a:r>
          </a:p>
        </p:txBody>
      </p:sp>
      <p:sp>
        <p:nvSpPr>
          <p:cNvPr id="8" name="tile100|caption|"/>
          <p:cNvSpPr txBox="1"/>
          <p:nvPr/>
        </p:nvSpPr>
        <p:spPr>
          <a:xfrm>
            <a:off x="6647688" y="2670048"/>
            <a:ext cx="1237488" cy="1252728"/>
          </a:xfrm>
          <a:prstGeom prst="rect">
            <a:avLst/>
          </a:prstGeom>
          <a:noFill/>
        </p:spPr>
        <p:txBody>
          <a:bodyPr wrap="square" lIns="0" rIns="0" tIns="0" bIns="0" anchor="t">
            <a:noAutofit/>
          </a:bodyPr>
          <a:lstStyle/>
          <a:p>
            <a:pPr algn="l"/>
            <a:r>
              <a:rPr sz="1200" b="0">
                <a:solidFill>
                  <a:srgbClr val="5B6670"/>
                </a:solidFill>
                <a:latin typeface="Inter"/>
              </a:rPr>
              <a:t>≈US$5.06M</a:t>
            </a:r>
          </a:p>
        </p:txBody>
      </p:sp>
      <p:sp>
        <p:nvSpPr>
          <p:cNvPr id="9" name="tile101|card|"/>
          <p:cNvSpPr/>
          <p:nvPr/>
        </p:nvSpPr>
        <p:spPr>
          <a:xfrm>
            <a:off x="8223503" y="1481328"/>
            <a:ext cx="1639824" cy="2578608"/>
          </a:xfrm>
          <a:prstGeom prst="roundRect">
            <a:avLst>
              <a:gd name="adj" fmla="val 8921"/>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101|card|"/>
          <p:cNvSpPr txBox="1"/>
          <p:nvPr/>
        </p:nvSpPr>
        <p:spPr>
          <a:xfrm>
            <a:off x="8424672" y="1609344"/>
            <a:ext cx="1237488" cy="475488"/>
          </a:xfrm>
          <a:prstGeom prst="rect">
            <a:avLst/>
          </a:prstGeom>
          <a:noFill/>
        </p:spPr>
        <p:txBody>
          <a:bodyPr wrap="square" lIns="0" rIns="0" tIns="0" bIns="0" anchor="t">
            <a:noAutofit/>
          </a:bodyPr>
          <a:lstStyle/>
          <a:p>
            <a:pPr algn="l"/>
            <a:r>
              <a:rPr sz="1900" b="1">
                <a:solidFill>
                  <a:srgbClr val="C24E00"/>
                </a:solidFill>
                <a:latin typeface="Poppins"/>
              </a:rPr>
              <a:t>R4.5M</a:t>
            </a:r>
          </a:p>
        </p:txBody>
      </p:sp>
      <p:sp>
        <p:nvSpPr>
          <p:cNvPr id="11" name="tile101|card|"/>
          <p:cNvSpPr txBox="1"/>
          <p:nvPr/>
        </p:nvSpPr>
        <p:spPr>
          <a:xfrm>
            <a:off x="8424672" y="2121408"/>
            <a:ext cx="1237488" cy="493776"/>
          </a:xfrm>
          <a:prstGeom prst="rect">
            <a:avLst/>
          </a:prstGeom>
          <a:noFill/>
        </p:spPr>
        <p:txBody>
          <a:bodyPr wrap="square" lIns="0" rIns="0" tIns="0" bIns="0" anchor="t">
            <a:noAutofit/>
          </a:bodyPr>
          <a:lstStyle/>
          <a:p>
            <a:pPr algn="l"/>
            <a:r>
              <a:rPr sz="1400" b="0">
                <a:solidFill>
                  <a:srgbClr val="20242B"/>
                </a:solidFill>
                <a:latin typeface="Inter"/>
              </a:rPr>
              <a:t>FY5 EBITDA</a:t>
            </a:r>
          </a:p>
        </p:txBody>
      </p:sp>
      <p:sp>
        <p:nvSpPr>
          <p:cNvPr id="12" name="tile101|caption|"/>
          <p:cNvSpPr txBox="1"/>
          <p:nvPr/>
        </p:nvSpPr>
        <p:spPr>
          <a:xfrm>
            <a:off x="8424672" y="2670048"/>
            <a:ext cx="1237488" cy="1252728"/>
          </a:xfrm>
          <a:prstGeom prst="rect">
            <a:avLst/>
          </a:prstGeom>
          <a:noFill/>
        </p:spPr>
        <p:txBody>
          <a:bodyPr wrap="square" lIns="0" rIns="0" tIns="0" bIns="0" anchor="t">
            <a:noAutofit/>
          </a:bodyPr>
          <a:lstStyle/>
          <a:p>
            <a:pPr algn="l"/>
            <a:r>
              <a:rPr sz="1200" b="0">
                <a:solidFill>
                  <a:srgbClr val="5B6670"/>
                </a:solidFill>
                <a:latin typeface="Inter"/>
              </a:rPr>
              <a:t>4.8% margin</a:t>
            </a:r>
          </a:p>
        </p:txBody>
      </p:sp>
      <p:sp>
        <p:nvSpPr>
          <p:cNvPr id="13" name="tile102|card|"/>
          <p:cNvSpPr/>
          <p:nvPr/>
        </p:nvSpPr>
        <p:spPr>
          <a:xfrm>
            <a:off x="10000488" y="1481328"/>
            <a:ext cx="1639824" cy="2578608"/>
          </a:xfrm>
          <a:prstGeom prst="roundRect">
            <a:avLst>
              <a:gd name="adj" fmla="val 8921"/>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ile102|card|"/>
          <p:cNvSpPr txBox="1"/>
          <p:nvPr/>
        </p:nvSpPr>
        <p:spPr>
          <a:xfrm>
            <a:off x="10201656" y="1609344"/>
            <a:ext cx="1237488" cy="475488"/>
          </a:xfrm>
          <a:prstGeom prst="rect">
            <a:avLst/>
          </a:prstGeom>
          <a:noFill/>
        </p:spPr>
        <p:txBody>
          <a:bodyPr wrap="square" lIns="0" rIns="0" tIns="0" bIns="0" anchor="t">
            <a:noAutofit/>
          </a:bodyPr>
          <a:lstStyle/>
          <a:p>
            <a:pPr algn="l"/>
            <a:r>
              <a:rPr sz="1900" b="1">
                <a:solidFill>
                  <a:srgbClr val="C24E00"/>
                </a:solidFill>
                <a:latin typeface="Poppins"/>
              </a:rPr>
              <a:t>4,627</a:t>
            </a:r>
          </a:p>
        </p:txBody>
      </p:sp>
      <p:sp>
        <p:nvSpPr>
          <p:cNvPr id="15" name="tile102|card|"/>
          <p:cNvSpPr txBox="1"/>
          <p:nvPr/>
        </p:nvSpPr>
        <p:spPr>
          <a:xfrm>
            <a:off x="10201656" y="2121408"/>
            <a:ext cx="1237488" cy="493776"/>
          </a:xfrm>
          <a:prstGeom prst="rect">
            <a:avLst/>
          </a:prstGeom>
          <a:noFill/>
        </p:spPr>
        <p:txBody>
          <a:bodyPr wrap="square" lIns="0" rIns="0" tIns="0" bIns="0" anchor="t">
            <a:noAutofit/>
          </a:bodyPr>
          <a:lstStyle/>
          <a:p>
            <a:pPr algn="l"/>
            <a:r>
              <a:rPr sz="1400" b="0">
                <a:solidFill>
                  <a:srgbClr val="20242B"/>
                </a:solidFill>
                <a:latin typeface="Inter"/>
              </a:rPr>
              <a:t>paying workspaces</a:t>
            </a:r>
          </a:p>
        </p:txBody>
      </p:sp>
      <p:sp>
        <p:nvSpPr>
          <p:cNvPr id="16" name="tile102|caption|"/>
          <p:cNvSpPr txBox="1"/>
          <p:nvPr/>
        </p:nvSpPr>
        <p:spPr>
          <a:xfrm>
            <a:off x="10201656" y="2670048"/>
            <a:ext cx="1237488" cy="1252728"/>
          </a:xfrm>
          <a:prstGeom prst="rect">
            <a:avLst/>
          </a:prstGeom>
          <a:noFill/>
        </p:spPr>
        <p:txBody>
          <a:bodyPr wrap="square" lIns="0" rIns="0" tIns="0" bIns="0" anchor="t">
            <a:noAutofit/>
          </a:bodyPr>
          <a:lstStyle/>
          <a:p>
            <a:pPr algn="l"/>
            <a:r>
              <a:rPr sz="1200" b="0">
                <a:solidFill>
                  <a:srgbClr val="5B6670"/>
                </a:solidFill>
                <a:latin typeface="Inter"/>
              </a:rPr>
              <a:t>70 people in FY5</a:t>
            </a:r>
          </a:p>
        </p:txBody>
      </p:sp>
      <p:graphicFrame>
        <p:nvGraphicFramePr>
          <p:cNvPr id="17" name="g103|table|pnl"/>
          <p:cNvGraphicFramePr>
            <a:graphicFrameLocks noGrp="1"/>
          </p:cNvGraphicFramePr>
          <p:nvPr/>
        </p:nvGraphicFramePr>
        <p:xfrm>
          <a:off x="548640" y="4133087"/>
          <a:ext cx="11091672" cy="2231136"/>
        </p:xfrm>
        <a:graphic>
          <a:graphicData uri="http://schemas.openxmlformats.org/drawingml/2006/table">
            <a:tbl>
              <a:tblPr firstRow="0" bandRow="0"/>
              <a:tblGrid>
                <a:gridCol w="2679192"/>
                <a:gridCol w="1682496"/>
                <a:gridCol w="1682496"/>
                <a:gridCol w="1682496"/>
                <a:gridCol w="1682496"/>
                <a:gridCol w="1682496"/>
              </a:tblGrid>
              <a:tr h="365760">
                <a:tc>
                  <a:txBody>
                    <a:bodyPr wrap="square"/>
                    <a:lstStyle/>
                    <a:p>
                      <a:pPr algn="l"/>
                      <a:r>
                        <a:rPr sz="1400" b="1">
                          <a:solidFill>
                            <a:srgbClr val="FFFFFF"/>
                          </a:solidFill>
                          <a:latin typeface="Poppins"/>
                        </a:rPr>
                        <a:t>Base case (FY = Oct–Sep)</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FY1</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FY2</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FY3</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FY4</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FY5</a:t>
                      </a:r>
                    </a:p>
                  </a:txBody>
                  <a:tcPr marL="109728" marR="109728" marT="36576" marB="36576" anchor="ctr">
                    <a:lnL w="0">
                      <a:noFill/>
                    </a:lnL>
                    <a:lnR w="0">
                      <a:noFill/>
                    </a:lnR>
                    <a:lnT w="0">
                      <a:noFill/>
                    </a:lnT>
                    <a:lnB w="0">
                      <a:noFill/>
                    </a:lnB>
                    <a:solidFill>
                      <a:srgbClr val="0F1419"/>
                    </a:solidFill>
                  </a:tcPr>
                </a:tc>
              </a:tr>
              <a:tr h="310896">
                <a:tc>
                  <a:txBody>
                    <a:bodyPr wrap="square"/>
                    <a:lstStyle/>
                    <a:p>
                      <a:pPr algn="l"/>
                      <a:r>
                        <a:rPr sz="1400" b="1">
                          <a:solidFill>
                            <a:srgbClr val="20242B"/>
                          </a:solidFill>
                          <a:latin typeface="Inter"/>
                        </a:rPr>
                        <a:t>Revenue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R1.9M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R9.5M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R25.5M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R54.1M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R93.5M</a:t>
                      </a:r>
                    </a:p>
                  </a:txBody>
                  <a:tcPr marL="109728" marR="109728" marT="36576" marB="36576" anchor="ctr">
                    <a:lnL w="0">
                      <a:noFill/>
                    </a:lnL>
                    <a:lnR w="0">
                      <a:noFill/>
                    </a:lnR>
                    <a:lnT w="0">
                      <a:noFill/>
                    </a:lnT>
                    <a:lnB w="12700">
                      <a:solidFill>
                        <a:srgbClr val="E3E6EA"/>
                      </a:solidFill>
                    </a:lnB>
                    <a:solidFill>
                      <a:srgbClr val="FFFFFF"/>
                    </a:solidFill>
                  </a:tcPr>
                </a:tc>
              </a:tr>
              <a:tr h="310896">
                <a:tc>
                  <a:txBody>
                    <a:bodyPr wrap="square"/>
                    <a:lstStyle/>
                    <a:p>
                      <a:pPr algn="l"/>
                      <a:r>
                        <a:rPr sz="1400" b="1">
                          <a:solidFill>
                            <a:srgbClr val="20242B"/>
                          </a:solidFill>
                          <a:latin typeface="Inter"/>
                        </a:rPr>
                        <a:t>Gross margin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22%</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54%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62%</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66%</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71%</a:t>
                      </a:r>
                    </a:p>
                  </a:txBody>
                  <a:tcPr marL="109728" marR="109728" marT="36576" marB="36576" anchor="ctr">
                    <a:lnL w="0">
                      <a:noFill/>
                    </a:lnL>
                    <a:lnR w="0">
                      <a:noFill/>
                    </a:lnR>
                    <a:lnT w="0">
                      <a:noFill/>
                    </a:lnT>
                    <a:lnB w="12700">
                      <a:solidFill>
                        <a:srgbClr val="E3E6EA"/>
                      </a:solidFill>
                    </a:lnB>
                    <a:solidFill>
                      <a:srgbClr val="FFFFFF"/>
                    </a:solidFill>
                  </a:tcPr>
                </a:tc>
              </a:tr>
              <a:tr h="310896">
                <a:tc>
                  <a:txBody>
                    <a:bodyPr wrap="square"/>
                    <a:lstStyle/>
                    <a:p>
                      <a:pPr algn="l"/>
                      <a:r>
                        <a:rPr sz="1400" b="1">
                          <a:solidFill>
                            <a:srgbClr val="20242B"/>
                          </a:solidFill>
                          <a:latin typeface="Inter"/>
                        </a:rPr>
                        <a:t>EBITDA</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−R7.0M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−R11.7M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−R16.9M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−R10.6M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R4.5M</a:t>
                      </a:r>
                    </a:p>
                  </a:txBody>
                  <a:tcPr marL="109728" marR="109728" marT="36576" marB="36576" anchor="ctr">
                    <a:lnL w="0">
                      <a:noFill/>
                    </a:lnL>
                    <a:lnR w="0">
                      <a:noFill/>
                    </a:lnR>
                    <a:lnT w="0">
                      <a:noFill/>
                    </a:lnT>
                    <a:lnB w="12700">
                      <a:solidFill>
                        <a:srgbClr val="E3E6EA"/>
                      </a:solidFill>
                    </a:lnB>
                    <a:solidFill>
                      <a:srgbClr val="FFFFFF"/>
                    </a:solidFill>
                  </a:tcPr>
                </a:tc>
              </a:tr>
              <a:tr h="310896">
                <a:tc>
                  <a:txBody>
                    <a:bodyPr wrap="square"/>
                    <a:lstStyle/>
                    <a:p>
                      <a:pPr algn="l"/>
                      <a:r>
                        <a:rPr sz="1400" b="1">
                          <a:solidFill>
                            <a:srgbClr val="20242B"/>
                          </a:solidFill>
                          <a:latin typeface="Inter"/>
                        </a:rPr>
                        <a:t>EBITDA margin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n/m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−124%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−66%</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5%</a:t>
                      </a:r>
                    </a:p>
                  </a:txBody>
                  <a:tcPr marL="109728" marR="109728" marT="36576" marB="36576" anchor="ctr">
                    <a:lnL w="0">
                      <a:noFill/>
                    </a:lnL>
                    <a:lnR w="0">
                      <a:noFill/>
                    </a:lnR>
                    <a:lnT w="0">
                      <a:noFill/>
                    </a:lnT>
                    <a:lnB w="12700">
                      <a:solidFill>
                        <a:srgbClr val="E3E6EA"/>
                      </a:solidFill>
                    </a:lnB>
                    <a:solidFill>
                      <a:srgbClr val="FFFFFF"/>
                    </a:solidFill>
                  </a:tcPr>
                </a:tc>
              </a:tr>
              <a:tr h="310896">
                <a:tc>
                  <a:txBody>
                    <a:bodyPr wrap="square"/>
                    <a:lstStyle/>
                    <a:p>
                      <a:pPr algn="l"/>
                      <a:r>
                        <a:rPr sz="1400" b="1">
                          <a:solidFill>
                            <a:srgbClr val="20242B"/>
                          </a:solidFill>
                          <a:latin typeface="Inter"/>
                        </a:rPr>
                        <a:t>Paying workspaces (Sep)</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238</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728</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1,734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3,147</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4,627</a:t>
                      </a:r>
                    </a:p>
                  </a:txBody>
                  <a:tcPr marL="109728" marR="109728" marT="36576" marB="36576" anchor="ctr">
                    <a:lnL w="0">
                      <a:noFill/>
                    </a:lnL>
                    <a:lnR w="0">
                      <a:noFill/>
                    </a:lnR>
                    <a:lnT w="0">
                      <a:noFill/>
                    </a:lnT>
                    <a:lnB w="12700">
                      <a:solidFill>
                        <a:srgbClr val="E3E6EA"/>
                      </a:solidFill>
                    </a:lnB>
                    <a:solidFill>
                      <a:srgbClr val="FFFFFF"/>
                    </a:solidFill>
                  </a:tcPr>
                </a:tc>
              </a:tr>
              <a:tr h="310896">
                <a:tc>
                  <a:txBody>
                    <a:bodyPr wrap="square"/>
                    <a:lstStyle/>
                    <a:p>
                      <a:pPr algn="l"/>
                      <a:r>
                        <a:rPr sz="1400" b="1">
                          <a:solidFill>
                            <a:srgbClr val="20242B"/>
                          </a:solidFill>
                          <a:latin typeface="Inter"/>
                        </a:rPr>
                        <a:t>Subscription ARR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R3.9M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R12.7M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R32.0M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R63.0M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R99.9M</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1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1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0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PATH TO PROFITABILITY · PROJECTION (MODEL V3, BASE CASE)</a:t>
            </a:r>
          </a:p>
        </p:txBody>
      </p:sp>
      <p:sp>
        <p:nvSpPr>
          <p:cNvPr id="3" name="hdr10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Base case: profitable on the R46M seed, no Series A</a:t>
            </a:r>
          </a:p>
        </p:txBody>
      </p:sp>
      <p:pic>
        <p:nvPicPr>
          <p:cNvPr id="4" name="g105|img|charts/cash_runway_r25m_16x9.png" descr="Monthly closing cash on the R46M seed vs the R3.0M buffer"/>
          <p:cNvPicPr>
            <a:picLocks noChangeAspect="1"/>
          </p:cNvPicPr>
          <p:nvPr/>
        </p:nvPicPr>
        <p:blipFill>
          <a:blip r:embed="rId2"/>
          <a:srcRect t="14500" b="5000"/>
          <a:stretch>
            <a:fillRect/>
          </a:stretch>
        </p:blipFill>
        <p:spPr>
          <a:xfrm>
            <a:off x="551164" y="1481328"/>
            <a:ext cx="7310151" cy="3310128"/>
          </a:xfrm>
          <a:prstGeom prst="rect">
            <a:avLst/>
          </a:prstGeom>
        </p:spPr>
      </p:pic>
      <p:sp>
        <p:nvSpPr>
          <p:cNvPr id="5" name="tile106|card|"/>
          <p:cNvSpPr/>
          <p:nvPr/>
        </p:nvSpPr>
        <p:spPr>
          <a:xfrm>
            <a:off x="8092440" y="1481328"/>
            <a:ext cx="3547872" cy="1143000"/>
          </a:xfrm>
          <a:prstGeom prst="roundRect">
            <a:avLst>
              <a:gd name="adj" fmla="val 128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106|card|"/>
          <p:cNvSpPr txBox="1"/>
          <p:nvPr/>
        </p:nvSpPr>
        <p:spPr>
          <a:xfrm>
            <a:off x="8293608" y="1609344"/>
            <a:ext cx="3145536" cy="475488"/>
          </a:xfrm>
          <a:prstGeom prst="rect">
            <a:avLst/>
          </a:prstGeom>
          <a:noFill/>
        </p:spPr>
        <p:txBody>
          <a:bodyPr wrap="square" lIns="0" rIns="0" tIns="0" bIns="0" anchor="t">
            <a:noAutofit/>
          </a:bodyPr>
          <a:lstStyle/>
          <a:p>
            <a:pPr algn="l"/>
            <a:r>
              <a:rPr sz="2000" b="1">
                <a:solidFill>
                  <a:srgbClr val="C24E00"/>
                </a:solidFill>
                <a:latin typeface="Poppins"/>
              </a:rPr>
              <a:t>Jan 2031</a:t>
            </a:r>
          </a:p>
        </p:txBody>
      </p:sp>
      <p:sp>
        <p:nvSpPr>
          <p:cNvPr id="7" name="tile106|card|"/>
          <p:cNvSpPr txBox="1"/>
          <p:nvPr/>
        </p:nvSpPr>
        <p:spPr>
          <a:xfrm>
            <a:off x="8293608" y="2121408"/>
            <a:ext cx="3145536" cy="448056"/>
          </a:xfrm>
          <a:prstGeom prst="rect">
            <a:avLst/>
          </a:prstGeom>
          <a:noFill/>
        </p:spPr>
        <p:txBody>
          <a:bodyPr wrap="square" lIns="0" rIns="0" tIns="0" bIns="0" anchor="t">
            <a:noAutofit/>
          </a:bodyPr>
          <a:lstStyle/>
          <a:p>
            <a:pPr algn="l"/>
            <a:r>
              <a:rPr sz="1400" b="0">
                <a:solidFill>
                  <a:srgbClr val="20242B"/>
                </a:solidFill>
                <a:latin typeface="Inter"/>
              </a:rPr>
              <a:t>EBITDA break-even; sustained from Jan 2031</a:t>
            </a:r>
          </a:p>
        </p:txBody>
      </p:sp>
      <p:sp>
        <p:nvSpPr>
          <p:cNvPr id="8" name="tile107|card|"/>
          <p:cNvSpPr/>
          <p:nvPr/>
        </p:nvSpPr>
        <p:spPr>
          <a:xfrm>
            <a:off x="8092440" y="2670048"/>
            <a:ext cx="3547872" cy="1143000"/>
          </a:xfrm>
          <a:prstGeom prst="roundRect">
            <a:avLst>
              <a:gd name="adj" fmla="val 128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le107|card|"/>
          <p:cNvSpPr txBox="1"/>
          <p:nvPr/>
        </p:nvSpPr>
        <p:spPr>
          <a:xfrm>
            <a:off x="8293608" y="2798064"/>
            <a:ext cx="3145536" cy="475488"/>
          </a:xfrm>
          <a:prstGeom prst="rect">
            <a:avLst/>
          </a:prstGeom>
          <a:noFill/>
        </p:spPr>
        <p:txBody>
          <a:bodyPr wrap="square" lIns="0" rIns="0" tIns="0" bIns="0" anchor="t">
            <a:noAutofit/>
          </a:bodyPr>
          <a:lstStyle/>
          <a:p>
            <a:pPr algn="l"/>
            <a:r>
              <a:rPr sz="2000" b="1">
                <a:solidFill>
                  <a:srgbClr val="C24E00"/>
                </a:solidFill>
                <a:latin typeface="Poppins"/>
              </a:rPr>
              <a:t>Dec 2030</a:t>
            </a:r>
          </a:p>
        </p:txBody>
      </p:sp>
      <p:sp>
        <p:nvSpPr>
          <p:cNvPr id="10" name="tile107|card|"/>
          <p:cNvSpPr txBox="1"/>
          <p:nvPr/>
        </p:nvSpPr>
        <p:spPr>
          <a:xfrm>
            <a:off x="8293608" y="3310128"/>
            <a:ext cx="3145536" cy="448056"/>
          </a:xfrm>
          <a:prstGeom prst="rect">
            <a:avLst/>
          </a:prstGeom>
          <a:noFill/>
        </p:spPr>
        <p:txBody>
          <a:bodyPr wrap="square" lIns="0" rIns="0" tIns="0" bIns="0" anchor="t">
            <a:noAutofit/>
          </a:bodyPr>
          <a:lstStyle/>
          <a:p>
            <a:pPr algn="l"/>
            <a:r>
              <a:rPr sz="1400" b="0">
                <a:solidFill>
                  <a:srgbClr val="20242B"/>
                </a:solidFill>
                <a:latin typeface="Inter"/>
              </a:rPr>
              <a:t>Operating cash flow positive; sustained Dec 2030</a:t>
            </a:r>
          </a:p>
        </p:txBody>
      </p:sp>
      <p:sp>
        <p:nvSpPr>
          <p:cNvPr id="11" name="tile108|card|"/>
          <p:cNvSpPr/>
          <p:nvPr/>
        </p:nvSpPr>
        <p:spPr>
          <a:xfrm>
            <a:off x="8092440" y="3858768"/>
            <a:ext cx="3547872" cy="1143000"/>
          </a:xfrm>
          <a:prstGeom prst="roundRect">
            <a:avLst>
              <a:gd name="adj" fmla="val 128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le108|card|"/>
          <p:cNvSpPr txBox="1"/>
          <p:nvPr/>
        </p:nvSpPr>
        <p:spPr>
          <a:xfrm>
            <a:off x="8293608" y="3986784"/>
            <a:ext cx="3145536" cy="475488"/>
          </a:xfrm>
          <a:prstGeom prst="rect">
            <a:avLst/>
          </a:prstGeom>
          <a:noFill/>
        </p:spPr>
        <p:txBody>
          <a:bodyPr wrap="square" lIns="0" rIns="0" tIns="0" bIns="0" anchor="t">
            <a:noAutofit/>
          </a:bodyPr>
          <a:lstStyle/>
          <a:p>
            <a:pPr algn="l"/>
            <a:r>
              <a:rPr sz="2000" b="1">
                <a:solidFill>
                  <a:srgbClr val="C24E00"/>
                </a:solidFill>
                <a:latin typeface="Poppins"/>
              </a:rPr>
              <a:t>R4.00M</a:t>
            </a:r>
          </a:p>
        </p:txBody>
      </p:sp>
      <p:sp>
        <p:nvSpPr>
          <p:cNvPr id="13" name="tile108|card|"/>
          <p:cNvSpPr txBox="1"/>
          <p:nvPr/>
        </p:nvSpPr>
        <p:spPr>
          <a:xfrm>
            <a:off x="8293608" y="4498848"/>
            <a:ext cx="3145536" cy="448056"/>
          </a:xfrm>
          <a:prstGeom prst="rect">
            <a:avLst/>
          </a:prstGeom>
          <a:noFill/>
        </p:spPr>
        <p:txBody>
          <a:bodyPr wrap="square" lIns="0" rIns="0" tIns="0" bIns="0" anchor="t">
            <a:noAutofit/>
          </a:bodyPr>
          <a:lstStyle/>
          <a:p>
            <a:pPr algn="l"/>
            <a:r>
              <a:rPr sz="1400" b="0">
                <a:solidFill>
                  <a:srgbClr val="20242B"/>
                </a:solidFill>
                <a:latin typeface="Inter"/>
              </a:rPr>
              <a:t>Cash low (Nov 2030), R1.0M above the buffer</a:t>
            </a:r>
          </a:p>
        </p:txBody>
      </p:sp>
      <p:sp>
        <p:nvSpPr>
          <p:cNvPr id="14" name="tile109|card|"/>
          <p:cNvSpPr/>
          <p:nvPr/>
        </p:nvSpPr>
        <p:spPr>
          <a:xfrm>
            <a:off x="8092440" y="5047488"/>
            <a:ext cx="3547872" cy="1143000"/>
          </a:xfrm>
          <a:prstGeom prst="roundRect">
            <a:avLst>
              <a:gd name="adj" fmla="val 128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ile109|card|"/>
          <p:cNvSpPr txBox="1"/>
          <p:nvPr/>
        </p:nvSpPr>
        <p:spPr>
          <a:xfrm>
            <a:off x="8293608" y="5175504"/>
            <a:ext cx="3145536" cy="475488"/>
          </a:xfrm>
          <a:prstGeom prst="rect">
            <a:avLst/>
          </a:prstGeom>
          <a:noFill/>
        </p:spPr>
        <p:txBody>
          <a:bodyPr wrap="square" lIns="0" rIns="0" tIns="0" bIns="0" anchor="t">
            <a:noAutofit/>
          </a:bodyPr>
          <a:lstStyle/>
          <a:p>
            <a:pPr algn="l"/>
            <a:r>
              <a:rPr sz="2000" b="1">
                <a:solidFill>
                  <a:srgbClr val="C24E00"/>
                </a:solidFill>
                <a:latin typeface="Poppins"/>
              </a:rPr>
              <a:t>Thin headroom</a:t>
            </a:r>
          </a:p>
        </p:txBody>
      </p:sp>
      <p:sp>
        <p:nvSpPr>
          <p:cNvPr id="16" name="tile109|card|"/>
          <p:cNvSpPr txBox="1"/>
          <p:nvPr/>
        </p:nvSpPr>
        <p:spPr>
          <a:xfrm>
            <a:off x="8293608" y="5687568"/>
            <a:ext cx="3145536" cy="448056"/>
          </a:xfrm>
          <a:prstGeom prst="rect">
            <a:avLst/>
          </a:prstGeom>
          <a:noFill/>
        </p:spPr>
        <p:txBody>
          <a:bodyPr wrap="square" lIns="0" rIns="0" tIns="0" bIns="0" anchor="t">
            <a:noAutofit/>
          </a:bodyPr>
          <a:lstStyle/>
          <a:p>
            <a:pPr algn="l"/>
            <a:r>
              <a:rPr sz="1400" b="0">
                <a:solidFill>
                  <a:srgbClr val="20242B"/>
                </a:solidFill>
                <a:latin typeface="Inter"/>
              </a:rPr>
              <a:t>Base and Upside pass; Conservative does not</a:t>
            </a:r>
          </a:p>
        </p:txBody>
      </p:sp>
      <p:sp>
        <p:nvSpPr>
          <p:cNvPr id="17" name="g110|eyebrow|"/>
          <p:cNvSpPr txBox="1"/>
          <p:nvPr/>
        </p:nvSpPr>
        <p:spPr>
          <a:xfrm>
            <a:off x="548640" y="4956048"/>
            <a:ext cx="7315200" cy="256032"/>
          </a:xfrm>
          <a:prstGeom prst="rect">
            <a:avLst/>
          </a:prstGeom>
          <a:noFill/>
        </p:spPr>
        <p:txBody>
          <a:bodyPr wrap="square" lIns="0" rIns="0" tIns="0" bIns="0" anchor="t">
            <a:noAutofit/>
          </a:bodyPr>
          <a:lstStyle/>
          <a:p>
            <a:pPr algn="l"/>
            <a:r>
              <a:rPr sz="1200" b="1" spc="150">
                <a:solidFill>
                  <a:srgbClr val="C24E00"/>
                </a:solidFill>
                <a:latin typeface="Inter"/>
              </a:rPr>
              <a:t>MILESTONE GATING PROTECTS THE BUFFER</a:t>
            </a:r>
          </a:p>
        </p:txBody>
      </p:sp>
      <p:sp>
        <p:nvSpPr>
          <p:cNvPr id="18" name="g111|chip|"/>
          <p:cNvSpPr/>
          <p:nvPr/>
        </p:nvSpPr>
        <p:spPr>
          <a:xfrm>
            <a:off x="548640" y="5303520"/>
            <a:ext cx="2346960" cy="777240"/>
          </a:xfrm>
          <a:prstGeom prst="roundRect">
            <a:avLst>
              <a:gd name="adj" fmla="val 18823"/>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111|chip|"/>
          <p:cNvSpPr txBox="1"/>
          <p:nvPr/>
        </p:nvSpPr>
        <p:spPr>
          <a:xfrm>
            <a:off x="685800" y="5303520"/>
            <a:ext cx="2072640" cy="777240"/>
          </a:xfrm>
          <a:prstGeom prst="rect">
            <a:avLst/>
          </a:prstGeom>
          <a:noFill/>
        </p:spPr>
        <p:txBody>
          <a:bodyPr wrap="square" lIns="0" rIns="0" tIns="0" bIns="0" anchor="ctr">
            <a:noAutofit/>
          </a:bodyPr>
          <a:lstStyle/>
          <a:p>
            <a:pPr algn="l"/>
            <a:r>
              <a:rPr sz="1400" b="1">
                <a:solidFill>
                  <a:srgbClr val="20242B"/>
                </a:solidFill>
                <a:latin typeface="Inter"/>
              </a:rPr>
              <a:t>Every hire waits for its MRR milestone</a:t>
            </a:r>
          </a:p>
        </p:txBody>
      </p:sp>
      <p:sp>
        <p:nvSpPr>
          <p:cNvPr id="20" name="g112|chip|"/>
          <p:cNvSpPr/>
          <p:nvPr/>
        </p:nvSpPr>
        <p:spPr>
          <a:xfrm>
            <a:off x="3032760" y="5303520"/>
            <a:ext cx="2346960" cy="777240"/>
          </a:xfrm>
          <a:prstGeom prst="roundRect">
            <a:avLst>
              <a:gd name="adj" fmla="val 18823"/>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112|chip|"/>
          <p:cNvSpPr txBox="1"/>
          <p:nvPr/>
        </p:nvSpPr>
        <p:spPr>
          <a:xfrm>
            <a:off x="3169920" y="5303520"/>
            <a:ext cx="2072640" cy="777240"/>
          </a:xfrm>
          <a:prstGeom prst="rect">
            <a:avLst/>
          </a:prstGeom>
          <a:noFill/>
        </p:spPr>
        <p:txBody>
          <a:bodyPr wrap="square" lIns="0" rIns="0" tIns="0" bIns="0" anchor="ctr">
            <a:noAutofit/>
          </a:bodyPr>
          <a:lstStyle/>
          <a:p>
            <a:pPr algn="l"/>
            <a:r>
              <a:rPr sz="1400" b="1">
                <a:solidFill>
                  <a:srgbClr val="20242B"/>
                </a:solidFill>
                <a:latin typeface="Inter"/>
              </a:rPr>
              <a:t>NG / KE / GH launch at R0.9M / R1.2M / R1.5M MRR</a:t>
            </a:r>
          </a:p>
        </p:txBody>
      </p:sp>
      <p:sp>
        <p:nvSpPr>
          <p:cNvPr id="22" name="g113|chip|"/>
          <p:cNvSpPr/>
          <p:nvPr/>
        </p:nvSpPr>
        <p:spPr>
          <a:xfrm>
            <a:off x="5516880" y="5303520"/>
            <a:ext cx="2346960" cy="777240"/>
          </a:xfrm>
          <a:prstGeom prst="roundRect">
            <a:avLst>
              <a:gd name="adj" fmla="val 18823"/>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113|chip|"/>
          <p:cNvSpPr txBox="1"/>
          <p:nvPr/>
        </p:nvSpPr>
        <p:spPr>
          <a:xfrm>
            <a:off x="5654040" y="5303520"/>
            <a:ext cx="2072640" cy="777240"/>
          </a:xfrm>
          <a:prstGeom prst="rect">
            <a:avLst/>
          </a:prstGeom>
          <a:noFill/>
        </p:spPr>
        <p:txBody>
          <a:bodyPr wrap="square" lIns="0" rIns="0" tIns="0" bIns="0" anchor="ctr">
            <a:noAutofit/>
          </a:bodyPr>
          <a:lstStyle/>
          <a:p>
            <a:pPr algn="l"/>
            <a:r>
              <a:rPr sz="1400" b="1">
                <a:solidFill>
                  <a:srgbClr val="20242B"/>
                </a:solidFill>
                <a:latin typeface="Inter"/>
              </a:rPr>
              <a:t>Paid spend capped at R40k + 35% of MRR</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1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SCENARIOS &amp; SENSITIVITIES · MODEL V3</a:t>
            </a:r>
          </a:p>
        </p:txBody>
      </p:sp>
      <p:sp>
        <p:nvSpPr>
          <p:cNvPr id="3" name="hdr11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Base and Upside pass on R46M; Conservative fails</a:t>
            </a:r>
          </a:p>
        </p:txBody>
      </p:sp>
      <p:pic>
        <p:nvPicPr>
          <p:cNvPr id="4" name="g115|img|charts/scenarios_16x9.png" descr="FY5 revenue and EBITDA by scenario"/>
          <p:cNvPicPr>
            <a:picLocks noChangeAspect="1"/>
          </p:cNvPicPr>
          <p:nvPr/>
        </p:nvPicPr>
        <p:blipFill>
          <a:blip r:embed="rId2"/>
          <a:srcRect t="14500" b="5000"/>
          <a:stretch>
            <a:fillRect/>
          </a:stretch>
        </p:blipFill>
        <p:spPr>
          <a:xfrm>
            <a:off x="548640" y="1481328"/>
            <a:ext cx="5623560" cy="2546418"/>
          </a:xfrm>
          <a:prstGeom prst="rect">
            <a:avLst/>
          </a:prstGeom>
        </p:spPr>
      </p:pic>
      <p:graphicFrame>
        <p:nvGraphicFramePr>
          <p:cNvPr id="5" name="g116|table|scen"/>
          <p:cNvGraphicFramePr>
            <a:graphicFrameLocks noGrp="1"/>
          </p:cNvGraphicFramePr>
          <p:nvPr/>
        </p:nvGraphicFramePr>
        <p:xfrm>
          <a:off x="6355080" y="1481328"/>
          <a:ext cx="5285232" cy="2560320"/>
        </p:xfrm>
        <a:graphic>
          <a:graphicData uri="http://schemas.openxmlformats.org/drawingml/2006/table">
            <a:tbl>
              <a:tblPr firstRow="0" bandRow="0"/>
              <a:tblGrid>
                <a:gridCol w="1417320"/>
                <a:gridCol w="1143000"/>
                <a:gridCol w="1005840"/>
                <a:gridCol w="1005840"/>
                <a:gridCol w="713232"/>
              </a:tblGrid>
              <a:tr h="914400">
                <a:tc>
                  <a:txBody>
                    <a:bodyPr wrap="square"/>
                    <a:lstStyle/>
                    <a:p>
                      <a:pPr algn="l"/>
                      <a:r>
                        <a:rPr sz="1400" b="1">
                          <a:solidFill>
                            <a:srgbClr val="FFFFFF"/>
                          </a:solidFill>
                          <a:latin typeface="Poppins"/>
                        </a:rPr>
                        <a:t>Scenario</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FY5 revenue</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FY5 EBITDA</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Cash low</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Pass</a:t>
                      </a:r>
                    </a:p>
                  </a:txBody>
                  <a:tcPr marL="109728" marR="109728" marT="36576" marB="36576" anchor="ctr">
                    <a:lnL w="0">
                      <a:noFill/>
                    </a:lnL>
                    <a:lnR w="0">
                      <a:noFill/>
                    </a:lnR>
                    <a:lnT w="0">
                      <a:noFill/>
                    </a:lnT>
                    <a:lnB w="0">
                      <a:noFill/>
                    </a:lnB>
                    <a:solidFill>
                      <a:srgbClr val="0F1419"/>
                    </a:solidFill>
                  </a:tcPr>
                </a:tc>
              </a:tr>
              <a:tr h="548640">
                <a:tc>
                  <a:txBody>
                    <a:bodyPr wrap="square"/>
                    <a:lstStyle/>
                    <a:p>
                      <a:pPr algn="l"/>
                      <a:r>
                        <a:rPr sz="1400" b="1">
                          <a:solidFill>
                            <a:srgbClr val="20242B"/>
                          </a:solidFill>
                          <a:latin typeface="Inter"/>
                        </a:rPr>
                        <a:t>Conservative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R43.4M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−R9.2M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R0.53M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C24E00"/>
                          </a:solidFill>
                          <a:latin typeface="Inter"/>
                        </a:rPr>
                        <a:t>No</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400" b="1">
                          <a:solidFill>
                            <a:srgbClr val="20242B"/>
                          </a:solidFill>
                          <a:latin typeface="Inter"/>
                        </a:rPr>
                        <a:t>Base</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R93.5M</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R4.5M</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R4.00M</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1">
                          <a:solidFill>
                            <a:srgbClr val="20242B"/>
                          </a:solidFill>
                          <a:latin typeface="Inter"/>
                        </a:rPr>
                        <a:t>Yes</a:t>
                      </a:r>
                    </a:p>
                  </a:txBody>
                  <a:tcPr marL="109728" marR="109728" marT="36576" marB="36576" anchor="ctr">
                    <a:lnL w="0">
                      <a:noFill/>
                    </a:lnL>
                    <a:lnR w="0">
                      <a:noFill/>
                    </a:lnR>
                    <a:lnT w="0">
                      <a:noFill/>
                    </a:lnT>
                    <a:lnB w="12700">
                      <a:solidFill>
                        <a:srgbClr val="E3E6EA"/>
                      </a:solidFill>
                    </a:lnB>
                    <a:solidFill>
                      <a:srgbClr val="FFF4EB"/>
                    </a:solidFill>
                  </a:tcPr>
                </a:tc>
              </a:tr>
              <a:tr h="548640">
                <a:tc>
                  <a:txBody>
                    <a:bodyPr wrap="square"/>
                    <a:lstStyle/>
                    <a:p>
                      <a:pPr algn="l"/>
                      <a:r>
                        <a:rPr sz="1400" b="1">
                          <a:solidFill>
                            <a:srgbClr val="20242B"/>
                          </a:solidFill>
                          <a:latin typeface="Inter"/>
                        </a:rPr>
                        <a:t>Upside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R179.6M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R19.4M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R10.16M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Yes</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6" name="g117|body|"/>
          <p:cNvSpPr txBox="1"/>
          <p:nvPr/>
        </p:nvSpPr>
        <p:spPr>
          <a:xfrm>
            <a:off x="6355080" y="4114800"/>
            <a:ext cx="5285232" cy="713232"/>
          </a:xfrm>
          <a:prstGeom prst="rect">
            <a:avLst/>
          </a:prstGeom>
          <a:noFill/>
        </p:spPr>
        <p:txBody>
          <a:bodyPr wrap="square" lIns="0" rIns="0" tIns="0" bIns="0" anchor="t">
            <a:noAutofit/>
          </a:bodyPr>
          <a:lstStyle/>
          <a:p>
            <a:pPr algn="l"/>
            <a:r>
              <a:rPr sz="1400" b="0">
                <a:solidFill>
                  <a:srgbClr val="20242B"/>
                </a:solidFill>
                <a:latin typeface="Inter"/>
              </a:rPr>
              <a:t>Conservative falls below the R3.0M buffer from May 2031 and does not break even by Sep 2031.</a:t>
            </a:r>
          </a:p>
        </p:txBody>
      </p:sp>
      <p:sp>
        <p:nvSpPr>
          <p:cNvPr id="7" name="sens118|card|"/>
          <p:cNvSpPr/>
          <p:nvPr/>
        </p:nvSpPr>
        <p:spPr>
          <a:xfrm>
            <a:off x="548640" y="4864608"/>
            <a:ext cx="5440680" cy="1261872"/>
          </a:xfrm>
          <a:prstGeom prst="roundRect">
            <a:avLst>
              <a:gd name="adj" fmla="val 13043"/>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ns118|eyebrow|"/>
          <p:cNvSpPr txBox="1"/>
          <p:nvPr/>
        </p:nvSpPr>
        <p:spPr>
          <a:xfrm>
            <a:off x="822959" y="4974336"/>
            <a:ext cx="4892040" cy="256032"/>
          </a:xfrm>
          <a:prstGeom prst="rect">
            <a:avLst/>
          </a:prstGeom>
          <a:noFill/>
        </p:spPr>
        <p:txBody>
          <a:bodyPr wrap="square" lIns="0" rIns="0" tIns="0" bIns="0" anchor="t">
            <a:noAutofit/>
          </a:bodyPr>
          <a:lstStyle/>
          <a:p>
            <a:pPr algn="l"/>
            <a:r>
              <a:rPr sz="1200" b="1" spc="120">
                <a:solidFill>
                  <a:srgbClr val="C24E00"/>
                </a:solidFill>
                <a:latin typeface="Inter"/>
              </a:rPr>
              <a:t>FX SHOCK · ZAR 15% STRONGER</a:t>
            </a:r>
          </a:p>
        </p:txBody>
      </p:sp>
      <p:sp>
        <p:nvSpPr>
          <p:cNvPr id="9" name="sens118|card|"/>
          <p:cNvSpPr txBox="1"/>
          <p:nvPr/>
        </p:nvSpPr>
        <p:spPr>
          <a:xfrm>
            <a:off x="822959" y="5266944"/>
            <a:ext cx="4892040" cy="804672"/>
          </a:xfrm>
          <a:prstGeom prst="rect">
            <a:avLst/>
          </a:prstGeom>
          <a:noFill/>
        </p:spPr>
        <p:txBody>
          <a:bodyPr wrap="square" lIns="0" rIns="0" tIns="0" bIns="0" anchor="t">
            <a:noAutofit/>
          </a:bodyPr>
          <a:lstStyle/>
          <a:p>
            <a:pPr algn="l"/>
            <a:r>
              <a:rPr sz="1400" b="0">
                <a:solidFill>
                  <a:srgbClr val="20242B"/>
                </a:solidFill>
                <a:latin typeface="Inter"/>
              </a:rPr>
              <a:t>With quarterly repricing it passes (low R4.53M). Without repricing it fails: cash low R0.92M, FY5 EBITDA −R0.9M.</a:t>
            </a:r>
          </a:p>
        </p:txBody>
      </p:sp>
      <p:sp>
        <p:nvSpPr>
          <p:cNvPr id="10" name="sens119|card|"/>
          <p:cNvSpPr/>
          <p:nvPr/>
        </p:nvSpPr>
        <p:spPr>
          <a:xfrm>
            <a:off x="6202375" y="4864608"/>
            <a:ext cx="5440680" cy="1261872"/>
          </a:xfrm>
          <a:prstGeom prst="roundRect">
            <a:avLst>
              <a:gd name="adj" fmla="val 13043"/>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ns119|eyebrow|"/>
          <p:cNvSpPr txBox="1"/>
          <p:nvPr/>
        </p:nvSpPr>
        <p:spPr>
          <a:xfrm>
            <a:off x="6476695" y="4974336"/>
            <a:ext cx="4892040" cy="256032"/>
          </a:xfrm>
          <a:prstGeom prst="rect">
            <a:avLst/>
          </a:prstGeom>
          <a:noFill/>
        </p:spPr>
        <p:txBody>
          <a:bodyPr wrap="square" lIns="0" rIns="0" tIns="0" bIns="0" anchor="t">
            <a:noAutofit/>
          </a:bodyPr>
          <a:lstStyle/>
          <a:p>
            <a:pPr algn="l"/>
            <a:r>
              <a:rPr sz="1200" b="1" spc="120">
                <a:solidFill>
                  <a:srgbClr val="C24E00"/>
                </a:solidFill>
                <a:latin typeface="Inter"/>
              </a:rPr>
              <a:t>THIN HEADROOM</a:t>
            </a:r>
          </a:p>
        </p:txBody>
      </p:sp>
      <p:sp>
        <p:nvSpPr>
          <p:cNvPr id="12" name="sens119|card|"/>
          <p:cNvSpPr txBox="1"/>
          <p:nvPr/>
        </p:nvSpPr>
        <p:spPr>
          <a:xfrm>
            <a:off x="6476695" y="5266944"/>
            <a:ext cx="4892040" cy="804672"/>
          </a:xfrm>
          <a:prstGeom prst="rect">
            <a:avLst/>
          </a:prstGeom>
          <a:noFill/>
        </p:spPr>
        <p:txBody>
          <a:bodyPr wrap="square" lIns="0" rIns="0" tIns="0" bIns="0" anchor="t">
            <a:noAutofit/>
          </a:bodyPr>
          <a:lstStyle/>
          <a:p>
            <a:pPr algn="l"/>
            <a:r>
              <a:rPr sz="1400" b="0">
                <a:solidFill>
                  <a:srgbClr val="20242B"/>
                </a:solidFill>
                <a:latin typeface="Inter"/>
              </a:rPr>
              <a:t>Free upgrades at 0.25% a month: cash low −R0.72M, fails. Sign-ups at 0.85x plan: low R0.80M, below the buffer.</a:t>
            </a:r>
          </a:p>
        </p:txBody>
      </p:sp>
      <p:sp>
        <p:nvSpPr>
          <p:cNvPr id="1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1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0|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KEY RISKS</a:t>
            </a:r>
          </a:p>
        </p:txBody>
      </p:sp>
      <p:sp>
        <p:nvSpPr>
          <p:cNvPr id="3" name="hdr120|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could go wrong, and how we manage it</a:t>
            </a:r>
          </a:p>
        </p:txBody>
      </p:sp>
      <p:sp>
        <p:nvSpPr>
          <p:cNvPr id="4" name="risk121|card|"/>
          <p:cNvSpPr/>
          <p:nvPr/>
        </p:nvSpPr>
        <p:spPr>
          <a:xfrm>
            <a:off x="548640" y="1481328"/>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sk121|deco|"/>
          <p:cNvSpPr/>
          <p:nvPr/>
        </p:nvSpPr>
        <p:spPr>
          <a:xfrm>
            <a:off x="786383" y="1673352"/>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risk121|icon|target_deep.png" descr="target_deep"/>
          <p:cNvPicPr>
            <a:picLocks noChangeAspect="1"/>
          </p:cNvPicPr>
          <p:nvPr/>
        </p:nvPicPr>
        <p:blipFill>
          <a:blip r:embed="rId2"/>
          <a:srcRect/>
          <a:stretch>
            <a:fillRect/>
          </a:stretch>
        </p:blipFill>
        <p:spPr>
          <a:xfrm>
            <a:off x="903061" y="1790029"/>
            <a:ext cx="296997" cy="296997"/>
          </a:xfrm>
          <a:prstGeom prst="rect">
            <a:avLst/>
          </a:prstGeom>
        </p:spPr>
      </p:pic>
      <p:sp>
        <p:nvSpPr>
          <p:cNvPr id="7" name="risk121|card|"/>
          <p:cNvSpPr txBox="1"/>
          <p:nvPr/>
        </p:nvSpPr>
        <p:spPr>
          <a:xfrm>
            <a:off x="1444752" y="1700784"/>
            <a:ext cx="2414015" cy="475488"/>
          </a:xfrm>
          <a:prstGeom prst="rect">
            <a:avLst/>
          </a:prstGeom>
          <a:noFill/>
        </p:spPr>
        <p:txBody>
          <a:bodyPr wrap="square" lIns="0" rIns="0" tIns="0" bIns="0" anchor="ctr">
            <a:noAutofit/>
          </a:bodyPr>
          <a:lstStyle/>
          <a:p>
            <a:pPr algn="l"/>
            <a:r>
              <a:rPr sz="1700" b="1">
                <a:solidFill>
                  <a:srgbClr val="20242B"/>
                </a:solidFill>
                <a:latin typeface="Poppins"/>
              </a:rPr>
              <a:t>Demand is unproven</a:t>
            </a:r>
          </a:p>
        </p:txBody>
      </p:sp>
      <p:sp>
        <p:nvSpPr>
          <p:cNvPr id="8" name="risk121|card|"/>
          <p:cNvSpPr txBox="1"/>
          <p:nvPr/>
        </p:nvSpPr>
        <p:spPr>
          <a:xfrm>
            <a:off x="822959" y="2304288"/>
            <a:ext cx="2962656" cy="502920"/>
          </a:xfrm>
          <a:prstGeom prst="rect">
            <a:avLst/>
          </a:prstGeom>
          <a:noFill/>
        </p:spPr>
        <p:txBody>
          <a:bodyPr wrap="square" lIns="0" rIns="0" tIns="0" bIns="0" anchor="t">
            <a:noAutofit/>
          </a:bodyPr>
          <a:lstStyle/>
          <a:p>
            <a:pPr algn="l"/>
            <a:r>
              <a:rPr sz="1400" b="0">
                <a:solidFill>
                  <a:srgbClr val="5B6670"/>
                </a:solidFill>
                <a:latin typeface="Inter"/>
              </a:rPr>
              <a:t>No paying customers yet; every volume is an assumption.</a:t>
            </a:r>
          </a:p>
        </p:txBody>
      </p:sp>
      <p:sp>
        <p:nvSpPr>
          <p:cNvPr id="9" name="risk121|card|"/>
          <p:cNvSpPr txBox="1"/>
          <p:nvPr/>
        </p:nvSpPr>
        <p:spPr>
          <a:xfrm>
            <a:off x="822959" y="2852928"/>
            <a:ext cx="2962656" cy="777240"/>
          </a:xfrm>
          <a:prstGeom prst="rect">
            <a:avLst/>
          </a:prstGeom>
          <a:noFill/>
        </p:spPr>
        <p:txBody>
          <a:bodyPr wrap="square" lIns="0" rIns="0" tIns="0" bIns="0" anchor="t">
            <a:noAutofit/>
          </a:bodyPr>
          <a:lstStyle/>
          <a:p>
            <a:pPr algn="l"/>
            <a:r>
              <a:rPr sz="1400" b="1">
                <a:solidFill>
                  <a:srgbClr val="20242B"/>
                </a:solidFill>
                <a:latin typeface="Inter"/>
              </a:rPr>
              <a:t>Measure sign-ups and Free upgrades from month 1; slow hiring if they lag.</a:t>
            </a:r>
          </a:p>
        </p:txBody>
      </p:sp>
      <p:sp>
        <p:nvSpPr>
          <p:cNvPr id="10" name="risk122|card|"/>
          <p:cNvSpPr/>
          <p:nvPr/>
        </p:nvSpPr>
        <p:spPr>
          <a:xfrm>
            <a:off x="4340199" y="1481328"/>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sk122|deco|"/>
          <p:cNvSpPr/>
          <p:nvPr/>
        </p:nvSpPr>
        <p:spPr>
          <a:xfrm>
            <a:off x="4577943" y="1673352"/>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risk122|icon|chart_deep.png" descr="chart_deep"/>
          <p:cNvPicPr>
            <a:picLocks noChangeAspect="1"/>
          </p:cNvPicPr>
          <p:nvPr/>
        </p:nvPicPr>
        <p:blipFill>
          <a:blip r:embed="rId3"/>
          <a:srcRect/>
          <a:stretch>
            <a:fillRect/>
          </a:stretch>
        </p:blipFill>
        <p:spPr>
          <a:xfrm>
            <a:off x="4694621" y="1790029"/>
            <a:ext cx="296997" cy="296997"/>
          </a:xfrm>
          <a:prstGeom prst="rect">
            <a:avLst/>
          </a:prstGeom>
        </p:spPr>
      </p:pic>
      <p:sp>
        <p:nvSpPr>
          <p:cNvPr id="13" name="risk122|card|"/>
          <p:cNvSpPr txBox="1"/>
          <p:nvPr/>
        </p:nvSpPr>
        <p:spPr>
          <a:xfrm>
            <a:off x="5236311" y="1700784"/>
            <a:ext cx="2414015" cy="475488"/>
          </a:xfrm>
          <a:prstGeom prst="rect">
            <a:avLst/>
          </a:prstGeom>
          <a:noFill/>
        </p:spPr>
        <p:txBody>
          <a:bodyPr wrap="square" lIns="0" rIns="0" tIns="0" bIns="0" anchor="ctr">
            <a:noAutofit/>
          </a:bodyPr>
          <a:lstStyle/>
          <a:p>
            <a:pPr algn="l"/>
            <a:r>
              <a:rPr sz="1700" b="1">
                <a:solidFill>
                  <a:srgbClr val="20242B"/>
                </a:solidFill>
                <a:latin typeface="Poppins"/>
              </a:rPr>
              <a:t>Thin headroom</a:t>
            </a:r>
          </a:p>
        </p:txBody>
      </p:sp>
      <p:sp>
        <p:nvSpPr>
          <p:cNvPr id="14" name="risk122|card|"/>
          <p:cNvSpPr txBox="1"/>
          <p:nvPr/>
        </p:nvSpPr>
        <p:spPr>
          <a:xfrm>
            <a:off x="4614519" y="2304288"/>
            <a:ext cx="2962656" cy="502920"/>
          </a:xfrm>
          <a:prstGeom prst="rect">
            <a:avLst/>
          </a:prstGeom>
          <a:noFill/>
        </p:spPr>
        <p:txBody>
          <a:bodyPr wrap="square" lIns="0" rIns="0" tIns="0" bIns="0" anchor="t">
            <a:noAutofit/>
          </a:bodyPr>
          <a:lstStyle/>
          <a:p>
            <a:pPr algn="l"/>
            <a:r>
              <a:rPr sz="1400" b="0">
                <a:solidFill>
                  <a:srgbClr val="5B6670"/>
                </a:solidFill>
                <a:latin typeface="Inter"/>
              </a:rPr>
              <a:t>Upgrades at 0.25%/mo take the cash low to −R0.72M.</a:t>
            </a:r>
          </a:p>
        </p:txBody>
      </p:sp>
      <p:sp>
        <p:nvSpPr>
          <p:cNvPr id="15" name="risk122|card|"/>
          <p:cNvSpPr txBox="1"/>
          <p:nvPr/>
        </p:nvSpPr>
        <p:spPr>
          <a:xfrm>
            <a:off x="4614519" y="2852928"/>
            <a:ext cx="2962656" cy="777240"/>
          </a:xfrm>
          <a:prstGeom prst="rect">
            <a:avLst/>
          </a:prstGeom>
          <a:noFill/>
        </p:spPr>
        <p:txBody>
          <a:bodyPr wrap="square" lIns="0" rIns="0" tIns="0" bIns="0" anchor="t">
            <a:noAutofit/>
          </a:bodyPr>
          <a:lstStyle/>
          <a:p>
            <a:pPr algn="l"/>
            <a:r>
              <a:rPr sz="1400" b="1">
                <a:solidFill>
                  <a:srgbClr val="20242B"/>
                </a:solidFill>
                <a:latin typeface="Inter"/>
              </a:rPr>
              <a:t>Gated hiring; raise gates early. Conservative case still fails.</a:t>
            </a:r>
          </a:p>
        </p:txBody>
      </p:sp>
      <p:sp>
        <p:nvSpPr>
          <p:cNvPr id="16" name="risk123|card|"/>
          <p:cNvSpPr/>
          <p:nvPr/>
        </p:nvSpPr>
        <p:spPr>
          <a:xfrm>
            <a:off x="8131759" y="1481328"/>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sk123|deco|"/>
          <p:cNvSpPr/>
          <p:nvPr/>
        </p:nvSpPr>
        <p:spPr>
          <a:xfrm>
            <a:off x="8369503" y="1673352"/>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risk123|icon|shield_deep.png" descr="shield_deep"/>
          <p:cNvPicPr>
            <a:picLocks noChangeAspect="1"/>
          </p:cNvPicPr>
          <p:nvPr/>
        </p:nvPicPr>
        <p:blipFill>
          <a:blip r:embed="rId4"/>
          <a:srcRect/>
          <a:stretch>
            <a:fillRect/>
          </a:stretch>
        </p:blipFill>
        <p:spPr>
          <a:xfrm>
            <a:off x="8486180" y="1790029"/>
            <a:ext cx="296997" cy="296997"/>
          </a:xfrm>
          <a:prstGeom prst="rect">
            <a:avLst/>
          </a:prstGeom>
        </p:spPr>
      </p:pic>
      <p:sp>
        <p:nvSpPr>
          <p:cNvPr id="19" name="risk123|card|"/>
          <p:cNvSpPr txBox="1"/>
          <p:nvPr/>
        </p:nvSpPr>
        <p:spPr>
          <a:xfrm>
            <a:off x="9027871" y="1700784"/>
            <a:ext cx="2414015" cy="475488"/>
          </a:xfrm>
          <a:prstGeom prst="rect">
            <a:avLst/>
          </a:prstGeom>
          <a:noFill/>
        </p:spPr>
        <p:txBody>
          <a:bodyPr wrap="square" lIns="0" rIns="0" tIns="0" bIns="0" anchor="ctr">
            <a:noAutofit/>
          </a:bodyPr>
          <a:lstStyle/>
          <a:p>
            <a:pPr algn="l"/>
            <a:r>
              <a:rPr sz="1700" b="1">
                <a:solidFill>
                  <a:srgbClr val="20242B"/>
                </a:solidFill>
                <a:latin typeface="Poppins"/>
              </a:rPr>
              <a:t>Meta dependency</a:t>
            </a:r>
          </a:p>
        </p:txBody>
      </p:sp>
      <p:sp>
        <p:nvSpPr>
          <p:cNvPr id="20" name="risk123|card|"/>
          <p:cNvSpPr txBox="1"/>
          <p:nvPr/>
        </p:nvSpPr>
        <p:spPr>
          <a:xfrm>
            <a:off x="8406079" y="2304288"/>
            <a:ext cx="2962656" cy="502920"/>
          </a:xfrm>
          <a:prstGeom prst="rect">
            <a:avLst/>
          </a:prstGeom>
          <a:noFill/>
        </p:spPr>
        <p:txBody>
          <a:bodyPr wrap="square" lIns="0" rIns="0" tIns="0" bIns="0" anchor="t">
            <a:noAutofit/>
          </a:bodyPr>
          <a:lstStyle/>
          <a:p>
            <a:pPr algn="l"/>
            <a:r>
              <a:rPr sz="1400" b="0">
                <a:solidFill>
                  <a:srgbClr val="5B6670"/>
                </a:solidFill>
                <a:latin typeface="Inter"/>
              </a:rPr>
              <a:t>Facebook and Instagram publishing wait on Meta approval.</a:t>
            </a:r>
          </a:p>
        </p:txBody>
      </p:sp>
      <p:sp>
        <p:nvSpPr>
          <p:cNvPr id="21" name="risk123|card|"/>
          <p:cNvSpPr txBox="1"/>
          <p:nvPr/>
        </p:nvSpPr>
        <p:spPr>
          <a:xfrm>
            <a:off x="8406079" y="2852928"/>
            <a:ext cx="2962656" cy="777240"/>
          </a:xfrm>
          <a:prstGeom prst="rect">
            <a:avLst/>
          </a:prstGeom>
          <a:noFill/>
        </p:spPr>
        <p:txBody>
          <a:bodyPr wrap="square" lIns="0" rIns="0" tIns="0" bIns="0" anchor="t">
            <a:noAutofit/>
          </a:bodyPr>
          <a:lstStyle/>
          <a:p>
            <a:pPr algn="l"/>
            <a:r>
              <a:rPr sz="1400" b="1">
                <a:solidFill>
                  <a:srgbClr val="20242B"/>
                </a:solidFill>
                <a:latin typeface="Inter"/>
              </a:rPr>
              <a:t>Verified Tech Provider; WhatsApp Status and TikTok work today.</a:t>
            </a:r>
          </a:p>
        </p:txBody>
      </p:sp>
      <p:sp>
        <p:nvSpPr>
          <p:cNvPr id="22" name="risk124|card|"/>
          <p:cNvSpPr/>
          <p:nvPr/>
        </p:nvSpPr>
        <p:spPr>
          <a:xfrm>
            <a:off x="548640" y="3886200"/>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sk124|deco|"/>
          <p:cNvSpPr/>
          <p:nvPr/>
        </p:nvSpPr>
        <p:spPr>
          <a:xfrm>
            <a:off x="786383" y="4078224"/>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risk124|icon|card_deep.png" descr="card_deep"/>
          <p:cNvPicPr>
            <a:picLocks noChangeAspect="1"/>
          </p:cNvPicPr>
          <p:nvPr/>
        </p:nvPicPr>
        <p:blipFill>
          <a:blip r:embed="rId5"/>
          <a:srcRect/>
          <a:stretch>
            <a:fillRect/>
          </a:stretch>
        </p:blipFill>
        <p:spPr>
          <a:xfrm>
            <a:off x="903061" y="4194901"/>
            <a:ext cx="296997" cy="296997"/>
          </a:xfrm>
          <a:prstGeom prst="rect">
            <a:avLst/>
          </a:prstGeom>
        </p:spPr>
      </p:pic>
      <p:sp>
        <p:nvSpPr>
          <p:cNvPr id="25" name="risk124|card|"/>
          <p:cNvSpPr txBox="1"/>
          <p:nvPr/>
        </p:nvSpPr>
        <p:spPr>
          <a:xfrm>
            <a:off x="1444752" y="4105656"/>
            <a:ext cx="2414015" cy="475488"/>
          </a:xfrm>
          <a:prstGeom prst="rect">
            <a:avLst/>
          </a:prstGeom>
          <a:noFill/>
        </p:spPr>
        <p:txBody>
          <a:bodyPr wrap="square" lIns="0" rIns="0" tIns="0" bIns="0" anchor="ctr">
            <a:noAutofit/>
          </a:bodyPr>
          <a:lstStyle/>
          <a:p>
            <a:pPr algn="l"/>
            <a:r>
              <a:rPr sz="1700" b="1">
                <a:solidFill>
                  <a:srgbClr val="20242B"/>
                </a:solidFill>
                <a:latin typeface="Poppins"/>
              </a:rPr>
              <a:t>Payment rails</a:t>
            </a:r>
          </a:p>
        </p:txBody>
      </p:sp>
      <p:sp>
        <p:nvSpPr>
          <p:cNvPr id="26" name="risk124|card|"/>
          <p:cNvSpPr txBox="1"/>
          <p:nvPr/>
        </p:nvSpPr>
        <p:spPr>
          <a:xfrm>
            <a:off x="822959" y="4709160"/>
            <a:ext cx="2962656" cy="502920"/>
          </a:xfrm>
          <a:prstGeom prst="rect">
            <a:avLst/>
          </a:prstGeom>
          <a:noFill/>
        </p:spPr>
        <p:txBody>
          <a:bodyPr wrap="square" lIns="0" rIns="0" tIns="0" bIns="0" anchor="t">
            <a:noAutofit/>
          </a:bodyPr>
          <a:lstStyle/>
          <a:p>
            <a:pPr algn="l"/>
            <a:r>
              <a:rPr sz="1400" b="0">
                <a:solidFill>
                  <a:srgbClr val="5B6670"/>
                </a:solidFill>
                <a:latin typeface="Inter"/>
              </a:rPr>
              <a:t>Only South Africa has live checkout.</a:t>
            </a:r>
          </a:p>
        </p:txBody>
      </p:sp>
      <p:sp>
        <p:nvSpPr>
          <p:cNvPr id="27" name="risk124|card|"/>
          <p:cNvSpPr txBox="1"/>
          <p:nvPr/>
        </p:nvSpPr>
        <p:spPr>
          <a:xfrm>
            <a:off x="822959" y="5257800"/>
            <a:ext cx="2962656" cy="777240"/>
          </a:xfrm>
          <a:prstGeom prst="rect">
            <a:avLst/>
          </a:prstGeom>
          <a:noFill/>
        </p:spPr>
        <p:txBody>
          <a:bodyPr wrap="square" lIns="0" rIns="0" tIns="0" bIns="0" anchor="t">
            <a:noAutofit/>
          </a:bodyPr>
          <a:lstStyle/>
          <a:p>
            <a:pPr algn="l"/>
            <a:r>
              <a:rPr sz="1400" b="1">
                <a:solidFill>
                  <a:srgbClr val="20242B"/>
                </a:solidFill>
                <a:latin typeface="Inter"/>
              </a:rPr>
              <a:t>pawaPay and Fincra contracted; no expansion until they are live.</a:t>
            </a:r>
          </a:p>
        </p:txBody>
      </p:sp>
      <p:sp>
        <p:nvSpPr>
          <p:cNvPr id="28" name="risk125|card|"/>
          <p:cNvSpPr/>
          <p:nvPr/>
        </p:nvSpPr>
        <p:spPr>
          <a:xfrm>
            <a:off x="4340199" y="3886200"/>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sk125|deco|"/>
          <p:cNvSpPr/>
          <p:nvPr/>
        </p:nvSpPr>
        <p:spPr>
          <a:xfrm>
            <a:off x="4577943" y="4078224"/>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isk125|icon|globe_deep.png" descr="globe_deep"/>
          <p:cNvPicPr>
            <a:picLocks noChangeAspect="1"/>
          </p:cNvPicPr>
          <p:nvPr/>
        </p:nvPicPr>
        <p:blipFill>
          <a:blip r:embed="rId6"/>
          <a:srcRect/>
          <a:stretch>
            <a:fillRect/>
          </a:stretch>
        </p:blipFill>
        <p:spPr>
          <a:xfrm>
            <a:off x="4694621" y="4194901"/>
            <a:ext cx="296997" cy="296997"/>
          </a:xfrm>
          <a:prstGeom prst="rect">
            <a:avLst/>
          </a:prstGeom>
        </p:spPr>
      </p:pic>
      <p:sp>
        <p:nvSpPr>
          <p:cNvPr id="31" name="risk125|card|"/>
          <p:cNvSpPr txBox="1"/>
          <p:nvPr/>
        </p:nvSpPr>
        <p:spPr>
          <a:xfrm>
            <a:off x="5236311" y="4105656"/>
            <a:ext cx="2414015" cy="475488"/>
          </a:xfrm>
          <a:prstGeom prst="rect">
            <a:avLst/>
          </a:prstGeom>
          <a:noFill/>
        </p:spPr>
        <p:txBody>
          <a:bodyPr wrap="square" lIns="0" rIns="0" tIns="0" bIns="0" anchor="ctr">
            <a:noAutofit/>
          </a:bodyPr>
          <a:lstStyle/>
          <a:p>
            <a:pPr algn="l"/>
            <a:r>
              <a:rPr sz="1700" b="1">
                <a:solidFill>
                  <a:srgbClr val="20242B"/>
                </a:solidFill>
                <a:latin typeface="Poppins"/>
              </a:rPr>
              <a:t>FX</a:t>
            </a:r>
          </a:p>
        </p:txBody>
      </p:sp>
      <p:sp>
        <p:nvSpPr>
          <p:cNvPr id="32" name="risk125|card|"/>
          <p:cNvSpPr txBox="1"/>
          <p:nvPr/>
        </p:nvSpPr>
        <p:spPr>
          <a:xfrm>
            <a:off x="4614519" y="4709160"/>
            <a:ext cx="2962656" cy="502920"/>
          </a:xfrm>
          <a:prstGeom prst="rect">
            <a:avLst/>
          </a:prstGeom>
          <a:noFill/>
        </p:spPr>
        <p:txBody>
          <a:bodyPr wrap="square" lIns="0" rIns="0" tIns="0" bIns="0" anchor="t">
            <a:noAutofit/>
          </a:bodyPr>
          <a:lstStyle/>
          <a:p>
            <a:pPr algn="l"/>
            <a:r>
              <a:rPr sz="1400" b="0">
                <a:solidFill>
                  <a:srgbClr val="5B6670"/>
                </a:solidFill>
                <a:latin typeface="Inter"/>
              </a:rPr>
              <a:t>NGN, KES and GHS can weaken against the rand.</a:t>
            </a:r>
          </a:p>
        </p:txBody>
      </p:sp>
      <p:sp>
        <p:nvSpPr>
          <p:cNvPr id="33" name="risk125|card|"/>
          <p:cNvSpPr txBox="1"/>
          <p:nvPr/>
        </p:nvSpPr>
        <p:spPr>
          <a:xfrm>
            <a:off x="4614519" y="5257800"/>
            <a:ext cx="2962656" cy="777240"/>
          </a:xfrm>
          <a:prstGeom prst="rect">
            <a:avLst/>
          </a:prstGeom>
          <a:noFill/>
        </p:spPr>
        <p:txBody>
          <a:bodyPr wrap="square" lIns="0" rIns="0" tIns="0" bIns="0" anchor="t">
            <a:noAutofit/>
          </a:bodyPr>
          <a:lstStyle/>
          <a:p>
            <a:pPr algn="l"/>
            <a:r>
              <a:rPr sz="1400" b="1">
                <a:solidFill>
                  <a:srgbClr val="20242B"/>
                </a:solidFill>
                <a:latin typeface="Inter"/>
              </a:rPr>
              <a:t>Quarterly repricing; without it a ZAR +15% shock fails.</a:t>
            </a:r>
          </a:p>
        </p:txBody>
      </p:sp>
      <p:sp>
        <p:nvSpPr>
          <p:cNvPr id="34" name="risk126|card|"/>
          <p:cNvSpPr/>
          <p:nvPr/>
        </p:nvSpPr>
        <p:spPr>
          <a:xfrm>
            <a:off x="8131759" y="3886200"/>
            <a:ext cx="3511296"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sk126|deco|"/>
          <p:cNvSpPr/>
          <p:nvPr/>
        </p:nvSpPr>
        <p:spPr>
          <a:xfrm>
            <a:off x="8369503" y="4078224"/>
            <a:ext cx="530352" cy="5303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risk126|icon|briefcase_deep.png" descr="briefcase_deep"/>
          <p:cNvPicPr>
            <a:picLocks noChangeAspect="1"/>
          </p:cNvPicPr>
          <p:nvPr/>
        </p:nvPicPr>
        <p:blipFill>
          <a:blip r:embed="rId7"/>
          <a:srcRect/>
          <a:stretch>
            <a:fillRect/>
          </a:stretch>
        </p:blipFill>
        <p:spPr>
          <a:xfrm>
            <a:off x="8486180" y="4194901"/>
            <a:ext cx="296997" cy="296997"/>
          </a:xfrm>
          <a:prstGeom prst="rect">
            <a:avLst/>
          </a:prstGeom>
        </p:spPr>
      </p:pic>
      <p:sp>
        <p:nvSpPr>
          <p:cNvPr id="37" name="risk126|card|"/>
          <p:cNvSpPr txBox="1"/>
          <p:nvPr/>
        </p:nvSpPr>
        <p:spPr>
          <a:xfrm>
            <a:off x="9027871" y="4105656"/>
            <a:ext cx="2414015" cy="475488"/>
          </a:xfrm>
          <a:prstGeom prst="rect">
            <a:avLst/>
          </a:prstGeom>
          <a:noFill/>
        </p:spPr>
        <p:txBody>
          <a:bodyPr wrap="square" lIns="0" rIns="0" tIns="0" bIns="0" anchor="ctr">
            <a:noAutofit/>
          </a:bodyPr>
          <a:lstStyle/>
          <a:p>
            <a:pPr algn="l"/>
            <a:r>
              <a:rPr sz="1700" b="1">
                <a:solidFill>
                  <a:srgbClr val="20242B"/>
                </a:solidFill>
                <a:latin typeface="Poppins"/>
              </a:rPr>
              <a:t>Execution &amp; hiring</a:t>
            </a:r>
          </a:p>
        </p:txBody>
      </p:sp>
      <p:sp>
        <p:nvSpPr>
          <p:cNvPr id="38" name="risk126|card|"/>
          <p:cNvSpPr txBox="1"/>
          <p:nvPr/>
        </p:nvSpPr>
        <p:spPr>
          <a:xfrm>
            <a:off x="8406079" y="4709160"/>
            <a:ext cx="2962656" cy="502920"/>
          </a:xfrm>
          <a:prstGeom prst="rect">
            <a:avLst/>
          </a:prstGeom>
          <a:noFill/>
        </p:spPr>
        <p:txBody>
          <a:bodyPr wrap="square" lIns="0" rIns="0" tIns="0" bIns="0" anchor="t">
            <a:noAutofit/>
          </a:bodyPr>
          <a:lstStyle/>
          <a:p>
            <a:pPr algn="l"/>
            <a:r>
              <a:rPr sz="1400" b="0">
                <a:solidFill>
                  <a:srgbClr val="5B6670"/>
                </a:solidFill>
                <a:latin typeface="Inter"/>
              </a:rPr>
              <a:t>From 2 founders to 41 people by the end of FY3.</a:t>
            </a:r>
          </a:p>
        </p:txBody>
      </p:sp>
      <p:sp>
        <p:nvSpPr>
          <p:cNvPr id="39" name="risk126|card|"/>
          <p:cNvSpPr txBox="1"/>
          <p:nvPr/>
        </p:nvSpPr>
        <p:spPr>
          <a:xfrm>
            <a:off x="8406079" y="5257800"/>
            <a:ext cx="2962656" cy="777240"/>
          </a:xfrm>
          <a:prstGeom prst="rect">
            <a:avLst/>
          </a:prstGeom>
          <a:noFill/>
        </p:spPr>
        <p:txBody>
          <a:bodyPr wrap="square" lIns="0" rIns="0" tIns="0" bIns="0" anchor="t">
            <a:noAutofit/>
          </a:bodyPr>
          <a:lstStyle/>
          <a:p>
            <a:pPr algn="l"/>
            <a:r>
              <a:rPr sz="1400" b="1">
                <a:solidFill>
                  <a:srgbClr val="20242B"/>
                </a:solidFill>
                <a:latin typeface="Inter"/>
              </a:rPr>
              <a:t>Every hire waits for an MRR milestone.</a:t>
            </a:r>
          </a:p>
        </p:txBody>
      </p:sp>
      <p:sp>
        <p:nvSpPr>
          <p:cNvPr id="40"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41"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ASK</a:t>
            </a:r>
          </a:p>
        </p:txBody>
      </p:sp>
      <p:sp>
        <p:nvSpPr>
          <p:cNvPr id="3" name="hdr12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R46M seed to reach profitability</a:t>
            </a:r>
          </a:p>
        </p:txBody>
      </p:sp>
      <p:sp>
        <p:nvSpPr>
          <p:cNvPr id="4" name="ask128|card|"/>
          <p:cNvSpPr/>
          <p:nvPr/>
        </p:nvSpPr>
        <p:spPr>
          <a:xfrm>
            <a:off x="548640" y="1481328"/>
            <a:ext cx="4023360" cy="2377440"/>
          </a:xfrm>
          <a:prstGeom prst="roundRect">
            <a:avLst>
              <a:gd name="adj" fmla="val 7692"/>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sk128|card|"/>
          <p:cNvSpPr txBox="1"/>
          <p:nvPr/>
        </p:nvSpPr>
        <p:spPr>
          <a:xfrm>
            <a:off x="868680" y="1554480"/>
            <a:ext cx="3383280" cy="1097280"/>
          </a:xfrm>
          <a:prstGeom prst="rect">
            <a:avLst/>
          </a:prstGeom>
          <a:noFill/>
        </p:spPr>
        <p:txBody>
          <a:bodyPr wrap="square" lIns="0" rIns="0" tIns="0" bIns="0" anchor="t">
            <a:noAutofit/>
          </a:bodyPr>
          <a:lstStyle/>
          <a:p>
            <a:pPr algn="l"/>
            <a:r>
              <a:rPr sz="5400" b="1">
                <a:solidFill>
                  <a:srgbClr val="FF6A00"/>
                </a:solidFill>
                <a:latin typeface="Poppins"/>
              </a:rPr>
              <a:t>R46M</a:t>
            </a:r>
          </a:p>
        </p:txBody>
      </p:sp>
      <p:sp>
        <p:nvSpPr>
          <p:cNvPr id="6" name="ask128|card|"/>
          <p:cNvSpPr txBox="1"/>
          <p:nvPr/>
        </p:nvSpPr>
        <p:spPr>
          <a:xfrm>
            <a:off x="868680" y="2688336"/>
            <a:ext cx="3383280" cy="310896"/>
          </a:xfrm>
          <a:prstGeom prst="rect">
            <a:avLst/>
          </a:prstGeom>
          <a:noFill/>
        </p:spPr>
        <p:txBody>
          <a:bodyPr wrap="square" lIns="0" rIns="0" tIns="0" bIns="0" anchor="t">
            <a:noAutofit/>
          </a:bodyPr>
          <a:lstStyle/>
          <a:p>
            <a:pPr algn="l"/>
            <a:r>
              <a:rPr sz="1600" b="1">
                <a:solidFill>
                  <a:srgbClr val="FFFFFF"/>
                </a:solidFill>
                <a:latin typeface="Inter"/>
              </a:rPr>
              <a:t>Seed round · ≈US$2.49M</a:t>
            </a:r>
          </a:p>
        </p:txBody>
      </p:sp>
      <p:sp>
        <p:nvSpPr>
          <p:cNvPr id="7" name="ask128|placeholder|"/>
          <p:cNvSpPr txBox="1"/>
          <p:nvPr/>
        </p:nvSpPr>
        <p:spPr>
          <a:xfrm>
            <a:off x="868680" y="3035808"/>
            <a:ext cx="3383280" cy="310896"/>
          </a:xfrm>
          <a:prstGeom prst="rect">
            <a:avLst/>
          </a:prstGeom>
          <a:noFill/>
        </p:spPr>
        <p:txBody>
          <a:bodyPr wrap="square" lIns="0" rIns="0" tIns="0" bIns="0" anchor="t">
            <a:noAutofit/>
          </a:bodyPr>
          <a:lstStyle/>
          <a:p>
            <a:pPr algn="l"/>
            <a:r>
              <a:rPr sz="1400" b="0">
                <a:solidFill>
                  <a:srgbClr val="FFFFFF"/>
                </a:solidFill>
                <a:latin typeface="Inter"/>
              </a:rPr>
              <a:t>Instrument [[TBC]] · valuation [[TBC]]</a:t>
            </a:r>
          </a:p>
        </p:txBody>
      </p:sp>
      <p:sp>
        <p:nvSpPr>
          <p:cNvPr id="8" name="ask128|card|"/>
          <p:cNvSpPr txBox="1"/>
          <p:nvPr/>
        </p:nvSpPr>
        <p:spPr>
          <a:xfrm>
            <a:off x="868680" y="3364992"/>
            <a:ext cx="3383280" cy="457200"/>
          </a:xfrm>
          <a:prstGeom prst="rect">
            <a:avLst/>
          </a:prstGeom>
          <a:noFill/>
        </p:spPr>
        <p:txBody>
          <a:bodyPr wrap="square" lIns="0" rIns="0" tIns="0" bIns="0" anchor="t">
            <a:noAutofit/>
          </a:bodyPr>
          <a:lstStyle/>
          <a:p>
            <a:pPr algn="l"/>
            <a:r>
              <a:rPr sz="1400" b="0">
                <a:solidFill>
                  <a:srgbClr val="A7B0B8"/>
                </a:solidFill>
                <a:latin typeface="Inter"/>
              </a:rPr>
              <a:t>Close Feb 2027 · pre-seed bridge R66.3k</a:t>
            </a:r>
          </a:p>
        </p:txBody>
      </p:sp>
      <p:sp>
        <p:nvSpPr>
          <p:cNvPr id="9" name="rec129|card|"/>
          <p:cNvSpPr/>
          <p:nvPr/>
        </p:nvSpPr>
        <p:spPr>
          <a:xfrm>
            <a:off x="548640" y="4023360"/>
            <a:ext cx="4023360" cy="2286000"/>
          </a:xfrm>
          <a:prstGeom prst="roundRect">
            <a:avLst>
              <a:gd name="adj" fmla="val 800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129|eyebrow|"/>
          <p:cNvSpPr txBox="1"/>
          <p:nvPr/>
        </p:nvSpPr>
        <p:spPr>
          <a:xfrm>
            <a:off x="822959" y="4169663"/>
            <a:ext cx="3474720" cy="256032"/>
          </a:xfrm>
          <a:prstGeom prst="rect">
            <a:avLst/>
          </a:prstGeom>
          <a:noFill/>
        </p:spPr>
        <p:txBody>
          <a:bodyPr wrap="square" lIns="0" rIns="0" tIns="0" bIns="0" anchor="t">
            <a:noAutofit/>
          </a:bodyPr>
          <a:lstStyle/>
          <a:p>
            <a:pPr algn="l"/>
            <a:r>
              <a:rPr sz="1200" b="1" spc="120">
                <a:solidFill>
                  <a:srgbClr val="C24E00"/>
                </a:solidFill>
                <a:latin typeface="Inter"/>
              </a:rPr>
              <a:t>WHY THIS SIZE</a:t>
            </a:r>
          </a:p>
        </p:txBody>
      </p:sp>
      <p:sp>
        <p:nvSpPr>
          <p:cNvPr id="11" name="rec129|card|"/>
          <p:cNvSpPr txBox="1"/>
          <p:nvPr/>
        </p:nvSpPr>
        <p:spPr>
          <a:xfrm>
            <a:off x="822959" y="4462272"/>
            <a:ext cx="3474720" cy="1737360"/>
          </a:xfrm>
          <a:prstGeom prst="rect">
            <a:avLst/>
          </a:prstGeom>
          <a:noFill/>
        </p:spPr>
        <p:txBody>
          <a:bodyPr wrap="square" lIns="0" rIns="0" tIns="0" bIns="0" anchor="t">
            <a:noAutofit/>
          </a:bodyPr>
          <a:lstStyle/>
          <a:p>
            <a:pPr algn="l"/>
            <a:r>
              <a:rPr sz="1400" b="0">
                <a:solidFill>
                  <a:srgbClr val="20242B"/>
                </a:solidFill>
                <a:latin typeface="Inter"/>
              </a:rPr>
              <a:t>R45.1M is the smallest seed at which the base case passes. R23.36M is used in the first 24 months; the rest carries the long loss-making stretch to the Nov 2030 low.</a:t>
            </a:r>
          </a:p>
        </p:txBody>
      </p:sp>
      <p:pic>
        <p:nvPicPr>
          <p:cNvPr id="12" name="g130|img|charts/use_of_funds_16x9.png" descr="Use of funds: R46M split 40 / 30 / 15 / 15"/>
          <p:cNvPicPr>
            <a:picLocks noChangeAspect="1"/>
          </p:cNvPicPr>
          <p:nvPr/>
        </p:nvPicPr>
        <p:blipFill>
          <a:blip r:embed="rId2"/>
          <a:srcRect l="12000" t="16000" r="8000" b="10000"/>
          <a:stretch>
            <a:fillRect/>
          </a:stretch>
        </p:blipFill>
        <p:spPr>
          <a:xfrm>
            <a:off x="5299661" y="1481328"/>
            <a:ext cx="5887308" cy="3063240"/>
          </a:xfrm>
          <a:prstGeom prst="rect">
            <a:avLst/>
          </a:prstGeom>
        </p:spPr>
      </p:pic>
      <p:sp>
        <p:nvSpPr>
          <p:cNvPr id="13" name="buy131|card|"/>
          <p:cNvSpPr/>
          <p:nvPr/>
        </p:nvSpPr>
        <p:spPr>
          <a:xfrm>
            <a:off x="4846320" y="4663440"/>
            <a:ext cx="3328415" cy="768096"/>
          </a:xfrm>
          <a:prstGeom prst="roundRect">
            <a:avLst>
              <a:gd name="adj" fmla="val 1666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uy131|card|"/>
          <p:cNvSpPr txBox="1"/>
          <p:nvPr/>
        </p:nvSpPr>
        <p:spPr>
          <a:xfrm>
            <a:off x="4983480" y="4690872"/>
            <a:ext cx="3054096" cy="713232"/>
          </a:xfrm>
          <a:prstGeom prst="rect">
            <a:avLst/>
          </a:prstGeom>
          <a:noFill/>
        </p:spPr>
        <p:txBody>
          <a:bodyPr wrap="square" lIns="0" rIns="0" tIns="0" bIns="0" anchor="ctr">
            <a:noAutofit/>
          </a:bodyPr>
          <a:lstStyle/>
          <a:p>
            <a:pPr algn="l"/>
            <a:r>
              <a:rPr sz="1400" b="1">
                <a:solidFill>
                  <a:srgbClr val="C24E00"/>
                </a:solidFill>
                <a:latin typeface="Inter"/>
              </a:rPr>
              <a:t>R18.4M product &amp; engineering: </a:t>
            </a:r>
            <a:r>
              <a:rPr sz="1400" b="0">
                <a:solidFill>
                  <a:srgbClr val="20242B"/>
                </a:solidFill>
                <a:latin typeface="Inter"/>
              </a:rPr>
              <a:t>engineers, AI/ML, design, integrations, hosting</a:t>
            </a:r>
          </a:p>
        </p:txBody>
      </p:sp>
      <p:sp>
        <p:nvSpPr>
          <p:cNvPr id="15" name="buy132|card|"/>
          <p:cNvSpPr/>
          <p:nvPr/>
        </p:nvSpPr>
        <p:spPr>
          <a:xfrm>
            <a:off x="8311896" y="4663440"/>
            <a:ext cx="3328415" cy="768096"/>
          </a:xfrm>
          <a:prstGeom prst="roundRect">
            <a:avLst>
              <a:gd name="adj" fmla="val 1666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uy132|card|"/>
          <p:cNvSpPr txBox="1"/>
          <p:nvPr/>
        </p:nvSpPr>
        <p:spPr>
          <a:xfrm>
            <a:off x="8449056" y="4690872"/>
            <a:ext cx="3054096" cy="713232"/>
          </a:xfrm>
          <a:prstGeom prst="rect">
            <a:avLst/>
          </a:prstGeom>
          <a:noFill/>
        </p:spPr>
        <p:txBody>
          <a:bodyPr wrap="square" lIns="0" rIns="0" tIns="0" bIns="0" anchor="ctr">
            <a:noAutofit/>
          </a:bodyPr>
          <a:lstStyle/>
          <a:p>
            <a:pPr algn="l"/>
            <a:r>
              <a:rPr sz="1400" b="1">
                <a:solidFill>
                  <a:srgbClr val="C24E00"/>
                </a:solidFill>
                <a:latin typeface="Inter"/>
              </a:rPr>
              <a:t>R13.8M sales &amp; marketing: </a:t>
            </a:r>
            <a:r>
              <a:rPr sz="1400" b="0">
                <a:solidFill>
                  <a:srgbClr val="20242B"/>
                </a:solidFill>
                <a:latin typeface="Inter"/>
              </a:rPr>
              <a:t>growth team, partnerships, capped paid acquisition</a:t>
            </a:r>
          </a:p>
        </p:txBody>
      </p:sp>
      <p:sp>
        <p:nvSpPr>
          <p:cNvPr id="17" name="buy133|card|"/>
          <p:cNvSpPr/>
          <p:nvPr/>
        </p:nvSpPr>
        <p:spPr>
          <a:xfrm>
            <a:off x="4846320" y="5486400"/>
            <a:ext cx="3328415" cy="768096"/>
          </a:xfrm>
          <a:prstGeom prst="roundRect">
            <a:avLst>
              <a:gd name="adj" fmla="val 1666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y133|card|"/>
          <p:cNvSpPr txBox="1"/>
          <p:nvPr/>
        </p:nvSpPr>
        <p:spPr>
          <a:xfrm>
            <a:off x="4983480" y="5513832"/>
            <a:ext cx="3054096" cy="713232"/>
          </a:xfrm>
          <a:prstGeom prst="rect">
            <a:avLst/>
          </a:prstGeom>
          <a:noFill/>
        </p:spPr>
        <p:txBody>
          <a:bodyPr wrap="square" lIns="0" rIns="0" tIns="0" bIns="0" anchor="ctr">
            <a:noAutofit/>
          </a:bodyPr>
          <a:lstStyle/>
          <a:p>
            <a:pPr algn="l"/>
            <a:r>
              <a:rPr sz="1400" b="1">
                <a:solidFill>
                  <a:srgbClr val="C24E00"/>
                </a:solidFill>
                <a:latin typeface="Inter"/>
              </a:rPr>
              <a:t>R6.9M expansion: </a:t>
            </a:r>
            <a:r>
              <a:rPr sz="1400" b="0">
                <a:solidFill>
                  <a:srgbClr val="20242B"/>
                </a:solidFill>
                <a:latin typeface="Inter"/>
              </a:rPr>
              <a:t>NG/KE/GH rails, teams, compliance</a:t>
            </a:r>
          </a:p>
        </p:txBody>
      </p:sp>
      <p:sp>
        <p:nvSpPr>
          <p:cNvPr id="19" name="buy134|card|"/>
          <p:cNvSpPr/>
          <p:nvPr/>
        </p:nvSpPr>
        <p:spPr>
          <a:xfrm>
            <a:off x="8311896" y="5486400"/>
            <a:ext cx="3328415" cy="768096"/>
          </a:xfrm>
          <a:prstGeom prst="roundRect">
            <a:avLst>
              <a:gd name="adj" fmla="val 1666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y134|card|"/>
          <p:cNvSpPr txBox="1"/>
          <p:nvPr/>
        </p:nvSpPr>
        <p:spPr>
          <a:xfrm>
            <a:off x="8449056" y="5513832"/>
            <a:ext cx="3054096" cy="713232"/>
          </a:xfrm>
          <a:prstGeom prst="rect">
            <a:avLst/>
          </a:prstGeom>
          <a:noFill/>
        </p:spPr>
        <p:txBody>
          <a:bodyPr wrap="square" lIns="0" rIns="0" tIns="0" bIns="0" anchor="ctr">
            <a:noAutofit/>
          </a:bodyPr>
          <a:lstStyle/>
          <a:p>
            <a:pPr algn="l"/>
            <a:r>
              <a:rPr sz="1400" b="1">
                <a:solidFill>
                  <a:srgbClr val="C24E00"/>
                </a:solidFill>
                <a:latin typeface="Inter"/>
              </a:rPr>
              <a:t>R6.9M operations: </a:t>
            </a:r>
            <a:r>
              <a:rPr sz="1400" b="0">
                <a:solidFill>
                  <a:srgbClr val="20242B"/>
                </a:solidFill>
                <a:latin typeface="Inter"/>
              </a:rPr>
              <a:t>customer success, finance, cash buffer</a:t>
            </a:r>
          </a:p>
        </p:txBody>
      </p:sp>
      <p:sp>
        <p:nvSpPr>
          <p:cNvPr id="21"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22"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3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MILESTONES THIS ROUND BUYS</a:t>
            </a:r>
          </a:p>
        </p:txBody>
      </p:sp>
      <p:sp>
        <p:nvSpPr>
          <p:cNvPr id="3" name="hdr13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a first group to break-even</a:t>
            </a:r>
          </a:p>
        </p:txBody>
      </p:sp>
      <p:sp>
        <p:nvSpPr>
          <p:cNvPr id="4" name="g136|deco|"/>
          <p:cNvSpPr/>
          <p:nvPr/>
        </p:nvSpPr>
        <p:spPr>
          <a:xfrm>
            <a:off x="1599559" y="1682496"/>
            <a:ext cx="8992575" cy="3657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s137|deco|"/>
          <p:cNvSpPr/>
          <p:nvPr/>
        </p:nvSpPr>
        <p:spPr>
          <a:xfrm>
            <a:off x="1498975" y="1600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s137|card|"/>
          <p:cNvSpPr/>
          <p:nvPr/>
        </p:nvSpPr>
        <p:spPr>
          <a:xfrm>
            <a:off x="548640" y="1929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s137|card|"/>
          <p:cNvSpPr txBox="1"/>
          <p:nvPr/>
        </p:nvSpPr>
        <p:spPr>
          <a:xfrm>
            <a:off x="731520" y="2084832"/>
            <a:ext cx="1736079" cy="365760"/>
          </a:xfrm>
          <a:prstGeom prst="rect">
            <a:avLst/>
          </a:prstGeom>
          <a:noFill/>
        </p:spPr>
        <p:txBody>
          <a:bodyPr wrap="square" lIns="0" rIns="0" tIns="0" bIns="0" anchor="t">
            <a:noAutofit/>
          </a:bodyPr>
          <a:lstStyle/>
          <a:p>
            <a:pPr algn="l"/>
            <a:r>
              <a:rPr sz="1600" b="1">
                <a:solidFill>
                  <a:srgbClr val="C24E00"/>
                </a:solidFill>
                <a:latin typeface="Poppins"/>
              </a:rPr>
              <a:t>Sept 2026</a:t>
            </a:r>
          </a:p>
        </p:txBody>
      </p:sp>
      <p:sp>
        <p:nvSpPr>
          <p:cNvPr id="8" name="ms137|card|"/>
          <p:cNvSpPr txBox="1"/>
          <p:nvPr/>
        </p:nvSpPr>
        <p:spPr>
          <a:xfrm>
            <a:off x="731520" y="2487168"/>
            <a:ext cx="1736079" cy="1143000"/>
          </a:xfrm>
          <a:prstGeom prst="rect">
            <a:avLst/>
          </a:prstGeom>
          <a:noFill/>
        </p:spPr>
        <p:txBody>
          <a:bodyPr wrap="square" lIns="0" rIns="0" tIns="0" bIns="0" anchor="t">
            <a:noAutofit/>
          </a:bodyPr>
          <a:lstStyle/>
          <a:p>
            <a:pPr algn="l"/>
            <a:r>
              <a:rPr sz="1400" b="0">
                <a:solidFill>
                  <a:srgbClr val="20242B"/>
                </a:solidFill>
                <a:latin typeface="Inter"/>
              </a:rPr>
              <a:t>Verified Meta Tech Provider</a:t>
            </a:r>
          </a:p>
        </p:txBody>
      </p:sp>
      <p:sp>
        <p:nvSpPr>
          <p:cNvPr id="9" name="ms138|deco|"/>
          <p:cNvSpPr/>
          <p:nvPr/>
        </p:nvSpPr>
        <p:spPr>
          <a:xfrm>
            <a:off x="3747119" y="1600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s138|card|"/>
          <p:cNvSpPr/>
          <p:nvPr/>
        </p:nvSpPr>
        <p:spPr>
          <a:xfrm>
            <a:off x="2796783" y="1929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s138|card|"/>
          <p:cNvSpPr txBox="1"/>
          <p:nvPr/>
        </p:nvSpPr>
        <p:spPr>
          <a:xfrm>
            <a:off x="2979663" y="2084832"/>
            <a:ext cx="1736079" cy="365760"/>
          </a:xfrm>
          <a:prstGeom prst="rect">
            <a:avLst/>
          </a:prstGeom>
          <a:noFill/>
        </p:spPr>
        <p:txBody>
          <a:bodyPr wrap="square" lIns="0" rIns="0" tIns="0" bIns="0" anchor="t">
            <a:noAutofit/>
          </a:bodyPr>
          <a:lstStyle/>
          <a:p>
            <a:pPr algn="l"/>
            <a:r>
              <a:rPr sz="1600" b="1">
                <a:solidFill>
                  <a:srgbClr val="C24E00"/>
                </a:solidFill>
                <a:latin typeface="Poppins"/>
              </a:rPr>
              <a:t>Oct 2026</a:t>
            </a:r>
          </a:p>
        </p:txBody>
      </p:sp>
      <p:sp>
        <p:nvSpPr>
          <p:cNvPr id="12" name="ms138|card|"/>
          <p:cNvSpPr txBox="1"/>
          <p:nvPr/>
        </p:nvSpPr>
        <p:spPr>
          <a:xfrm>
            <a:off x="2979663" y="2487168"/>
            <a:ext cx="1736079" cy="1143000"/>
          </a:xfrm>
          <a:prstGeom prst="rect">
            <a:avLst/>
          </a:prstGeom>
          <a:noFill/>
        </p:spPr>
        <p:txBody>
          <a:bodyPr wrap="square" lIns="0" rIns="0" tIns="0" bIns="0" anchor="t">
            <a:noAutofit/>
          </a:bodyPr>
          <a:lstStyle/>
          <a:p>
            <a:pPr algn="l"/>
            <a:r>
              <a:rPr sz="1400" b="0">
                <a:solidFill>
                  <a:srgbClr val="20242B"/>
                </a:solidFill>
                <a:latin typeface="Inter"/>
              </a:rPr>
              <a:t>Selling in South Africa; Founding Member live</a:t>
            </a:r>
          </a:p>
        </p:txBody>
      </p:sp>
      <p:sp>
        <p:nvSpPr>
          <p:cNvPr id="13" name="ms139|deco|"/>
          <p:cNvSpPr/>
          <p:nvPr/>
        </p:nvSpPr>
        <p:spPr>
          <a:xfrm>
            <a:off x="5995263" y="1600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s139|card|"/>
          <p:cNvSpPr/>
          <p:nvPr/>
        </p:nvSpPr>
        <p:spPr>
          <a:xfrm>
            <a:off x="5044927" y="1929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s139|card|"/>
          <p:cNvSpPr txBox="1"/>
          <p:nvPr/>
        </p:nvSpPr>
        <p:spPr>
          <a:xfrm>
            <a:off x="5227807" y="2084832"/>
            <a:ext cx="1736079" cy="365760"/>
          </a:xfrm>
          <a:prstGeom prst="rect">
            <a:avLst/>
          </a:prstGeom>
          <a:noFill/>
        </p:spPr>
        <p:txBody>
          <a:bodyPr wrap="square" lIns="0" rIns="0" tIns="0" bIns="0" anchor="t">
            <a:noAutofit/>
          </a:bodyPr>
          <a:lstStyle/>
          <a:p>
            <a:pPr algn="l"/>
            <a:r>
              <a:rPr sz="1600" b="1">
                <a:solidFill>
                  <a:srgbClr val="C24E00"/>
                </a:solidFill>
                <a:latin typeface="Poppins"/>
              </a:rPr>
              <a:t>Oct ’26–Jan ’27</a:t>
            </a:r>
          </a:p>
        </p:txBody>
      </p:sp>
      <p:sp>
        <p:nvSpPr>
          <p:cNvPr id="16" name="ms139|card|"/>
          <p:cNvSpPr txBox="1"/>
          <p:nvPr/>
        </p:nvSpPr>
        <p:spPr>
          <a:xfrm>
            <a:off x="5227807" y="2487168"/>
            <a:ext cx="1736079" cy="1143000"/>
          </a:xfrm>
          <a:prstGeom prst="rect">
            <a:avLst/>
          </a:prstGeom>
          <a:noFill/>
        </p:spPr>
        <p:txBody>
          <a:bodyPr wrap="square" lIns="0" rIns="0" tIns="0" bIns="0" anchor="t">
            <a:noAutofit/>
          </a:bodyPr>
          <a:lstStyle/>
          <a:p>
            <a:pPr algn="l"/>
            <a:r>
              <a:rPr sz="1400" b="0">
                <a:solidFill>
                  <a:srgbClr val="20242B"/>
                </a:solidFill>
                <a:latin typeface="Inter"/>
              </a:rPr>
              <a:t>First group set up by hand (model input)</a:t>
            </a:r>
          </a:p>
        </p:txBody>
      </p:sp>
      <p:sp>
        <p:nvSpPr>
          <p:cNvPr id="17" name="ms140|deco|"/>
          <p:cNvSpPr/>
          <p:nvPr/>
        </p:nvSpPr>
        <p:spPr>
          <a:xfrm>
            <a:off x="8243407" y="1600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s140|card|"/>
          <p:cNvSpPr/>
          <p:nvPr/>
        </p:nvSpPr>
        <p:spPr>
          <a:xfrm>
            <a:off x="7293071" y="1929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s140|placeholder|"/>
          <p:cNvSpPr txBox="1"/>
          <p:nvPr/>
        </p:nvSpPr>
        <p:spPr>
          <a:xfrm>
            <a:off x="7475951" y="2084832"/>
            <a:ext cx="1736079" cy="365760"/>
          </a:xfrm>
          <a:prstGeom prst="rect">
            <a:avLst/>
          </a:prstGeom>
          <a:noFill/>
        </p:spPr>
        <p:txBody>
          <a:bodyPr wrap="square" lIns="0" rIns="0" tIns="0" bIns="0" anchor="t">
            <a:noAutofit/>
          </a:bodyPr>
          <a:lstStyle/>
          <a:p>
            <a:pPr algn="l"/>
            <a:r>
              <a:rPr sz="1600" b="1">
                <a:solidFill>
                  <a:srgbClr val="C24E00"/>
                </a:solidFill>
                <a:latin typeface="Poppins"/>
              </a:rPr>
              <a:t>[[TARGET]]</a:t>
            </a:r>
          </a:p>
        </p:txBody>
      </p:sp>
      <p:sp>
        <p:nvSpPr>
          <p:cNvPr id="20" name="ms140|card|"/>
          <p:cNvSpPr txBox="1"/>
          <p:nvPr/>
        </p:nvSpPr>
        <p:spPr>
          <a:xfrm>
            <a:off x="7475951" y="2487168"/>
            <a:ext cx="1736079" cy="1143000"/>
          </a:xfrm>
          <a:prstGeom prst="rect">
            <a:avLst/>
          </a:prstGeom>
          <a:noFill/>
        </p:spPr>
        <p:txBody>
          <a:bodyPr wrap="square" lIns="0" rIns="0" tIns="0" bIns="0" anchor="t">
            <a:noAutofit/>
          </a:bodyPr>
          <a:lstStyle/>
          <a:p>
            <a:pPr algn="l"/>
            <a:r>
              <a:rPr sz="1400" b="0">
                <a:solidFill>
                  <a:srgbClr val="20242B"/>
                </a:solidFill>
                <a:latin typeface="Inter"/>
              </a:rPr>
              <a:t>FluxMuse checkout and Meta publishing switched on</a:t>
            </a:r>
          </a:p>
        </p:txBody>
      </p:sp>
      <p:sp>
        <p:nvSpPr>
          <p:cNvPr id="21" name="ms141|deco|"/>
          <p:cNvSpPr/>
          <p:nvPr/>
        </p:nvSpPr>
        <p:spPr>
          <a:xfrm>
            <a:off x="10491551" y="1600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s141|card|"/>
          <p:cNvSpPr/>
          <p:nvPr/>
        </p:nvSpPr>
        <p:spPr>
          <a:xfrm>
            <a:off x="9541215" y="1929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s141|card|"/>
          <p:cNvSpPr txBox="1"/>
          <p:nvPr/>
        </p:nvSpPr>
        <p:spPr>
          <a:xfrm>
            <a:off x="9724095" y="2084832"/>
            <a:ext cx="1736079" cy="365760"/>
          </a:xfrm>
          <a:prstGeom prst="rect">
            <a:avLst/>
          </a:prstGeom>
          <a:noFill/>
        </p:spPr>
        <p:txBody>
          <a:bodyPr wrap="square" lIns="0" rIns="0" tIns="0" bIns="0" anchor="t">
            <a:noAutofit/>
          </a:bodyPr>
          <a:lstStyle/>
          <a:p>
            <a:pPr algn="l"/>
            <a:r>
              <a:rPr sz="1600" b="1">
                <a:solidFill>
                  <a:srgbClr val="C24E00"/>
                </a:solidFill>
                <a:latin typeface="Poppins"/>
              </a:rPr>
              <a:t>Feb 2027</a:t>
            </a:r>
          </a:p>
        </p:txBody>
      </p:sp>
      <p:sp>
        <p:nvSpPr>
          <p:cNvPr id="24" name="ms141|card|"/>
          <p:cNvSpPr txBox="1"/>
          <p:nvPr/>
        </p:nvSpPr>
        <p:spPr>
          <a:xfrm>
            <a:off x="9724095" y="2487168"/>
            <a:ext cx="1736079" cy="1143000"/>
          </a:xfrm>
          <a:prstGeom prst="rect">
            <a:avLst/>
          </a:prstGeom>
          <a:noFill/>
        </p:spPr>
        <p:txBody>
          <a:bodyPr wrap="square" lIns="0" rIns="0" tIns="0" bIns="0" anchor="t">
            <a:noAutofit/>
          </a:bodyPr>
          <a:lstStyle/>
          <a:p>
            <a:pPr algn="l"/>
            <a:r>
              <a:rPr sz="1400" b="0">
                <a:solidFill>
                  <a:srgbClr val="20242B"/>
                </a:solidFill>
                <a:latin typeface="Inter"/>
              </a:rPr>
              <a:t>Seed closes (model input); first hires</a:t>
            </a:r>
          </a:p>
        </p:txBody>
      </p:sp>
      <p:sp>
        <p:nvSpPr>
          <p:cNvPr id="25" name="g142|deco|"/>
          <p:cNvSpPr/>
          <p:nvPr/>
        </p:nvSpPr>
        <p:spPr>
          <a:xfrm>
            <a:off x="1599559" y="3968496"/>
            <a:ext cx="8992575" cy="3657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s143|deco|"/>
          <p:cNvSpPr/>
          <p:nvPr/>
        </p:nvSpPr>
        <p:spPr>
          <a:xfrm>
            <a:off x="1498975" y="3886200"/>
            <a:ext cx="201168" cy="201168"/>
          </a:xfrm>
          <a:prstGeom prst="ellipse">
            <a:avLst/>
          </a:prstGeom>
          <a:solidFill>
            <a:srgbClr val="FFFFFF"/>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s143|card|"/>
          <p:cNvSpPr/>
          <p:nvPr/>
        </p:nvSpPr>
        <p:spPr>
          <a:xfrm>
            <a:off x="548640" y="4215384"/>
            <a:ext cx="2101839" cy="1783080"/>
          </a:xfrm>
          <a:prstGeom prst="roundRect">
            <a:avLst>
              <a:gd name="adj" fmla="val 820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s143|card|"/>
          <p:cNvSpPr txBox="1"/>
          <p:nvPr/>
        </p:nvSpPr>
        <p:spPr>
          <a:xfrm>
            <a:off x="731520" y="4370832"/>
            <a:ext cx="1736079" cy="365760"/>
          </a:xfrm>
          <a:prstGeom prst="rect">
            <a:avLst/>
          </a:prstGeom>
          <a:noFill/>
        </p:spPr>
        <p:txBody>
          <a:bodyPr wrap="square" lIns="0" rIns="0" tIns="0" bIns="0" anchor="t">
            <a:noAutofit/>
          </a:bodyPr>
          <a:lstStyle/>
          <a:p>
            <a:pPr algn="l"/>
            <a:r>
              <a:rPr sz="1600" b="1">
                <a:solidFill>
                  <a:srgbClr val="C24E00"/>
                </a:solidFill>
                <a:latin typeface="Poppins"/>
              </a:rPr>
              <a:t>Pending</a:t>
            </a:r>
          </a:p>
        </p:txBody>
      </p:sp>
      <p:sp>
        <p:nvSpPr>
          <p:cNvPr id="29" name="ms143|card|"/>
          <p:cNvSpPr txBox="1"/>
          <p:nvPr/>
        </p:nvSpPr>
        <p:spPr>
          <a:xfrm>
            <a:off x="731520" y="4773168"/>
            <a:ext cx="1736079" cy="1143000"/>
          </a:xfrm>
          <a:prstGeom prst="rect">
            <a:avLst/>
          </a:prstGeom>
          <a:noFill/>
        </p:spPr>
        <p:txBody>
          <a:bodyPr wrap="square" lIns="0" rIns="0" tIns="0" bIns="0" anchor="t">
            <a:noAutofit/>
          </a:bodyPr>
          <a:lstStyle/>
          <a:p>
            <a:pPr algn="l"/>
            <a:r>
              <a:rPr sz="1400" b="0">
                <a:solidFill>
                  <a:srgbClr val="20242B"/>
                </a:solidFill>
                <a:latin typeface="Inter"/>
              </a:rPr>
              <a:t>Fincra and pawaPay accounts live</a:t>
            </a:r>
          </a:p>
        </p:txBody>
      </p:sp>
      <p:sp>
        <p:nvSpPr>
          <p:cNvPr id="30" name="ms144|deco|"/>
          <p:cNvSpPr/>
          <p:nvPr/>
        </p:nvSpPr>
        <p:spPr>
          <a:xfrm>
            <a:off x="3747119" y="3886200"/>
            <a:ext cx="201168" cy="201168"/>
          </a:xfrm>
          <a:prstGeom prst="ellipse">
            <a:avLst/>
          </a:prstGeom>
          <a:solidFill>
            <a:srgbClr val="FF6A00"/>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s144|card|"/>
          <p:cNvSpPr/>
          <p:nvPr/>
        </p:nvSpPr>
        <p:spPr>
          <a:xfrm>
            <a:off x="2796783" y="4215384"/>
            <a:ext cx="2101839" cy="1783080"/>
          </a:xfrm>
          <a:prstGeom prst="roundRect">
            <a:avLst>
              <a:gd name="adj" fmla="val 8205"/>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s144|card|"/>
          <p:cNvSpPr txBox="1"/>
          <p:nvPr/>
        </p:nvSpPr>
        <p:spPr>
          <a:xfrm>
            <a:off x="2979663" y="4370832"/>
            <a:ext cx="1736079" cy="365760"/>
          </a:xfrm>
          <a:prstGeom prst="rect">
            <a:avLst/>
          </a:prstGeom>
          <a:noFill/>
        </p:spPr>
        <p:txBody>
          <a:bodyPr wrap="square" lIns="0" rIns="0" tIns="0" bIns="0" anchor="t">
            <a:noAutofit/>
          </a:bodyPr>
          <a:lstStyle/>
          <a:p>
            <a:pPr algn="l"/>
            <a:r>
              <a:rPr sz="1600" b="1">
                <a:solidFill>
                  <a:srgbClr val="C24E00"/>
                </a:solidFill>
                <a:latin typeface="Poppins"/>
              </a:rPr>
              <a:t>Oct ’28–Apr ’29</a:t>
            </a:r>
          </a:p>
        </p:txBody>
      </p:sp>
      <p:sp>
        <p:nvSpPr>
          <p:cNvPr id="33" name="ms144|card|"/>
          <p:cNvSpPr txBox="1"/>
          <p:nvPr/>
        </p:nvSpPr>
        <p:spPr>
          <a:xfrm>
            <a:off x="2979663" y="4773168"/>
            <a:ext cx="1736079" cy="1143000"/>
          </a:xfrm>
          <a:prstGeom prst="rect">
            <a:avLst/>
          </a:prstGeom>
          <a:noFill/>
        </p:spPr>
        <p:txBody>
          <a:bodyPr wrap="square" lIns="0" rIns="0" tIns="0" bIns="0" anchor="t">
            <a:noAutofit/>
          </a:bodyPr>
          <a:lstStyle/>
          <a:p>
            <a:pPr algn="l"/>
            <a:r>
              <a:rPr sz="1400" b="0">
                <a:solidFill>
                  <a:srgbClr val="20242B"/>
                </a:solidFill>
                <a:latin typeface="Inter"/>
              </a:rPr>
              <a:t>Nigeria, Kenya and Ghana open (MRR-gated)</a:t>
            </a:r>
          </a:p>
        </p:txBody>
      </p:sp>
      <p:sp>
        <p:nvSpPr>
          <p:cNvPr id="34" name="ms145|deco|"/>
          <p:cNvSpPr/>
          <p:nvPr/>
        </p:nvSpPr>
        <p:spPr>
          <a:xfrm>
            <a:off x="5995263" y="3886200"/>
            <a:ext cx="201168" cy="201168"/>
          </a:xfrm>
          <a:prstGeom prst="ellipse">
            <a:avLst/>
          </a:prstGeom>
          <a:solidFill>
            <a:srgbClr val="FF6A00"/>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s145|card|"/>
          <p:cNvSpPr/>
          <p:nvPr/>
        </p:nvSpPr>
        <p:spPr>
          <a:xfrm>
            <a:off x="5044927" y="4215384"/>
            <a:ext cx="2101839" cy="1783080"/>
          </a:xfrm>
          <a:prstGeom prst="roundRect">
            <a:avLst>
              <a:gd name="adj" fmla="val 8205"/>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ms145|card|"/>
          <p:cNvSpPr txBox="1"/>
          <p:nvPr/>
        </p:nvSpPr>
        <p:spPr>
          <a:xfrm>
            <a:off x="5227807" y="4370832"/>
            <a:ext cx="1736079" cy="365760"/>
          </a:xfrm>
          <a:prstGeom prst="rect">
            <a:avLst/>
          </a:prstGeom>
          <a:noFill/>
        </p:spPr>
        <p:txBody>
          <a:bodyPr wrap="square" lIns="0" rIns="0" tIns="0" bIns="0" anchor="t">
            <a:noAutofit/>
          </a:bodyPr>
          <a:lstStyle/>
          <a:p>
            <a:pPr algn="l"/>
            <a:r>
              <a:rPr sz="1600" b="1">
                <a:solidFill>
                  <a:srgbClr val="C24E00"/>
                </a:solidFill>
                <a:latin typeface="Poppins"/>
              </a:rPr>
              <a:t>Nov 2029</a:t>
            </a:r>
          </a:p>
        </p:txBody>
      </p:sp>
      <p:sp>
        <p:nvSpPr>
          <p:cNvPr id="37" name="ms145|card|"/>
          <p:cNvSpPr txBox="1"/>
          <p:nvPr/>
        </p:nvSpPr>
        <p:spPr>
          <a:xfrm>
            <a:off x="5227807" y="4773168"/>
            <a:ext cx="1736079" cy="1143000"/>
          </a:xfrm>
          <a:prstGeom prst="rect">
            <a:avLst/>
          </a:prstGeom>
          <a:noFill/>
        </p:spPr>
        <p:txBody>
          <a:bodyPr wrap="square" lIns="0" rIns="0" tIns="0" bIns="0" anchor="t">
            <a:noAutofit/>
          </a:bodyPr>
          <a:lstStyle/>
          <a:p>
            <a:pPr algn="l"/>
            <a:r>
              <a:rPr sz="1400" b="0">
                <a:solidFill>
                  <a:srgbClr val="20242B"/>
                </a:solidFill>
                <a:latin typeface="Inter"/>
              </a:rPr>
              <a:t>19 USD markets, self-serve</a:t>
            </a:r>
          </a:p>
        </p:txBody>
      </p:sp>
      <p:sp>
        <p:nvSpPr>
          <p:cNvPr id="38" name="ms146|deco|"/>
          <p:cNvSpPr/>
          <p:nvPr/>
        </p:nvSpPr>
        <p:spPr>
          <a:xfrm>
            <a:off x="8243407" y="3886200"/>
            <a:ext cx="201168" cy="201168"/>
          </a:xfrm>
          <a:prstGeom prst="ellipse">
            <a:avLst/>
          </a:prstGeom>
          <a:solidFill>
            <a:srgbClr val="FF6A00"/>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ms146|card|"/>
          <p:cNvSpPr/>
          <p:nvPr/>
        </p:nvSpPr>
        <p:spPr>
          <a:xfrm>
            <a:off x="7293071" y="4215384"/>
            <a:ext cx="2101839" cy="1783080"/>
          </a:xfrm>
          <a:prstGeom prst="roundRect">
            <a:avLst>
              <a:gd name="adj" fmla="val 8205"/>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ms146|card|"/>
          <p:cNvSpPr txBox="1"/>
          <p:nvPr/>
        </p:nvSpPr>
        <p:spPr>
          <a:xfrm>
            <a:off x="7475951" y="4370832"/>
            <a:ext cx="1736079" cy="365760"/>
          </a:xfrm>
          <a:prstGeom prst="rect">
            <a:avLst/>
          </a:prstGeom>
          <a:noFill/>
        </p:spPr>
        <p:txBody>
          <a:bodyPr wrap="square" lIns="0" rIns="0" tIns="0" bIns="0" anchor="t">
            <a:noAutofit/>
          </a:bodyPr>
          <a:lstStyle/>
          <a:p>
            <a:pPr algn="l"/>
            <a:r>
              <a:rPr sz="1600" b="1">
                <a:solidFill>
                  <a:srgbClr val="C24E00"/>
                </a:solidFill>
                <a:latin typeface="Poppins"/>
              </a:rPr>
              <a:t>Dec 2030</a:t>
            </a:r>
          </a:p>
        </p:txBody>
      </p:sp>
      <p:sp>
        <p:nvSpPr>
          <p:cNvPr id="41" name="ms146|card|"/>
          <p:cNvSpPr txBox="1"/>
          <p:nvPr/>
        </p:nvSpPr>
        <p:spPr>
          <a:xfrm>
            <a:off x="7475951" y="4773168"/>
            <a:ext cx="1736079" cy="1143000"/>
          </a:xfrm>
          <a:prstGeom prst="rect">
            <a:avLst/>
          </a:prstGeom>
          <a:noFill/>
        </p:spPr>
        <p:txBody>
          <a:bodyPr wrap="square" lIns="0" rIns="0" tIns="0" bIns="0" anchor="t">
            <a:noAutofit/>
          </a:bodyPr>
          <a:lstStyle/>
          <a:p>
            <a:pPr algn="l"/>
            <a:r>
              <a:rPr sz="1400" b="0">
                <a:solidFill>
                  <a:srgbClr val="20242B"/>
                </a:solidFill>
                <a:latin typeface="Inter"/>
              </a:rPr>
              <a:t>Operating cash flow positive</a:t>
            </a:r>
          </a:p>
        </p:txBody>
      </p:sp>
      <p:sp>
        <p:nvSpPr>
          <p:cNvPr id="42" name="ms147|deco|"/>
          <p:cNvSpPr/>
          <p:nvPr/>
        </p:nvSpPr>
        <p:spPr>
          <a:xfrm>
            <a:off x="10491551" y="3886200"/>
            <a:ext cx="201168" cy="201168"/>
          </a:xfrm>
          <a:prstGeom prst="ellipse">
            <a:avLst/>
          </a:prstGeom>
          <a:solidFill>
            <a:srgbClr val="FF6A00"/>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ms147|card|"/>
          <p:cNvSpPr/>
          <p:nvPr/>
        </p:nvSpPr>
        <p:spPr>
          <a:xfrm>
            <a:off x="9541215" y="4215384"/>
            <a:ext cx="2101839" cy="1783080"/>
          </a:xfrm>
          <a:prstGeom prst="roundRect">
            <a:avLst>
              <a:gd name="adj" fmla="val 8205"/>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ms147|card|"/>
          <p:cNvSpPr txBox="1"/>
          <p:nvPr/>
        </p:nvSpPr>
        <p:spPr>
          <a:xfrm>
            <a:off x="9724095" y="4370832"/>
            <a:ext cx="1736079" cy="365760"/>
          </a:xfrm>
          <a:prstGeom prst="rect">
            <a:avLst/>
          </a:prstGeom>
          <a:noFill/>
        </p:spPr>
        <p:txBody>
          <a:bodyPr wrap="square" lIns="0" rIns="0" tIns="0" bIns="0" anchor="t">
            <a:noAutofit/>
          </a:bodyPr>
          <a:lstStyle/>
          <a:p>
            <a:pPr algn="l"/>
            <a:r>
              <a:rPr sz="1600" b="1">
                <a:solidFill>
                  <a:srgbClr val="C24E00"/>
                </a:solidFill>
                <a:latin typeface="Poppins"/>
              </a:rPr>
              <a:t>Jan 2031</a:t>
            </a:r>
          </a:p>
        </p:txBody>
      </p:sp>
      <p:sp>
        <p:nvSpPr>
          <p:cNvPr id="45" name="ms147|card|"/>
          <p:cNvSpPr txBox="1"/>
          <p:nvPr/>
        </p:nvSpPr>
        <p:spPr>
          <a:xfrm>
            <a:off x="9724095" y="4773168"/>
            <a:ext cx="1736079" cy="1143000"/>
          </a:xfrm>
          <a:prstGeom prst="rect">
            <a:avLst/>
          </a:prstGeom>
          <a:noFill/>
        </p:spPr>
        <p:txBody>
          <a:bodyPr wrap="square" lIns="0" rIns="0" tIns="0" bIns="0" anchor="t">
            <a:noAutofit/>
          </a:bodyPr>
          <a:lstStyle/>
          <a:p>
            <a:pPr algn="l"/>
            <a:r>
              <a:rPr sz="1400" b="0">
                <a:solidFill>
                  <a:srgbClr val="20242B"/>
                </a:solidFill>
                <a:latin typeface="Inter"/>
              </a:rPr>
              <a:t>EBITDA break-even, no Series A</a:t>
            </a:r>
          </a:p>
        </p:txBody>
      </p:sp>
      <p:sp>
        <p:nvSpPr>
          <p:cNvPr id="46" name="g148|caption|"/>
          <p:cNvSpPr txBox="1"/>
          <p:nvPr/>
        </p:nvSpPr>
        <p:spPr>
          <a:xfrm>
            <a:off x="548640" y="6144768"/>
            <a:ext cx="11094415" cy="237744"/>
          </a:xfrm>
          <a:prstGeom prst="rect">
            <a:avLst/>
          </a:prstGeom>
          <a:noFill/>
        </p:spPr>
        <p:txBody>
          <a:bodyPr wrap="square" lIns="0" rIns="0" tIns="0" bIns="0" anchor="t">
            <a:noAutofit/>
          </a:bodyPr>
          <a:lstStyle/>
          <a:p>
            <a:pPr algn="l"/>
            <a:r>
              <a:rPr sz="1100" b="0">
                <a:solidFill>
                  <a:srgbClr val="5B6670"/>
                </a:solidFill>
                <a:latin typeface="Inter"/>
              </a:rPr>
              <a:t>Orange cards: projection (model v3, base case) (Base); dates move with MRR gates and with the payment accounts.</a:t>
            </a:r>
          </a:p>
        </p:txBody>
      </p:sp>
      <p:sp>
        <p:nvSpPr>
          <p:cNvPr id="4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4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4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TEAM · HEADCOUNT 13 → 23 → 70 (FY1, FY2, FY5; MODEL V3)</a:t>
            </a:r>
          </a:p>
        </p:txBody>
      </p:sp>
      <p:sp>
        <p:nvSpPr>
          <p:cNvPr id="3" name="hdr14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The team, and who the seed hires</a:t>
            </a:r>
          </a:p>
        </p:txBody>
      </p:sp>
      <p:sp>
        <p:nvSpPr>
          <p:cNvPr id="4" name="ppl150|card|"/>
          <p:cNvSpPr/>
          <p:nvPr/>
        </p:nvSpPr>
        <p:spPr>
          <a:xfrm>
            <a:off x="548640" y="1481328"/>
            <a:ext cx="3511296" cy="1554480"/>
          </a:xfrm>
          <a:prstGeom prst="roundRect">
            <a:avLst>
              <a:gd name="adj" fmla="val 1058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pl150|deco|"/>
          <p:cNvSpPr/>
          <p:nvPr/>
        </p:nvSpPr>
        <p:spPr>
          <a:xfrm>
            <a:off x="822959" y="1682496"/>
            <a:ext cx="804672" cy="804672"/>
          </a:xfrm>
          <a:prstGeom prst="ellipse">
            <a:avLst/>
          </a:prstGeom>
          <a:solidFill>
            <a:srgbClr val="FFFFFF"/>
          </a:solidFill>
          <a:ln w="15875">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pl150|icon|users_deep.png" descr="users_deep"/>
          <p:cNvPicPr>
            <a:picLocks noChangeAspect="1"/>
          </p:cNvPicPr>
          <p:nvPr/>
        </p:nvPicPr>
        <p:blipFill>
          <a:blip r:embed="rId2"/>
          <a:srcRect/>
          <a:stretch>
            <a:fillRect/>
          </a:stretch>
        </p:blipFill>
        <p:spPr>
          <a:xfrm>
            <a:off x="1024127" y="1883663"/>
            <a:ext cx="402336" cy="402336"/>
          </a:xfrm>
          <a:prstGeom prst="rect">
            <a:avLst/>
          </a:prstGeom>
        </p:spPr>
      </p:pic>
      <p:sp>
        <p:nvSpPr>
          <p:cNvPr id="7" name="ppl150|placeholder|"/>
          <p:cNvSpPr txBox="1"/>
          <p:nvPr/>
        </p:nvSpPr>
        <p:spPr>
          <a:xfrm>
            <a:off x="1783080" y="1627632"/>
            <a:ext cx="2048255" cy="822960"/>
          </a:xfrm>
          <a:prstGeom prst="rect">
            <a:avLst/>
          </a:prstGeom>
          <a:noFill/>
        </p:spPr>
        <p:txBody>
          <a:bodyPr wrap="square" lIns="0" rIns="0" tIns="0" bIns="0" anchor="t">
            <a:noAutofit/>
          </a:bodyPr>
          <a:lstStyle/>
          <a:p>
            <a:pPr algn="l"/>
            <a:r>
              <a:rPr sz="1600" b="1">
                <a:solidFill>
                  <a:srgbClr val="20242B"/>
                </a:solidFill>
                <a:latin typeface="Poppins"/>
              </a:rPr>
              <a:t>[[FOUNDER NAME, TITLE, BIO]]</a:t>
            </a:r>
          </a:p>
        </p:txBody>
      </p:sp>
      <p:sp>
        <p:nvSpPr>
          <p:cNvPr id="8" name="ppl150|card|"/>
          <p:cNvSpPr txBox="1"/>
          <p:nvPr/>
        </p:nvSpPr>
        <p:spPr>
          <a:xfrm>
            <a:off x="1783080" y="2487168"/>
            <a:ext cx="2048255" cy="457200"/>
          </a:xfrm>
          <a:prstGeom prst="rect">
            <a:avLst/>
          </a:prstGeom>
          <a:noFill/>
        </p:spPr>
        <p:txBody>
          <a:bodyPr wrap="square" lIns="0" rIns="0" tIns="0" bIns="0" anchor="t">
            <a:noAutofit/>
          </a:bodyPr>
          <a:lstStyle/>
          <a:p>
            <a:pPr algn="l"/>
            <a:r>
              <a:rPr sz="1400" b="0">
                <a:solidFill>
                  <a:srgbClr val="5B6670"/>
                </a:solidFill>
                <a:latin typeface="Inter"/>
              </a:rPr>
              <a:t>Model role: Founder &amp; CEO</a:t>
            </a:r>
          </a:p>
        </p:txBody>
      </p:sp>
      <p:sp>
        <p:nvSpPr>
          <p:cNvPr id="9" name="ppl151|card|"/>
          <p:cNvSpPr/>
          <p:nvPr/>
        </p:nvSpPr>
        <p:spPr>
          <a:xfrm>
            <a:off x="4340199" y="1481328"/>
            <a:ext cx="3511296" cy="1554480"/>
          </a:xfrm>
          <a:prstGeom prst="roundRect">
            <a:avLst>
              <a:gd name="adj" fmla="val 1058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pl151|deco|"/>
          <p:cNvSpPr/>
          <p:nvPr/>
        </p:nvSpPr>
        <p:spPr>
          <a:xfrm>
            <a:off x="4614519" y="1682496"/>
            <a:ext cx="804672" cy="804672"/>
          </a:xfrm>
          <a:prstGeom prst="ellipse">
            <a:avLst/>
          </a:prstGeom>
          <a:solidFill>
            <a:srgbClr val="FFFFFF"/>
          </a:solidFill>
          <a:ln w="15875">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pl151|icon|users_deep.png" descr="users_deep"/>
          <p:cNvPicPr>
            <a:picLocks noChangeAspect="1"/>
          </p:cNvPicPr>
          <p:nvPr/>
        </p:nvPicPr>
        <p:blipFill>
          <a:blip r:embed="rId2"/>
          <a:srcRect/>
          <a:stretch>
            <a:fillRect/>
          </a:stretch>
        </p:blipFill>
        <p:spPr>
          <a:xfrm>
            <a:off x="4815687" y="1883663"/>
            <a:ext cx="402336" cy="402336"/>
          </a:xfrm>
          <a:prstGeom prst="rect">
            <a:avLst/>
          </a:prstGeom>
        </p:spPr>
      </p:pic>
      <p:sp>
        <p:nvSpPr>
          <p:cNvPr id="12" name="ppl151|placeholder|"/>
          <p:cNvSpPr txBox="1"/>
          <p:nvPr/>
        </p:nvSpPr>
        <p:spPr>
          <a:xfrm>
            <a:off x="5574639" y="1627632"/>
            <a:ext cx="2048255" cy="822960"/>
          </a:xfrm>
          <a:prstGeom prst="rect">
            <a:avLst/>
          </a:prstGeom>
          <a:noFill/>
        </p:spPr>
        <p:txBody>
          <a:bodyPr wrap="square" lIns="0" rIns="0" tIns="0" bIns="0" anchor="t">
            <a:noAutofit/>
          </a:bodyPr>
          <a:lstStyle/>
          <a:p>
            <a:pPr algn="l"/>
            <a:r>
              <a:rPr sz="1600" b="1">
                <a:solidFill>
                  <a:srgbClr val="20242B"/>
                </a:solidFill>
                <a:latin typeface="Poppins"/>
              </a:rPr>
              <a:t>[[CO-FOUNDER]]</a:t>
            </a:r>
          </a:p>
        </p:txBody>
      </p:sp>
      <p:sp>
        <p:nvSpPr>
          <p:cNvPr id="13" name="ppl151|card|"/>
          <p:cNvSpPr txBox="1"/>
          <p:nvPr/>
        </p:nvSpPr>
        <p:spPr>
          <a:xfrm>
            <a:off x="5574639" y="2487168"/>
            <a:ext cx="2048255" cy="457200"/>
          </a:xfrm>
          <a:prstGeom prst="rect">
            <a:avLst/>
          </a:prstGeom>
          <a:noFill/>
        </p:spPr>
        <p:txBody>
          <a:bodyPr wrap="square" lIns="0" rIns="0" tIns="0" bIns="0" anchor="t">
            <a:noAutofit/>
          </a:bodyPr>
          <a:lstStyle/>
          <a:p>
            <a:pPr algn="l"/>
            <a:r>
              <a:rPr sz="1400" b="0">
                <a:solidFill>
                  <a:srgbClr val="5B6670"/>
                </a:solidFill>
                <a:latin typeface="Inter"/>
              </a:rPr>
              <a:t>Model role: CTO / founding engineer</a:t>
            </a:r>
          </a:p>
        </p:txBody>
      </p:sp>
      <p:sp>
        <p:nvSpPr>
          <p:cNvPr id="14" name="ppl152|card|"/>
          <p:cNvSpPr/>
          <p:nvPr/>
        </p:nvSpPr>
        <p:spPr>
          <a:xfrm>
            <a:off x="8131759" y="1481328"/>
            <a:ext cx="3511296" cy="1554480"/>
          </a:xfrm>
          <a:prstGeom prst="roundRect">
            <a:avLst>
              <a:gd name="adj" fmla="val 1058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pl152|deco|"/>
          <p:cNvSpPr/>
          <p:nvPr/>
        </p:nvSpPr>
        <p:spPr>
          <a:xfrm>
            <a:off x="8406079" y="1682496"/>
            <a:ext cx="804672" cy="804672"/>
          </a:xfrm>
          <a:prstGeom prst="ellipse">
            <a:avLst/>
          </a:prstGeom>
          <a:solidFill>
            <a:srgbClr val="FFFFFF"/>
          </a:solidFill>
          <a:ln w="15875">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pl152|icon|users_deep.png" descr="users_deep"/>
          <p:cNvPicPr>
            <a:picLocks noChangeAspect="1"/>
          </p:cNvPicPr>
          <p:nvPr/>
        </p:nvPicPr>
        <p:blipFill>
          <a:blip r:embed="rId2"/>
          <a:srcRect/>
          <a:stretch>
            <a:fillRect/>
          </a:stretch>
        </p:blipFill>
        <p:spPr>
          <a:xfrm>
            <a:off x="8607247" y="1883663"/>
            <a:ext cx="402336" cy="402336"/>
          </a:xfrm>
          <a:prstGeom prst="rect">
            <a:avLst/>
          </a:prstGeom>
        </p:spPr>
      </p:pic>
      <p:sp>
        <p:nvSpPr>
          <p:cNvPr id="17" name="ppl152|placeholder|"/>
          <p:cNvSpPr txBox="1"/>
          <p:nvPr/>
        </p:nvSpPr>
        <p:spPr>
          <a:xfrm>
            <a:off x="9366199" y="1627632"/>
            <a:ext cx="2048255" cy="822960"/>
          </a:xfrm>
          <a:prstGeom prst="rect">
            <a:avLst/>
          </a:prstGeom>
          <a:noFill/>
        </p:spPr>
        <p:txBody>
          <a:bodyPr wrap="square" lIns="0" rIns="0" tIns="0" bIns="0" anchor="t">
            <a:noAutofit/>
          </a:bodyPr>
          <a:lstStyle/>
          <a:p>
            <a:pPr algn="l"/>
            <a:r>
              <a:rPr sz="1600" b="1">
                <a:solidFill>
                  <a:srgbClr val="20242B"/>
                </a:solidFill>
                <a:latin typeface="Poppins"/>
              </a:rPr>
              <a:t>[[ADVISORS]]</a:t>
            </a:r>
          </a:p>
        </p:txBody>
      </p:sp>
      <p:sp>
        <p:nvSpPr>
          <p:cNvPr id="18" name="ppl152|card|"/>
          <p:cNvSpPr txBox="1"/>
          <p:nvPr/>
        </p:nvSpPr>
        <p:spPr>
          <a:xfrm>
            <a:off x="9366199" y="2487168"/>
            <a:ext cx="2048255" cy="457200"/>
          </a:xfrm>
          <a:prstGeom prst="rect">
            <a:avLst/>
          </a:prstGeom>
          <a:noFill/>
        </p:spPr>
        <p:txBody>
          <a:bodyPr wrap="square" lIns="0" rIns="0" tIns="0" bIns="0" anchor="t">
            <a:noAutofit/>
          </a:bodyPr>
          <a:lstStyle/>
          <a:p>
            <a:pPr algn="l"/>
            <a:r>
              <a:rPr sz="1400" b="0">
                <a:solidFill>
                  <a:srgbClr val="5B6670"/>
                </a:solidFill>
                <a:latin typeface="Inter"/>
              </a:rPr>
              <a:t>Advisory board</a:t>
            </a:r>
          </a:p>
        </p:txBody>
      </p:sp>
      <p:graphicFrame>
        <p:nvGraphicFramePr>
          <p:cNvPr id="19" name="g153|table|hires"/>
          <p:cNvGraphicFramePr>
            <a:graphicFrameLocks noGrp="1"/>
          </p:cNvGraphicFramePr>
          <p:nvPr/>
        </p:nvGraphicFramePr>
        <p:xfrm>
          <a:off x="548640" y="3154680"/>
          <a:ext cx="11091672" cy="3200400"/>
        </p:xfrm>
        <a:graphic>
          <a:graphicData uri="http://schemas.openxmlformats.org/drawingml/2006/table">
            <a:tbl>
              <a:tblPr firstRow="0" bandRow="0"/>
              <a:tblGrid>
                <a:gridCol w="1828800"/>
                <a:gridCol w="6153912"/>
                <a:gridCol w="3108960"/>
              </a:tblGrid>
              <a:tr h="457200">
                <a:tc>
                  <a:txBody>
                    <a:bodyPr wrap="square"/>
                    <a:lstStyle/>
                    <a:p>
                      <a:pPr algn="l"/>
                      <a:r>
                        <a:rPr sz="1400" b="1">
                          <a:solidFill>
                            <a:srgbClr val="FFFFFF"/>
                          </a:solidFill>
                          <a:latin typeface="Poppins"/>
                        </a:rPr>
                        <a:t>Month (base)</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Key hires (MRR-gated)</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MRR gate (last month)</a:t>
                      </a:r>
                    </a:p>
                  </a:txBody>
                  <a:tcPr marL="109728" marR="109728" marT="36576" marB="36576" anchor="ctr">
                    <a:lnL w="0">
                      <a:noFill/>
                    </a:lnL>
                    <a:lnR w="0">
                      <a:noFill/>
                    </a:lnR>
                    <a:lnT w="0">
                      <a:noFill/>
                    </a:lnT>
                    <a:lnB w="0">
                      <a:noFill/>
                    </a:lnB>
                    <a:solidFill>
                      <a:srgbClr val="0F1419"/>
                    </a:solidFill>
                  </a:tcPr>
                </a:tc>
              </a:tr>
              <a:tr h="548640">
                <a:tc>
                  <a:txBody>
                    <a:bodyPr wrap="square"/>
                    <a:lstStyle/>
                    <a:p>
                      <a:pPr algn="l"/>
                      <a:r>
                        <a:rPr sz="1400" b="0">
                          <a:solidFill>
                            <a:srgbClr val="20242B"/>
                          </a:solidFill>
                          <a:latin typeface="Inter"/>
                        </a:rPr>
                        <a:t>Feb 2027</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2 senior full-stack engineers, Head of Growth, partnerships manager, customer success lead</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At seed close</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400" b="0">
                          <a:solidFill>
                            <a:srgbClr val="20242B"/>
                          </a:solidFill>
                          <a:latin typeface="Inter"/>
                        </a:rPr>
                        <a:t>Mar 2027–Jun 2027</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AI/ML engineer, performance marketer, product designer, finance &amp; compliance manager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Up to R0.15M</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400" b="0">
                          <a:solidFill>
                            <a:srgbClr val="20242B"/>
                          </a:solidFill>
                          <a:latin typeface="Inter"/>
                        </a:rPr>
                        <a:t>Aug 2028–Feb 2029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Country leads for Nigeria, Kenya and Ghana, 2 months before each launch</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Launch gates R0.9M–R1.5M</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400" b="0">
                          <a:solidFill>
                            <a:srgbClr val="20242B"/>
                          </a:solidFill>
                          <a:latin typeface="Inter"/>
                        </a:rPr>
                        <a:t>Oct 2028</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2 integrations engineers: social adapters, commerce, CRM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R1.0M</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400" b="0">
                          <a:solidFill>
                            <a:srgbClr val="20242B"/>
                          </a:solidFill>
                          <a:latin typeface="Inter"/>
                        </a:rPr>
                        <a:t>Sep 2030–Sep 2031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Head of Sales &amp; Partnerships, VP Engineering, CFO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0">
                          <a:solidFill>
                            <a:srgbClr val="20242B"/>
                          </a:solidFill>
                          <a:latin typeface="Inter"/>
                        </a:rPr>
                        <a:t>R5.0M to R8.0M</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20"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21"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154|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155|eyebrow|"/>
          <p:cNvSpPr txBox="1"/>
          <p:nvPr/>
        </p:nvSpPr>
        <p:spPr>
          <a:xfrm>
            <a:off x="548640" y="1737360"/>
            <a:ext cx="6400800" cy="274320"/>
          </a:xfrm>
          <a:prstGeom prst="rect">
            <a:avLst/>
          </a:prstGeom>
          <a:noFill/>
        </p:spPr>
        <p:txBody>
          <a:bodyPr wrap="square" lIns="0" rIns="0" tIns="0" bIns="0" anchor="t">
            <a:noAutofit/>
          </a:bodyPr>
          <a:lstStyle/>
          <a:p>
            <a:pPr algn="l"/>
            <a:r>
              <a:rPr sz="1300" b="1" spc="150">
                <a:solidFill>
                  <a:srgbClr val="FF6A00"/>
                </a:solidFill>
                <a:latin typeface="Inter"/>
              </a:rPr>
              <a:t>THANK YOU</a:t>
            </a:r>
          </a:p>
        </p:txBody>
      </p:sp>
      <p:sp>
        <p:nvSpPr>
          <p:cNvPr id="4" name="g156|title|"/>
          <p:cNvSpPr txBox="1"/>
          <p:nvPr/>
        </p:nvSpPr>
        <p:spPr>
          <a:xfrm>
            <a:off x="548640" y="2057400"/>
            <a:ext cx="6400800" cy="1417320"/>
          </a:xfrm>
          <a:prstGeom prst="rect">
            <a:avLst/>
          </a:prstGeom>
          <a:noFill/>
        </p:spPr>
        <p:txBody>
          <a:bodyPr wrap="square" lIns="0" rIns="0" tIns="0" bIns="0" anchor="t">
            <a:noAutofit/>
          </a:bodyPr>
          <a:lstStyle/>
          <a:p>
            <a:pPr algn="l"/>
            <a:r>
              <a:rPr sz="3400" b="1">
                <a:solidFill>
                  <a:srgbClr val="FFFFFF"/>
                </a:solidFill>
                <a:latin typeface="Poppins"/>
              </a:rPr>
              <a:t>Join the FluxMuse seed round</a:t>
            </a:r>
          </a:p>
        </p:txBody>
      </p:sp>
      <p:sp>
        <p:nvSpPr>
          <p:cNvPr id="5" name="g157|body|"/>
          <p:cNvSpPr txBox="1"/>
          <p:nvPr/>
        </p:nvSpPr>
        <p:spPr>
          <a:xfrm>
            <a:off x="548640" y="3611880"/>
            <a:ext cx="6400800" cy="640080"/>
          </a:xfrm>
          <a:prstGeom prst="rect">
            <a:avLst/>
          </a:prstGeom>
          <a:noFill/>
        </p:spPr>
        <p:txBody>
          <a:bodyPr wrap="square" lIns="0" rIns="0" tIns="0" bIns="0" anchor="t">
            <a:noAutofit/>
          </a:bodyPr>
          <a:lstStyle/>
          <a:p>
            <a:pPr algn="l"/>
            <a:r>
              <a:rPr sz="1800" b="0">
                <a:solidFill>
                  <a:srgbClr val="D5DADF"/>
                </a:solidFill>
                <a:latin typeface="Inter"/>
              </a:rPr>
              <a:t>R46M to reach profitability with no Series A in the base case (projection (model v3, base case)).</a:t>
            </a:r>
          </a:p>
        </p:txBody>
      </p:sp>
      <p:sp>
        <p:nvSpPr>
          <p:cNvPr id="6" name="g158|deco|"/>
          <p:cNvSpPr/>
          <p:nvPr/>
        </p:nvSpPr>
        <p:spPr>
          <a:xfrm>
            <a:off x="566927" y="4389120"/>
            <a:ext cx="512064" cy="512064"/>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158|icon|checkCircle_ink.png" descr="checkCircle_ink"/>
          <p:cNvPicPr>
            <a:picLocks noChangeAspect="1"/>
          </p:cNvPicPr>
          <p:nvPr/>
        </p:nvPicPr>
        <p:blipFill>
          <a:blip r:embed="rId3"/>
          <a:srcRect/>
          <a:stretch>
            <a:fillRect/>
          </a:stretch>
        </p:blipFill>
        <p:spPr>
          <a:xfrm>
            <a:off x="679582" y="4501774"/>
            <a:ext cx="286755" cy="286755"/>
          </a:xfrm>
          <a:prstGeom prst="rect">
            <a:avLst/>
          </a:prstGeom>
        </p:spPr>
      </p:pic>
      <p:sp>
        <p:nvSpPr>
          <p:cNvPr id="8" name="g158|body|"/>
          <p:cNvSpPr txBox="1"/>
          <p:nvPr/>
        </p:nvSpPr>
        <p:spPr>
          <a:xfrm>
            <a:off x="1280160" y="4389120"/>
            <a:ext cx="5486400" cy="512064"/>
          </a:xfrm>
          <a:prstGeom prst="rect">
            <a:avLst/>
          </a:prstGeom>
          <a:noFill/>
        </p:spPr>
        <p:txBody>
          <a:bodyPr wrap="square" lIns="0" rIns="0" tIns="0" bIns="0" anchor="ctr">
            <a:noAutofit/>
          </a:bodyPr>
          <a:lstStyle/>
          <a:p>
            <a:pPr algn="l"/>
            <a:r>
              <a:rPr sz="1700" b="0">
                <a:solidFill>
                  <a:srgbClr val="FFFFFF"/>
                </a:solidFill>
                <a:latin typeface="Inter"/>
              </a:rPr>
              <a:t>Verified Meta Tech Provider</a:t>
            </a:r>
          </a:p>
        </p:txBody>
      </p:sp>
      <p:sp>
        <p:nvSpPr>
          <p:cNvPr id="9" name="g159|deco|"/>
          <p:cNvSpPr/>
          <p:nvPr/>
        </p:nvSpPr>
        <p:spPr>
          <a:xfrm>
            <a:off x="566927" y="5010912"/>
            <a:ext cx="512064" cy="512064"/>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g159|icon|card_ink.png" descr="card_ink"/>
          <p:cNvPicPr>
            <a:picLocks noChangeAspect="1"/>
          </p:cNvPicPr>
          <p:nvPr/>
        </p:nvPicPr>
        <p:blipFill>
          <a:blip r:embed="rId4"/>
          <a:srcRect/>
          <a:stretch>
            <a:fillRect/>
          </a:stretch>
        </p:blipFill>
        <p:spPr>
          <a:xfrm>
            <a:off x="679582" y="5123566"/>
            <a:ext cx="286755" cy="286755"/>
          </a:xfrm>
          <a:prstGeom prst="rect">
            <a:avLst/>
          </a:prstGeom>
        </p:spPr>
      </p:pic>
      <p:sp>
        <p:nvSpPr>
          <p:cNvPr id="11" name="g159|body|"/>
          <p:cNvSpPr txBox="1"/>
          <p:nvPr/>
        </p:nvSpPr>
        <p:spPr>
          <a:xfrm>
            <a:off x="1280160" y="5010912"/>
            <a:ext cx="5486400" cy="512064"/>
          </a:xfrm>
          <a:prstGeom prst="rect">
            <a:avLst/>
          </a:prstGeom>
          <a:noFill/>
        </p:spPr>
        <p:txBody>
          <a:bodyPr wrap="square" lIns="0" rIns="0" tIns="0" bIns="0" anchor="ctr">
            <a:noAutofit/>
          </a:bodyPr>
          <a:lstStyle/>
          <a:p>
            <a:pPr algn="l"/>
            <a:r>
              <a:rPr sz="1700" b="0">
                <a:solidFill>
                  <a:srgbClr val="FFFFFF"/>
                </a:solidFill>
                <a:latin typeface="Inter"/>
              </a:rPr>
              <a:t>Live in South Africa · Paystack</a:t>
            </a:r>
          </a:p>
        </p:txBody>
      </p:sp>
      <p:sp>
        <p:nvSpPr>
          <p:cNvPr id="12" name="g160|deco|"/>
          <p:cNvSpPr/>
          <p:nvPr/>
        </p:nvSpPr>
        <p:spPr>
          <a:xfrm>
            <a:off x="566927" y="5632704"/>
            <a:ext cx="512064" cy="512064"/>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g160|icon|users_ink.png" descr="users_ink"/>
          <p:cNvPicPr>
            <a:picLocks noChangeAspect="1"/>
          </p:cNvPicPr>
          <p:nvPr/>
        </p:nvPicPr>
        <p:blipFill>
          <a:blip r:embed="rId5"/>
          <a:srcRect/>
          <a:stretch>
            <a:fillRect/>
          </a:stretch>
        </p:blipFill>
        <p:spPr>
          <a:xfrm>
            <a:off x="679582" y="5745358"/>
            <a:ext cx="286755" cy="286755"/>
          </a:xfrm>
          <a:prstGeom prst="rect">
            <a:avLst/>
          </a:prstGeom>
        </p:spPr>
      </p:pic>
      <p:sp>
        <p:nvSpPr>
          <p:cNvPr id="14" name="g160|body|"/>
          <p:cNvSpPr txBox="1"/>
          <p:nvPr/>
        </p:nvSpPr>
        <p:spPr>
          <a:xfrm>
            <a:off x="1280160" y="5632704"/>
            <a:ext cx="5486400" cy="512064"/>
          </a:xfrm>
          <a:prstGeom prst="rect">
            <a:avLst/>
          </a:prstGeom>
          <a:noFill/>
        </p:spPr>
        <p:txBody>
          <a:bodyPr wrap="square" lIns="0" rIns="0" tIns="0" bIns="0" anchor="ctr">
            <a:noAutofit/>
          </a:bodyPr>
          <a:lstStyle/>
          <a:p>
            <a:pPr algn="l"/>
            <a:r>
              <a:rPr sz="1700" b="0">
                <a:solidFill>
                  <a:srgbClr val="FFFFFF"/>
                </a:solidFill>
                <a:latin typeface="Inter"/>
              </a:rPr>
              <a:t>First group being set up by hand</a:t>
            </a:r>
          </a:p>
        </p:txBody>
      </p:sp>
      <p:sp>
        <p:nvSpPr>
          <p:cNvPr id="15" name="contact161|card|"/>
          <p:cNvSpPr/>
          <p:nvPr/>
        </p:nvSpPr>
        <p:spPr>
          <a:xfrm>
            <a:off x="7498079" y="2057400"/>
            <a:ext cx="4142232" cy="329184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ntact161|eyebrow|"/>
          <p:cNvSpPr txBox="1"/>
          <p:nvPr/>
        </p:nvSpPr>
        <p:spPr>
          <a:xfrm>
            <a:off x="7818120" y="2331720"/>
            <a:ext cx="3520440" cy="274320"/>
          </a:xfrm>
          <a:prstGeom prst="rect">
            <a:avLst/>
          </a:prstGeom>
          <a:noFill/>
        </p:spPr>
        <p:txBody>
          <a:bodyPr wrap="square" lIns="0" rIns="0" tIns="0" bIns="0" anchor="t">
            <a:noAutofit/>
          </a:bodyPr>
          <a:lstStyle/>
          <a:p>
            <a:pPr algn="l"/>
            <a:r>
              <a:rPr sz="1200" b="1" spc="150">
                <a:solidFill>
                  <a:srgbClr val="FF6A00"/>
                </a:solidFill>
                <a:latin typeface="Inter"/>
              </a:rPr>
              <a:t>CONTACT</a:t>
            </a:r>
          </a:p>
        </p:txBody>
      </p:sp>
      <p:sp>
        <p:nvSpPr>
          <p:cNvPr id="17" name="contact161|placeholder|"/>
          <p:cNvSpPr txBox="1"/>
          <p:nvPr/>
        </p:nvSpPr>
        <p:spPr>
          <a:xfrm>
            <a:off x="7818120" y="2697480"/>
            <a:ext cx="3520440" cy="2377440"/>
          </a:xfrm>
          <a:prstGeom prst="rect">
            <a:avLst/>
          </a:prstGeom>
          <a:noFill/>
        </p:spPr>
        <p:txBody>
          <a:bodyPr wrap="square" lIns="0" rIns="0" tIns="0" bIns="0" anchor="t">
            <a:noAutofit/>
          </a:bodyPr>
          <a:lstStyle/>
          <a:p>
            <a:pPr algn="l">
              <a:spcAft>
                <a:spcPts val="600"/>
              </a:spcAft>
            </a:pPr>
            <a:r>
              <a:rPr sz="1800" b="1">
                <a:solidFill>
                  <a:srgbClr val="FFFFFF"/>
                </a:solidFill>
                <a:latin typeface="Inter"/>
              </a:rPr>
              <a:t>Thabo Malebadi</a:t>
            </a:r>
          </a:p>
          <a:p>
            <a:pPr algn="l">
              <a:spcAft>
                <a:spcPts val="1200"/>
              </a:spcAft>
            </a:pPr>
            <a:r>
              <a:rPr sz="1800" b="0">
                <a:solidFill>
                  <a:srgbClr val="FFFFFF"/>
                </a:solidFill>
                <a:latin typeface="Inter"/>
              </a:rPr>
              <a:t>thabo@fluxmuse.com</a:t>
            </a:r>
          </a:p>
          <a:p>
            <a:pPr algn="l">
              <a:spcAft>
                <a:spcPts val="1200"/>
              </a:spcAft>
            </a:pPr>
            <a:r>
              <a:rPr sz="1800" b="0">
                <a:solidFill>
                  <a:srgbClr val="D5DADF"/>
                </a:solidFill>
                <a:latin typeface="Inter"/>
              </a:rPr>
              <a:t>[[PHONE]]</a:t>
            </a:r>
          </a:p>
          <a:p>
            <a:pPr algn="l"/>
            <a:r>
              <a:rPr sz="1800" b="0">
                <a:solidFill>
                  <a:srgbClr val="A7B0B8"/>
                </a:solidFill>
                <a:latin typeface="Inter"/>
              </a:rPr>
              <a:t>Data room: </a:t>
            </a:r>
            <a:r>
              <a:rPr sz="1800" b="1">
                <a:solidFill>
                  <a:srgbClr val="FFFFFF"/>
                </a:solidFill>
                <a:latin typeface="Inter"/>
              </a:rPr>
              <a:t>[[LINK]]</a:t>
            </a:r>
          </a:p>
        </p:txBody>
      </p:sp>
      <p:sp>
        <p:nvSpPr>
          <p:cNvPr id="1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Confidential</a:t>
            </a:r>
          </a:p>
        </p:txBody>
      </p:sp>
      <p:sp>
        <p:nvSpPr>
          <p:cNvPr id="1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g162|eyebrow|"/>
          <p:cNvSpPr txBox="1"/>
          <p:nvPr/>
        </p:nvSpPr>
        <p:spPr>
          <a:xfrm>
            <a:off x="548640" y="1097280"/>
            <a:ext cx="11094415" cy="274320"/>
          </a:xfrm>
          <a:prstGeom prst="rect">
            <a:avLst/>
          </a:prstGeom>
          <a:noFill/>
        </p:spPr>
        <p:txBody>
          <a:bodyPr wrap="square" lIns="0" rIns="0" tIns="0" bIns="0" anchor="t">
            <a:noAutofit/>
          </a:bodyPr>
          <a:lstStyle/>
          <a:p>
            <a:pPr algn="l"/>
            <a:r>
              <a:rPr sz="1200" b="1" spc="150">
                <a:solidFill>
                  <a:srgbClr val="FF6A00"/>
                </a:solidFill>
                <a:latin typeface="Inter"/>
              </a:rPr>
              <a:t>APPENDIX</a:t>
            </a:r>
          </a:p>
        </p:txBody>
      </p:sp>
      <p:sp>
        <p:nvSpPr>
          <p:cNvPr id="3" name="g163|title|"/>
          <p:cNvSpPr txBox="1"/>
          <p:nvPr/>
        </p:nvSpPr>
        <p:spPr>
          <a:xfrm>
            <a:off x="548640" y="1389888"/>
            <a:ext cx="11094415" cy="822960"/>
          </a:xfrm>
          <a:prstGeom prst="rect">
            <a:avLst/>
          </a:prstGeom>
          <a:noFill/>
        </p:spPr>
        <p:txBody>
          <a:bodyPr wrap="square" lIns="0" rIns="0" tIns="0" bIns="0" anchor="t">
            <a:noAutofit/>
          </a:bodyPr>
          <a:lstStyle/>
          <a:p>
            <a:pPr algn="l"/>
            <a:r>
              <a:rPr sz="4000" b="1">
                <a:solidFill>
                  <a:srgbClr val="FFFFFF"/>
                </a:solidFill>
                <a:latin typeface="Poppins"/>
              </a:rPr>
              <a:t>Reference slides</a:t>
            </a:r>
          </a:p>
        </p:txBody>
      </p:sp>
      <p:sp>
        <p:nvSpPr>
          <p:cNvPr id="4" name="ax164|chip|"/>
          <p:cNvSpPr/>
          <p:nvPr/>
        </p:nvSpPr>
        <p:spPr>
          <a:xfrm>
            <a:off x="548640" y="2423160"/>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x164|chip|"/>
          <p:cNvSpPr txBox="1"/>
          <p:nvPr/>
        </p:nvSpPr>
        <p:spPr>
          <a:xfrm>
            <a:off x="548640" y="2423160"/>
            <a:ext cx="868680" cy="420624"/>
          </a:xfrm>
          <a:prstGeom prst="rect">
            <a:avLst/>
          </a:prstGeom>
          <a:noFill/>
        </p:spPr>
        <p:txBody>
          <a:bodyPr wrap="square" lIns="0" rIns="0" tIns="0" bIns="0" anchor="ctr">
            <a:noAutofit/>
          </a:bodyPr>
          <a:lstStyle/>
          <a:p>
            <a:pPr algn="ctr"/>
            <a:r>
              <a:rPr sz="1500" b="1">
                <a:solidFill>
                  <a:srgbClr val="0F1419"/>
                </a:solidFill>
                <a:latin typeface="Poppins"/>
              </a:rPr>
              <a:t>A1</a:t>
            </a:r>
          </a:p>
        </p:txBody>
      </p:sp>
      <p:sp>
        <p:nvSpPr>
          <p:cNvPr id="6" name="ax164|body|"/>
          <p:cNvSpPr txBox="1"/>
          <p:nvPr/>
        </p:nvSpPr>
        <p:spPr>
          <a:xfrm>
            <a:off x="1645919" y="2423160"/>
            <a:ext cx="9144000" cy="420624"/>
          </a:xfrm>
          <a:prstGeom prst="rect">
            <a:avLst/>
          </a:prstGeom>
          <a:noFill/>
        </p:spPr>
        <p:txBody>
          <a:bodyPr wrap="square" lIns="0" rIns="0" tIns="0" bIns="0" anchor="ctr">
            <a:noAutofit/>
          </a:bodyPr>
          <a:lstStyle/>
          <a:p>
            <a:pPr algn="l"/>
            <a:r>
              <a:rPr sz="1800" b="0">
                <a:solidFill>
                  <a:srgbClr val="FFFFFF"/>
                </a:solidFill>
                <a:latin typeface="Inter"/>
              </a:rPr>
              <a:t>Key model assumptions</a:t>
            </a:r>
          </a:p>
        </p:txBody>
      </p:sp>
      <p:sp>
        <p:nvSpPr>
          <p:cNvPr id="7" name="ax165|chip|"/>
          <p:cNvSpPr/>
          <p:nvPr/>
        </p:nvSpPr>
        <p:spPr>
          <a:xfrm>
            <a:off x="548640" y="2971800"/>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x165|chip|"/>
          <p:cNvSpPr txBox="1"/>
          <p:nvPr/>
        </p:nvSpPr>
        <p:spPr>
          <a:xfrm>
            <a:off x="548640" y="2971800"/>
            <a:ext cx="868680" cy="420624"/>
          </a:xfrm>
          <a:prstGeom prst="rect">
            <a:avLst/>
          </a:prstGeom>
          <a:noFill/>
        </p:spPr>
        <p:txBody>
          <a:bodyPr wrap="square" lIns="0" rIns="0" tIns="0" bIns="0" anchor="ctr">
            <a:noAutofit/>
          </a:bodyPr>
          <a:lstStyle/>
          <a:p>
            <a:pPr algn="ctr"/>
            <a:r>
              <a:rPr sz="1500" b="1">
                <a:solidFill>
                  <a:srgbClr val="0F1419"/>
                </a:solidFill>
                <a:latin typeface="Poppins"/>
              </a:rPr>
              <a:t>A2</a:t>
            </a:r>
          </a:p>
        </p:txBody>
      </p:sp>
      <p:sp>
        <p:nvSpPr>
          <p:cNvPr id="9" name="ax165|body|"/>
          <p:cNvSpPr txBox="1"/>
          <p:nvPr/>
        </p:nvSpPr>
        <p:spPr>
          <a:xfrm>
            <a:off x="1645919" y="2971800"/>
            <a:ext cx="9144000" cy="420624"/>
          </a:xfrm>
          <a:prstGeom prst="rect">
            <a:avLst/>
          </a:prstGeom>
          <a:noFill/>
        </p:spPr>
        <p:txBody>
          <a:bodyPr wrap="square" lIns="0" rIns="0" tIns="0" bIns="0" anchor="ctr">
            <a:noAutofit/>
          </a:bodyPr>
          <a:lstStyle/>
          <a:p>
            <a:pPr algn="l"/>
            <a:r>
              <a:rPr sz="1800" b="0">
                <a:solidFill>
                  <a:srgbClr val="FFFFFF"/>
                </a:solidFill>
                <a:latin typeface="Inter"/>
              </a:rPr>
              <a:t>Paying workspaces by segment and market</a:t>
            </a:r>
          </a:p>
        </p:txBody>
      </p:sp>
      <p:sp>
        <p:nvSpPr>
          <p:cNvPr id="10" name="ax166|chip|"/>
          <p:cNvSpPr/>
          <p:nvPr/>
        </p:nvSpPr>
        <p:spPr>
          <a:xfrm>
            <a:off x="548640" y="3520439"/>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x166|chip|"/>
          <p:cNvSpPr txBox="1"/>
          <p:nvPr/>
        </p:nvSpPr>
        <p:spPr>
          <a:xfrm>
            <a:off x="548640" y="3520439"/>
            <a:ext cx="868680" cy="420624"/>
          </a:xfrm>
          <a:prstGeom prst="rect">
            <a:avLst/>
          </a:prstGeom>
          <a:noFill/>
        </p:spPr>
        <p:txBody>
          <a:bodyPr wrap="square" lIns="0" rIns="0" tIns="0" bIns="0" anchor="ctr">
            <a:noAutofit/>
          </a:bodyPr>
          <a:lstStyle/>
          <a:p>
            <a:pPr algn="ctr"/>
            <a:r>
              <a:rPr sz="1500" b="1">
                <a:solidFill>
                  <a:srgbClr val="0F1419"/>
                </a:solidFill>
                <a:latin typeface="Poppins"/>
              </a:rPr>
              <a:t>A3</a:t>
            </a:r>
          </a:p>
        </p:txBody>
      </p:sp>
      <p:sp>
        <p:nvSpPr>
          <p:cNvPr id="12" name="ax166|body|"/>
          <p:cNvSpPr txBox="1"/>
          <p:nvPr/>
        </p:nvSpPr>
        <p:spPr>
          <a:xfrm>
            <a:off x="1645919" y="3520439"/>
            <a:ext cx="9144000" cy="420624"/>
          </a:xfrm>
          <a:prstGeom prst="rect">
            <a:avLst/>
          </a:prstGeom>
          <a:noFill/>
        </p:spPr>
        <p:txBody>
          <a:bodyPr wrap="square" lIns="0" rIns="0" tIns="0" bIns="0" anchor="ctr">
            <a:noAutofit/>
          </a:bodyPr>
          <a:lstStyle/>
          <a:p>
            <a:pPr algn="l"/>
            <a:r>
              <a:rPr sz="1800" b="0">
                <a:solidFill>
                  <a:srgbClr val="FFFFFF"/>
                </a:solidFill>
                <a:latin typeface="Inter"/>
              </a:rPr>
              <a:t>Pricing: nine plans in rands; local prices, not yet on sale</a:t>
            </a:r>
          </a:p>
        </p:txBody>
      </p:sp>
      <p:sp>
        <p:nvSpPr>
          <p:cNvPr id="13" name="ax167|chip|"/>
          <p:cNvSpPr/>
          <p:nvPr/>
        </p:nvSpPr>
        <p:spPr>
          <a:xfrm>
            <a:off x="548640" y="4069079"/>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x167|chip|"/>
          <p:cNvSpPr txBox="1"/>
          <p:nvPr/>
        </p:nvSpPr>
        <p:spPr>
          <a:xfrm>
            <a:off x="548640" y="4069079"/>
            <a:ext cx="868680" cy="420624"/>
          </a:xfrm>
          <a:prstGeom prst="rect">
            <a:avLst/>
          </a:prstGeom>
          <a:noFill/>
        </p:spPr>
        <p:txBody>
          <a:bodyPr wrap="square" lIns="0" rIns="0" tIns="0" bIns="0" anchor="ctr">
            <a:noAutofit/>
          </a:bodyPr>
          <a:lstStyle/>
          <a:p>
            <a:pPr algn="ctr"/>
            <a:r>
              <a:rPr sz="1500" b="1">
                <a:solidFill>
                  <a:srgbClr val="0F1419"/>
                </a:solidFill>
                <a:latin typeface="Poppins"/>
              </a:rPr>
              <a:t>A4</a:t>
            </a:r>
          </a:p>
        </p:txBody>
      </p:sp>
      <p:sp>
        <p:nvSpPr>
          <p:cNvPr id="15" name="ax167|body|"/>
          <p:cNvSpPr txBox="1"/>
          <p:nvPr/>
        </p:nvSpPr>
        <p:spPr>
          <a:xfrm>
            <a:off x="1645919" y="4069079"/>
            <a:ext cx="9144000" cy="420624"/>
          </a:xfrm>
          <a:prstGeom prst="rect">
            <a:avLst/>
          </a:prstGeom>
          <a:noFill/>
        </p:spPr>
        <p:txBody>
          <a:bodyPr wrap="square" lIns="0" rIns="0" tIns="0" bIns="0" anchor="ctr">
            <a:noAutofit/>
          </a:bodyPr>
          <a:lstStyle/>
          <a:p>
            <a:pPr algn="l"/>
            <a:r>
              <a:rPr sz="1800" b="0">
                <a:solidFill>
                  <a:srgbClr val="FFFFFF"/>
                </a:solidFill>
                <a:latin typeface="Inter"/>
              </a:rPr>
              <a:t>Payment rails by country: live and pending</a:t>
            </a:r>
          </a:p>
        </p:txBody>
      </p:sp>
      <p:sp>
        <p:nvSpPr>
          <p:cNvPr id="16" name="ax168|chip|"/>
          <p:cNvSpPr/>
          <p:nvPr/>
        </p:nvSpPr>
        <p:spPr>
          <a:xfrm>
            <a:off x="548640" y="4617720"/>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x168|chip|"/>
          <p:cNvSpPr txBox="1"/>
          <p:nvPr/>
        </p:nvSpPr>
        <p:spPr>
          <a:xfrm>
            <a:off x="548640" y="4617720"/>
            <a:ext cx="868680" cy="420624"/>
          </a:xfrm>
          <a:prstGeom prst="rect">
            <a:avLst/>
          </a:prstGeom>
          <a:noFill/>
        </p:spPr>
        <p:txBody>
          <a:bodyPr wrap="square" lIns="0" rIns="0" tIns="0" bIns="0" anchor="ctr">
            <a:noAutofit/>
          </a:bodyPr>
          <a:lstStyle/>
          <a:p>
            <a:pPr algn="ctr"/>
            <a:r>
              <a:rPr sz="1500" b="1">
                <a:solidFill>
                  <a:srgbClr val="0F1419"/>
                </a:solidFill>
                <a:latin typeface="Poppins"/>
              </a:rPr>
              <a:t>A5</a:t>
            </a:r>
          </a:p>
        </p:txBody>
      </p:sp>
      <p:sp>
        <p:nvSpPr>
          <p:cNvPr id="18" name="ax168|body|"/>
          <p:cNvSpPr txBox="1"/>
          <p:nvPr/>
        </p:nvSpPr>
        <p:spPr>
          <a:xfrm>
            <a:off x="1645919" y="4617720"/>
            <a:ext cx="9144000" cy="420624"/>
          </a:xfrm>
          <a:prstGeom prst="rect">
            <a:avLst/>
          </a:prstGeom>
          <a:noFill/>
        </p:spPr>
        <p:txBody>
          <a:bodyPr wrap="square" lIns="0" rIns="0" tIns="0" bIns="0" anchor="ctr">
            <a:noAutofit/>
          </a:bodyPr>
          <a:lstStyle/>
          <a:p>
            <a:pPr algn="l"/>
            <a:r>
              <a:rPr sz="1800" b="0">
                <a:solidFill>
                  <a:srgbClr val="FFFFFF"/>
                </a:solidFill>
                <a:latin typeface="Inter"/>
              </a:rPr>
              <a:t>FX shock sensitivity</a:t>
            </a:r>
          </a:p>
        </p:txBody>
      </p:sp>
      <p:sp>
        <p:nvSpPr>
          <p:cNvPr id="19" name="ax169|chip|"/>
          <p:cNvSpPr/>
          <p:nvPr/>
        </p:nvSpPr>
        <p:spPr>
          <a:xfrm>
            <a:off x="548640" y="5166360"/>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x169|chip|"/>
          <p:cNvSpPr txBox="1"/>
          <p:nvPr/>
        </p:nvSpPr>
        <p:spPr>
          <a:xfrm>
            <a:off x="548640" y="5166360"/>
            <a:ext cx="868680" cy="420624"/>
          </a:xfrm>
          <a:prstGeom prst="rect">
            <a:avLst/>
          </a:prstGeom>
          <a:noFill/>
        </p:spPr>
        <p:txBody>
          <a:bodyPr wrap="square" lIns="0" rIns="0" tIns="0" bIns="0" anchor="ctr">
            <a:noAutofit/>
          </a:bodyPr>
          <a:lstStyle/>
          <a:p>
            <a:pPr algn="ctr"/>
            <a:r>
              <a:rPr sz="1500" b="1">
                <a:solidFill>
                  <a:srgbClr val="0F1419"/>
                </a:solidFill>
                <a:latin typeface="Poppins"/>
              </a:rPr>
              <a:t>A6</a:t>
            </a:r>
          </a:p>
        </p:txBody>
      </p:sp>
      <p:sp>
        <p:nvSpPr>
          <p:cNvPr id="21" name="ax169|body|"/>
          <p:cNvSpPr txBox="1"/>
          <p:nvPr/>
        </p:nvSpPr>
        <p:spPr>
          <a:xfrm>
            <a:off x="1645919" y="5166360"/>
            <a:ext cx="9144000" cy="420624"/>
          </a:xfrm>
          <a:prstGeom prst="rect">
            <a:avLst/>
          </a:prstGeom>
          <a:noFill/>
        </p:spPr>
        <p:txBody>
          <a:bodyPr wrap="square" lIns="0" rIns="0" tIns="0" bIns="0" anchor="ctr">
            <a:noAutofit/>
          </a:bodyPr>
          <a:lstStyle/>
          <a:p>
            <a:pPr algn="l"/>
            <a:r>
              <a:rPr sz="1800" b="0">
                <a:solidFill>
                  <a:srgbClr val="FFFFFF"/>
                </a:solidFill>
                <a:latin typeface="Inter"/>
              </a:rPr>
              <a:t>Founding Member discount cost</a:t>
            </a:r>
          </a:p>
        </p:txBody>
      </p:sp>
      <p:sp>
        <p:nvSpPr>
          <p:cNvPr id="22" name="ax170|chip|"/>
          <p:cNvSpPr/>
          <p:nvPr/>
        </p:nvSpPr>
        <p:spPr>
          <a:xfrm>
            <a:off x="548640" y="5715000"/>
            <a:ext cx="868680" cy="42062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x170|chip|"/>
          <p:cNvSpPr txBox="1"/>
          <p:nvPr/>
        </p:nvSpPr>
        <p:spPr>
          <a:xfrm>
            <a:off x="548640" y="5715000"/>
            <a:ext cx="868680" cy="420624"/>
          </a:xfrm>
          <a:prstGeom prst="rect">
            <a:avLst/>
          </a:prstGeom>
          <a:noFill/>
        </p:spPr>
        <p:txBody>
          <a:bodyPr wrap="square" lIns="0" rIns="0" tIns="0" bIns="0" anchor="ctr">
            <a:noAutofit/>
          </a:bodyPr>
          <a:lstStyle/>
          <a:p>
            <a:pPr algn="ctr"/>
            <a:r>
              <a:rPr sz="1500" b="1">
                <a:solidFill>
                  <a:srgbClr val="0F1419"/>
                </a:solidFill>
                <a:latin typeface="Poppins"/>
              </a:rPr>
              <a:t>A7</a:t>
            </a:r>
          </a:p>
        </p:txBody>
      </p:sp>
      <p:sp>
        <p:nvSpPr>
          <p:cNvPr id="24" name="ax170|body|"/>
          <p:cNvSpPr txBox="1"/>
          <p:nvPr/>
        </p:nvSpPr>
        <p:spPr>
          <a:xfrm>
            <a:off x="1645919" y="5715000"/>
            <a:ext cx="9144000" cy="420624"/>
          </a:xfrm>
          <a:prstGeom prst="rect">
            <a:avLst/>
          </a:prstGeom>
          <a:noFill/>
        </p:spPr>
        <p:txBody>
          <a:bodyPr wrap="square" lIns="0" rIns="0" tIns="0" bIns="0" anchor="ctr">
            <a:noAutofit/>
          </a:bodyPr>
          <a:lstStyle/>
          <a:p>
            <a:pPr algn="l"/>
            <a:r>
              <a:rPr sz="1800" b="0">
                <a:solidFill>
                  <a:srgbClr val="FFFFFF"/>
                </a:solidFill>
                <a:latin typeface="Inter"/>
              </a:rPr>
              <a:t>Founder confirmations (internal: hide before sending)</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Confidential</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7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KEY ASSUMPTIONS (1 OF 3) · MODEL V3</a:t>
            </a:r>
          </a:p>
        </p:txBody>
      </p:sp>
      <p:sp>
        <p:nvSpPr>
          <p:cNvPr id="3" name="hdr17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Key model assumptions</a:t>
            </a:r>
          </a:p>
        </p:txBody>
      </p:sp>
      <p:graphicFrame>
        <p:nvGraphicFramePr>
          <p:cNvPr id="4" name="g172|table|assumptions"/>
          <p:cNvGraphicFramePr>
            <a:graphicFrameLocks noGrp="1"/>
          </p:cNvGraphicFramePr>
          <p:nvPr/>
        </p:nvGraphicFramePr>
        <p:xfrm>
          <a:off x="548640" y="1481328"/>
          <a:ext cx="11091672" cy="4261104"/>
        </p:xfrm>
        <a:graphic>
          <a:graphicData uri="http://schemas.openxmlformats.org/drawingml/2006/table">
            <a:tbl>
              <a:tblPr firstRow="0" bandRow="0"/>
              <a:tblGrid>
                <a:gridCol w="1737360"/>
                <a:gridCol w="9354312"/>
              </a:tblGrid>
              <a:tr h="329184">
                <a:tc>
                  <a:txBody>
                    <a:bodyPr wrap="square"/>
                    <a:lstStyle/>
                    <a:p>
                      <a:pPr algn="l"/>
                      <a:r>
                        <a:rPr sz="1200" b="1">
                          <a:solidFill>
                            <a:srgbClr val="FFFFFF"/>
                          </a:solidFill>
                          <a:latin typeface="Poppins"/>
                        </a:rPr>
                        <a:t>Topic</a:t>
                      </a:r>
                    </a:p>
                  </a:txBody>
                  <a:tcPr marL="109728" marR="109728" marT="36576" marB="36576" anchor="ctr">
                    <a:lnL w="0">
                      <a:noFill/>
                    </a:lnL>
                    <a:lnR w="0">
                      <a:noFill/>
                    </a:lnR>
                    <a:lnT w="0">
                      <a:noFill/>
                    </a:lnT>
                    <a:lnB w="0">
                      <a:noFill/>
                    </a:lnB>
                    <a:solidFill>
                      <a:srgbClr val="0F1419"/>
                    </a:solidFill>
                  </a:tcPr>
                </a:tc>
                <a:tc>
                  <a:txBody>
                    <a:bodyPr wrap="square"/>
                    <a:lstStyle/>
                    <a:p>
                      <a:pPr algn="l"/>
                      <a:r>
                        <a:rPr sz="1200" b="1">
                          <a:solidFill>
                            <a:srgbClr val="FFFFFF"/>
                          </a:solidFill>
                          <a:latin typeface="Poppins"/>
                        </a:rPr>
                        <a:t>Assumption (model_summary.json → key_assumptions)</a:t>
                      </a:r>
                    </a:p>
                  </a:txBody>
                  <a:tcPr marL="109728" marR="109728" marT="36576" marB="36576" anchor="ctr">
                    <a:lnL w="0">
                      <a:noFill/>
                    </a:lnL>
                    <a:lnR w="0">
                      <a:noFill/>
                    </a:lnR>
                    <a:lnT w="0">
                      <a:noFill/>
                    </a:lnT>
                    <a:lnB w="0">
                      <a:noFill/>
                    </a:lnB>
                    <a:solidFill>
                      <a:srgbClr val="0F1419"/>
                    </a:solidFill>
                  </a:tcPr>
                </a:tc>
              </a:tr>
              <a:tr h="713232">
                <a:tc>
                  <a:txBody>
                    <a:bodyPr wrap="square"/>
                    <a:lstStyle/>
                    <a:p>
                      <a:pPr algn="l"/>
                      <a:r>
                        <a:rPr sz="1200" b="1">
                          <a:solidFill>
                            <a:srgbClr val="20242B"/>
                          </a:solidFill>
                          <a:latin typeface="Inter"/>
                        </a:rPr>
                        <a:t>Timing &amp; cash</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Month 1 = Oct 2026. Opening cash R500,000 [[CONFIRM]]. Lean pre-seed mode until the R46M seed lands in Feb 2027: two founders on reduced salaries, lean hosting and overheads, the first-group set-up cost; no paid marketing or hires.</a:t>
                      </a:r>
                    </a:p>
                  </a:txBody>
                  <a:tcPr marL="109728" marR="109728" marT="36576" marB="36576" anchor="ctr">
                    <a:lnL w="0">
                      <a:noFill/>
                    </a:lnL>
                    <a:lnR w="0">
                      <a:noFill/>
                    </a:lnR>
                    <a:lnT w="0">
                      <a:noFill/>
                    </a:lnT>
                    <a:lnB w="12700">
                      <a:solidFill>
                        <a:srgbClr val="E3E6EA"/>
                      </a:solidFill>
                    </a:lnB>
                    <a:solidFill>
                      <a:srgbClr val="FFFFFF"/>
                    </a:solidFill>
                  </a:tcPr>
                </a:tc>
              </a:tr>
              <a:tr h="713232">
                <a:tc>
                  <a:txBody>
                    <a:bodyPr wrap="square"/>
                    <a:lstStyle/>
                    <a:p>
                      <a:pPr algn="l"/>
                      <a:r>
                        <a:rPr sz="1200" b="1">
                          <a:solidFill>
                            <a:srgbClr val="20242B"/>
                          </a:solidFill>
                          <a:latin typeface="Inter"/>
                        </a:rPr>
                        <a:t>First group</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No trials and no pilot. South Africa sells from Oct 2026. A first group of 4 paying businesses a month is set up by hand from Oct 2026 to Jan 2027 (50% Solo, the rest SMEs) [[CONFIRM]].</a:t>
                      </a:r>
                    </a:p>
                  </a:txBody>
                  <a:tcPr marL="109728" marR="109728" marT="36576" marB="36576" anchor="ctr">
                    <a:lnL w="0">
                      <a:noFill/>
                    </a:lnL>
                    <a:lnR w="0">
                      <a:noFill/>
                    </a:lnR>
                    <a:lnT w="0">
                      <a:noFill/>
                    </a:lnT>
                    <a:lnB w="12700">
                      <a:solidFill>
                        <a:srgbClr val="E3E6EA"/>
                      </a:solidFill>
                    </a:lnB>
                    <a:solidFill>
                      <a:srgbClr val="FFFFFF"/>
                    </a:solidFill>
                  </a:tcPr>
                </a:tc>
              </a:tr>
              <a:tr h="713232">
                <a:tc>
                  <a:txBody>
                    <a:bodyPr wrap="square"/>
                    <a:lstStyle/>
                    <a:p>
                      <a:pPr algn="l"/>
                      <a:r>
                        <a:rPr sz="1200" b="1">
                          <a:solidFill>
                            <a:srgbClr val="20242B"/>
                          </a:solidFill>
                          <a:latin typeface="Inter"/>
                        </a:rPr>
                        <a:t>Sign-ups &amp; Free plan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Self-serve sign-ups (Free + paid): South Africa 150 in Oct 2026 [[CONFIRM]], growing 12% a month in FY1 (Base). 5% of Solo and 8% of SME sign-ups pay at once [[CONFIRM]]; the rest join Free. Active Free users upgrade at 0.5% a month and go dormant at 10% a month [[CONFIRM]].</a:t>
                      </a:r>
                    </a:p>
                  </a:txBody>
                  <a:tcPr marL="109728" marR="109728" marT="36576" marB="36576" anchor="ctr">
                    <a:lnL w="0">
                      <a:noFill/>
                    </a:lnL>
                    <a:lnR w="0">
                      <a:noFill/>
                    </a:lnR>
                    <a:lnT w="0">
                      <a:noFill/>
                    </a:lnT>
                    <a:lnB w="12700">
                      <a:solidFill>
                        <a:srgbClr val="E3E6EA"/>
                      </a:solidFill>
                    </a:lnB>
                    <a:solidFill>
                      <a:srgbClr val="FFFFFF"/>
                    </a:solidFill>
                  </a:tcPr>
                </a:tc>
              </a:tr>
              <a:tr h="896112">
                <a:tc>
                  <a:txBody>
                    <a:bodyPr wrap="square"/>
                    <a:lstStyle/>
                    <a:p>
                      <a:pPr algn="l"/>
                      <a:r>
                        <a:rPr sz="1200" b="1">
                          <a:solidFill>
                            <a:srgbClr val="20242B"/>
                          </a:solidFill>
                          <a:latin typeface="Inter"/>
                        </a:rPr>
                        <a:t>Founding Member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Founding Member: 30% off the first 2 monthly bills for South African Solo and SME sign-ups, live from Oct 2026; proposed end Mar 2027 [[CONFIRM]]. Not modelled on Agency, Corporate, Custom or annual plans. +20% paying sign-ups while it runs [[CONFIRM]]. No NG/KE/GH launch windows.</a:t>
                      </a:r>
                    </a:p>
                  </a:txBody>
                  <a:tcPr marL="109728" marR="109728" marT="36576" marB="36576" anchor="ctr">
                    <a:lnL w="0">
                      <a:noFill/>
                    </a:lnL>
                    <a:lnR w="0">
                      <a:noFill/>
                    </a:lnR>
                    <a:lnT w="0">
                      <a:noFill/>
                    </a:lnT>
                    <a:lnB w="12700">
                      <a:solidFill>
                        <a:srgbClr val="E3E6EA"/>
                      </a:solidFill>
                    </a:lnB>
                    <a:solidFill>
                      <a:srgbClr val="FFFFFF"/>
                    </a:solidFill>
                  </a:tcPr>
                </a:tc>
              </a:tr>
              <a:tr h="896112">
                <a:tc>
                  <a:txBody>
                    <a:bodyPr wrap="square"/>
                    <a:lstStyle/>
                    <a:p>
                      <a:pPr algn="l"/>
                      <a:r>
                        <a:rPr sz="1200" b="1">
                          <a:solidFill>
                            <a:srgbClr val="20242B"/>
                          </a:solidFill>
                          <a:latin typeface="Inter"/>
                        </a:rPr>
                        <a:t>Pricing</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Pricing (ZAR / month): Free R0, Nano R149, Micro R289, Starter R499, Growth R1,999, Scale R4,999, Corporate R6,999, Agency R9,999, Custom from R19,999 [[CONFIRM]]. NG/KE/GH/USD use the live tier_regional_prices at FX parity. Annual = 10x monthly, 25% of subscriptions on annual billing; +6% list escalator each October. No VAT (not VAT-registered).</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7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KEY ASSUMPTIONS (2 OF 3) · MODEL V3</a:t>
            </a:r>
          </a:p>
        </p:txBody>
      </p:sp>
      <p:sp>
        <p:nvSpPr>
          <p:cNvPr id="3" name="hdr17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Key model assumptions</a:t>
            </a:r>
          </a:p>
        </p:txBody>
      </p:sp>
      <p:graphicFrame>
        <p:nvGraphicFramePr>
          <p:cNvPr id="4" name="g174|table|assumptions"/>
          <p:cNvGraphicFramePr>
            <a:graphicFrameLocks noGrp="1"/>
          </p:cNvGraphicFramePr>
          <p:nvPr/>
        </p:nvGraphicFramePr>
        <p:xfrm>
          <a:off x="548640" y="1481328"/>
          <a:ext cx="11091672" cy="4626864"/>
        </p:xfrm>
        <a:graphic>
          <a:graphicData uri="http://schemas.openxmlformats.org/drawingml/2006/table">
            <a:tbl>
              <a:tblPr firstRow="0" bandRow="0"/>
              <a:tblGrid>
                <a:gridCol w="1737360"/>
                <a:gridCol w="9354312"/>
              </a:tblGrid>
              <a:tr h="329184">
                <a:tc>
                  <a:txBody>
                    <a:bodyPr wrap="square"/>
                    <a:lstStyle/>
                    <a:p>
                      <a:pPr algn="l"/>
                      <a:r>
                        <a:rPr sz="1200" b="1">
                          <a:solidFill>
                            <a:srgbClr val="FFFFFF"/>
                          </a:solidFill>
                          <a:latin typeface="Poppins"/>
                        </a:rPr>
                        <a:t>Topic</a:t>
                      </a:r>
                    </a:p>
                  </a:txBody>
                  <a:tcPr marL="109728" marR="109728" marT="36576" marB="36576" anchor="ctr">
                    <a:lnL w="0">
                      <a:noFill/>
                    </a:lnL>
                    <a:lnR w="0">
                      <a:noFill/>
                    </a:lnR>
                    <a:lnT w="0">
                      <a:noFill/>
                    </a:lnT>
                    <a:lnB w="0">
                      <a:noFill/>
                    </a:lnB>
                    <a:solidFill>
                      <a:srgbClr val="0F1419"/>
                    </a:solidFill>
                  </a:tcPr>
                </a:tc>
                <a:tc>
                  <a:txBody>
                    <a:bodyPr wrap="square"/>
                    <a:lstStyle/>
                    <a:p>
                      <a:pPr algn="l"/>
                      <a:r>
                        <a:rPr sz="1200" b="1">
                          <a:solidFill>
                            <a:srgbClr val="FFFFFF"/>
                          </a:solidFill>
                          <a:latin typeface="Poppins"/>
                        </a:rPr>
                        <a:t>Assumption (model_summary.json → key_assumptions)</a:t>
                      </a:r>
                    </a:p>
                  </a:txBody>
                  <a:tcPr marL="109728" marR="109728" marT="36576" marB="36576" anchor="ctr">
                    <a:lnL w="0">
                      <a:noFill/>
                    </a:lnL>
                    <a:lnR w="0">
                      <a:noFill/>
                    </a:lnR>
                    <a:lnT w="0">
                      <a:noFill/>
                    </a:lnT>
                    <a:lnB w="0">
                      <a:noFill/>
                    </a:lnB>
                    <a:solidFill>
                      <a:srgbClr val="0F1419"/>
                    </a:solidFill>
                  </a:tcPr>
                </a:tc>
              </a:tr>
              <a:tr h="713232">
                <a:tc>
                  <a:txBody>
                    <a:bodyPr wrap="square"/>
                    <a:lstStyle/>
                    <a:p>
                      <a:pPr algn="l"/>
                      <a:r>
                        <a:rPr sz="1200" b="1">
                          <a:solidFill>
                            <a:srgbClr val="20242B"/>
                          </a:solidFill>
                          <a:latin typeface="Inter"/>
                        </a:rPr>
                        <a:t>Partner wholesale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Partner wholesale: agency-segment customers (100%) pay R6,999 a month (Agency list -30%); local wholesale at the Corporate local price points [[CONFIRM]]. Partner referral commission undecided and not modelled.</a:t>
                      </a:r>
                    </a:p>
                  </a:txBody>
                  <a:tcPr marL="109728" marR="109728" marT="36576" marB="36576" anchor="ctr">
                    <a:lnL w="0">
                      <a:noFill/>
                    </a:lnL>
                    <a:lnR w="0">
                      <a:noFill/>
                    </a:lnR>
                    <a:lnT w="0">
                      <a:noFill/>
                    </a:lnT>
                    <a:lnB w="12700">
                      <a:solidFill>
                        <a:srgbClr val="E3E6EA"/>
                      </a:solidFill>
                    </a:lnB>
                    <a:solidFill>
                      <a:srgbClr val="FFFFFF"/>
                    </a:solidFill>
                  </a:tcPr>
                </a:tc>
              </a:tr>
              <a:tr h="1078992">
                <a:tc>
                  <a:txBody>
                    <a:bodyPr wrap="square"/>
                    <a:lstStyle/>
                    <a:p>
                      <a:pPr algn="l"/>
                      <a:r>
                        <a:rPr sz="1200" b="1">
                          <a:solidFill>
                            <a:srgbClr val="20242B"/>
                          </a:solidFill>
                          <a:latin typeface="Inter"/>
                        </a:rPr>
                        <a:t>Segments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Segment tier mix: Solo 45% Nano / 40% Micro / 15% Starter; SMEs 40% Starter / 50% Growth / 10% Scale. Upgrades a month: Nano-&gt;Micro 1.5%, Micro-&gt;Starter 0.8%, Starter-&gt;Growth 1.0%, Growth-&gt;Scale 0.6% [[CONFIRM]]. Agencies: 0.5 inbound a month in SA plus 1.5 per partnerships manager; 0.4 per NG/KE/GH country lead. Corporate inbound 1/3/6/9/12 deals a year; Custom 0/1/2/3/4 [[CONFIRM]].</a:t>
                      </a:r>
                    </a:p>
                  </a:txBody>
                  <a:tcPr marL="109728" marR="109728" marT="36576" marB="36576" anchor="ctr">
                    <a:lnL w="0">
                      <a:noFill/>
                    </a:lnL>
                    <a:lnR w="0">
                      <a:noFill/>
                    </a:lnR>
                    <a:lnT w="0">
                      <a:noFill/>
                    </a:lnT>
                    <a:lnB w="12700">
                      <a:solidFill>
                        <a:srgbClr val="E3E6EA"/>
                      </a:solidFill>
                    </a:lnB>
                    <a:solidFill>
                      <a:srgbClr val="FFFFFF"/>
                    </a:solidFill>
                  </a:tcPr>
                </a:tc>
              </a:tr>
              <a:tr h="713232">
                <a:tc>
                  <a:txBody>
                    <a:bodyPr wrap="square"/>
                    <a:lstStyle/>
                    <a:p>
                      <a:pPr algn="l"/>
                      <a:r>
                        <a:rPr sz="1200" b="1">
                          <a:solidFill>
                            <a:srgbClr val="20242B"/>
                          </a:solidFill>
                          <a:latin typeface="Inter"/>
                        </a:rPr>
                        <a:t>Churn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Monthly churn: Nano 8.0%, Micro 7.0%, Solo Starter 6.0%, SME Starter 4.5%, SME Growth 3.0%, SME Scale 2.2%, Agency 2.0%, Corporate 1.5%, Custom 1.0% (Base; NG/KE/GH/Rest churn indices 1.05-1.25x).</a:t>
                      </a:r>
                    </a:p>
                  </a:txBody>
                  <a:tcPr marL="109728" marR="109728" marT="36576" marB="36576" anchor="ctr">
                    <a:lnL w="0">
                      <a:noFill/>
                    </a:lnL>
                    <a:lnR w="0">
                      <a:noFill/>
                    </a:lnR>
                    <a:lnT w="0">
                      <a:noFill/>
                    </a:lnT>
                    <a:lnB w="12700">
                      <a:solidFill>
                        <a:srgbClr val="E3E6EA"/>
                      </a:solidFill>
                    </a:lnB>
                    <a:solidFill>
                      <a:srgbClr val="FFFFFF"/>
                    </a:solidFill>
                  </a:tcPr>
                </a:tc>
              </a:tr>
              <a:tr h="896112">
                <a:tc>
                  <a:txBody>
                    <a:bodyPr wrap="square"/>
                    <a:lstStyle/>
                    <a:p>
                      <a:pPr algn="l"/>
                      <a:r>
                        <a:rPr sz="1200" b="1">
                          <a:solidFill>
                            <a:srgbClr val="20242B"/>
                          </a:solidFill>
                          <a:latin typeface="Inter"/>
                        </a:rPr>
                        <a:t>Markets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Markets: South Africa only until NG/KE/GH checkout is live (Fincra/pawaPay pending). Planned earliest launches Nigeria Apr 2028, Kenya Jul 2028, Ghana Oct 2028, Rest of Africa (USD) May 2029 [[CONFIRM]], each also behind an MRR gate (R0.9M / R1.2M / R1.5M / R2.5M x scenario gate multiplier). Botswana &amp; Namibia off; gated countries zero.</a:t>
                      </a:r>
                    </a:p>
                  </a:txBody>
                  <a:tcPr marL="109728" marR="109728" marT="36576" marB="36576" anchor="ctr">
                    <a:lnL w="0">
                      <a:noFill/>
                    </a:lnL>
                    <a:lnR w="0">
                      <a:noFill/>
                    </a:lnR>
                    <a:lnT w="0">
                      <a:noFill/>
                    </a:lnT>
                    <a:lnB w="12700">
                      <a:solidFill>
                        <a:srgbClr val="E3E6EA"/>
                      </a:solidFill>
                    </a:lnB>
                    <a:solidFill>
                      <a:srgbClr val="FFFFFF"/>
                    </a:solidFill>
                  </a:tcPr>
                </a:tc>
              </a:tr>
              <a:tr h="896112">
                <a:tc>
                  <a:txBody>
                    <a:bodyPr wrap="square"/>
                    <a:lstStyle/>
                    <a:p>
                      <a:pPr algn="l"/>
                      <a:r>
                        <a:rPr sz="1200" b="1">
                          <a:solidFill>
                            <a:srgbClr val="20242B"/>
                          </a:solidFill>
                          <a:latin typeface="Inter"/>
                        </a:rPr>
                        <a:t>Cost discipline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Cost discipline: every non-founder hire waits for its earliest month, the seed, and an MRR gate x scenario multiplier (Conservative 1.4x, Base 1.0x, Upside 0.8x); paid acquisition = MIN(desired, R40,000 + 35% of last month's MRR in Base) and off where CAC payback &gt; 12 months. Paid CAC Solo R1,500 [[CONFIRM]], SME R6,500.</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7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KEY ASSUMPTIONS (3 OF 3) · MODEL V3</a:t>
            </a:r>
          </a:p>
        </p:txBody>
      </p:sp>
      <p:sp>
        <p:nvSpPr>
          <p:cNvPr id="3" name="hdr17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Key model assumptions</a:t>
            </a:r>
          </a:p>
        </p:txBody>
      </p:sp>
      <p:graphicFrame>
        <p:nvGraphicFramePr>
          <p:cNvPr id="4" name="g176|table|assumptions"/>
          <p:cNvGraphicFramePr>
            <a:graphicFrameLocks noGrp="1"/>
          </p:cNvGraphicFramePr>
          <p:nvPr/>
        </p:nvGraphicFramePr>
        <p:xfrm>
          <a:off x="548640" y="1481328"/>
          <a:ext cx="11091672" cy="2834640"/>
        </p:xfrm>
        <a:graphic>
          <a:graphicData uri="http://schemas.openxmlformats.org/drawingml/2006/table">
            <a:tbl>
              <a:tblPr firstRow="0" bandRow="0"/>
              <a:tblGrid>
                <a:gridCol w="1737360"/>
                <a:gridCol w="9354312"/>
              </a:tblGrid>
              <a:tr h="329184">
                <a:tc>
                  <a:txBody>
                    <a:bodyPr wrap="square"/>
                    <a:lstStyle/>
                    <a:p>
                      <a:pPr algn="l"/>
                      <a:r>
                        <a:rPr sz="1200" b="1">
                          <a:solidFill>
                            <a:srgbClr val="FFFFFF"/>
                          </a:solidFill>
                          <a:latin typeface="Poppins"/>
                        </a:rPr>
                        <a:t>Topic</a:t>
                      </a:r>
                    </a:p>
                  </a:txBody>
                  <a:tcPr marL="109728" marR="109728" marT="36576" marB="36576" anchor="ctr">
                    <a:lnL w="0">
                      <a:noFill/>
                    </a:lnL>
                    <a:lnR w="0">
                      <a:noFill/>
                    </a:lnR>
                    <a:lnT w="0">
                      <a:noFill/>
                    </a:lnT>
                    <a:lnB w="0">
                      <a:noFill/>
                    </a:lnB>
                    <a:solidFill>
                      <a:srgbClr val="0F1419"/>
                    </a:solidFill>
                  </a:tcPr>
                </a:tc>
                <a:tc>
                  <a:txBody>
                    <a:bodyPr wrap="square"/>
                    <a:lstStyle/>
                    <a:p>
                      <a:pPr algn="l"/>
                      <a:r>
                        <a:rPr sz="1200" b="1">
                          <a:solidFill>
                            <a:srgbClr val="FFFFFF"/>
                          </a:solidFill>
                          <a:latin typeface="Poppins"/>
                        </a:rPr>
                        <a:t>Assumption (model_summary.json → key_assumptions)</a:t>
                      </a:r>
                    </a:p>
                  </a:txBody>
                  <a:tcPr marL="109728" marR="109728" marT="36576" marB="36576" anchor="ctr">
                    <a:lnL w="0">
                      <a:noFill/>
                    </a:lnL>
                    <a:lnR w="0">
                      <a:noFill/>
                    </a:lnR>
                    <a:lnT w="0">
                      <a:noFill/>
                    </a:lnT>
                    <a:lnB w="0">
                      <a:noFill/>
                    </a:lnB>
                    <a:solidFill>
                      <a:srgbClr val="0F1419"/>
                    </a:solidFill>
                  </a:tcPr>
                </a:tc>
              </a:tr>
              <a:tr h="896112">
                <a:tc>
                  <a:txBody>
                    <a:bodyPr wrap="square"/>
                    <a:lstStyle/>
                    <a:p>
                      <a:pPr algn="l"/>
                      <a:r>
                        <a:rPr sz="1200" b="1">
                          <a:solidFill>
                            <a:srgbClr val="20242B"/>
                          </a:solidFill>
                          <a:latin typeface="Inter"/>
                        </a:rPr>
                        <a:t>Other revenue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Other revenue: AI-credit packs (R300 for 1,000 credits, 5% of metered workspaces a month [[CONFIRM]]), WhatsApp messages resold at Meta cost +25%, R25,000 Custom setup fee [[CONFIRM]]. No agency setup fee. No FluxMuse checkout fee: Paystack fees pass through to the merchant (0% in every scenario). Campaign Financing excluded.</a:t>
                      </a:r>
                    </a:p>
                  </a:txBody>
                  <a:tcPr marL="109728" marR="109728" marT="36576" marB="36576" anchor="ctr">
                    <a:lnL w="0">
                      <a:noFill/>
                    </a:lnL>
                    <a:lnR w="0">
                      <a:noFill/>
                    </a:lnR>
                    <a:lnT w="0">
                      <a:noFill/>
                    </a:lnT>
                    <a:lnB w="12700">
                      <a:solidFill>
                        <a:srgbClr val="E3E6EA"/>
                      </a:solidFill>
                    </a:lnB>
                    <a:solidFill>
                      <a:srgbClr val="FFFFFF"/>
                    </a:solidFill>
                  </a:tcPr>
                </a:tc>
              </a:tr>
              <a:tr h="1078992">
                <a:tc>
                  <a:txBody>
                    <a:bodyPr wrap="square"/>
                    <a:lstStyle/>
                    <a:p>
                      <a:pPr algn="l"/>
                      <a:r>
                        <a:rPr sz="1200" b="1">
                          <a:solidFill>
                            <a:srgbClr val="20242B"/>
                          </a:solidFill>
                          <a:latin typeface="Inter"/>
                        </a:rPr>
                        <a:t>COGS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COGS: AI at R0.15 of provider cost per credit (ai-credit-math.ts and platform_billing_config), falling 10% a year, 40% utilisation of the live allowances; Corporate, Agency and Custom use their own AI keys. Free users cost 60 credits a month at 40% use plus R3 hosting. Hosting R30k/month + R35 per workspace after the seed, 3.0% processing + 1.5% mobile-money/FX on non-SA revenue, R50 per workspace support, customer success team in COGS.</a:t>
                      </a:r>
                    </a:p>
                  </a:txBody>
                  <a:tcPr marL="109728" marR="109728" marT="36576" marB="36576" anchor="ctr">
                    <a:lnL w="0">
                      <a:noFill/>
                    </a:lnL>
                    <a:lnR w="0">
                      <a:noFill/>
                    </a:lnR>
                    <a:lnT w="0">
                      <a:noFill/>
                    </a:lnT>
                    <a:lnB w="12700">
                      <a:solidFill>
                        <a:srgbClr val="E3E6EA"/>
                      </a:solidFill>
                    </a:lnB>
                    <a:solidFill>
                      <a:srgbClr val="FFFFFF"/>
                    </a:solidFill>
                  </a:tcPr>
                </a:tc>
              </a:tr>
              <a:tr h="530352">
                <a:tc>
                  <a:txBody>
                    <a:bodyPr wrap="square"/>
                    <a:lstStyle/>
                    <a:p>
                      <a:pPr algn="l"/>
                      <a:r>
                        <a:rPr sz="1200" b="1">
                          <a:solidFill>
                            <a:srgbClr val="20242B"/>
                          </a:solidFill>
                          <a:latin typeface="Inter"/>
                        </a:rPr>
                        <a:t>Funding &amp; tax</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Funding &amp; tax: R46M seed only; Series A input kept at R0. Tax 27% only once cumulative EBITDA is positive; D&amp;A, interest and VAT ignored (not VAT-registered).</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7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PROJECTION (MODEL V3, BASE CASE)</a:t>
            </a:r>
          </a:p>
        </p:txBody>
      </p:sp>
      <p:sp>
        <p:nvSpPr>
          <p:cNvPr id="3" name="hdr17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Paying workspaces by segment and market</a:t>
            </a:r>
          </a:p>
        </p:txBody>
      </p:sp>
      <p:pic>
        <p:nvPicPr>
          <p:cNvPr id="4" name="g178|img|charts/customers_by_segment_16x9.png" descr="Paying workspaces by segment FY1 to FY5"/>
          <p:cNvPicPr>
            <a:picLocks noChangeAspect="1"/>
          </p:cNvPicPr>
          <p:nvPr/>
        </p:nvPicPr>
        <p:blipFill>
          <a:blip r:embed="rId2"/>
          <a:srcRect t="14500" b="5000"/>
          <a:stretch>
            <a:fillRect/>
          </a:stretch>
        </p:blipFill>
        <p:spPr>
          <a:xfrm>
            <a:off x="548640" y="1600200"/>
            <a:ext cx="5440680" cy="2463607"/>
          </a:xfrm>
          <a:prstGeom prst="rect">
            <a:avLst/>
          </a:prstGeom>
        </p:spPr>
      </p:pic>
      <p:pic>
        <p:nvPicPr>
          <p:cNvPr id="5" name="g179|img|charts/customers_by_region_16x9.png" descr="Paying workspaces by market, monthly"/>
          <p:cNvPicPr>
            <a:picLocks noChangeAspect="1"/>
          </p:cNvPicPr>
          <p:nvPr/>
        </p:nvPicPr>
        <p:blipFill>
          <a:blip r:embed="rId3"/>
          <a:srcRect t="14500" b="5000"/>
          <a:stretch>
            <a:fillRect/>
          </a:stretch>
        </p:blipFill>
        <p:spPr>
          <a:xfrm>
            <a:off x="6199632" y="1600200"/>
            <a:ext cx="5440680" cy="2463607"/>
          </a:xfrm>
          <a:prstGeom prst="rect">
            <a:avLst/>
          </a:prstGeom>
        </p:spPr>
      </p:pic>
      <p:sp>
        <p:nvSpPr>
          <p:cNvPr id="6" name="g180|caption|"/>
          <p:cNvSpPr txBox="1"/>
          <p:nvPr/>
        </p:nvSpPr>
        <p:spPr>
          <a:xfrm>
            <a:off x="548640" y="4800600"/>
            <a:ext cx="5440680" cy="822960"/>
          </a:xfrm>
          <a:prstGeom prst="rect">
            <a:avLst/>
          </a:prstGeom>
          <a:noFill/>
        </p:spPr>
        <p:txBody>
          <a:bodyPr wrap="square" lIns="0" rIns="0" tIns="0" bIns="0" anchor="t">
            <a:noAutofit/>
          </a:bodyPr>
          <a:lstStyle/>
          <a:p>
            <a:pPr algn="l"/>
            <a:r>
              <a:rPr sz="1200" b="0">
                <a:solidFill>
                  <a:srgbClr val="5B6670"/>
                </a:solidFill>
                <a:latin typeface="Inter"/>
              </a:rPr>
              <a:t>By segment, FY5: Solo 2,071 · SMEs 2,322 · Agencies 203 · Corporate 24 · Enterprise (Custom) 8. Total 4,627.</a:t>
            </a:r>
          </a:p>
        </p:txBody>
      </p:sp>
      <p:sp>
        <p:nvSpPr>
          <p:cNvPr id="7" name="g181|caption|"/>
          <p:cNvSpPr txBox="1"/>
          <p:nvPr/>
        </p:nvSpPr>
        <p:spPr>
          <a:xfrm>
            <a:off x="6199632" y="4800600"/>
            <a:ext cx="5440680" cy="822960"/>
          </a:xfrm>
          <a:prstGeom prst="rect">
            <a:avLst/>
          </a:prstGeom>
          <a:noFill/>
        </p:spPr>
        <p:txBody>
          <a:bodyPr wrap="square" lIns="0" rIns="0" tIns="0" bIns="0" anchor="t">
            <a:noAutofit/>
          </a:bodyPr>
          <a:lstStyle/>
          <a:p>
            <a:pPr algn="l"/>
            <a:r>
              <a:rPr sz="1200" b="0">
                <a:solidFill>
                  <a:srgbClr val="5B6670"/>
                </a:solidFill>
                <a:latin typeface="Inter"/>
              </a:rPr>
              <a:t>By market, Sep 2031: South Africa 3,154 · Nigeria 634 · Kenya 404 · Ghana 257 · 19 USD markets 179. Outside South Africa, all pending payment accounts.</a:t>
            </a:r>
          </a:p>
        </p:txBody>
      </p:sp>
      <p:sp>
        <p:nvSpPr>
          <p:cNvPr id="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A3 · PRICING (1 OF 2) · ZAR</a:t>
            </a:r>
          </a:p>
        </p:txBody>
      </p:sp>
      <p:sp>
        <p:nvSpPr>
          <p:cNvPr id="3" name="hdr18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Nine plans in three bands, in rands</a:t>
            </a:r>
          </a:p>
        </p:txBody>
      </p:sp>
      <p:pic>
        <p:nvPicPr>
          <p:cNvPr id="4" name="g183|img|infographics/pricing-tiers.png" descr="Nine plans in three bands: Small (Free, Nano, Micro), Medium (Starter, Growth, Scale), Enterprise (Corporate, Agency, Custom)"/>
          <p:cNvPicPr>
            <a:picLocks noChangeAspect="1"/>
          </p:cNvPicPr>
          <p:nvPr/>
        </p:nvPicPr>
        <p:blipFill>
          <a:blip r:embed="rId2"/>
          <a:srcRect t="20000"/>
          <a:stretch>
            <a:fillRect/>
          </a:stretch>
        </p:blipFill>
        <p:spPr>
          <a:xfrm>
            <a:off x="660247" y="1417320"/>
            <a:ext cx="10871199" cy="489204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A3 · PRICING (2 OF 2) · PRICED, NOT YET ON SALE</a:t>
            </a:r>
          </a:p>
        </p:txBody>
      </p:sp>
      <p:sp>
        <p:nvSpPr>
          <p:cNvPr id="3" name="hdr18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Local-currency and USD prices</a:t>
            </a:r>
          </a:p>
        </p:txBody>
      </p:sp>
      <p:graphicFrame>
        <p:nvGraphicFramePr>
          <p:cNvPr id="4" name="g185|table|regional"/>
          <p:cNvGraphicFramePr>
            <a:graphicFrameLocks noGrp="1"/>
          </p:cNvGraphicFramePr>
          <p:nvPr/>
        </p:nvGraphicFramePr>
        <p:xfrm>
          <a:off x="548640" y="1481328"/>
          <a:ext cx="9326880" cy="3657600"/>
        </p:xfrm>
        <a:graphic>
          <a:graphicData uri="http://schemas.openxmlformats.org/drawingml/2006/table">
            <a:tbl>
              <a:tblPr firstRow="0" bandRow="0"/>
              <a:tblGrid>
                <a:gridCol w="2377440"/>
                <a:gridCol w="1828800"/>
                <a:gridCol w="1828800"/>
                <a:gridCol w="1828800"/>
                <a:gridCol w="1463040"/>
              </a:tblGrid>
              <a:tr h="365760">
                <a:tc>
                  <a:txBody>
                    <a:bodyPr wrap="square"/>
                    <a:lstStyle/>
                    <a:p>
                      <a:pPr algn="l"/>
                      <a:r>
                        <a:rPr sz="1200" b="1">
                          <a:solidFill>
                            <a:srgbClr val="FFFFFF"/>
                          </a:solidFill>
                          <a:latin typeface="Poppins"/>
                        </a:rPr>
                        <a:t>Plan / month</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NGN</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KES</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GHS</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USD</a:t>
                      </a:r>
                    </a:p>
                  </a:txBody>
                  <a:tcPr marL="109728" marR="109728" marT="36576" marB="36576" anchor="ctr">
                    <a:lnL w="0">
                      <a:noFill/>
                    </a:lnL>
                    <a:lnR w="0">
                      <a:noFill/>
                    </a:lnR>
                    <a:lnT w="0">
                      <a:noFill/>
                    </a:lnT>
                    <a:lnB w="0">
                      <a:noFill/>
                    </a:lnB>
                    <a:solidFill>
                      <a:srgbClr val="0F1419"/>
                    </a:solidFill>
                  </a:tcPr>
                </a:tc>
              </a:tr>
              <a:tr h="365760">
                <a:tc>
                  <a:txBody>
                    <a:bodyPr wrap="square"/>
                    <a:lstStyle/>
                    <a:p>
                      <a:pPr algn="l"/>
                      <a:r>
                        <a:rPr sz="1200" b="1">
                          <a:solidFill>
                            <a:srgbClr val="20242B"/>
                          </a:solidFill>
                          <a:latin typeface="Inter"/>
                        </a:rPr>
                        <a:t>Nano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₦12,000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1,199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$8</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Micro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₦24,000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2,299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199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$16</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Starter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₦41,000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3,999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339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$27</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Growth</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200" b="0">
                          <a:solidFill>
                            <a:srgbClr val="20242B"/>
                          </a:solidFill>
                          <a:latin typeface="Inter"/>
                        </a:rPr>
                        <a:t>₦165,000</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200" b="0">
                          <a:solidFill>
                            <a:srgbClr val="20242B"/>
                          </a:solidFill>
                          <a:latin typeface="Inter"/>
                        </a:rPr>
                        <a:t>KSh 15,999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200" b="0">
                          <a:solidFill>
                            <a:srgbClr val="20242B"/>
                          </a:solidFill>
                          <a:latin typeface="Inter"/>
                        </a:rPr>
                        <a:t>GH₵ 1,359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200" b="0">
                          <a:solidFill>
                            <a:srgbClr val="20242B"/>
                          </a:solidFill>
                          <a:latin typeface="Inter"/>
                        </a:rPr>
                        <a:t>$109</a:t>
                      </a:r>
                    </a:p>
                  </a:txBody>
                  <a:tcPr marL="109728" marR="109728" marT="36576" marB="36576" anchor="ctr">
                    <a:lnL w="0">
                      <a:noFill/>
                    </a:lnL>
                    <a:lnR w="0">
                      <a:noFill/>
                    </a:lnR>
                    <a:lnT w="0">
                      <a:noFill/>
                    </a:lnT>
                    <a:lnB w="12700">
                      <a:solidFill>
                        <a:srgbClr val="E3E6EA"/>
                      </a:solidFill>
                    </a:lnB>
                    <a:solidFill>
                      <a:srgbClr val="FFF4EB"/>
                    </a:solidFill>
                  </a:tcPr>
                </a:tc>
              </a:tr>
              <a:tr h="365760">
                <a:tc>
                  <a:txBody>
                    <a:bodyPr wrap="square"/>
                    <a:lstStyle/>
                    <a:p>
                      <a:pPr algn="l"/>
                      <a:r>
                        <a:rPr sz="1200" b="1">
                          <a:solidFill>
                            <a:srgbClr val="20242B"/>
                          </a:solidFill>
                          <a:latin typeface="Inter"/>
                        </a:rPr>
                        <a:t>Scale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₦413,000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39,999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3,399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$269</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Corporate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₦579,000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56,999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4,799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$379</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Agency</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₦829,000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80,999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6,799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$539</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20242B"/>
                          </a:solidFill>
                          <a:latin typeface="Inter"/>
                        </a:rPr>
                        <a:t>Custom (from)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₦1,650,000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KSh 161,000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GH₵ 13,600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$1,099</a:t>
                      </a:r>
                    </a:p>
                  </a:txBody>
                  <a:tcPr marL="109728" marR="109728" marT="36576" marB="36576" anchor="ctr">
                    <a:lnL w="0">
                      <a:noFill/>
                    </a:lnL>
                    <a:lnR w="0">
                      <a:noFill/>
                    </a:lnR>
                    <a:lnT w="0">
                      <a:noFill/>
                    </a:lnT>
                    <a:lnB w="12700">
                      <a:solidFill>
                        <a:srgbClr val="E3E6EA"/>
                      </a:solidFill>
                    </a:lnB>
                    <a:solidFill>
                      <a:srgbClr val="FFFFFF"/>
                    </a:solidFill>
                  </a:tcPr>
                </a:tc>
              </a:tr>
              <a:tr h="365760">
                <a:tc>
                  <a:txBody>
                    <a:bodyPr wrap="square"/>
                    <a:lstStyle/>
                    <a:p>
                      <a:pPr algn="l"/>
                      <a:r>
                        <a:rPr sz="1200" b="1">
                          <a:solidFill>
                            <a:srgbClr val="FF6A00"/>
                          </a:solidFill>
                          <a:latin typeface="Inter"/>
                        </a:rPr>
                        <a:t>Partner wholesale</a:t>
                      </a:r>
                    </a:p>
                  </a:txBody>
                  <a:tcPr marL="109728" marR="109728" marT="36576" marB="36576" anchor="ctr">
                    <a:lnL w="0">
                      <a:noFill/>
                    </a:lnL>
                    <a:lnR w="0">
                      <a:noFill/>
                    </a:lnR>
                    <a:lnT w="0">
                      <a:noFill/>
                    </a:lnT>
                    <a:lnB w="0">
                      <a:noFill/>
                    </a:lnB>
                    <a:solidFill>
                      <a:srgbClr val="1B232C"/>
                    </a:solidFill>
                  </a:tcPr>
                </a:tc>
                <a:tc>
                  <a:txBody>
                    <a:bodyPr wrap="square"/>
                    <a:lstStyle/>
                    <a:p>
                      <a:pPr algn="ctr"/>
                      <a:r>
                        <a:rPr sz="1200" b="1">
                          <a:solidFill>
                            <a:srgbClr val="FFFFFF"/>
                          </a:solidFill>
                          <a:latin typeface="Inter"/>
                        </a:rPr>
                        <a:t>₦579,000</a:t>
                      </a:r>
                    </a:p>
                  </a:txBody>
                  <a:tcPr marL="109728" marR="109728" marT="36576" marB="36576" anchor="ctr">
                    <a:lnL w="0">
                      <a:noFill/>
                    </a:lnL>
                    <a:lnR w="0">
                      <a:noFill/>
                    </a:lnR>
                    <a:lnT w="0">
                      <a:noFill/>
                    </a:lnT>
                    <a:lnB w="0">
                      <a:noFill/>
                    </a:lnB>
                    <a:solidFill>
                      <a:srgbClr val="1B232C"/>
                    </a:solidFill>
                  </a:tcPr>
                </a:tc>
                <a:tc>
                  <a:txBody>
                    <a:bodyPr wrap="square"/>
                    <a:lstStyle/>
                    <a:p>
                      <a:pPr algn="ctr"/>
                      <a:r>
                        <a:rPr sz="1200" b="1">
                          <a:solidFill>
                            <a:srgbClr val="FFFFFF"/>
                          </a:solidFill>
                          <a:latin typeface="Inter"/>
                        </a:rPr>
                        <a:t>KSh 56,999</a:t>
                      </a:r>
                    </a:p>
                  </a:txBody>
                  <a:tcPr marL="109728" marR="109728" marT="36576" marB="36576" anchor="ctr">
                    <a:lnL w="0">
                      <a:noFill/>
                    </a:lnL>
                    <a:lnR w="0">
                      <a:noFill/>
                    </a:lnR>
                    <a:lnT w="0">
                      <a:noFill/>
                    </a:lnT>
                    <a:lnB w="0">
                      <a:noFill/>
                    </a:lnB>
                    <a:solidFill>
                      <a:srgbClr val="1B232C"/>
                    </a:solidFill>
                  </a:tcPr>
                </a:tc>
                <a:tc>
                  <a:txBody>
                    <a:bodyPr wrap="square"/>
                    <a:lstStyle/>
                    <a:p>
                      <a:pPr algn="ctr"/>
                      <a:r>
                        <a:rPr sz="1200" b="1">
                          <a:solidFill>
                            <a:srgbClr val="FFFFFF"/>
                          </a:solidFill>
                          <a:latin typeface="Inter"/>
                        </a:rPr>
                        <a:t>GH₵ 4,799</a:t>
                      </a:r>
                    </a:p>
                  </a:txBody>
                  <a:tcPr marL="109728" marR="109728" marT="36576" marB="36576" anchor="ctr">
                    <a:lnL w="0">
                      <a:noFill/>
                    </a:lnL>
                    <a:lnR w="0">
                      <a:noFill/>
                    </a:lnR>
                    <a:lnT w="0">
                      <a:noFill/>
                    </a:lnT>
                    <a:lnB w="0">
                      <a:noFill/>
                    </a:lnB>
                    <a:solidFill>
                      <a:srgbClr val="1B232C"/>
                    </a:solidFill>
                  </a:tcPr>
                </a:tc>
                <a:tc>
                  <a:txBody>
                    <a:bodyPr wrap="square"/>
                    <a:lstStyle/>
                    <a:p>
                      <a:pPr algn="ctr"/>
                      <a:r>
                        <a:rPr sz="1200" b="1">
                          <a:solidFill>
                            <a:srgbClr val="FFFFFF"/>
                          </a:solidFill>
                          <a:latin typeface="Inter"/>
                        </a:rPr>
                        <a:t>$379</a:t>
                      </a:r>
                    </a:p>
                  </a:txBody>
                  <a:tcPr marL="109728" marR="109728" marT="36576" marB="36576" anchor="ctr">
                    <a:lnL w="0">
                      <a:noFill/>
                    </a:lnL>
                    <a:lnR w="0">
                      <a:noFill/>
                    </a:lnR>
                    <a:lnT w="0">
                      <a:noFill/>
                    </a:lnT>
                    <a:lnB w="0">
                      <a:noFill/>
                    </a:lnB>
                    <a:solidFill>
                      <a:srgbClr val="1B232C"/>
                    </a:solidFill>
                  </a:tcPr>
                </a:tc>
              </a:tr>
            </a:tbl>
          </a:graphicData>
        </a:graphic>
      </p:graphicFrame>
      <p:sp>
        <p:nvSpPr>
          <p:cNvPr id="5" name="g186|caption|"/>
          <p:cNvSpPr txBox="1"/>
          <p:nvPr/>
        </p:nvSpPr>
        <p:spPr>
          <a:xfrm>
            <a:off x="548640" y="5303520"/>
            <a:ext cx="11094415" cy="822960"/>
          </a:xfrm>
          <a:prstGeom prst="rect">
            <a:avLst/>
          </a:prstGeom>
          <a:noFill/>
        </p:spPr>
        <p:txBody>
          <a:bodyPr wrap="square" lIns="0" rIns="0" tIns="0" bIns="0" anchor="t">
            <a:noAutofit/>
          </a:bodyPr>
          <a:lstStyle/>
          <a:p>
            <a:pPr algn="l"/>
            <a:r>
              <a:rPr sz="1200" b="0">
                <a:solidFill>
                  <a:srgbClr val="5B6670"/>
                </a:solidFill>
                <a:latin typeface="Inter"/>
              </a:rPr>
              <a:t>Not on sale: checkout outside South Africa waits for the Fincra and pawaPay accounts. Prices at FX parity with the rand, annual = 10× monthly, reviewed quarterly. Botswana and Namibia: coming soon, no prices.</a:t>
            </a:r>
          </a:p>
        </p:txBody>
      </p:sp>
      <p:sp>
        <p:nvSpPr>
          <p:cNvPr id="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A4 · PAYMENT RAILS</a:t>
            </a:r>
          </a:p>
        </p:txBody>
      </p:sp>
      <p:sp>
        <p:nvSpPr>
          <p:cNvPr id="3" name="hdr18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is live, and what is still pending</a:t>
            </a:r>
          </a:p>
        </p:txBody>
      </p:sp>
      <p:pic>
        <p:nvPicPr>
          <p:cNvPr id="4" name="g188|img|infographics/payment-rails-matrix.png" descr="Payment rails by country: South Africa live on Paystack, with Yoco and Ozow for FluxMuse billing; pawaPay and Fincra contracted, accounts pending; Botswana and Namibia coming soon"/>
          <p:cNvPicPr>
            <a:picLocks noChangeAspect="1"/>
          </p:cNvPicPr>
          <p:nvPr/>
        </p:nvPicPr>
        <p:blipFill>
          <a:blip r:embed="rId2"/>
          <a:srcRect t="19000"/>
          <a:stretch>
            <a:fillRect/>
          </a:stretch>
        </p:blipFill>
        <p:spPr>
          <a:xfrm>
            <a:off x="727353" y="1417320"/>
            <a:ext cx="10736987" cy="489204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A5 · FX SHOCK · MODEL V3</a:t>
            </a:r>
          </a:p>
        </p:txBody>
      </p:sp>
      <p:sp>
        <p:nvSpPr>
          <p:cNvPr id="3" name="hdr18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ZAR 15% stronger vs NGN, KES, GHS and USD</a:t>
            </a:r>
          </a:p>
        </p:txBody>
      </p:sp>
      <p:pic>
        <p:nvPicPr>
          <p:cNvPr id="4" name="g190|img|charts/fx_shock_sensitivity_16x9.png" descr="FX shock: base vs ZAR +15% with and without repricing"/>
          <p:cNvPicPr>
            <a:picLocks noChangeAspect="1"/>
          </p:cNvPicPr>
          <p:nvPr/>
        </p:nvPicPr>
        <p:blipFill>
          <a:blip r:embed="rId2"/>
          <a:srcRect t="14500" b="5000"/>
          <a:stretch>
            <a:fillRect/>
          </a:stretch>
        </p:blipFill>
        <p:spPr>
          <a:xfrm>
            <a:off x="550028" y="1481328"/>
            <a:ext cx="6946663" cy="3145536"/>
          </a:xfrm>
          <a:prstGeom prst="rect">
            <a:avLst/>
          </a:prstGeom>
        </p:spPr>
      </p:pic>
      <p:graphicFrame>
        <p:nvGraphicFramePr>
          <p:cNvPr id="5" name="g191|table|fx"/>
          <p:cNvGraphicFramePr>
            <a:graphicFrameLocks noGrp="1"/>
          </p:cNvGraphicFramePr>
          <p:nvPr/>
        </p:nvGraphicFramePr>
        <p:xfrm>
          <a:off x="7680960" y="1481328"/>
          <a:ext cx="3959352" cy="4197096"/>
        </p:xfrm>
        <a:graphic>
          <a:graphicData uri="http://schemas.openxmlformats.org/drawingml/2006/table">
            <a:tbl>
              <a:tblPr firstRow="0" bandRow="0"/>
              <a:tblGrid>
                <a:gridCol w="1051560"/>
                <a:gridCol w="969264"/>
                <a:gridCol w="969264"/>
                <a:gridCol w="969264"/>
              </a:tblGrid>
              <a:tr h="868680">
                <a:tc>
                  <a:txBody>
                    <a:bodyPr wrap="square"/>
                    <a:lstStyle/>
                    <a:p>
                      <a:pPr algn="l"/>
                      <a:r>
                        <a:rPr sz="1200" b="1">
                          <a:solidFill>
                            <a:srgbClr val="FFFFFF"/>
                          </a:solidFill>
                          <a:latin typeface="Poppins"/>
                        </a:rPr>
                        <a:t>Base case</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Base</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+15%, repricing</a:t>
                      </a:r>
                    </a:p>
                  </a:txBody>
                  <a:tcPr marL="109728" marR="109728" marT="36576" marB="36576" anchor="ctr">
                    <a:lnL w="0">
                      <a:noFill/>
                    </a:lnL>
                    <a:lnR w="0">
                      <a:noFill/>
                    </a:lnR>
                    <a:lnT w="0">
                      <a:noFill/>
                    </a:lnT>
                    <a:lnB w="0">
                      <a:noFill/>
                    </a:lnB>
                    <a:solidFill>
                      <a:srgbClr val="0F1419"/>
                    </a:solidFill>
                  </a:tcPr>
                </a:tc>
                <a:tc>
                  <a:txBody>
                    <a:bodyPr wrap="square"/>
                    <a:lstStyle/>
                    <a:p>
                      <a:pPr algn="ctr"/>
                      <a:r>
                        <a:rPr sz="1200" b="1">
                          <a:solidFill>
                            <a:srgbClr val="FFFFFF"/>
                          </a:solidFill>
                          <a:latin typeface="Poppins"/>
                        </a:rPr>
                        <a:t>+15%, none</a:t>
                      </a:r>
                    </a:p>
                  </a:txBody>
                  <a:tcPr marL="109728" marR="109728" marT="36576" marB="36576" anchor="ctr">
                    <a:lnL w="0">
                      <a:noFill/>
                    </a:lnL>
                    <a:lnR w="0">
                      <a:noFill/>
                    </a:lnR>
                    <a:lnT w="0">
                      <a:noFill/>
                    </a:lnT>
                    <a:lnB w="0">
                      <a:noFill/>
                    </a:lnB>
                    <a:solidFill>
                      <a:srgbClr val="0F1419"/>
                    </a:solidFill>
                  </a:tcPr>
                </a:tc>
              </a:tr>
              <a:tr h="512064">
                <a:tc>
                  <a:txBody>
                    <a:bodyPr wrap="square"/>
                    <a:lstStyle/>
                    <a:p>
                      <a:pPr algn="l"/>
                      <a:r>
                        <a:rPr sz="1200" b="1">
                          <a:solidFill>
                            <a:srgbClr val="20242B"/>
                          </a:solidFill>
                          <a:latin typeface="Inter"/>
                        </a:rPr>
                        <a:t>FY3 revenue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R25.5M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R25.4M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R25.0M</a:t>
                      </a:r>
                    </a:p>
                  </a:txBody>
                  <a:tcPr marL="109728" marR="109728" marT="36576" marB="36576" anchor="ctr">
                    <a:lnL w="0">
                      <a:noFill/>
                    </a:lnL>
                    <a:lnR w="0">
                      <a:noFill/>
                    </a:lnR>
                    <a:lnT w="0">
                      <a:noFill/>
                    </a:lnT>
                    <a:lnB w="12700">
                      <a:solidFill>
                        <a:srgbClr val="E3E6EA"/>
                      </a:solidFill>
                    </a:lnB>
                    <a:solidFill>
                      <a:srgbClr val="FFFFFF"/>
                    </a:solidFill>
                  </a:tcPr>
                </a:tc>
              </a:tr>
              <a:tr h="512064">
                <a:tc>
                  <a:txBody>
                    <a:bodyPr wrap="square"/>
                    <a:lstStyle/>
                    <a:p>
                      <a:pPr algn="l"/>
                      <a:r>
                        <a:rPr sz="1200" b="1">
                          <a:solidFill>
                            <a:srgbClr val="20242B"/>
                          </a:solidFill>
                          <a:latin typeface="Inter"/>
                        </a:rPr>
                        <a:t>FY5 revenue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R93.5M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R93.7M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R86.1M</a:t>
                      </a:r>
                    </a:p>
                  </a:txBody>
                  <a:tcPr marL="109728" marR="109728" marT="36576" marB="36576" anchor="ctr">
                    <a:lnL w="0">
                      <a:noFill/>
                    </a:lnL>
                    <a:lnR w="0">
                      <a:noFill/>
                    </a:lnR>
                    <a:lnT w="0">
                      <a:noFill/>
                    </a:lnT>
                    <a:lnB w="12700">
                      <a:solidFill>
                        <a:srgbClr val="E3E6EA"/>
                      </a:solidFill>
                    </a:lnB>
                    <a:solidFill>
                      <a:srgbClr val="FFFFFF"/>
                    </a:solidFill>
                  </a:tcPr>
                </a:tc>
              </a:tr>
              <a:tr h="512064">
                <a:tc>
                  <a:txBody>
                    <a:bodyPr wrap="square"/>
                    <a:lstStyle/>
                    <a:p>
                      <a:pPr algn="l"/>
                      <a:r>
                        <a:rPr sz="1200" b="1">
                          <a:solidFill>
                            <a:srgbClr val="20242B"/>
                          </a:solidFill>
                          <a:latin typeface="Inter"/>
                        </a:rPr>
                        <a:t>FY3 EBITDA</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−R16.9M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−R17.0M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−R17.3M</a:t>
                      </a:r>
                    </a:p>
                  </a:txBody>
                  <a:tcPr marL="109728" marR="109728" marT="36576" marB="36576" anchor="ctr">
                    <a:lnL w="0">
                      <a:noFill/>
                    </a:lnL>
                    <a:lnR w="0">
                      <a:noFill/>
                    </a:lnR>
                    <a:lnT w="0">
                      <a:noFill/>
                    </a:lnT>
                    <a:lnB w="12700">
                      <a:solidFill>
                        <a:srgbClr val="E3E6EA"/>
                      </a:solidFill>
                    </a:lnB>
                    <a:solidFill>
                      <a:srgbClr val="FFFFFF"/>
                    </a:solidFill>
                  </a:tcPr>
                </a:tc>
              </a:tr>
              <a:tr h="512064">
                <a:tc>
                  <a:txBody>
                    <a:bodyPr wrap="square"/>
                    <a:lstStyle/>
                    <a:p>
                      <a:pPr algn="l"/>
                      <a:r>
                        <a:rPr sz="1200" b="1">
                          <a:solidFill>
                            <a:srgbClr val="20242B"/>
                          </a:solidFill>
                          <a:latin typeface="Inter"/>
                        </a:rPr>
                        <a:t>FY5 EBITDA</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R4.5M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R4.5M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−R0.9M</a:t>
                      </a:r>
                    </a:p>
                  </a:txBody>
                  <a:tcPr marL="109728" marR="109728" marT="36576" marB="36576" anchor="ctr">
                    <a:lnL w="0">
                      <a:noFill/>
                    </a:lnL>
                    <a:lnR w="0">
                      <a:noFill/>
                    </a:lnR>
                    <a:lnT w="0">
                      <a:noFill/>
                    </a:lnT>
                    <a:lnB w="12700">
                      <a:solidFill>
                        <a:srgbClr val="E3E6EA"/>
                      </a:solidFill>
                    </a:lnB>
                    <a:solidFill>
                      <a:srgbClr val="FFFFFF"/>
                    </a:solidFill>
                  </a:tcPr>
                </a:tc>
              </a:tr>
              <a:tr h="731520">
                <a:tc>
                  <a:txBody>
                    <a:bodyPr wrap="square"/>
                    <a:lstStyle/>
                    <a:p>
                      <a:pPr algn="l"/>
                      <a:r>
                        <a:rPr sz="1200" b="1">
                          <a:solidFill>
                            <a:srgbClr val="20242B"/>
                          </a:solidFill>
                          <a:latin typeface="Inter"/>
                        </a:rPr>
                        <a:t>Cash low</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R4.00M Nov 2030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R4.53M Nov 2030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0">
                          <a:solidFill>
                            <a:srgbClr val="20242B"/>
                          </a:solidFill>
                          <a:latin typeface="Inter"/>
                        </a:rPr>
                        <a:t>R0.92M Mar 2031</a:t>
                      </a:r>
                    </a:p>
                  </a:txBody>
                  <a:tcPr marL="109728" marR="109728" marT="36576" marB="36576" anchor="ctr">
                    <a:lnL w="0">
                      <a:noFill/>
                    </a:lnL>
                    <a:lnR w="0">
                      <a:noFill/>
                    </a:lnR>
                    <a:lnT w="0">
                      <a:noFill/>
                    </a:lnT>
                    <a:lnB w="12700">
                      <a:solidFill>
                        <a:srgbClr val="E3E6EA"/>
                      </a:solidFill>
                    </a:lnB>
                    <a:solidFill>
                      <a:srgbClr val="FFFFFF"/>
                    </a:solidFill>
                  </a:tcPr>
                </a:tc>
              </a:tr>
              <a:tr h="548640">
                <a:tc>
                  <a:txBody>
                    <a:bodyPr wrap="square"/>
                    <a:lstStyle/>
                    <a:p>
                      <a:pPr algn="l"/>
                      <a:r>
                        <a:rPr sz="1200" b="1">
                          <a:solidFill>
                            <a:srgbClr val="20242B"/>
                          </a:solidFill>
                          <a:latin typeface="Inter"/>
                        </a:rPr>
                        <a:t>Passes on R46M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1">
                          <a:solidFill>
                            <a:srgbClr val="20242B"/>
                          </a:solidFill>
                          <a:latin typeface="Inter"/>
                        </a:rPr>
                        <a:t>Yes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1">
                          <a:solidFill>
                            <a:srgbClr val="20242B"/>
                          </a:solidFill>
                          <a:latin typeface="Inter"/>
                        </a:rPr>
                        <a:t>Yes</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200" b="1">
                          <a:solidFill>
                            <a:srgbClr val="C24E00"/>
                          </a:solidFill>
                          <a:latin typeface="Inter"/>
                        </a:rPr>
                        <a:t>No</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6" name="g192|body|"/>
          <p:cNvSpPr txBox="1"/>
          <p:nvPr/>
        </p:nvSpPr>
        <p:spPr>
          <a:xfrm>
            <a:off x="548640" y="4846320"/>
            <a:ext cx="6949440" cy="1234440"/>
          </a:xfrm>
          <a:prstGeom prst="rect">
            <a:avLst/>
          </a:prstGeom>
          <a:noFill/>
        </p:spPr>
        <p:txBody>
          <a:bodyPr wrap="square" lIns="0" rIns="0" tIns="0" bIns="0" anchor="t">
            <a:noAutofit/>
          </a:bodyPr>
          <a:lstStyle/>
          <a:p>
            <a:pPr algn="l"/>
            <a:r>
              <a:rPr sz="1400" b="0">
                <a:solidFill>
                  <a:srgbClr val="20242B"/>
                </a:solidFill>
                <a:latin typeface="Inter"/>
              </a:rPr>
              <a:t>The shock starts in Apr 2029, after Nigeria, Kenya and Ghana open in the model. With repricing the plan passes. Without it, FY5 EBITDA falls to −R0.9M and cash drops below the R3.0M buffer.</a:t>
            </a:r>
          </a:p>
        </p:txBody>
      </p:sp>
      <p:sp>
        <p:nvSpPr>
          <p:cNvPr id="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9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A6 · LAUNCH DISCOUNT COST · PROJECTION (MODEL V3, BASE CASE)</a:t>
            </a:r>
          </a:p>
        </p:txBody>
      </p:sp>
      <p:sp>
        <p:nvSpPr>
          <p:cNvPr id="3" name="hdr19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Founding Member costs little</a:t>
            </a:r>
          </a:p>
        </p:txBody>
      </p:sp>
      <p:pic>
        <p:nvPicPr>
          <p:cNvPr id="4" name="g194|img|charts/founding_member_discount_cost_16x9.png" descr="Founding Member discount cost by year"/>
          <p:cNvPicPr>
            <a:picLocks noChangeAspect="1"/>
          </p:cNvPicPr>
          <p:nvPr/>
        </p:nvPicPr>
        <p:blipFill>
          <a:blip r:embed="rId2"/>
          <a:srcRect t="14500" b="5000"/>
          <a:stretch>
            <a:fillRect/>
          </a:stretch>
        </p:blipFill>
        <p:spPr>
          <a:xfrm>
            <a:off x="550028" y="1481328"/>
            <a:ext cx="6946663" cy="3145536"/>
          </a:xfrm>
          <a:prstGeom prst="rect">
            <a:avLst/>
          </a:prstGeom>
        </p:spPr>
      </p:pic>
      <p:graphicFrame>
        <p:nvGraphicFramePr>
          <p:cNvPr id="5" name="g195|table|fm"/>
          <p:cNvGraphicFramePr>
            <a:graphicFrameLocks noGrp="1"/>
          </p:cNvGraphicFramePr>
          <p:nvPr/>
        </p:nvGraphicFramePr>
        <p:xfrm>
          <a:off x="7680960" y="1481328"/>
          <a:ext cx="3959352" cy="1572768"/>
        </p:xfrm>
        <a:graphic>
          <a:graphicData uri="http://schemas.openxmlformats.org/drawingml/2006/table">
            <a:tbl>
              <a:tblPr firstRow="0" bandRow="0"/>
              <a:tblGrid>
                <a:gridCol w="2103120"/>
                <a:gridCol w="960120"/>
                <a:gridCol w="896112"/>
              </a:tblGrid>
              <a:tr h="658368">
                <a:tc>
                  <a:txBody>
                    <a:bodyPr wrap="square"/>
                    <a:lstStyle/>
                    <a:p>
                      <a:pPr algn="l"/>
                      <a:r>
                        <a:rPr sz="1400" b="1">
                          <a:solidFill>
                            <a:srgbClr val="FFFFFF"/>
                          </a:solidFill>
                          <a:latin typeface="Poppins"/>
                        </a:rPr>
                        <a:t>Launch offer</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FY1–FY3 cost</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Cash low</a:t>
                      </a:r>
                    </a:p>
                  </a:txBody>
                  <a:tcPr marL="109728" marR="109728" marT="36576" marB="36576" anchor="ctr">
                    <a:lnL w="0">
                      <a:noFill/>
                    </a:lnL>
                    <a:lnR w="0">
                      <a:noFill/>
                    </a:lnR>
                    <a:lnT w="0">
                      <a:noFill/>
                    </a:lnT>
                    <a:lnB w="0">
                      <a:noFill/>
                    </a:lnB>
                    <a:solidFill>
                      <a:srgbClr val="0F1419"/>
                    </a:solidFill>
                  </a:tcPr>
                </a:tc>
              </a:tr>
              <a:tr h="457200">
                <a:tc>
                  <a:txBody>
                    <a:bodyPr wrap="square"/>
                    <a:lstStyle/>
                    <a:p>
                      <a:pPr algn="l"/>
                      <a:r>
                        <a:rPr sz="1400" b="1">
                          <a:solidFill>
                            <a:srgbClr val="20242B"/>
                          </a:solidFill>
                          <a:latin typeface="Inter"/>
                        </a:rPr>
                        <a:t>Founding Member</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R32.1k</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R4.00M</a:t>
                      </a:r>
                    </a:p>
                  </a:txBody>
                  <a:tcPr marL="109728" marR="109728" marT="36576" marB="36576" anchor="ctr">
                    <a:lnL w="0">
                      <a:noFill/>
                    </a:lnL>
                    <a:lnR w="0">
                      <a:noFill/>
                    </a:lnR>
                    <a:lnT w="0">
                      <a:noFill/>
                    </a:lnT>
                    <a:lnB w="12700">
                      <a:solidFill>
                        <a:srgbClr val="E3E6EA"/>
                      </a:solidFill>
                    </a:lnB>
                    <a:solidFill>
                      <a:srgbClr val="FFF4EB"/>
                    </a:solidFill>
                  </a:tcPr>
                </a:tc>
              </a:tr>
              <a:tr h="457200">
                <a:tc>
                  <a:txBody>
                    <a:bodyPr wrap="square"/>
                    <a:lstStyle/>
                    <a:p>
                      <a:pPr algn="l"/>
                      <a:r>
                        <a:rPr sz="1400" b="1">
                          <a:solidFill>
                            <a:srgbClr val="20242B"/>
                          </a:solidFill>
                          <a:latin typeface="Inter"/>
                        </a:rPr>
                        <a:t>No offer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R3.95M</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6" name="g196|body|"/>
          <p:cNvSpPr txBox="1"/>
          <p:nvPr/>
        </p:nvSpPr>
        <p:spPr>
          <a:xfrm>
            <a:off x="7680960" y="3291840"/>
            <a:ext cx="3959352" cy="1280160"/>
          </a:xfrm>
          <a:prstGeom prst="rect">
            <a:avLst/>
          </a:prstGeom>
          <a:noFill/>
        </p:spPr>
        <p:txBody>
          <a:bodyPr wrap="square" lIns="0" rIns="0" tIns="0" bIns="0" anchor="t">
            <a:noAutofit/>
          </a:bodyPr>
          <a:lstStyle/>
          <a:p>
            <a:pPr algn="l"/>
            <a:r>
              <a:rPr sz="1400" b="0">
                <a:solidFill>
                  <a:srgbClr val="20242B"/>
                </a:solidFill>
                <a:latin typeface="Inter"/>
              </a:rPr>
              <a:t>Live since 1 Oct for South African sign-ups. The model ends it in Mar 2027, a proposed date the founder has not set.</a:t>
            </a:r>
          </a:p>
        </p:txBody>
      </p:sp>
      <p:sp>
        <p:nvSpPr>
          <p:cNvPr id="7" name="g197|body|"/>
          <p:cNvSpPr txBox="1"/>
          <p:nvPr/>
        </p:nvSpPr>
        <p:spPr>
          <a:xfrm>
            <a:off x="548640" y="4846320"/>
            <a:ext cx="6949440" cy="1234440"/>
          </a:xfrm>
          <a:prstGeom prst="rect">
            <a:avLst/>
          </a:prstGeom>
          <a:noFill/>
        </p:spPr>
        <p:txBody>
          <a:bodyPr wrap="square" lIns="0" rIns="0" tIns="0" bIns="0" anchor="t">
            <a:noAutofit/>
          </a:bodyPr>
          <a:lstStyle/>
          <a:p>
            <a:pPr algn="l"/>
            <a:r>
              <a:rPr sz="1400" b="0">
                <a:solidFill>
                  <a:srgbClr val="20242B"/>
                </a:solidFill>
                <a:latin typeface="Inter"/>
              </a:rPr>
              <a:t>Founding Member costs R32k in FY1 and nothing after. The +20% sign-up uplift while it runs is an assumption to measure.</a:t>
            </a:r>
          </a:p>
        </p:txBody>
      </p:sp>
      <p:sp>
        <p:nvSpPr>
          <p:cNvPr id="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9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A7 · INTERNAL ONLY · HIDE BEFORE SENDING</a:t>
            </a:r>
          </a:p>
        </p:txBody>
      </p:sp>
      <p:sp>
        <p:nvSpPr>
          <p:cNvPr id="3" name="hdr19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Founder confirmations still open</a:t>
            </a:r>
          </a:p>
        </p:txBody>
      </p:sp>
      <p:graphicFrame>
        <p:nvGraphicFramePr>
          <p:cNvPr id="4" name="g199|table|confirm0"/>
          <p:cNvGraphicFramePr>
            <a:graphicFrameLocks noGrp="1"/>
          </p:cNvGraphicFramePr>
          <p:nvPr/>
        </p:nvGraphicFramePr>
        <p:xfrm>
          <a:off x="548640" y="1417320"/>
          <a:ext cx="5440680" cy="4251960"/>
        </p:xfrm>
        <a:graphic>
          <a:graphicData uri="http://schemas.openxmlformats.org/drawingml/2006/table">
            <a:tbl>
              <a:tblPr firstRow="0" bandRow="0"/>
              <a:tblGrid>
                <a:gridCol w="411480"/>
                <a:gridCol w="5029200"/>
              </a:tblGrid>
              <a:tr h="685800">
                <a:tc>
                  <a:txBody>
                    <a:bodyPr wrap="square"/>
                    <a:lstStyle/>
                    <a:p>
                      <a:pPr algn="l"/>
                      <a:r>
                        <a:rPr sz="1200" b="1">
                          <a:solidFill>
                            <a:srgbClr val="C24E00"/>
                          </a:solidFill>
                          <a:latin typeface="Inter"/>
                        </a:rPr>
                        <a:t>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Opening cash at 1 Oct 2026 (default R500,000) and how to cover the R66,279 pre-seed bridge if the seed lands Feb 2027.</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2</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Seed close month (Feb 2027) and instrument (SAFE vs priced equity).</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First group set up by hand: 4 a month, Oct 2026 to Jan 2027, 50% Solo; R10,000 a month set-up cost.</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South African sign-ups at launch (150 a month) and the pay-at-sign-up rates (Solo 5%, SME 8%).</a:t>
                      </a:r>
                    </a:p>
                  </a:txBody>
                  <a:tcPr marL="109728" marR="109728" marT="36576" marB="36576" anchor="ctr">
                    <a:lnL w="0">
                      <a:noFill/>
                    </a:lnL>
                    <a:lnR w="0">
                      <a:noFill/>
                    </a:lnR>
                    <a:lnT w="0">
                      <a:noFill/>
                    </a:lnT>
                    <a:lnB w="12700">
                      <a:solidFill>
                        <a:srgbClr val="E3E6EA"/>
                      </a:solidFill>
                    </a:lnB>
                    <a:solidFill>
                      <a:srgbClr val="FFFFFF"/>
                    </a:solidFill>
                  </a:tcPr>
                </a:tc>
              </a:tr>
              <a:tr h="685800">
                <a:tc>
                  <a:txBody>
                    <a:bodyPr wrap="square"/>
                    <a:lstStyle/>
                    <a:p>
                      <a:pPr algn="l"/>
                      <a:r>
                        <a:rPr sz="1200" b="1">
                          <a:solidFill>
                            <a:srgbClr val="C24E00"/>
                          </a:solidFill>
                          <a:latin typeface="Inter"/>
                        </a:rPr>
                        <a:t>5</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Free plan: 0.5% a month upgrade, 10% a month dormancy, R3 hosting per active Free user. Free allowance is 60 credits in the product (100 in older copy).</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6</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Segment tier mixes, the upgrade rates and the new churn rates for Nano, Micro, SME Starter and Corporate.</a:t>
                      </a:r>
                    </a:p>
                  </a:txBody>
                  <a:tcPr marL="109728" marR="109728" marT="36576" marB="36576" anchor="ctr">
                    <a:lnL w="0">
                      <a:noFill/>
                    </a:lnL>
                    <a:lnR w="0">
                      <a:noFill/>
                    </a:lnR>
                    <a:lnT w="0">
                      <a:noFill/>
                    </a:lnT>
                    <a:lnB w="12700">
                      <a:solidFill>
                        <a:srgbClr val="E3E6EA"/>
                      </a:solidFill>
                    </a:lnB>
                    <a:solidFill>
                      <a:srgbClr val="FFFFFF"/>
                    </a:solidFill>
                  </a:tcPr>
                </a:tc>
              </a:tr>
              <a:tr h="868680">
                <a:tc>
                  <a:txBody>
                    <a:bodyPr wrap="square"/>
                    <a:lstStyle/>
                    <a:p>
                      <a:pPr algn="l"/>
                      <a:r>
                        <a:rPr sz="1200" b="1">
                          <a:solidFill>
                            <a:srgbClr val="C24E00"/>
                          </a:solidFill>
                          <a:latin typeface="Inter"/>
                        </a:rPr>
                        <a:t>7</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Founding Member end date (proposed Mar 2027), whether it applies to Corporate or annual plans, and the +20% sign-up uplift. Whether NG/KE/GH get a launch offer (none modelled).</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graphicFrame>
        <p:nvGraphicFramePr>
          <p:cNvPr id="5" name="g200|table|confirm1"/>
          <p:cNvGraphicFramePr>
            <a:graphicFrameLocks noGrp="1"/>
          </p:cNvGraphicFramePr>
          <p:nvPr/>
        </p:nvGraphicFramePr>
        <p:xfrm>
          <a:off x="6202375" y="1417320"/>
          <a:ext cx="5440680" cy="4572000"/>
        </p:xfrm>
        <a:graphic>
          <a:graphicData uri="http://schemas.openxmlformats.org/drawingml/2006/table">
            <a:tbl>
              <a:tblPr firstRow="0" bandRow="0"/>
              <a:tblGrid>
                <a:gridCol w="411480"/>
                <a:gridCol w="5029200"/>
              </a:tblGrid>
              <a:tr h="685800">
                <a:tc>
                  <a:txBody>
                    <a:bodyPr wrap="square"/>
                    <a:lstStyle/>
                    <a:p>
                      <a:pPr algn="l"/>
                      <a:r>
                        <a:rPr sz="1200" b="1">
                          <a:solidFill>
                            <a:srgbClr val="C24E00"/>
                          </a:solidFill>
                          <a:latin typeface="Inter"/>
                        </a:rPr>
                        <a:t>8</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New NG/KE/GH and Rest-of-Africa plan months (Apr 2028 / Jul 2028 / Oct 2028 / May 2029) and their dependence on Fincra/pawaPay going live.</a:t>
                      </a:r>
                    </a:p>
                  </a:txBody>
                  <a:tcPr marL="109728" marR="109728" marT="36576" marB="36576" anchor="ctr">
                    <a:lnL w="0">
                      <a:noFill/>
                    </a:lnL>
                    <a:lnR w="0">
                      <a:noFill/>
                    </a:lnR>
                    <a:lnT w="0">
                      <a:noFill/>
                    </a:lnT>
                    <a:lnB w="12700">
                      <a:solidFill>
                        <a:srgbClr val="E3E6EA"/>
                      </a:solidFill>
                    </a:lnB>
                    <a:solidFill>
                      <a:srgbClr val="FFFFFF"/>
                    </a:solidFill>
                  </a:tcPr>
                </a:tc>
              </a:tr>
              <a:tr h="685800">
                <a:tc>
                  <a:txBody>
                    <a:bodyPr wrap="square"/>
                    <a:lstStyle/>
                    <a:p>
                      <a:pPr algn="l"/>
                      <a:r>
                        <a:rPr sz="1200" b="1">
                          <a:solidFill>
                            <a:srgbClr val="C24E00"/>
                          </a:solidFill>
                          <a:latin typeface="Inter"/>
                        </a:rPr>
                        <a:t>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Corporate and Custom inbound deal volumes, Custom modelled at R19,999, Custom setup fee R25,000, Corporate handling cost.</a:t>
                      </a:r>
                    </a:p>
                  </a:txBody>
                  <a:tcPr marL="109728" marR="109728" marT="36576" marB="36576" anchor="ctr">
                    <a:lnL w="0">
                      <a:noFill/>
                    </a:lnL>
                    <a:lnR w="0">
                      <a:noFill/>
                    </a:lnR>
                    <a:lnT w="0">
                      <a:noFill/>
                    </a:lnT>
                    <a:lnB w="12700">
                      <a:solidFill>
                        <a:srgbClr val="E3E6EA"/>
                      </a:solidFill>
                    </a:lnB>
                    <a:solidFill>
                      <a:srgbClr val="FFFFFF"/>
                    </a:solidFill>
                  </a:tcPr>
                </a:tc>
              </a:tr>
              <a:tr h="685800">
                <a:tc>
                  <a:txBody>
                    <a:bodyPr wrap="square"/>
                    <a:lstStyle/>
                    <a:p>
                      <a:pPr algn="l"/>
                      <a:r>
                        <a:rPr sz="1200" b="1">
                          <a:solidFill>
                            <a:srgbClr val="C24E00"/>
                          </a:solidFill>
                          <a:latin typeface="Inter"/>
                        </a:rPr>
                        <a:t>10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Local partner wholesale prices (modelled at the Corporate local prices) and whether 100% of agency customers buy at wholesale.</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11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AI-credit pack attach rate (5%) and the R1,500 paid CAC for Solo.</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12</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FX depreciation assumptions vs ZAR (NGN -10%, GHS -8%, KES -3%, USD 0% a year) and the quarterly repricing policy.</a:t>
                      </a:r>
                    </a:p>
                  </a:txBody>
                  <a:tcPr marL="109728" marR="109728" marT="36576" marB="36576" anchor="ctr">
                    <a:lnL w="0">
                      <a:noFill/>
                    </a:lnL>
                    <a:lnR w="0">
                      <a:noFill/>
                    </a:lnR>
                    <a:lnT w="0">
                      <a:noFill/>
                    </a:lnT>
                    <a:lnB w="12700">
                      <a:solidFill>
                        <a:srgbClr val="E3E6EA"/>
                      </a:solidFill>
                    </a:lnB>
                    <a:solidFill>
                      <a:srgbClr val="FFFFFF"/>
                    </a:solidFill>
                  </a:tcPr>
                </a:tc>
              </a:tr>
              <a:tr h="685800">
                <a:tc>
                  <a:txBody>
                    <a:bodyPr wrap="square"/>
                    <a:lstStyle/>
                    <a:p>
                      <a:pPr algn="l"/>
                      <a:r>
                        <a:rPr sz="1200" b="1">
                          <a:solidFill>
                            <a:srgbClr val="C24E00"/>
                          </a:solidFill>
                          <a:latin typeface="Inter"/>
                        </a:rPr>
                        <a:t>13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Cost-discipline rules: MRR gates per hire and launch, the scenario gate multipliers, the paid-acquisition cap (35% of MRR in Base) and the 12-month CAC payback limit.</a:t>
                      </a:r>
                    </a:p>
                  </a:txBody>
                  <a:tcPr marL="109728" marR="109728" marT="36576" marB="36576" anchor="ctr">
                    <a:lnL w="0">
                      <a:noFill/>
                    </a:lnL>
                    <a:lnR w="0">
                      <a:noFill/>
                    </a:lnR>
                    <a:lnT w="0">
                      <a:noFill/>
                    </a:lnT>
                    <a:lnB w="12700">
                      <a:solidFill>
                        <a:srgbClr val="E3E6EA"/>
                      </a:solidFill>
                    </a:lnB>
                    <a:solidFill>
                      <a:srgbClr val="FFFFFF"/>
                    </a:solidFill>
                  </a:tcPr>
                </a:tc>
              </a:tr>
              <a:tr h="502920">
                <a:tc>
                  <a:txBody>
                    <a:bodyPr wrap="square"/>
                    <a:lstStyle/>
                    <a:p>
                      <a:pPr algn="l"/>
                      <a:r>
                        <a:rPr sz="1200" b="1">
                          <a:solidFill>
                            <a:srgbClr val="C24E00"/>
                          </a:solidFill>
                          <a:latin typeface="Inter"/>
                        </a:rPr>
                        <a:t>14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Salaries and hiring plan (cost-to-company per role), including founders' reduced salaries.</a:t>
                      </a:r>
                    </a:p>
                  </a:txBody>
                  <a:tcPr marL="109728" marR="109728" marT="36576" marB="36576" anchor="ctr">
                    <a:lnL w="0">
                      <a:noFill/>
                    </a:lnL>
                    <a:lnR w="0">
                      <a:noFill/>
                    </a:lnR>
                    <a:lnT w="0">
                      <a:noFill/>
                    </a:lnT>
                    <a:lnB w="12700">
                      <a:solidFill>
                        <a:srgbClr val="E3E6EA"/>
                      </a:solidFill>
                    </a:lnB>
                    <a:solidFill>
                      <a:srgbClr val="FFFFFF"/>
                    </a:solidFill>
                  </a:tcPr>
                </a:tc>
              </a:tr>
              <a:tr h="320040">
                <a:tc>
                  <a:txBody>
                    <a:bodyPr wrap="square"/>
                    <a:lstStyle/>
                    <a:p>
                      <a:pPr algn="l"/>
                      <a:r>
                        <a:rPr sz="1200" b="1">
                          <a:solidFill>
                            <a:srgbClr val="C24E00"/>
                          </a:solidFill>
                          <a:latin typeface="Inter"/>
                        </a:rPr>
                        <a:t>15</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200" b="0">
                          <a:solidFill>
                            <a:srgbClr val="20242B"/>
                          </a:solidFill>
                          <a:latin typeface="Inter"/>
                        </a:rPr>
                        <a:t>Market-sizing estimates (TAM/SAM/SOM) before external use.</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Confidential</a:t>
            </a:r>
          </a:p>
        </p:txBody>
      </p:sp>
      <p:sp>
        <p:nvSpPr>
          <p:cNvPr id="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30</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FluxMuse investor pitch deck: R46M seed</dc:title>
  <dc:subject>Seed round, confidential</dc:subject>
  <dc:creator>Fluxmuse Pty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